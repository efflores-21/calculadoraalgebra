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31"/>
  </p:notesMasterIdLst>
  <p:handoutMasterIdLst>
    <p:handoutMasterId r:id="rId32"/>
  </p:handoutMasterIdLst>
  <p:sldIdLst>
    <p:sldId id="371" r:id="rId3"/>
    <p:sldId id="380" r:id="rId4"/>
    <p:sldId id="460" r:id="rId5"/>
    <p:sldId id="543" r:id="rId6"/>
    <p:sldId id="542" r:id="rId7"/>
    <p:sldId id="541" r:id="rId8"/>
    <p:sldId id="540" r:id="rId9"/>
    <p:sldId id="539" r:id="rId10"/>
    <p:sldId id="538" r:id="rId11"/>
    <p:sldId id="553" r:id="rId12"/>
    <p:sldId id="555" r:id="rId13"/>
    <p:sldId id="554" r:id="rId14"/>
    <p:sldId id="537" r:id="rId15"/>
    <p:sldId id="556" r:id="rId16"/>
    <p:sldId id="557" r:id="rId17"/>
    <p:sldId id="544" r:id="rId18"/>
    <p:sldId id="558" r:id="rId19"/>
    <p:sldId id="559" r:id="rId20"/>
    <p:sldId id="546" r:id="rId21"/>
    <p:sldId id="545" r:id="rId22"/>
    <p:sldId id="560" r:id="rId23"/>
    <p:sldId id="561" r:id="rId24"/>
    <p:sldId id="549" r:id="rId25"/>
    <p:sldId id="562" r:id="rId26"/>
    <p:sldId id="563" r:id="rId27"/>
    <p:sldId id="534" r:id="rId28"/>
    <p:sldId id="379" r:id="rId29"/>
    <p:sldId id="372" r:id="rId3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0"/>
    <a:srgbClr val="D71920"/>
    <a:srgbClr val="C8B160"/>
    <a:srgbClr val="00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2475" autoAdjust="0"/>
  </p:normalViewPr>
  <p:slideViewPr>
    <p:cSldViewPr snapToGrid="0" showGuides="1">
      <p:cViewPr varScale="1">
        <p:scale>
          <a:sx n="74" d="100"/>
          <a:sy n="74" d="100"/>
        </p:scale>
        <p:origin x="678" y="72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11/10/2026</a:t>
            </a:fld>
            <a:endParaRPr lang="es-NI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72244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  <a:t>11/10/2026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99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ED7D31"/>
                </a:solidFill>
              </a:rPr>
              <a:t>i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6" y="164707"/>
            <a:ext cx="5145908" cy="15180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0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841" y="2276388"/>
            <a:ext cx="7814318" cy="23052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3" Type="http://schemas.openxmlformats.org/officeDocument/2006/relationships/image" Target="../media/image400.png"/><Relationship Id="rId7" Type="http://schemas.openxmlformats.org/officeDocument/2006/relationships/image" Target="../media/image440.png"/><Relationship Id="rId12" Type="http://schemas.openxmlformats.org/officeDocument/2006/relationships/image" Target="../media/image49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10" Type="http://schemas.openxmlformats.org/officeDocument/2006/relationships/image" Target="../media/image54.png"/><Relationship Id="rId4" Type="http://schemas.openxmlformats.org/officeDocument/2006/relationships/image" Target="../media/image410.pn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84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130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image" Target="../media/image147.png"/><Relationship Id="rId16" Type="http://schemas.openxmlformats.org/officeDocument/2006/relationships/image" Target="../media/image135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27.png"/><Relationship Id="rId5" Type="http://schemas.openxmlformats.org/officeDocument/2006/relationships/image" Target="../media/image113.png"/><Relationship Id="rId15" Type="http://schemas.openxmlformats.org/officeDocument/2006/relationships/image" Target="../media/image134.png"/><Relationship Id="rId10" Type="http://schemas.openxmlformats.org/officeDocument/2006/relationships/image" Target="../media/image118.png"/><Relationship Id="rId19" Type="http://schemas.openxmlformats.org/officeDocument/2006/relationships/image" Target="../media/image13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4.png"/><Relationship Id="rId3" Type="http://schemas.openxmlformats.org/officeDocument/2006/relationships/image" Target="../media/image144.png"/><Relationship Id="rId7" Type="http://schemas.openxmlformats.org/officeDocument/2006/relationships/image" Target="../media/image149.png"/><Relationship Id="rId12" Type="http://schemas.openxmlformats.org/officeDocument/2006/relationships/image" Target="../media/image153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png"/><Relationship Id="rId11" Type="http://schemas.openxmlformats.org/officeDocument/2006/relationships/image" Target="../media/image98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10" Type="http://schemas.openxmlformats.org/officeDocument/2006/relationships/image" Target="../media/image152.png"/><Relationship Id="rId4" Type="http://schemas.openxmlformats.org/officeDocument/2006/relationships/image" Target="../media/image145.png"/><Relationship Id="rId9" Type="http://schemas.openxmlformats.org/officeDocument/2006/relationships/image" Target="../media/image151.png"/><Relationship Id="rId14" Type="http://schemas.openxmlformats.org/officeDocument/2006/relationships/image" Target="../media/image1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.png"/><Relationship Id="rId5" Type="http://schemas.openxmlformats.org/officeDocument/2006/relationships/image" Target="../media/image325.png"/><Relationship Id="rId4" Type="http://schemas.openxmlformats.org/officeDocument/2006/relationships/image" Target="../media/image3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4473" y="4346647"/>
            <a:ext cx="6390291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NI" altLang="es-NI" sz="3000" b="1" dirty="0">
                <a:solidFill>
                  <a:prstClr val="white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José Andrés Munguía Cortez </a:t>
            </a:r>
            <a:endParaRPr lang="es-MX" altLang="es-NI" sz="3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/>
          <p:cNvSpPr txBox="1"/>
          <p:nvPr/>
        </p:nvSpPr>
        <p:spPr>
          <a:xfrm>
            <a:off x="3701737" y="2985575"/>
            <a:ext cx="6815762" cy="1569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NI" sz="4800" dirty="0">
                <a:solidFill>
                  <a:prstClr val="white">
                    <a:lumMod val="95000"/>
                  </a:prstClr>
                </a:solidFill>
              </a:rPr>
              <a:t>ALGEBRA LINEAL</a:t>
            </a:r>
            <a:endParaRPr lang="es-ES_tradnl" sz="4800" b="1" dirty="0">
              <a:ln w="12700">
                <a:solidFill>
                  <a:srgbClr val="5B9BD5"/>
                </a:solidFill>
                <a:prstDash val="solid"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Franklin Gothic Std No. 2 Roman" charset="0"/>
              <a:cs typeface="Franklin Gothic Std No. 2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1" y="0"/>
            <a:ext cx="12191999" cy="10673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bg1"/>
                </a:solidFill>
              </a:rPr>
              <a:t>UNIDAD </a:t>
            </a:r>
            <a:r>
              <a:rPr lang="es-ES" sz="2800" b="1" dirty="0" smtClean="0">
                <a:solidFill>
                  <a:schemeClr val="bg1"/>
                </a:solidFill>
              </a:rPr>
              <a:t>III  </a:t>
            </a:r>
            <a:r>
              <a:rPr lang="es-NI" sz="2800" b="1" dirty="0" smtClean="0">
                <a:solidFill>
                  <a:schemeClr val="bg1"/>
                </a:solidFill>
              </a:rPr>
              <a:t>ESPACIOS VECTORIALES</a:t>
            </a:r>
            <a:endParaRPr lang="es-ES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0" y="4548276"/>
                <a:ext cx="6542468" cy="1061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Definición 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espacio 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vectorial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Ejemplos 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NI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conjuntos 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funciones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Definición 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s-MX" sz="2100" b="1" dirty="0" err="1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propiedades</a:t>
                </a: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48276"/>
                <a:ext cx="6542468" cy="1061829"/>
              </a:xfrm>
              <a:prstGeom prst="rect">
                <a:avLst/>
              </a:prstGeom>
              <a:blipFill rotWithShape="0">
                <a:blip r:embed="rId2"/>
                <a:stretch>
                  <a:fillRect l="-932" t="-3448" b="-1092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/>
          <p:cNvSpPr/>
          <p:nvPr/>
        </p:nvSpPr>
        <p:spPr>
          <a:xfrm>
            <a:off x="0" y="4086651"/>
            <a:ext cx="1173706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Temas: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5703838"/>
            <a:ext cx="367047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Resultado de aprendizaje: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" y="611933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Analiza </a:t>
            </a:r>
            <a:r>
              <a:rPr lang="es-MX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las propiedades y estructuras de los espacios vectoriales, relacionándolas con su aplicación en la representación de soluciones matemáticas.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-1" y="1702634"/>
                <a:ext cx="12192000" cy="119336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 “</a:t>
                </a:r>
                <a:r>
                  <a:rPr lang="es-MX" sz="2100" b="1" u="sng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espacio vectorial”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conjunto de objetos, denominados vectores, junto con dos operaciones binarias llamadas </a:t>
                </a:r>
                <a:r>
                  <a:rPr lang="es-MX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suma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:r>
                  <a:rPr lang="es-MX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multiplicación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 un escalar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y que satisfacen los diez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axiomas.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702634"/>
                <a:ext cx="12192000" cy="1193365"/>
              </a:xfrm>
              <a:prstGeom prst="rect">
                <a:avLst/>
              </a:prstGeom>
              <a:blipFill rotWithShape="0">
                <a:blip r:embed="rId2"/>
                <a:stretch>
                  <a:fillRect l="-600" r="-600" b="-408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 txBox="1">
            <a:spLocks/>
          </p:cNvSpPr>
          <p:nvPr/>
        </p:nvSpPr>
        <p:spPr>
          <a:xfrm>
            <a:off x="-1" y="1189228"/>
            <a:ext cx="3902299" cy="3562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Vectorial Real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0" y="3634464"/>
                <a:ext cx="12192000" cy="74610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están en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si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un número real, entonces la suma se escribe como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producto escalar de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como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34464"/>
                <a:ext cx="12192000" cy="746101"/>
              </a:xfrm>
              <a:prstGeom prst="rect">
                <a:avLst/>
              </a:prstGeom>
              <a:blipFill rotWithShape="0">
                <a:blip r:embed="rId3"/>
                <a:stretch>
                  <a:fillRect l="-600" t="-4065" r="-600" b="-146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/>
          <p:cNvSpPr txBox="1">
            <a:spLocks/>
          </p:cNvSpPr>
          <p:nvPr/>
        </p:nvSpPr>
        <p:spPr>
          <a:xfrm>
            <a:off x="0" y="3053167"/>
            <a:ext cx="1596980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Notación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05333"/>
                <a:ext cx="12192000" cy="135140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La suma es una ley de descomposición interna en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(cerradura</a:t>
                </a:r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bajo la suma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0" algn="just">
                  <a:defRPr/>
                </a:pPr>
                <a:r>
                  <a:rPr lang="es-NI" sz="2100" b="1" noProof="0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Esto significa que la suma de dos elementos cualesquiera de </a:t>
                </a:r>
                <a14:m>
                  <m:oMath xmlns:m="http://schemas.openxmlformats.org/officeDocument/2006/math">
                    <m:r>
                      <a:rPr lang="es-MX" sz="21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único elemento de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05333"/>
                <a:ext cx="12192000" cy="1351406"/>
              </a:xfrm>
              <a:prstGeom prst="rect">
                <a:avLst/>
              </a:prstGeom>
              <a:blipFill rotWithShape="0">
                <a:blip r:embed="rId2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132659"/>
            <a:ext cx="4481848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5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Axiomas de espacios vectoriales</a:t>
            </a:r>
            <a:endParaRPr kumimoji="0" lang="es-NI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0" y="3122008"/>
                <a:ext cx="12192000" cy="133371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La suma es asociativa en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0" lang="es-NI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</m:d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(ley</a:t>
                </a:r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asociativa de la suma de vectores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0" algn="just">
                  <a:defRPr/>
                </a:pPr>
                <a:r>
                  <a:rPr lang="es-NI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s-NI" sz="2100" b="1" noProof="0" dirty="0" err="1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ualesquiera</a:t>
                </a:r>
                <a:r>
                  <a:rPr lang="es-NI" sz="2100" b="1" noProof="0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que sean </a:t>
                </a:r>
                <a14:m>
                  <m:oMath xmlns:m="http://schemas.openxmlformats.org/officeDocument/2006/math">
                    <m:r>
                      <a:rPr lang="es-MX" sz="21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1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1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1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en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22008"/>
                <a:ext cx="12192000" cy="1333713"/>
              </a:xfrm>
              <a:prstGeom prst="rect">
                <a:avLst/>
              </a:prstGeom>
              <a:blipFill rotWithShape="0">
                <a:blip r:embed="rId3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0" y="4574165"/>
                <a:ext cx="12192000" cy="10311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noProof="0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Existe un neutro para la suma en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(el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se llama vector cero o idéntico aditivo)</a:t>
                </a:r>
              </a:p>
            </p:txBody>
          </p:sp>
        </mc:Choice>
        <mc:Fallback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74165"/>
                <a:ext cx="12192000" cy="1031180"/>
              </a:xfrm>
              <a:prstGeom prst="rect">
                <a:avLst/>
              </a:prstGeom>
              <a:blipFill rotWithShape="0">
                <a:blip r:embed="rId4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0" y="5723789"/>
                <a:ext cx="12192000" cy="10311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Todo 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elemento de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MX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admite inverso aditivo u</a:t>
                </a:r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opuesto en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d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d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kumimoji="0" lang="es-MX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se llama inverso aditivo de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23789"/>
                <a:ext cx="12192000" cy="1031180"/>
              </a:xfrm>
              <a:prstGeom prst="rect">
                <a:avLst/>
              </a:prstGeom>
              <a:blipFill rotWithShape="0">
                <a:blip r:embed="rId5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6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152042"/>
                <a:ext cx="12192000" cy="74917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La suma es conmutativa en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(ley conmutativa de la suma de vectores)</a:t>
                </a:r>
              </a:p>
            </p:txBody>
          </p:sp>
        </mc:Choice>
        <mc:Fallback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52042"/>
                <a:ext cx="12192000" cy="749179"/>
              </a:xfrm>
              <a:prstGeom prst="rect">
                <a:avLst/>
              </a:prstGeom>
              <a:blipFill rotWithShape="0">
                <a:blip r:embed="rId2"/>
                <a:stretch>
                  <a:fillRect l="-600" t="-4065" b="-146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0" y="2122800"/>
                <a:ext cx="12192000" cy="74648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noProof="0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Si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 escalar y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(cerradura bajo la multiplicación por un escalar)</a:t>
                </a:r>
              </a:p>
            </p:txBody>
          </p:sp>
        </mc:Choice>
        <mc:Fallback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22800"/>
                <a:ext cx="12192000" cy="746485"/>
              </a:xfrm>
              <a:prstGeom prst="rect">
                <a:avLst/>
              </a:prstGeom>
              <a:blipFill rotWithShape="0">
                <a:blip r:embed="rId3"/>
                <a:stretch>
                  <a:fillRect l="-600" t="-4065" b="-146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0" y="3090864"/>
                <a:ext cx="12192000" cy="10311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Si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kumimoji="0" lang="es-MX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 escalar,</a:t>
                </a:r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entonces</a:t>
                </a:r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d>
                      <m:dPr>
                        <m:ctrlPr>
                          <a:rPr kumimoji="0" lang="es-NI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</m:d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(primera ley distributiva)</a:t>
                </a:r>
              </a:p>
            </p:txBody>
          </p:sp>
        </mc:Choice>
        <mc:Fallback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90864"/>
                <a:ext cx="12192000" cy="1031180"/>
              </a:xfrm>
              <a:prstGeom prst="rect">
                <a:avLst/>
              </a:prstGeom>
              <a:blipFill rotWithShape="0">
                <a:blip r:embed="rId4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0" y="4122044"/>
                <a:ext cx="12192000" cy="10311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noProof="0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kumimoji="0" lang="es-MX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y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son escalares, entonces</a:t>
                </a:r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0" lang="es-NI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NI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𝜶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𝜷</m:t>
                        </m:r>
                      </m:e>
                    </m:d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(segunda ley distributiva)</a:t>
                </a:r>
              </a:p>
            </p:txBody>
          </p:sp>
        </mc:Choice>
        <mc:Fallback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22044"/>
                <a:ext cx="12192000" cy="1031180"/>
              </a:xfrm>
              <a:prstGeom prst="rect">
                <a:avLst/>
              </a:prstGeom>
              <a:blipFill rotWithShape="0">
                <a:blip r:embed="rId5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0" y="5153224"/>
                <a:ext cx="12192000" cy="10311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kumimoji="0" lang="es-MX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y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MX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son escalares, entonces</a:t>
                </a:r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d>
                      <m:dPr>
                        <m:ctrlP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𝜷</m:t>
                        </m:r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d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s-MX" sz="2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𝜶𝜷</m:t>
                        </m:r>
                      </m:e>
                    </m:d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kumimoji="0" lang="es-MX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MX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(ley asociativa de la multiplicación por escalares)</a:t>
                </a: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53224"/>
                <a:ext cx="12192000" cy="1031180"/>
              </a:xfrm>
              <a:prstGeom prst="rect">
                <a:avLst/>
              </a:prstGeom>
              <a:blipFill rotWithShape="0">
                <a:blip r:embed="rId6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0" y="6039974"/>
                <a:ext cx="8950817" cy="81802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noProof="0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cada vector</a:t>
                </a:r>
                <a:r>
                  <a:rPr kumimoji="0" lang="es-MX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</m:oMath>
                  </m:oMathPara>
                </a14:m>
                <a:endParaRPr kumimoji="0" lang="es-MX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39974"/>
                <a:ext cx="8950817" cy="818026"/>
              </a:xfrm>
              <a:prstGeom prst="rect">
                <a:avLst/>
              </a:prstGeom>
              <a:blipFill rotWithShape="0">
                <a:blip r:embed="rId7"/>
                <a:stretch>
                  <a:fillRect l="-8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98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139164"/>
                <a:ext cx="12192000" cy="1011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Los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primeros cincos axiomas caracterizan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𝑽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+</m:t>
                        </m:r>
                      </m:e>
                    </m:d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como grupo </a:t>
                </a:r>
                <a:r>
                  <a:rPr lang="es-MX" sz="21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abeliano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Los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últimos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cinco axiomas son relativos a la ley de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composición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externa. Los elementos de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llaman vectores.</a:t>
                </a:r>
                <a:endParaRPr kumimoji="0" lang="es-NI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9164"/>
                <a:ext cx="12192000" cy="1011607"/>
              </a:xfrm>
              <a:prstGeom prst="rect">
                <a:avLst/>
              </a:prstGeom>
              <a:blipFill rotWithShape="0">
                <a:blip r:embed="rId2"/>
                <a:stretch>
                  <a:fillRect l="-600" t="-6024" r="-600" b="-138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-51516" y="2389971"/>
            <a:ext cx="5525037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Propiedades de los espacios vectoriales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0" y="2930010"/>
                <a:ext cx="5138671" cy="50140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un espacio</a:t>
                </a:r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vectorial. Entonces 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30010"/>
                <a:ext cx="5138671" cy="501402"/>
              </a:xfrm>
              <a:prstGeom prst="rect">
                <a:avLst/>
              </a:prstGeom>
              <a:blipFill rotWithShape="0">
                <a:blip r:embed="rId3"/>
                <a:stretch>
                  <a:fillRect l="-1423" b="-158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0" y="3552845"/>
                <a:ext cx="4118558" cy="50140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i.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kumimoji="0" lang="es-NI" sz="2100" b="1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todo escalar </a:t>
                </a:r>
                <a14:m>
                  <m:oMath xmlns:m="http://schemas.openxmlformats.org/officeDocument/2006/math">
                    <m:r>
                      <a:rPr lang="es-NI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52845"/>
                <a:ext cx="4118558" cy="501402"/>
              </a:xfrm>
              <a:prstGeom prst="rect">
                <a:avLst/>
              </a:prstGeom>
              <a:blipFill rotWithShape="0">
                <a:blip r:embed="rId4"/>
                <a:stretch>
                  <a:fillRect l="-1775" b="-146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0" y="4113787"/>
                <a:ext cx="3799271" cy="50140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ii.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kumimoji="0" lang="es-NI" sz="2100" b="1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todo </a:t>
                </a:r>
                <a14:m>
                  <m:oMath xmlns:m="http://schemas.openxmlformats.org/officeDocument/2006/math">
                    <m:r>
                      <a:rPr lang="es-MX" sz="21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𝐱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13787"/>
                <a:ext cx="3799271" cy="501402"/>
              </a:xfrm>
              <a:prstGeom prst="rect">
                <a:avLst/>
              </a:prstGeom>
              <a:blipFill rotWithShape="0">
                <a:blip r:embed="rId5"/>
                <a:stretch>
                  <a:fillRect l="-1926" b="-146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0" y="4685519"/>
                <a:ext cx="7366718" cy="50140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iii.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kumimoji="0" lang="es-NI" sz="2100" b="1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  </a:t>
                </a:r>
                <a14:m>
                  <m:oMath xmlns:m="http://schemas.openxmlformats.org/officeDocument/2006/math">
                    <m:r>
                      <a:rPr lang="es-NI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m:rPr>
                        <m:nor/>
                      </m:rPr>
                      <a:rPr lang="es-NI" sz="21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para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o 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(o</a:t>
                </a:r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ambos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85519"/>
                <a:ext cx="7366718" cy="501402"/>
              </a:xfrm>
              <a:prstGeom prst="rect">
                <a:avLst/>
              </a:prstGeom>
              <a:blipFill rotWithShape="0">
                <a:blip r:embed="rId6"/>
                <a:stretch>
                  <a:fillRect l="-993" r="-579" b="-1341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0" y="5235747"/>
                <a:ext cx="4906854" cy="50140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iv.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kumimoji="0" lang="es-NI" sz="2100" b="1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NI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para todo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5747"/>
                <a:ext cx="4906854" cy="501402"/>
              </a:xfrm>
              <a:prstGeom prst="rect">
                <a:avLst/>
              </a:prstGeom>
              <a:blipFill rotWithShape="0">
                <a:blip r:embed="rId7"/>
                <a:stretch>
                  <a:fillRect l="-1491" r="-497" b="-146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26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39523"/>
                <a:ext cx="12192000" cy="108051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dice que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un </a:t>
                </a:r>
                <a:r>
                  <a:rPr lang="es-MX" sz="21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vectorial de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un subconjunto no vacío de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un espacio vectorial, junto con las operaciones de suma entre vectores y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multiplicación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 un escalar definidas para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39523"/>
                <a:ext cx="12192000" cy="1080515"/>
              </a:xfrm>
              <a:prstGeom prst="rect">
                <a:avLst/>
              </a:prstGeom>
              <a:blipFill rotWithShape="0">
                <a:blip r:embed="rId2"/>
                <a:stretch>
                  <a:fillRect l="-600" t="-2247" r="-600" b="-955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134215"/>
            <a:ext cx="3400024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Subespacios</a:t>
            </a: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vectoriales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0" y="3425347"/>
                <a:ext cx="12192000" cy="76177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 subconjunto no vacío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de un espacio vectorial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 </a:t>
                </a:r>
                <a:r>
                  <a:rPr kumimoji="0" lang="es-NI" sz="21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si se cumplen las dos reglas de cerradura: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25347"/>
                <a:ext cx="12192000" cy="761778"/>
              </a:xfrm>
              <a:prstGeom prst="rect">
                <a:avLst/>
              </a:prstGeom>
              <a:blipFill rotWithShape="0">
                <a:blip r:embed="rId3"/>
                <a:stretch>
                  <a:fillRect l="-600" t="-3200" r="-600" b="-13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2820038"/>
            <a:ext cx="1300766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0" y="4936038"/>
                <a:ext cx="5692462" cy="5436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14350" lvl="0" indent="-514350" algn="just">
                  <a:buAutoNum type="romanLcParenBoth"/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 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36038"/>
                <a:ext cx="5692462" cy="543648"/>
              </a:xfrm>
              <a:prstGeom prst="rect">
                <a:avLst/>
              </a:prstGeom>
              <a:blipFill rotWithShape="0">
                <a:blip r:embed="rId4"/>
                <a:stretch>
                  <a:fillRect l="-1071" b="-101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 txBox="1">
            <a:spLocks/>
          </p:cNvSpPr>
          <p:nvPr/>
        </p:nvSpPr>
        <p:spPr>
          <a:xfrm>
            <a:off x="1431919" y="4330729"/>
            <a:ext cx="959476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Regla de cerradura para ver si un subconjunto no vacío es un </a:t>
            </a:r>
            <a:r>
              <a:rPr lang="es-MX" sz="21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subespacio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0" y="5585142"/>
                <a:ext cx="6593983" cy="5436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(ii) Si  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entonces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𝛂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para todo escalar </a:t>
                </a:r>
                <a14:m>
                  <m:oMath xmlns:m="http://schemas.openxmlformats.org/officeDocument/2006/math">
                    <m:r>
                      <a:rPr lang="es-NI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85142"/>
                <a:ext cx="6593983" cy="543648"/>
              </a:xfrm>
              <a:prstGeom prst="rect">
                <a:avLst/>
              </a:prstGeom>
              <a:blipFill rotWithShape="0">
                <a:blip r:embed="rId5"/>
                <a:stretch>
                  <a:fillRect l="-1109" b="-112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64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121336"/>
                <a:ext cx="12192000" cy="78473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Este teorema demuestra que para probar si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o no un </a:t>
                </a:r>
                <a:r>
                  <a:rPr kumimoji="0" lang="es-NI" sz="21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, es suficiente verificar que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siempre que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∈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 escalar cualesquiera.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21336"/>
                <a:ext cx="12192000" cy="784737"/>
              </a:xfrm>
              <a:prstGeom prst="rect">
                <a:avLst/>
              </a:prstGeom>
              <a:blipFill rotWithShape="0">
                <a:blip r:embed="rId2"/>
                <a:stretch>
                  <a:fillRect l="-600" t="-1550" r="-600" b="-1162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0" y="2009663"/>
                <a:ext cx="12192000" cy="78473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Una consecuencia inmediata es que todo </a:t>
                </a:r>
                <a:r>
                  <a:rPr lang="es-MX" sz="2100" b="1" dirty="0" err="1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un espacio vectorial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contiene al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(cero).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09663"/>
                <a:ext cx="12192000" cy="784737"/>
              </a:xfrm>
              <a:prstGeom prst="rect">
                <a:avLst/>
              </a:prstGeom>
              <a:blipFill rotWithShape="0">
                <a:blip r:embed="rId3"/>
                <a:stretch>
                  <a:fillRect l="-600" t="-1563" r="-600" b="-125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0" y="3503299"/>
                <a:ext cx="12192000" cy="76177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dos </a:t>
                </a:r>
                <a:r>
                  <a:rPr lang="es-MX" sz="2100" b="1" dirty="0" err="1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subespacios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un espacio vectorial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∩</m:t>
                    </m:r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es un </a:t>
                </a:r>
                <a:r>
                  <a:rPr lang="es-MX" sz="2100" b="1" dirty="0" err="1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03299"/>
                <a:ext cx="12192000" cy="761778"/>
              </a:xfrm>
              <a:prstGeom prst="rect">
                <a:avLst/>
              </a:prstGeom>
              <a:blipFill rotWithShape="0">
                <a:blip r:embed="rId4"/>
                <a:stretch>
                  <a:fillRect l="-600" t="-3200" r="-600" b="-13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2897990"/>
            <a:ext cx="1300766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003428"/>
            <a:ext cx="7469746" cy="4597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“Todo </a:t>
            </a:r>
            <a:r>
              <a:rPr lang="es-MX" sz="21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subespacio</a:t>
            </a:r>
            <a:r>
              <a:rPr lang="es-MX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un espacio vectorial contiene a </a:t>
            </a:r>
            <a:r>
              <a:rPr lang="es-MX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MX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4615379"/>
            <a:ext cx="1081825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Notas:</a:t>
            </a:r>
            <a:endParaRPr kumimoji="0" lang="es-NI" sz="2100" b="1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0" y="5193128"/>
                <a:ext cx="12192000" cy="74310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Este 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teorema nos dice que basta probar que la suma de elementos de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el producto por un escalar están en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para que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sea un </a:t>
                </a:r>
                <a:r>
                  <a:rPr lang="es-MX" sz="21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vectorial.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93128"/>
                <a:ext cx="12192000" cy="743106"/>
              </a:xfrm>
              <a:prstGeom prst="rect">
                <a:avLst/>
              </a:prstGeom>
              <a:blipFill rotWithShape="0">
                <a:blip r:embed="rId5"/>
                <a:stretch>
                  <a:fillRect l="-600" t="-4098" r="-600" b="-14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50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" y="1726645"/>
            <a:ext cx="2009104" cy="4913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Supongamos 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1121336"/>
            <a:ext cx="2704564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Visión Geométrica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1795121" y="1751842"/>
                <a:ext cx="3562492" cy="455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f>
                            <m:fPr>
                              <m:type m:val="lin"/>
                              <m:ctrl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</m:den>
                          </m:f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1" y="1751842"/>
                <a:ext cx="3562492" cy="455509"/>
              </a:xfrm>
              <a:prstGeom prst="rect">
                <a:avLst/>
              </a:prstGeom>
              <a:blipFill rotWithShape="0">
                <a:blip r:embed="rId2"/>
                <a:stretch>
                  <a:fillRect t="-102667" b="-162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5308930" y="1716018"/>
            <a:ext cx="375634" cy="4913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5684564" y="1751842"/>
                <a:ext cx="3532461" cy="455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𝑽</m:t>
                      </m:r>
                      <m:r>
                        <a:rPr lang="es-MX" sz="21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f>
                            <m:fPr>
                              <m:type m:val="lin"/>
                              <m:ctrl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</m:den>
                          </m:f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564" y="1751842"/>
                <a:ext cx="3532461" cy="455509"/>
              </a:xfrm>
              <a:prstGeom prst="rect">
                <a:avLst/>
              </a:prstGeom>
              <a:blipFill rotWithShape="0">
                <a:blip r:embed="rId3"/>
                <a:stretch>
                  <a:fillRect l="-173" t="-102667" b="-162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 txBox="1">
            <a:spLocks/>
          </p:cNvSpPr>
          <p:nvPr/>
        </p:nvSpPr>
        <p:spPr>
          <a:xfrm>
            <a:off x="1" y="2618533"/>
            <a:ext cx="113334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endParaRPr kumimoji="0" lang="es-NI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31" y="3158572"/>
            <a:ext cx="5241702" cy="34712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 rot="19789511">
                <a:off x="4898247" y="3464304"/>
                <a:ext cx="1109730" cy="5400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⊂</m:t>
                      </m:r>
                      <m:sSup>
                        <m:sSup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89511">
                <a:off x="4898247" y="3464304"/>
                <a:ext cx="1109730" cy="54003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 rot="1895600">
                <a:off x="2066578" y="3409516"/>
                <a:ext cx="1133342" cy="5400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𝑽</m:t>
                      </m:r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⊂</m:t>
                      </m:r>
                      <m:sSup>
                        <m:sSupPr>
                          <m:ctrlPr>
                            <a:rPr lang="es-MX" sz="21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21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s-MX" sz="21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5600">
                <a:off x="2066578" y="3409516"/>
                <a:ext cx="1133342" cy="54003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6954593" y="3336533"/>
                <a:ext cx="5237407" cy="65591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, no es un </a:t>
                </a:r>
                <a:r>
                  <a:rPr kumimoji="0" lang="es-NI" sz="21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vectorial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1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93" y="3336533"/>
                <a:ext cx="5237407" cy="655918"/>
              </a:xfrm>
              <a:prstGeom prst="rect">
                <a:avLst/>
              </a:prstGeom>
              <a:blipFill rotWithShape="0">
                <a:blip r:embed="rId7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6954593" y="4246652"/>
                <a:ext cx="4748011" cy="65591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, es un </a:t>
                </a:r>
                <a:r>
                  <a:rPr kumimoji="0" lang="es-NI" sz="21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vectorial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1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93" y="4246652"/>
                <a:ext cx="4748011" cy="655918"/>
              </a:xfrm>
              <a:prstGeom prst="rect">
                <a:avLst/>
              </a:prstGeom>
              <a:blipFill rotWithShape="0">
                <a:blip r:embed="rId8"/>
                <a:stretch>
                  <a:fillRect l="-128" b="-93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80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1"/>
              <p:cNvSpPr txBox="1">
                <a:spLocks/>
              </p:cNvSpPr>
              <p:nvPr/>
            </p:nvSpPr>
            <p:spPr>
              <a:xfrm>
                <a:off x="346056" y="1206042"/>
                <a:ext cx="7264328" cy="3609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¿Qué debemos verificar para que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 subespacio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endPara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56" y="1206042"/>
                <a:ext cx="7264328" cy="360995"/>
              </a:xfrm>
              <a:prstGeom prst="rect">
                <a:avLst/>
              </a:prstGeom>
              <a:blipFill rotWithShape="0">
                <a:blip r:embed="rId2"/>
                <a:stretch>
                  <a:fillRect l="-2183" t="-28814" b="-2033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 1"/>
              <p:cNvSpPr txBox="1"/>
              <p:nvPr/>
            </p:nvSpPr>
            <p:spPr>
              <a:xfrm>
                <a:off x="346056" y="1691061"/>
                <a:ext cx="11247120" cy="45720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marL="0" indent="0">
                  <a:spcAft>
                    <a:spcPts val="800"/>
                  </a:spcAft>
                  <a:buNone/>
                </a:pPr>
                <a:r>
                  <a:rPr lang="en-US" sz="2000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𝑽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 espacio vectorial 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⊂ 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𝑽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subespacio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𝑽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si cumple las cuatro condiciones:</a:t>
                </a:r>
                <a:endParaRPr lang="en-US" sz="2000" dirty="0"/>
              </a:p>
            </p:txBody>
          </p:sp>
        </mc:Choice>
        <mc:Fallback>
          <p:sp>
            <p:nvSpPr>
              <p:cNvPr id="31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56" y="1691061"/>
                <a:ext cx="11247120" cy="457200"/>
              </a:xfrm>
              <a:prstGeom prst="rect">
                <a:avLst/>
              </a:prstGeom>
              <a:blipFill rotWithShape="0">
                <a:blip r:embed="rId3"/>
                <a:stretch>
                  <a:fillRect l="-1409" t="-16000" r="-1084" b="-1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2"/>
          <p:cNvSpPr/>
          <p:nvPr/>
        </p:nvSpPr>
        <p:spPr>
          <a:xfrm>
            <a:off x="346056" y="2225985"/>
            <a:ext cx="5532120" cy="1450483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 3"/>
              <p:cNvSpPr txBox="1"/>
              <p:nvPr/>
            </p:nvSpPr>
            <p:spPr>
              <a:xfrm>
                <a:off x="489655" y="2381433"/>
                <a:ext cx="5312664" cy="1087878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(i)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⊂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𝑽</m:t>
                    </m:r>
                  </m:oMath>
                </a14:m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Los elementos de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son vectores de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𝑽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 verifica por definición.</a:t>
                </a:r>
              </a:p>
            </p:txBody>
          </p:sp>
        </mc:Choice>
        <mc:Fallback>
          <p:sp>
            <p:nvSpPr>
              <p:cNvPr id="37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55" y="2381433"/>
                <a:ext cx="5312664" cy="1087878"/>
              </a:xfrm>
              <a:prstGeom prst="rect">
                <a:avLst/>
              </a:prstGeom>
              <a:blipFill rotWithShape="0">
                <a:blip r:embed="rId4"/>
                <a:stretch>
                  <a:fillRect l="-2638" t="-7303" b="-7865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4"/>
          <p:cNvSpPr/>
          <p:nvPr/>
        </p:nvSpPr>
        <p:spPr>
          <a:xfrm>
            <a:off x="6088488" y="2225985"/>
            <a:ext cx="5532120" cy="1463362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 5"/>
              <p:cNvSpPr txBox="1"/>
              <p:nvPr/>
            </p:nvSpPr>
            <p:spPr>
              <a:xfrm>
                <a:off x="6198216" y="2377409"/>
                <a:ext cx="5312664" cy="955161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(ii)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≠ ∅</m:t>
                    </m:r>
                  </m:oMath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Basta ver que el vector nulo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 ∈ </m:t>
                    </m:r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el vector nulo debe cumplir la regla de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</a:p>
            </p:txBody>
          </p:sp>
        </mc:Choice>
        <mc:Fallback>
          <p:sp>
            <p:nvSpPr>
              <p:cNvPr id="39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216" y="2377409"/>
                <a:ext cx="5312664" cy="955161"/>
              </a:xfrm>
              <a:prstGeom prst="rect">
                <a:avLst/>
              </a:prstGeom>
              <a:blipFill rotWithShape="0">
                <a:blip r:embed="rId5"/>
                <a:stretch>
                  <a:fillRect l="-2755" t="-8280" r="-2641" b="-12102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Shape 6"/>
          <p:cNvSpPr/>
          <p:nvPr/>
        </p:nvSpPr>
        <p:spPr>
          <a:xfrm>
            <a:off x="346056" y="3993868"/>
            <a:ext cx="5532120" cy="1441017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 7"/>
              <p:cNvSpPr txBox="1"/>
              <p:nvPr/>
            </p:nvSpPr>
            <p:spPr>
              <a:xfrm>
                <a:off x="455784" y="4123751"/>
                <a:ext cx="5312664" cy="1053557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(iii)  Cerradura bajo la suma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𝑯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𝑯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⟹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𝑯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 suma de dos elementos de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sigue en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</a:p>
            </p:txBody>
          </p:sp>
        </mc:Choice>
        <mc:Fallback>
          <p:sp>
            <p:nvSpPr>
              <p:cNvPr id="41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84" y="4123751"/>
                <a:ext cx="5312664" cy="1053557"/>
              </a:xfrm>
              <a:prstGeom prst="rect">
                <a:avLst/>
              </a:prstGeom>
              <a:blipFill rotWithShape="0">
                <a:blip r:embed="rId6"/>
                <a:stretch>
                  <a:fillRect l="-2755" t="-6936" b="-11561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Shape 8"/>
          <p:cNvSpPr/>
          <p:nvPr/>
        </p:nvSpPr>
        <p:spPr>
          <a:xfrm>
            <a:off x="6088488" y="3993868"/>
            <a:ext cx="5532120" cy="1441017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 9"/>
              <p:cNvSpPr txBox="1"/>
              <p:nvPr/>
            </p:nvSpPr>
            <p:spPr>
              <a:xfrm>
                <a:off x="6232087" y="4123751"/>
                <a:ext cx="5312664" cy="1066436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(iv)  Cerradura bajo el escalar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𝑯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ℝ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⟹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𝑯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Un múltiplo de un elemento de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sigue en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tx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</a:p>
            </p:txBody>
          </p:sp>
        </mc:Choice>
        <mc:Fallback>
          <p:sp>
            <p:nvSpPr>
              <p:cNvPr id="43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087" y="4123751"/>
                <a:ext cx="5312664" cy="1066436"/>
              </a:xfrm>
              <a:prstGeom prst="rect">
                <a:avLst/>
              </a:prstGeom>
              <a:blipFill rotWithShape="0">
                <a:blip r:embed="rId7"/>
                <a:stretch>
                  <a:fillRect l="-2638" t="-6857" b="-1028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Shape 10"/>
          <p:cNvSpPr/>
          <p:nvPr/>
        </p:nvSpPr>
        <p:spPr>
          <a:xfrm>
            <a:off x="346056" y="5752285"/>
            <a:ext cx="11274552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 11"/>
              <p:cNvSpPr txBox="1"/>
              <p:nvPr/>
            </p:nvSpPr>
            <p:spPr>
              <a:xfrm>
                <a:off x="483216" y="5798005"/>
                <a:ext cx="11109960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 marL="0" indent="0" algn="just">
                  <a:spcAft>
                    <a:spcPts val="800"/>
                  </a:spcAft>
                  <a:buNone/>
                </a:pPr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Si falla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ii</a:t>
                </a:r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no es subespacio. Si falla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iii</a:t>
                </a:r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) o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iv</a:t>
                </a:r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), </a:t>
                </a:r>
                <a:r>
                  <a:rPr lang="en-US" b="1" dirty="0" err="1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basta</a:t>
                </a:r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un</a:t>
                </a:r>
                <a:r>
                  <a:rPr lang="en-US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contraejemplo concreto. Para probar que sí se cumple, hay que usar vectores genéricos.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5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16" y="5798005"/>
                <a:ext cx="11109960" cy="640080"/>
              </a:xfrm>
              <a:prstGeom prst="rect">
                <a:avLst/>
              </a:prstGeom>
              <a:blipFill rotWithShape="0">
                <a:blip r:embed="rId8"/>
                <a:stretch>
                  <a:fillRect l="-1262" t="-4762" r="-1262" b="-1523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0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7" grpId="0" animBg="1"/>
      <p:bldP spid="39" grpId="0" animBg="1"/>
      <p:bldP spid="41" grpId="0" animBg="1"/>
      <p:bldP spid="43" grpId="0" animBg="1"/>
      <p:bldP spid="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>
            <a:spLocks/>
          </p:cNvSpPr>
          <p:nvPr/>
        </p:nvSpPr>
        <p:spPr>
          <a:xfrm>
            <a:off x="238259" y="1254402"/>
            <a:ext cx="8049296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¿Qué es un vector genérico? (la clave de las condiciones iii y iv)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1"/>
              <p:cNvSpPr txBox="1"/>
              <p:nvPr/>
            </p:nvSpPr>
            <p:spPr>
              <a:xfrm>
                <a:off x="238259" y="1854557"/>
                <a:ext cx="6766560" cy="11333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 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regla de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2000" b="1" dirty="0" err="1" smtClean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Ejemplo</a:t>
                </a:r>
                <a:r>
                  <a:rPr lang="en-US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1.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 = {(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𝒚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) ∈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ℝ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² :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𝒚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𝟐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m:t>}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significa "</a:t>
                </a: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la 2.ª coordenada es el doble</a:t>
                </a: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de la 1.ª</a:t>
                </a:r>
                <a:r>
                  <a:rPr lang="en-US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".</a:t>
                </a:r>
                <a:endParaRPr lang="en-US" sz="20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9" y="1854557"/>
                <a:ext cx="6766560" cy="1133342"/>
              </a:xfrm>
              <a:prstGeom prst="rect">
                <a:avLst/>
              </a:prstGeom>
              <a:blipFill rotWithShape="0">
                <a:blip r:embed="rId2"/>
                <a:stretch>
                  <a:fillRect l="-2252" t="-6452" b="-376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ángulo 5"/>
              <p:cNvSpPr/>
              <p:nvPr/>
            </p:nvSpPr>
            <p:spPr>
              <a:xfrm>
                <a:off x="238259" y="3182369"/>
                <a:ext cx="676656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2.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Vector genérico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 elemento cualquiera de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escrito con letras: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₁,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𝒚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₁).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 único que sabemos de él es que cumple la regla: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𝒚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 =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𝟐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Esa es la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hipótesis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000" b="1" dirty="0">
                  <a:solidFill>
                    <a:srgbClr val="5252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9" y="3182369"/>
                <a:ext cx="6766560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901" t="-2395" r="-991" b="-1018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/>
              <p:cNvSpPr/>
              <p:nvPr/>
            </p:nvSpPr>
            <p:spPr>
              <a:xfrm>
                <a:off x="238259" y="4392502"/>
                <a:ext cx="676656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3.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¿Por qué letras y no números? Si pruebo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𝟐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+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𝟔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solo compruebo un caso. Con letras compruebo todos los casos a la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vez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000" b="1" dirty="0">
                  <a:solidFill>
                    <a:srgbClr val="5252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9" y="4392502"/>
                <a:ext cx="6766560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901" t="-3012" r="-991" b="-10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/>
              <p:cNvSpPr/>
              <p:nvPr/>
            </p:nvSpPr>
            <p:spPr>
              <a:xfrm>
                <a:off x="238259" y="5602635"/>
                <a:ext cx="676656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4.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Subíndices: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₁,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𝒚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₁)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y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₂, 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𝒚</m:t>
                    </m:r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₂)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son dos vectores distintos de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; el subíndice solo los distingue.</a:t>
                </a:r>
              </a:p>
            </p:txBody>
          </p:sp>
        </mc:Choice>
        <mc:Fallback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9" y="5602635"/>
                <a:ext cx="6766560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901" t="-3448" r="-991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2"/>
          <p:cNvSpPr/>
          <p:nvPr/>
        </p:nvSpPr>
        <p:spPr>
          <a:xfrm>
            <a:off x="7523838" y="1854557"/>
            <a:ext cx="4206240" cy="4590674"/>
          </a:xfrm>
          <a:prstGeom prst="roundRect">
            <a:avLst>
              <a:gd name="adj" fmla="val 2609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3"/>
              <p:cNvSpPr txBox="1"/>
              <p:nvPr/>
            </p:nvSpPr>
            <p:spPr>
              <a:xfrm>
                <a:off x="7633566" y="1909421"/>
                <a:ext cx="3986784" cy="440702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Idea: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un club con regla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Los socios son los vectores que cumplen la regla.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iii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pregunta: si sumo dos socios, ¿el resultado sigue cumpliendo la regla?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iv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pregunta: si multiplico un socio por un número, ¿sigue cumpliéndola?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 responde siempre así: parto de la regla (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hipótesis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), hago la operación y compruebo la regla en el resultado.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2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566" y="1909421"/>
                <a:ext cx="3986784" cy="4407022"/>
              </a:xfrm>
              <a:prstGeom prst="rect">
                <a:avLst/>
              </a:prstGeom>
              <a:blipFill rotWithShape="0">
                <a:blip r:embed="rId6"/>
                <a:stretch>
                  <a:fillRect l="-3823" t="-1660" r="-3976" b="-276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20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>
            <a:spLocks/>
          </p:cNvSpPr>
          <p:nvPr/>
        </p:nvSpPr>
        <p:spPr>
          <a:xfrm>
            <a:off x="457200" y="1303278"/>
            <a:ext cx="5242345" cy="38829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Receta de cuatro pasos para (iii) y (iv)</a:t>
            </a: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Shape 1"/>
          <p:cNvSpPr/>
          <p:nvPr/>
        </p:nvSpPr>
        <p:spPr>
          <a:xfrm>
            <a:off x="457200" y="1913157"/>
            <a:ext cx="5532120" cy="3148240"/>
          </a:xfrm>
          <a:prstGeom prst="roundRect">
            <a:avLst>
              <a:gd name="adj" fmla="val 2667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2"/>
              <p:cNvSpPr txBox="1"/>
              <p:nvPr/>
            </p:nvSpPr>
            <p:spPr>
              <a:xfrm>
                <a:off x="566928" y="1968021"/>
                <a:ext cx="5312664" cy="2964587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(iii) 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Cerradura bajo la suma</a:t>
                </a:r>
                <a:endPara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1. </a:t>
                </a:r>
                <a:r>
                  <a:rPr lang="en-US" b="1" u="sng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Hipótesis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tomo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𝑯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genéricos y escribo que cumplen la regla.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2. </a:t>
                </a:r>
                <a:r>
                  <a:rPr lang="en-US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Operación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calculo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𝒚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coordenada a coordenada.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3. </a:t>
                </a:r>
                <a:r>
                  <a:rPr lang="en-US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Verificación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sustituyo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𝒚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en la regla y uso la hipótesis.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4. </a:t>
                </a:r>
                <a:r>
                  <a:rPr lang="en-US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Conclusión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si la regla se cumple,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1968021"/>
                <a:ext cx="5312664" cy="2964587"/>
              </a:xfrm>
              <a:prstGeom prst="rect">
                <a:avLst/>
              </a:prstGeom>
              <a:blipFill rotWithShape="0">
                <a:blip r:embed="rId2"/>
                <a:stretch>
                  <a:fillRect l="-2638" t="-2675" r="-2638" b="-1852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3"/>
          <p:cNvSpPr/>
          <p:nvPr/>
        </p:nvSpPr>
        <p:spPr>
          <a:xfrm>
            <a:off x="6199632" y="1913157"/>
            <a:ext cx="5532120" cy="3148240"/>
          </a:xfrm>
          <a:prstGeom prst="roundRect">
            <a:avLst>
              <a:gd name="adj" fmla="val 2667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4"/>
              <p:cNvSpPr txBox="1"/>
              <p:nvPr/>
            </p:nvSpPr>
            <p:spPr>
              <a:xfrm>
                <a:off x="6309360" y="1968021"/>
                <a:ext cx="5312664" cy="2964587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(iv) 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Cerradura bajo el escalar</a:t>
                </a:r>
                <a:endPara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1. </a:t>
                </a:r>
                <a:r>
                  <a:rPr lang="en-US" b="1" u="sng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Hipótesis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tomo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𝑯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genérico 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ℝ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cualquiera.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2. </a:t>
                </a:r>
                <a:r>
                  <a:rPr lang="en-US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Operación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calculo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multiplicando cada coordenada por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3. </a:t>
                </a:r>
                <a:r>
                  <a:rPr lang="en-US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Verificación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sustituyo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en la regla y uso la hipótesis.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Paso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4. </a:t>
                </a:r>
                <a:r>
                  <a:rPr lang="en-US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Conclusión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si la regla se cumple,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1968021"/>
                <a:ext cx="5312664" cy="2964587"/>
              </a:xfrm>
              <a:prstGeom prst="rect">
                <a:avLst/>
              </a:prstGeom>
              <a:blipFill rotWithShape="0">
                <a:blip r:embed="rId3"/>
                <a:stretch>
                  <a:fillRect l="-2638" t="-2675" r="-2638" b="-1852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70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52561"/>
                <a:ext cx="9453093" cy="60835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Investigue si el siguiente subconjunto es un </a:t>
                </a:r>
                <a:r>
                  <a:rPr lang="es-MX" sz="2100" b="1" dirty="0" err="1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vectorial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52561"/>
                <a:ext cx="9453093" cy="608358"/>
              </a:xfrm>
              <a:prstGeom prst="rect">
                <a:avLst/>
              </a:prstGeom>
              <a:blipFill rotWithShape="0">
                <a:blip r:embed="rId2"/>
                <a:stretch>
                  <a:fillRect l="-774" b="-5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328432"/>
            <a:ext cx="1506828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</a:t>
            </a:r>
            <a:r>
              <a:rPr lang="es-NI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1" y="2510059"/>
                <a:ext cx="3258354" cy="455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rgbClr val="A5A5A5">
                      <a:lumMod val="5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510059"/>
                <a:ext cx="3258354" cy="455509"/>
              </a:xfrm>
              <a:prstGeom prst="rect">
                <a:avLst/>
              </a:prstGeom>
              <a:blipFill rotWithShape="0">
                <a:blip r:embed="rId3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3210277"/>
            <a:ext cx="1506828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12879" y="3809578"/>
            <a:ext cx="515155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502276" y="3809578"/>
                <a:ext cx="1146220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⊂</m:t>
                      </m:r>
                      <m:sSup>
                        <m:sSupPr>
                          <m:ctrlP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NI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76" y="3809578"/>
                <a:ext cx="1146220" cy="42412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 txBox="1">
            <a:spLocks/>
          </p:cNvSpPr>
          <p:nvPr/>
        </p:nvSpPr>
        <p:spPr>
          <a:xfrm>
            <a:off x="-12879" y="4518427"/>
            <a:ext cx="515155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502276" y="4518427"/>
                <a:ext cx="1004552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≠∅</m:t>
                      </m:r>
                    </m:oMath>
                  </m:oMathPara>
                </a14:m>
                <a:endParaRPr lang="es-NI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76" y="4518427"/>
                <a:ext cx="1004552" cy="424129"/>
              </a:xfrm>
              <a:prstGeom prst="rect">
                <a:avLst/>
              </a:prstGeom>
              <a:blipFill rotWithShape="0"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/>
          <p:cNvSpPr txBox="1">
            <a:spLocks/>
          </p:cNvSpPr>
          <p:nvPr/>
        </p:nvSpPr>
        <p:spPr>
          <a:xfrm>
            <a:off x="1764406" y="3809578"/>
            <a:ext cx="9697791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Sí, por </a:t>
            </a:r>
            <a:r>
              <a:rPr lang="es-NI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definición: sus elementos son pares ordenados de números reales</a:t>
            </a:r>
            <a:r>
              <a:rPr lang="es-NI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764406" y="4518427"/>
            <a:ext cx="1790163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nulo</a:t>
            </a:r>
            <a:endParaRPr lang="es-NI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3490174" y="4518426"/>
                <a:ext cx="1004552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NI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174" y="4518426"/>
                <a:ext cx="1004552" cy="42412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4464609" y="4518425"/>
                <a:ext cx="107330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609" y="4518425"/>
                <a:ext cx="1073306" cy="415498"/>
              </a:xfrm>
              <a:prstGeom prst="rect">
                <a:avLst/>
              </a:prstGeom>
              <a:blipFill rotWithShape="0">
                <a:blip r:embed="rId7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6044451" y="4518425"/>
                <a:ext cx="130253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451" y="4518425"/>
                <a:ext cx="1302536" cy="415498"/>
              </a:xfrm>
              <a:prstGeom prst="rect">
                <a:avLst/>
              </a:prstGeom>
              <a:blipFill rotWithShape="0">
                <a:blip r:embed="rId8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lecha derecha 14"/>
          <p:cNvSpPr/>
          <p:nvPr/>
        </p:nvSpPr>
        <p:spPr>
          <a:xfrm>
            <a:off x="5537915" y="4622299"/>
            <a:ext cx="321972" cy="207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/>
              <p:cNvSpPr/>
              <p:nvPr/>
            </p:nvSpPr>
            <p:spPr>
              <a:xfrm>
                <a:off x="6044451" y="5036923"/>
                <a:ext cx="924227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451" y="5036923"/>
                <a:ext cx="924227" cy="41549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ángulo 16"/>
              <p:cNvSpPr/>
              <p:nvPr/>
            </p:nvSpPr>
            <p:spPr>
              <a:xfrm>
                <a:off x="6885001" y="5036923"/>
                <a:ext cx="46198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>
                          <a:latin typeface="Cambria Math" panose="02040503050406030204" pitchFamily="18" charset="0"/>
                        </a:rPr>
                        <m:t>✓</m:t>
                      </m:r>
                    </m:oMath>
                  </m:oMathPara>
                </a14:m>
                <a:endParaRPr lang="es-MX" sz="2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001" y="5036923"/>
                <a:ext cx="461986" cy="415498"/>
              </a:xfrm>
              <a:prstGeom prst="rect">
                <a:avLst/>
              </a:prstGeom>
              <a:blipFill rotWithShape="0">
                <a:blip r:embed="rId10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8472976" y="5041431"/>
                <a:ext cx="1173300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∴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sz="2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976" y="5041431"/>
                <a:ext cx="1173300" cy="41549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88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>
            <a:spLocks/>
          </p:cNvSpPr>
          <p:nvPr/>
        </p:nvSpPr>
        <p:spPr>
          <a:xfrm>
            <a:off x="457200" y="1319505"/>
            <a:ext cx="3503698" cy="38829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(iii) </a:t>
            </a: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Cerradura bajo la suma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457200" y="187452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2"/>
              <p:cNvSpPr txBox="1"/>
              <p:nvPr/>
            </p:nvSpPr>
            <p:spPr>
              <a:xfrm>
                <a:off x="566928" y="1929384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1 · Hipótesis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(1)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₂)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 (2)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1929384"/>
                <a:ext cx="5312664" cy="1719072"/>
              </a:xfrm>
              <a:prstGeom prst="rect">
                <a:avLst/>
              </a:prstGeom>
              <a:blipFill rotWithShape="0">
                <a:blip r:embed="rId2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3"/>
          <p:cNvSpPr/>
          <p:nvPr/>
        </p:nvSpPr>
        <p:spPr>
          <a:xfrm>
            <a:off x="6199632" y="187452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4"/>
              <p:cNvSpPr txBox="1"/>
              <p:nvPr/>
            </p:nvSpPr>
            <p:spPr>
              <a:xfrm>
                <a:off x="6309360" y="1929384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2 · Operación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₂)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 suma coordenada a coordenada.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7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1929384"/>
                <a:ext cx="5312664" cy="1719072"/>
              </a:xfrm>
              <a:prstGeom prst="rect">
                <a:avLst/>
              </a:prstGeom>
              <a:blipFill rotWithShape="0">
                <a:blip r:embed="rId3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5"/>
          <p:cNvSpPr/>
          <p:nvPr/>
        </p:nvSpPr>
        <p:spPr>
          <a:xfrm>
            <a:off x="457200" y="384048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6"/>
              <p:cNvSpPr txBox="1"/>
              <p:nvPr/>
            </p:nvSpPr>
            <p:spPr>
              <a:xfrm>
                <a:off x="566928" y="3895344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3 · Verificación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¿Cumple la regla? </a:t>
                </a:r>
                <a:endParaRPr lang="en-US" b="1" dirty="0" smtClean="0">
                  <a:solidFill>
                    <a:srgbClr val="5252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Debo</a:t>
                </a:r>
                <a:r>
                  <a:rPr lang="en-US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ver que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₂).</m:t>
                    </m:r>
                  </m:oMath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₂) 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(por (1) y (2))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9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3895344"/>
                <a:ext cx="5312664" cy="1719072"/>
              </a:xfrm>
              <a:prstGeom prst="rect">
                <a:avLst/>
              </a:prstGeom>
              <a:blipFill rotWithShape="0">
                <a:blip r:embed="rId4"/>
                <a:stretch>
                  <a:fillRect l="-2638" t="-4610" r="-1606" b="-602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7"/>
          <p:cNvSpPr/>
          <p:nvPr/>
        </p:nvSpPr>
        <p:spPr>
          <a:xfrm>
            <a:off x="6199632" y="384048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8"/>
              <p:cNvSpPr txBox="1"/>
              <p:nvPr/>
            </p:nvSpPr>
            <p:spPr>
              <a:xfrm>
                <a:off x="6309360" y="3895344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4 · Conclusión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𝑯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∴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cerrado bajo la suma.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1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3895344"/>
                <a:ext cx="5312664" cy="1719072"/>
              </a:xfrm>
              <a:prstGeom prst="rect">
                <a:avLst/>
              </a:prstGeom>
              <a:blipFill rotWithShape="0">
                <a:blip r:embed="rId5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9"/>
          <p:cNvSpPr/>
          <p:nvPr/>
        </p:nvSpPr>
        <p:spPr>
          <a:xfrm>
            <a:off x="457200" y="5852160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10"/>
              <p:cNvSpPr txBox="1"/>
              <p:nvPr/>
            </p:nvSpPr>
            <p:spPr>
              <a:xfrm>
                <a:off x="594360" y="5897880"/>
                <a:ext cx="11137392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Forma equivalente: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₂) ⟹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₂)),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que tiene la forma </a:t>
                </a:r>
                <a:r>
                  <a:rPr lang="en-US" b="1" dirty="0">
                    <a:solidFill>
                      <a:srgbClr val="52525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(a, 2a)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∈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3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5897880"/>
                <a:ext cx="11137392" cy="640080"/>
              </a:xfrm>
              <a:prstGeom prst="rect">
                <a:avLst/>
              </a:prstGeom>
              <a:blipFill rotWithShape="0">
                <a:blip r:embed="rId6"/>
                <a:stretch>
                  <a:fillRect l="-1314" t="-5714" r="-1259" b="-1428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71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>
            <a:spLocks/>
          </p:cNvSpPr>
          <p:nvPr/>
        </p:nvSpPr>
        <p:spPr>
          <a:xfrm>
            <a:off x="359965" y="1234440"/>
            <a:ext cx="6362807" cy="401177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(</a:t>
            </a: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iv</a:t>
            </a: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) Cerradura bajo la multiplicación por un escalar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457200" y="1874520"/>
            <a:ext cx="5532120" cy="1345198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2"/>
              <p:cNvSpPr txBox="1"/>
              <p:nvPr/>
            </p:nvSpPr>
            <p:spPr>
              <a:xfrm>
                <a:off x="566928" y="1929385"/>
                <a:ext cx="5312664" cy="1174424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1 · Hipótesis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(1)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ℝ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cualquiera.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1929385"/>
                <a:ext cx="5312664" cy="1174424"/>
              </a:xfrm>
              <a:prstGeom prst="rect">
                <a:avLst/>
              </a:prstGeom>
              <a:blipFill rotWithShape="0">
                <a:blip r:embed="rId2"/>
                <a:stretch>
                  <a:fillRect l="-2638" t="-6771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3"/>
          <p:cNvSpPr/>
          <p:nvPr/>
        </p:nvSpPr>
        <p:spPr>
          <a:xfrm>
            <a:off x="6199632" y="1874520"/>
            <a:ext cx="5532120" cy="1345198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4"/>
              <p:cNvSpPr txBox="1"/>
              <p:nvPr/>
            </p:nvSpPr>
            <p:spPr>
              <a:xfrm>
                <a:off x="6309360" y="1929384"/>
                <a:ext cx="5312664" cy="1174425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2 · Operación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₁) = 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₁)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multiplica cada coordenada.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7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1929384"/>
                <a:ext cx="5312664" cy="1174425"/>
              </a:xfrm>
              <a:prstGeom prst="rect">
                <a:avLst/>
              </a:prstGeom>
              <a:blipFill rotWithShape="0">
                <a:blip r:embed="rId3"/>
                <a:stretch>
                  <a:fillRect l="-2638" t="-6771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5"/>
          <p:cNvSpPr/>
          <p:nvPr/>
        </p:nvSpPr>
        <p:spPr>
          <a:xfrm>
            <a:off x="411480" y="3624115"/>
            <a:ext cx="5532120" cy="1401221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6"/>
              <p:cNvSpPr txBox="1"/>
              <p:nvPr/>
            </p:nvSpPr>
            <p:spPr>
              <a:xfrm>
                <a:off x="521208" y="3678980"/>
                <a:ext cx="5312664" cy="1127417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3 · Verificación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Debo ver que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₁).</m:t>
                    </m:r>
                  </m:oMath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 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(por (1))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9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" y="3678980"/>
                <a:ext cx="5312664" cy="1127417"/>
              </a:xfrm>
              <a:prstGeom prst="rect">
                <a:avLst/>
              </a:prstGeom>
              <a:blipFill rotWithShape="0">
                <a:blip r:embed="rId4"/>
                <a:stretch>
                  <a:fillRect l="-2755" t="-7065" b="-434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7"/>
          <p:cNvSpPr/>
          <p:nvPr/>
        </p:nvSpPr>
        <p:spPr>
          <a:xfrm>
            <a:off x="6153912" y="3624116"/>
            <a:ext cx="5532120" cy="1401221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8"/>
              <p:cNvSpPr txBox="1"/>
              <p:nvPr/>
            </p:nvSpPr>
            <p:spPr>
              <a:xfrm>
                <a:off x="6263640" y="3678980"/>
                <a:ext cx="5312664" cy="1230448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4 · Conclusión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𝑯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∴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cerrado bajo el escalar.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1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640" y="3678980"/>
                <a:ext cx="5312664" cy="1230448"/>
              </a:xfrm>
              <a:prstGeom prst="rect">
                <a:avLst/>
              </a:prstGeom>
              <a:blipFill rotWithShape="0">
                <a:blip r:embed="rId5"/>
                <a:stretch>
                  <a:fillRect l="-2755" t="-646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9"/>
          <p:cNvSpPr/>
          <p:nvPr/>
        </p:nvSpPr>
        <p:spPr>
          <a:xfrm>
            <a:off x="411480" y="5384015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10"/>
              <p:cNvSpPr txBox="1"/>
              <p:nvPr/>
            </p:nvSpPr>
            <p:spPr>
              <a:xfrm>
                <a:off x="548640" y="5429735"/>
                <a:ext cx="10972800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Conclusión: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se cumplen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),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ii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),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iii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y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iv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⟹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un subespacio vectorial de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ℝ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²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(la recta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por el origen).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3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429735"/>
                <a:ext cx="10972800" cy="640080"/>
              </a:xfrm>
              <a:prstGeom prst="rect">
                <a:avLst/>
              </a:prstGeom>
              <a:blipFill rotWithShape="0">
                <a:blip r:embed="rId6"/>
                <a:stretch>
                  <a:fillRect l="-1278" t="-6667" r="-1333" b="-1523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44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39682"/>
                <a:ext cx="9504608" cy="60835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Investigue si el siguiente subconjunto es un </a:t>
                </a:r>
                <a:r>
                  <a:rPr lang="es-MX" sz="2100" b="1" dirty="0" err="1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vectorial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39682"/>
                <a:ext cx="9504608" cy="608358"/>
              </a:xfrm>
              <a:prstGeom prst="rect">
                <a:avLst/>
              </a:prstGeom>
              <a:blipFill rotWithShape="0">
                <a:blip r:embed="rId2"/>
                <a:stretch>
                  <a:fillRect l="-770" b="-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315553"/>
            <a:ext cx="1506828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</a:t>
            </a:r>
            <a:r>
              <a:rPr lang="es-NI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0" y="2497180"/>
                <a:ext cx="4494726" cy="455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𝑾</m:t>
                      </m:r>
                      <m:r>
                        <a:rPr lang="es-MX" sz="21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  <m: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rgbClr val="A5A5A5">
                      <a:lumMod val="5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97180"/>
                <a:ext cx="4494726" cy="455509"/>
              </a:xfrm>
              <a:prstGeom prst="rect">
                <a:avLst/>
              </a:prstGeom>
              <a:blipFill rotWithShape="0">
                <a:blip r:embed="rId3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3197398"/>
            <a:ext cx="1506828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12879" y="3796699"/>
            <a:ext cx="515155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502276" y="3796699"/>
                <a:ext cx="1146220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𝑾</m:t>
                      </m:r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⊂</m:t>
                      </m:r>
                      <m:sSup>
                        <m:sSupPr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76" y="3796699"/>
                <a:ext cx="1146220" cy="42412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 txBox="1">
            <a:spLocks/>
          </p:cNvSpPr>
          <p:nvPr/>
        </p:nvSpPr>
        <p:spPr>
          <a:xfrm>
            <a:off x="-12879" y="4505548"/>
            <a:ext cx="515155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502276" y="4505548"/>
                <a:ext cx="1004552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𝑾</m:t>
                      </m:r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≠∅</m:t>
                      </m:r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76" y="4505548"/>
                <a:ext cx="1004552" cy="424129"/>
              </a:xfrm>
              <a:prstGeom prst="rect">
                <a:avLst/>
              </a:prstGeom>
              <a:blipFill rotWithShape="0"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/>
          <p:cNvSpPr txBox="1">
            <a:spLocks/>
          </p:cNvSpPr>
          <p:nvPr/>
        </p:nvSpPr>
        <p:spPr>
          <a:xfrm>
            <a:off x="1764406" y="3796699"/>
            <a:ext cx="8461419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Sí, por </a:t>
            </a: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definición: 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 elementos son ternas de números reales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764406" y="4505548"/>
            <a:ext cx="1790163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nulo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3490174" y="4505547"/>
                <a:ext cx="1004552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174" y="4505547"/>
                <a:ext cx="1004552" cy="42412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4600246" y="4505547"/>
                <a:ext cx="185602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246" y="4505547"/>
                <a:ext cx="1856021" cy="415498"/>
              </a:xfrm>
              <a:prstGeom prst="rect">
                <a:avLst/>
              </a:prstGeom>
              <a:blipFill rotWithShape="0">
                <a:blip r:embed="rId7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4600246" y="5014707"/>
                <a:ext cx="1881669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>
                  <a:solidFill>
                    <a:srgbClr val="A5A5A5">
                      <a:lumMod val="5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246" y="5014707"/>
                <a:ext cx="1881669" cy="4154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5573604" y="5421965"/>
                <a:ext cx="91781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604" y="5421965"/>
                <a:ext cx="917815" cy="41549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/>
              <p:cNvSpPr/>
              <p:nvPr/>
            </p:nvSpPr>
            <p:spPr>
              <a:xfrm>
                <a:off x="6456267" y="5421965"/>
                <a:ext cx="46198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✓</m:t>
                      </m:r>
                    </m:oMath>
                  </m:oMathPara>
                </a14:m>
                <a:endParaRPr lang="es-MX" sz="21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267" y="5421965"/>
                <a:ext cx="461986" cy="41549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7448275" y="5421965"/>
                <a:ext cx="1231175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∴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𝑾</m:t>
                    </m:r>
                  </m:oMath>
                </a14:m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sz="21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275" y="5421965"/>
                <a:ext cx="1231175" cy="4154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82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/>
          </p:cNvSpPr>
          <p:nvPr/>
        </p:nvSpPr>
        <p:spPr>
          <a:xfrm>
            <a:off x="457200" y="1319505"/>
            <a:ext cx="3503698" cy="38829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(iii) </a:t>
            </a: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Cerradura bajo la suma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4284" y="4085179"/>
            <a:ext cx="5532120" cy="2122438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"/>
              <p:cNvSpPr txBox="1"/>
              <p:nvPr/>
            </p:nvSpPr>
            <p:spPr>
              <a:xfrm>
                <a:off x="574012" y="4140042"/>
                <a:ext cx="5312664" cy="1913029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3 · Verificación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Evalúo la regla: </a:t>
                </a:r>
                <a:endParaRPr lang="en-US" b="1" dirty="0" smtClean="0">
                  <a:solidFill>
                    <a:srgbClr val="5252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₂) − 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₂) + 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𝒛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𝒛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₂)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 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b="1" i="1" dirty="0" smtClean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b="1" i="1" dirty="0" smtClean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+ 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1" i="1" dirty="0" smtClean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1" i="1" dirty="0" smtClean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52525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NI" b="1" i="1" dirty="0" smtClean="0">
                  <a:solidFill>
                    <a:srgbClr val="525252"/>
                  </a:solidFill>
                  <a:latin typeface="Cambria Math" panose="02040503050406030204" pitchFamily="18" charset="0"/>
                  <a:ea typeface="Cambria Math" pitchFamily="34" charset="-122"/>
                  <a:cs typeface="Cambria Math" pitchFamily="34" charset="-12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(por (1) y (2))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9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12" y="4140042"/>
                <a:ext cx="5312664" cy="1913029"/>
              </a:xfrm>
              <a:prstGeom prst="rect">
                <a:avLst/>
              </a:prstGeom>
              <a:blipFill rotWithShape="0">
                <a:blip r:embed="rId2"/>
                <a:stretch>
                  <a:fillRect l="-2638" t="-4140" b="-63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"/>
          <p:cNvSpPr/>
          <p:nvPr/>
        </p:nvSpPr>
        <p:spPr>
          <a:xfrm>
            <a:off x="6206716" y="4085179"/>
            <a:ext cx="5532120" cy="2122438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8"/>
              <p:cNvSpPr txBox="1"/>
              <p:nvPr/>
            </p:nvSpPr>
            <p:spPr>
              <a:xfrm>
                <a:off x="6316444" y="4140043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4 · Conclusión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𝑾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∴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𝑾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cerrado bajo la suma.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1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444" y="4140043"/>
                <a:ext cx="5312664" cy="1719072"/>
              </a:xfrm>
              <a:prstGeom prst="rect">
                <a:avLst/>
              </a:prstGeom>
              <a:blipFill rotWithShape="0">
                <a:blip r:embed="rId3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"/>
          <p:cNvSpPr/>
          <p:nvPr/>
        </p:nvSpPr>
        <p:spPr>
          <a:xfrm>
            <a:off x="457200" y="187452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2"/>
              <p:cNvSpPr txBox="1"/>
              <p:nvPr/>
            </p:nvSpPr>
            <p:spPr>
              <a:xfrm>
                <a:off x="566928" y="1929384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Paso 1 · Hipótesis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𝑾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−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(1)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₂)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𝑾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−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(2)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1929384"/>
                <a:ext cx="5312664" cy="1719072"/>
              </a:xfrm>
              <a:prstGeom prst="rect">
                <a:avLst/>
              </a:prstGeom>
              <a:blipFill rotWithShape="0">
                <a:blip r:embed="rId4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3"/>
          <p:cNvSpPr/>
          <p:nvPr/>
        </p:nvSpPr>
        <p:spPr>
          <a:xfrm>
            <a:off x="6199632" y="187452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4"/>
              <p:cNvSpPr txBox="1"/>
              <p:nvPr/>
            </p:nvSpPr>
            <p:spPr>
              <a:xfrm>
                <a:off x="6309360" y="1929384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Paso 2 · Operación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𝒛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 +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𝒛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₂)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1929384"/>
                <a:ext cx="5312664" cy="1719072"/>
              </a:xfrm>
              <a:prstGeom prst="rect">
                <a:avLst/>
              </a:prstGeom>
              <a:blipFill rotWithShape="0">
                <a:blip r:embed="rId5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4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1" grpId="0" animBg="1"/>
      <p:bldP spid="13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>
            <a:spLocks/>
          </p:cNvSpPr>
          <p:nvPr/>
        </p:nvSpPr>
        <p:spPr>
          <a:xfrm>
            <a:off x="359965" y="1234440"/>
            <a:ext cx="6362807" cy="401177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(</a:t>
            </a: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iv</a:t>
            </a: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) Cerradura bajo la multiplicación por un escalar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59965" y="1784368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469693" y="1839232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Paso 1 · Hipótesis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𝑾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−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(1)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∈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ℝ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cualquiera.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93" y="1839232"/>
                <a:ext cx="5312664" cy="1719072"/>
              </a:xfrm>
              <a:prstGeom prst="rect">
                <a:avLst/>
              </a:prstGeom>
              <a:blipFill rotWithShape="0">
                <a:blip r:embed="rId2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6102397" y="1784368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6212125" y="1839232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2 · Operación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(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₁,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𝒛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₁)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6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125" y="1839232"/>
                <a:ext cx="5312664" cy="1719072"/>
              </a:xfrm>
              <a:prstGeom prst="rect">
                <a:avLst/>
              </a:prstGeom>
              <a:blipFill rotWithShape="0">
                <a:blip r:embed="rId3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359965" y="3750328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 txBox="1"/>
              <p:nvPr/>
            </p:nvSpPr>
            <p:spPr>
              <a:xfrm>
                <a:off x="469693" y="3805192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3 · Verificación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Evalúo la </a:t>
                </a:r>
                <a:r>
                  <a:rPr lang="en-US" b="1" dirty="0" err="1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regla</a:t>
                </a:r>
                <a:r>
                  <a:rPr lang="en-US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−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−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₁)</m:t>
                    </m:r>
                  </m:oMath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·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(por (1))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93" y="3805192"/>
                <a:ext cx="5312664" cy="1719072"/>
              </a:xfrm>
              <a:prstGeom prst="rect">
                <a:avLst/>
              </a:prstGeom>
              <a:blipFill rotWithShape="0">
                <a:blip r:embed="rId4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6102397" y="3750328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 txBox="1"/>
              <p:nvPr/>
            </p:nvSpPr>
            <p:spPr>
              <a:xfrm>
                <a:off x="6212125" y="3805192"/>
                <a:ext cx="5312664" cy="171907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Paso 4 · Conclusión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∈ </m:t>
                      </m:r>
                      <m:r>
                        <a:rPr lang="en-US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𝑾</m:t>
                      </m:r>
                    </m:oMath>
                  </m:oMathPara>
                </a14:m>
                <a:endParaRPr lang="en-US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∴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𝑾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cerrado bajo el escalar.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125" y="3805192"/>
                <a:ext cx="5312664" cy="1719072"/>
              </a:xfrm>
              <a:prstGeom prst="rect">
                <a:avLst/>
              </a:prstGeom>
              <a:blipFill rotWithShape="0">
                <a:blip r:embed="rId5"/>
                <a:stretch>
                  <a:fillRect l="-2638" t="-4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59965" y="5762008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 txBox="1"/>
              <p:nvPr/>
            </p:nvSpPr>
            <p:spPr>
              <a:xfrm>
                <a:off x="497125" y="5807728"/>
                <a:ext cx="10972800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Conclusión: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se cumplen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 (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iv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⟹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𝑾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un subespacio vectorial de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ℝ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³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(el plano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por el origen).</a:t>
                </a:r>
                <a:endParaRPr lang="en-US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2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25" y="5807728"/>
                <a:ext cx="10972800" cy="640080"/>
              </a:xfrm>
              <a:prstGeom prst="rect">
                <a:avLst/>
              </a:prstGeom>
              <a:blipFill rotWithShape="0">
                <a:blip r:embed="rId6"/>
                <a:stretch>
                  <a:fillRect l="-1333" t="-6667" r="-1278" b="-1523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943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01046"/>
                <a:ext cx="9452802" cy="60835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Investigue si el siguiente subconjunto es un </a:t>
                </a:r>
                <a:r>
                  <a:rPr lang="es-MX" sz="2100" b="1" dirty="0" err="1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vectorial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01046"/>
                <a:ext cx="9452802" cy="608358"/>
              </a:xfrm>
              <a:prstGeom prst="rect">
                <a:avLst/>
              </a:prstGeom>
              <a:blipFill rotWithShape="0">
                <a:blip r:embed="rId2"/>
                <a:stretch>
                  <a:fillRect l="-774" b="-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276917"/>
            <a:ext cx="1506828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</a:t>
            </a:r>
            <a:r>
              <a:rPr lang="es-NI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-1" y="2458544"/>
                <a:ext cx="4494727" cy="455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s-MX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rgbClr val="A5A5A5">
                      <a:lumMod val="5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458544"/>
                <a:ext cx="4494727" cy="455509"/>
              </a:xfrm>
              <a:prstGeom prst="rect">
                <a:avLst/>
              </a:prstGeom>
              <a:blipFill rotWithShape="0"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3158762"/>
            <a:ext cx="1506828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12879" y="3758063"/>
            <a:ext cx="515155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502276" y="3758063"/>
                <a:ext cx="1146220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⊂</m:t>
                      </m:r>
                      <m:sSup>
                        <m:sSupPr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76" y="3758063"/>
                <a:ext cx="1146220" cy="42412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 txBox="1">
            <a:spLocks/>
          </p:cNvSpPr>
          <p:nvPr/>
        </p:nvSpPr>
        <p:spPr>
          <a:xfrm>
            <a:off x="-12879" y="4466912"/>
            <a:ext cx="515155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502276" y="4466912"/>
                <a:ext cx="1004552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=∅</m:t>
                      </m:r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76" y="4466912"/>
                <a:ext cx="1004552" cy="424129"/>
              </a:xfrm>
              <a:prstGeom prst="rect">
                <a:avLst/>
              </a:prstGeom>
              <a:blipFill rotWithShape="0"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/>
          <p:cNvSpPr txBox="1">
            <a:spLocks/>
          </p:cNvSpPr>
          <p:nvPr/>
        </p:nvSpPr>
        <p:spPr>
          <a:xfrm>
            <a:off x="1764406" y="3758063"/>
            <a:ext cx="2382592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Sí, por definición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764406" y="4466912"/>
            <a:ext cx="1790163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nulo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3490174" y="4466911"/>
                <a:ext cx="1004552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174" y="4466911"/>
                <a:ext cx="1004552" cy="42412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4600246" y="4466911"/>
                <a:ext cx="201632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246" y="4466911"/>
                <a:ext cx="2016321" cy="415498"/>
              </a:xfrm>
              <a:prstGeom prst="rect">
                <a:avLst/>
              </a:prstGeom>
              <a:blipFill rotWithShape="0">
                <a:blip r:embed="rId7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7186412" y="4466911"/>
                <a:ext cx="2266390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1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12" y="4466911"/>
                <a:ext cx="2266390" cy="415498"/>
              </a:xfrm>
              <a:prstGeom prst="rect">
                <a:avLst/>
              </a:prstGeom>
              <a:blipFill rotWithShape="0">
                <a:blip r:embed="rId8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lecha derecha 14"/>
          <p:cNvSpPr/>
          <p:nvPr/>
        </p:nvSpPr>
        <p:spPr>
          <a:xfrm>
            <a:off x="6679876" y="4570785"/>
            <a:ext cx="321972" cy="207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8002040" y="4951732"/>
                <a:ext cx="1119794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040" y="4951732"/>
                <a:ext cx="1119794" cy="41549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ángulo 16"/>
              <p:cNvSpPr/>
              <p:nvPr/>
            </p:nvSpPr>
            <p:spPr>
              <a:xfrm>
                <a:off x="9121834" y="4947677"/>
                <a:ext cx="93166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m:t>𝐅𝐚𝐥𝐬𝐨</m:t>
                      </m:r>
                    </m:oMath>
                  </m:oMathPara>
                </a14:m>
                <a:endParaRPr lang="es-MX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834" y="4947677"/>
                <a:ext cx="931665" cy="41549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/>
              <p:cNvSpPr/>
              <p:nvPr/>
            </p:nvSpPr>
            <p:spPr>
              <a:xfrm>
                <a:off x="10055899" y="4954800"/>
                <a:ext cx="1244053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∴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∉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sz="21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899" y="4954800"/>
                <a:ext cx="1244053" cy="415498"/>
              </a:xfrm>
              <a:prstGeom prst="rect">
                <a:avLst/>
              </a:prstGeom>
              <a:blipFill rotWithShape="0">
                <a:blip r:embed="rId11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/>
              <p:cNvSpPr txBox="1">
                <a:spLocks/>
              </p:cNvSpPr>
              <p:nvPr/>
            </p:nvSpPr>
            <p:spPr>
              <a:xfrm>
                <a:off x="5701048" y="5702706"/>
                <a:ext cx="6490952" cy="6330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 tanto, 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 es un </a:t>
                </a:r>
                <a:r>
                  <a:rPr lang="es-MX" sz="2100" b="1" dirty="0" err="1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vectorial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048" y="5702706"/>
                <a:ext cx="6490952" cy="633032"/>
              </a:xfrm>
              <a:prstGeom prst="rect">
                <a:avLst/>
              </a:prstGeom>
              <a:blipFill rotWithShape="0">
                <a:blip r:embed="rId12"/>
                <a:stretch>
                  <a:fillRect l="-1127" b="-288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84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202105"/>
                <a:ext cx="12192000" cy="70781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 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4. 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Exprese, si es posible, el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como combinación lineal del sistema de vectores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02105"/>
                <a:ext cx="12192000" cy="707813"/>
              </a:xfrm>
              <a:prstGeom prst="rect">
                <a:avLst/>
              </a:prstGeom>
              <a:blipFill rotWithShape="0">
                <a:blip r:embed="rId2"/>
                <a:stretch>
                  <a:fillRect l="-600" t="-6897" r="-600" b="-1896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1671001" y="1912614"/>
                <a:ext cx="6467342" cy="5400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3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  <m:r>
                      <a:rPr lang="es-MX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𝟔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e>
                        </m:d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d>
                          <m:dPr>
                            <m:ctrlP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e>
                        </m:d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d>
                          <m:dPr>
                            <m:ctrlP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e>
                        </m:d>
                      </m:e>
                    </m:d>
                    <m:r>
                      <a:rPr lang="es-MX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  <m:sSup>
                      <m:sSupPr>
                        <m:ctrlP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es-MX" sz="23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NI" sz="2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001" y="1912614"/>
                <a:ext cx="6467342" cy="5400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2472527"/>
            <a:ext cx="1390918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-1" y="3042221"/>
                <a:ext cx="12192001" cy="3857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 lnSpcReduction="100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Expresemos el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como combinación lineal del sistema de vectores de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es 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decir</a:t>
                </a:r>
              </a:p>
            </p:txBody>
          </p:sp>
        </mc:Choice>
        <mc:Fallback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042221"/>
                <a:ext cx="12192001" cy="385756"/>
              </a:xfrm>
              <a:prstGeom prst="rect">
                <a:avLst/>
              </a:prstGeom>
              <a:blipFill rotWithShape="0">
                <a:blip r:embed="rId4"/>
                <a:stretch>
                  <a:fillRect l="-500" t="-12698" b="-285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ángulo 5"/>
              <p:cNvSpPr/>
              <p:nvPr/>
            </p:nvSpPr>
            <p:spPr>
              <a:xfrm>
                <a:off x="1131193" y="4674435"/>
                <a:ext cx="194495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93" y="4674435"/>
                <a:ext cx="1944956" cy="4154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/>
              <p:cNvSpPr/>
              <p:nvPr/>
            </p:nvSpPr>
            <p:spPr>
              <a:xfrm>
                <a:off x="2928113" y="4674435"/>
                <a:ext cx="1849289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d>
                      <m:dPr>
                        <m:ctrlP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e>
                    </m:d>
                  </m:oMath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113" y="4674435"/>
                <a:ext cx="1849289" cy="4154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/>
              <p:cNvSpPr/>
              <p:nvPr/>
            </p:nvSpPr>
            <p:spPr>
              <a:xfrm>
                <a:off x="4824829" y="4674435"/>
                <a:ext cx="1890967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829" y="4674435"/>
                <a:ext cx="1890967" cy="4154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/>
              <p:cNvSpPr/>
              <p:nvPr/>
            </p:nvSpPr>
            <p:spPr>
              <a:xfrm>
                <a:off x="6782459" y="4674435"/>
                <a:ext cx="186371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459" y="4674435"/>
                <a:ext cx="1863715" cy="4154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/>
              <p:cNvSpPr/>
              <p:nvPr/>
            </p:nvSpPr>
            <p:spPr>
              <a:xfrm>
                <a:off x="4534387" y="4674435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387" y="4674435"/>
                <a:ext cx="447558" cy="41549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ángulo 10"/>
              <p:cNvSpPr/>
              <p:nvPr/>
            </p:nvSpPr>
            <p:spPr>
              <a:xfrm>
                <a:off x="6492017" y="4674435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017" y="4674435"/>
                <a:ext cx="447558" cy="41549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/>
              <p:cNvSpPr/>
              <p:nvPr/>
            </p:nvSpPr>
            <p:spPr>
              <a:xfrm>
                <a:off x="1131193" y="5230808"/>
                <a:ext cx="194495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93" y="5230808"/>
                <a:ext cx="1944956" cy="4154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ángulo 12"/>
              <p:cNvSpPr/>
              <p:nvPr/>
            </p:nvSpPr>
            <p:spPr>
              <a:xfrm>
                <a:off x="2928113" y="5230808"/>
                <a:ext cx="235583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</m:d>
                  </m:oMath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113" y="5230808"/>
                <a:ext cx="2355838" cy="41549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ángulo 13"/>
              <p:cNvSpPr/>
              <p:nvPr/>
            </p:nvSpPr>
            <p:spPr>
              <a:xfrm>
                <a:off x="5458365" y="5230808"/>
                <a:ext cx="1733873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365" y="5230808"/>
                <a:ext cx="1733873" cy="41549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/>
              <p:cNvSpPr/>
              <p:nvPr/>
            </p:nvSpPr>
            <p:spPr>
              <a:xfrm>
                <a:off x="7224202" y="5230808"/>
                <a:ext cx="211218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202" y="5230808"/>
                <a:ext cx="2112181" cy="41549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/>
              <p:cNvSpPr/>
              <p:nvPr/>
            </p:nvSpPr>
            <p:spPr>
              <a:xfrm>
                <a:off x="5260091" y="5230808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091" y="5230808"/>
                <a:ext cx="447558" cy="41549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ángulo 16"/>
              <p:cNvSpPr/>
              <p:nvPr/>
            </p:nvSpPr>
            <p:spPr>
              <a:xfrm>
                <a:off x="7017392" y="5213494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392" y="5213494"/>
                <a:ext cx="447558" cy="415498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ángulo 17"/>
              <p:cNvSpPr/>
              <p:nvPr/>
            </p:nvSpPr>
            <p:spPr>
              <a:xfrm>
                <a:off x="1145307" y="5769867"/>
                <a:ext cx="194495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307" y="5769867"/>
                <a:ext cx="1944956" cy="415498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ángulo 18"/>
              <p:cNvSpPr/>
              <p:nvPr/>
            </p:nvSpPr>
            <p:spPr>
              <a:xfrm>
                <a:off x="2942226" y="5769867"/>
                <a:ext cx="6394157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</m:d>
                  </m:oMath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26" y="5769867"/>
                <a:ext cx="6394157" cy="415498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ángulo 20"/>
          <p:cNvSpPr/>
          <p:nvPr/>
        </p:nvSpPr>
        <p:spPr>
          <a:xfrm>
            <a:off x="1145307" y="3572094"/>
            <a:ext cx="9036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𝒖₁ = (𝟐, 𝟐, 𝟔, 𝟏, 𝟑),  𝒖₂ = (𝟎, 𝟏, 𝟎, 𝟎, 𝟏),  𝒖₃ = (𝟏, 𝟐, 𝟑, 𝟎, 𝟐),  𝒗 = (𝟏, 𝟎, 𝟑, 𝟐, 𝟐</a:t>
            </a:r>
            <a:r>
              <a:rPr lang="es-MX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1159552" y="4126241"/>
            <a:ext cx="58929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𝒂·𝒖₁ + 𝒃·𝒖₂ + 𝒄·𝒖₃ = 𝒗.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Igualando componentes:</a:t>
            </a:r>
          </a:p>
        </p:txBody>
      </p:sp>
    </p:spTree>
    <p:extLst>
      <p:ext uri="{BB962C8B-B14F-4D97-AF65-F5344CB8AC3E}">
        <p14:creationId xmlns:p14="http://schemas.microsoft.com/office/powerpoint/2010/main" val="224217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1"/>
              <p:cNvSpPr txBox="1">
                <a:spLocks/>
              </p:cNvSpPr>
              <p:nvPr/>
            </p:nvSpPr>
            <p:spPr>
              <a:xfrm>
                <a:off x="0" y="1205140"/>
                <a:ext cx="12192000" cy="7231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/>
              <a:lstStyle>
                <a:lvl1pPr marL="0" indent="0" algn="l" defTabSz="914400" rtl="0" eaLnBrk="1" latinLnBrk="0" hangingPunct="1">
                  <a:spcBef>
                    <a:spcPct val="0"/>
                  </a:spcBef>
                  <a:buNone/>
                  <a:defRPr lang="en-US" sz="2200" b="1" kern="1200" dirty="0">
                    <a:solidFill>
                      <a:schemeClr val="accent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defRPr>
                </a:lvl1pPr>
              </a:lstStyle>
              <a:p>
                <a:pPr lvl="0" algn="just"/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</a:rPr>
                  <a:t>Matriz aumentada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₁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₂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₃ |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]: 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</a:rPr>
                  <a:t>las columnas de coeficientes son los vectores. Se reduce por Gauss-</a:t>
                </a:r>
                <a:r>
                  <a:rPr lang="es-MX" sz="2000" dirty="0" err="1">
                    <a:solidFill>
                      <a:schemeClr val="accent3">
                        <a:lumMod val="50000"/>
                      </a:schemeClr>
                    </a:solidFill>
                  </a:rPr>
                  <a:t>Jordan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</a:rPr>
                  <a:t> hasta la forma escalonada reducida</a:t>
                </a:r>
                <a:r>
                  <a:rPr lang="es-MX" sz="2000" dirty="0" smtClean="0">
                    <a:solidFill>
                      <a:schemeClr val="accent3">
                        <a:lumMod val="50000"/>
                      </a:schemeClr>
                    </a:solidFill>
                  </a:rPr>
                  <a:t>.</a:t>
                </a:r>
                <a:endParaRPr lang="es-MX" sz="20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05140"/>
                <a:ext cx="12192000" cy="723150"/>
              </a:xfrm>
              <a:prstGeom prst="rect">
                <a:avLst/>
              </a:prstGeom>
              <a:blipFill rotWithShape="0">
                <a:blip r:embed="rId2"/>
                <a:stretch>
                  <a:fillRect l="-1250" t="-10169" r="-1250" b="-678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479718"/>
              </p:ext>
            </p:extLst>
          </p:nvPr>
        </p:nvGraphicFramePr>
        <p:xfrm>
          <a:off x="822960" y="2286000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6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hape 1"/>
          <p:cNvSpPr/>
          <p:nvPr/>
        </p:nvSpPr>
        <p:spPr>
          <a:xfrm>
            <a:off x="3264408" y="3108960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2"/>
              <p:cNvSpPr txBox="1"/>
              <p:nvPr/>
            </p:nvSpPr>
            <p:spPr>
              <a:xfrm>
                <a:off x="3172968" y="2768958"/>
                <a:ext cx="1700784" cy="29428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 ↔ 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₄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68" y="2768958"/>
                <a:ext cx="1700784" cy="294282"/>
              </a:xfrm>
              <a:prstGeom prst="rect">
                <a:avLst/>
              </a:prstGeom>
              <a:blipFill rotWithShape="0">
                <a:blip r:embed="rId3"/>
                <a:stretch>
                  <a:fillRect b="-1632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848975"/>
              </p:ext>
            </p:extLst>
          </p:nvPr>
        </p:nvGraphicFramePr>
        <p:xfrm>
          <a:off x="4892040" y="2286000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6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Shape 3"/>
          <p:cNvSpPr/>
          <p:nvPr/>
        </p:nvSpPr>
        <p:spPr>
          <a:xfrm>
            <a:off x="7333488" y="3108960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4"/>
              <p:cNvSpPr txBox="1"/>
              <p:nvPr/>
            </p:nvSpPr>
            <p:spPr>
              <a:xfrm>
                <a:off x="7242048" y="2202287"/>
                <a:ext cx="1700784" cy="86095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₂−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₃−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𝟔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₄−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₅−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048" y="2202287"/>
                <a:ext cx="1700784" cy="860953"/>
              </a:xfrm>
              <a:prstGeom prst="rect">
                <a:avLst/>
              </a:prstGeom>
              <a:blipFill rotWithShape="0">
                <a:blip r:embed="rId4"/>
                <a:stretch>
                  <a:fillRect b="-563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953053"/>
              </p:ext>
            </p:extLst>
          </p:nvPr>
        </p:nvGraphicFramePr>
        <p:xfrm>
          <a:off x="8961120" y="2286000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-9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5"/>
              <p:cNvSpPr txBox="1"/>
              <p:nvPr/>
            </p:nvSpPr>
            <p:spPr>
              <a:xfrm>
                <a:off x="0" y="4265483"/>
                <a:ext cx="12192000" cy="73152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 intercambian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𝑭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𝑭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₄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para obtener un pivote 1 sin fracciones; luego se hacen ceros debajo del pivote.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3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65483"/>
                <a:ext cx="12192000" cy="731520"/>
              </a:xfrm>
              <a:prstGeom prst="rect">
                <a:avLst/>
              </a:prstGeom>
              <a:blipFill rotWithShape="0">
                <a:blip r:embed="rId5"/>
                <a:stretch>
                  <a:fillRect l="-1250" t="-10000" r="-1300" b="-50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01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91259"/>
              </p:ext>
            </p:extLst>
          </p:nvPr>
        </p:nvGraphicFramePr>
        <p:xfrm>
          <a:off x="609171" y="1371600"/>
          <a:ext cx="1783080" cy="1676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411480"/>
                <a:gridCol w="54864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-9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2501979" y="2194560"/>
            <a:ext cx="8321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2410539" y="1828800"/>
                <a:ext cx="1014984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⅓</m:t>
                      </m:r>
                      <m:r>
                        <a:rPr lang="en-US" sz="1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539" y="1828800"/>
                <a:ext cx="1014984" cy="320040"/>
              </a:xfrm>
              <a:prstGeom prst="rect">
                <a:avLst/>
              </a:prstGeom>
              <a:blipFill rotWithShape="0">
                <a:blip r:embed="rId2"/>
                <a:stretch>
                  <a:fillRect b="-1509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968858"/>
              </p:ext>
            </p:extLst>
          </p:nvPr>
        </p:nvGraphicFramePr>
        <p:xfrm>
          <a:off x="3443811" y="1371600"/>
          <a:ext cx="1783080" cy="1676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411480"/>
                <a:gridCol w="54864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6619" y="2194560"/>
            <a:ext cx="8321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4"/>
              <p:cNvSpPr txBox="1"/>
              <p:nvPr/>
            </p:nvSpPr>
            <p:spPr>
              <a:xfrm>
                <a:off x="5245179" y="1687132"/>
                <a:ext cx="1014984" cy="461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₄−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₅−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7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179" y="1687132"/>
                <a:ext cx="1014984" cy="461708"/>
              </a:xfrm>
              <a:prstGeom prst="rect">
                <a:avLst/>
              </a:prstGeom>
              <a:blipFill rotWithShape="0">
                <a:blip r:embed="rId3"/>
                <a:stretch>
                  <a:fillRect b="-1052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56553"/>
              </p:ext>
            </p:extLst>
          </p:nvPr>
        </p:nvGraphicFramePr>
        <p:xfrm>
          <a:off x="6278451" y="1371600"/>
          <a:ext cx="1783080" cy="1676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411480"/>
                <a:gridCol w="54864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171259" y="2194560"/>
            <a:ext cx="8321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6"/>
              <p:cNvSpPr txBox="1"/>
              <p:nvPr/>
            </p:nvSpPr>
            <p:spPr>
              <a:xfrm>
                <a:off x="8079819" y="1828800"/>
                <a:ext cx="1014984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0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819" y="1828800"/>
                <a:ext cx="1014984" cy="320040"/>
              </a:xfrm>
              <a:prstGeom prst="rect">
                <a:avLst/>
              </a:prstGeom>
              <a:blipFill rotWithShape="0">
                <a:blip r:embed="rId4"/>
                <a:stretch>
                  <a:fillRect b="-1509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61271"/>
              </p:ext>
            </p:extLst>
          </p:nvPr>
        </p:nvGraphicFramePr>
        <p:xfrm>
          <a:off x="9113091" y="1371600"/>
          <a:ext cx="1783080" cy="1676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411480"/>
                <a:gridCol w="54864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7"/>
              <p:cNvSpPr txBox="1"/>
              <p:nvPr/>
            </p:nvSpPr>
            <p:spPr>
              <a:xfrm>
                <a:off x="0" y="3222293"/>
                <a:ext cx="12192000" cy="744399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La forma escalonada reducida tiene pivotes en las columnas de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𝒄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y las filas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de </a:t>
                </a:r>
                <a:r>
                  <a:rPr lang="en-US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ceros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son ecuaciones redundantes.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22293"/>
                <a:ext cx="12192000" cy="744399"/>
              </a:xfrm>
              <a:prstGeom prst="rect">
                <a:avLst/>
              </a:prstGeom>
              <a:blipFill rotWithShape="0">
                <a:blip r:embed="rId5"/>
                <a:stretch>
                  <a:fillRect l="-1150" t="-10656" r="-12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"/>
              <p:cNvSpPr txBox="1"/>
              <p:nvPr/>
            </p:nvSpPr>
            <p:spPr>
              <a:xfrm>
                <a:off x="0" y="3979570"/>
                <a:ext cx="12192000" cy="1815923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Solución: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𝒂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−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. </a:t>
                </a:r>
                <a:endParaRPr lang="en-US" b="1" dirty="0" smtClean="0">
                  <a:solidFill>
                    <a:srgbClr val="525252"/>
                  </a:solidFill>
                  <a:latin typeface="Arial" pitchFamily="34" charset="0"/>
                  <a:ea typeface="Arial" pitchFamily="34" charset="-122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No 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hay 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pivote en la última columna ⟹ el sistema es </a:t>
                </a:r>
                <a:r>
                  <a:rPr lang="en-US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consistente</a:t>
                </a:r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(solución única: 3 pivotes para 3 incógnitas).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b="1" dirty="0" err="1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Verificación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𝟔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+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− 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𝟒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𝟒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𝟔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+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+ (−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,−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𝟔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,−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𝟗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,−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𝟔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= (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n-US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✓</a:t>
                </a:r>
                <a:endParaRPr lang="en-US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79570"/>
                <a:ext cx="12192000" cy="1815923"/>
              </a:xfrm>
              <a:prstGeom prst="rect">
                <a:avLst/>
              </a:prstGeom>
              <a:blipFill rotWithShape="0">
                <a:blip r:embed="rId6"/>
                <a:stretch>
                  <a:fillRect l="-1150" t="-4362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2"/>
          <p:cNvSpPr/>
          <p:nvPr/>
        </p:nvSpPr>
        <p:spPr>
          <a:xfrm>
            <a:off x="789862" y="5917198"/>
            <a:ext cx="10350364" cy="731520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3"/>
              <p:cNvSpPr txBox="1"/>
              <p:nvPr/>
            </p:nvSpPr>
            <p:spPr>
              <a:xfrm>
                <a:off x="927022" y="5962918"/>
                <a:ext cx="10071536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>
                  <a:spcAft>
                    <a:spcPts val="800"/>
                  </a:spcAft>
                </a:pPr>
                <a:r>
                  <a:rPr lang="en-US" sz="19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Conclusión:</a:t>
                </a:r>
                <a:r>
                  <a:rPr lang="en-US" sz="19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sí es posible: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 =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𝒖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𝒖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−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𝒖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₃, </m:t>
                    </m:r>
                  </m:oMath>
                </a14:m>
                <a:r>
                  <a:rPr lang="en-US" sz="19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es decir,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∈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𝑪𝑳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{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𝒖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𝒖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₂, 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𝒖</m:t>
                    </m:r>
                    <m:r>
                      <a:rPr lang="en-US" sz="19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₃}</m:t>
                    </m:r>
                  </m:oMath>
                </a14:m>
                <a:r>
                  <a:rPr lang="en-US" sz="19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19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22" y="5962918"/>
                <a:ext cx="10071536" cy="640080"/>
              </a:xfrm>
              <a:prstGeom prst="rect">
                <a:avLst/>
              </a:prstGeom>
              <a:blipFill rotWithShape="0">
                <a:blip r:embed="rId7"/>
                <a:stretch>
                  <a:fillRect l="-145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36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2" grpId="0" animBg="1"/>
      <p:bldP spid="13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189921"/>
                <a:ext cx="12192000" cy="69039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 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5. 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Exprese, si es posible, el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como combinación lineal del sistema de vectores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9921"/>
                <a:ext cx="12192000" cy="690394"/>
              </a:xfrm>
              <a:prstGeom prst="rect">
                <a:avLst/>
              </a:prstGeom>
              <a:blipFill rotWithShape="0">
                <a:blip r:embed="rId2"/>
                <a:stretch>
                  <a:fillRect l="-600" t="-7965" r="-600" b="-203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1763379" y="1854382"/>
                <a:ext cx="6333757" cy="5400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 xmlns:m="http://schemas.openxmlformats.org/officeDocument/2006/math">
                    <m:r>
                      <a:rPr lang="es-MX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𝑱</m:t>
                    </m:r>
                    <m:r>
                      <a:rPr lang="es-MX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e>
                        </m:d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d>
                          <m:dPr>
                            <m:ctrlP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𝟓</m:t>
                            </m:r>
                          </m:e>
                        </m:d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d>
                          <m:dPr>
                            <m:ctrlP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𝟒</m:t>
                            </m:r>
                          </m:e>
                        </m:d>
                      </m:e>
                    </m:d>
                    <m:r>
                      <a:rPr lang="es-MX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  <m:sSup>
                      <m:sSupPr>
                        <m:ctrlP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es-MX" sz="23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NI" sz="2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379" y="1854382"/>
                <a:ext cx="6333757" cy="540039"/>
              </a:xfrm>
              <a:prstGeom prst="rect">
                <a:avLst/>
              </a:prstGeom>
              <a:blipFill rotWithShape="0">
                <a:blip r:embed="rId3"/>
                <a:stretch>
                  <a:fillRect l="-481" b="-33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-1" y="2450483"/>
            <a:ext cx="1303286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-1" y="2975101"/>
                <a:ext cx="12192001" cy="5400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Expresemos el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como combinación lineal del sistema de vectores de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𝑱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es decir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975101"/>
                <a:ext cx="12192001" cy="540039"/>
              </a:xfrm>
              <a:prstGeom prst="rect">
                <a:avLst/>
              </a:prstGeom>
              <a:blipFill rotWithShape="0">
                <a:blip r:embed="rId4"/>
                <a:stretch>
                  <a:fillRect l="-500" b="-78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ángulo 5"/>
              <p:cNvSpPr/>
              <p:nvPr/>
            </p:nvSpPr>
            <p:spPr>
              <a:xfrm>
                <a:off x="1424252" y="4800857"/>
                <a:ext cx="194495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252" y="4800857"/>
                <a:ext cx="1944956" cy="4154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/>
              <p:cNvSpPr/>
              <p:nvPr/>
            </p:nvSpPr>
            <p:spPr>
              <a:xfrm>
                <a:off x="3221172" y="4800857"/>
                <a:ext cx="1849289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d>
                      <m:dPr>
                        <m:ctrlP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172" y="4800857"/>
                <a:ext cx="1849289" cy="4154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/>
              <p:cNvSpPr/>
              <p:nvPr/>
            </p:nvSpPr>
            <p:spPr>
              <a:xfrm>
                <a:off x="5117888" y="4800857"/>
                <a:ext cx="189096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888" y="4800857"/>
                <a:ext cx="1890966" cy="4154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/>
              <p:cNvSpPr/>
              <p:nvPr/>
            </p:nvSpPr>
            <p:spPr>
              <a:xfrm>
                <a:off x="7075518" y="4800857"/>
                <a:ext cx="186371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518" y="4800857"/>
                <a:ext cx="1863715" cy="4154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/>
              <p:cNvSpPr/>
              <p:nvPr/>
            </p:nvSpPr>
            <p:spPr>
              <a:xfrm>
                <a:off x="4827446" y="4800857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446" y="4800857"/>
                <a:ext cx="447558" cy="41549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ángulo 10"/>
              <p:cNvSpPr/>
              <p:nvPr/>
            </p:nvSpPr>
            <p:spPr>
              <a:xfrm>
                <a:off x="6785076" y="4800857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076" y="4800857"/>
                <a:ext cx="447558" cy="41549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/>
              <p:cNvSpPr/>
              <p:nvPr/>
            </p:nvSpPr>
            <p:spPr>
              <a:xfrm>
                <a:off x="1424252" y="5317225"/>
                <a:ext cx="194495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252" y="5317225"/>
                <a:ext cx="1944956" cy="4154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ángulo 12"/>
              <p:cNvSpPr/>
              <p:nvPr/>
            </p:nvSpPr>
            <p:spPr>
              <a:xfrm>
                <a:off x="3221172" y="5317225"/>
                <a:ext cx="186852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</m:d>
                  </m:oMath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172" y="5317225"/>
                <a:ext cx="1868525" cy="41549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ángulo 13"/>
              <p:cNvSpPr/>
              <p:nvPr/>
            </p:nvSpPr>
            <p:spPr>
              <a:xfrm>
                <a:off x="5098599" y="5317225"/>
                <a:ext cx="2217979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es-MX" sz="2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599" y="5317225"/>
                <a:ext cx="2217979" cy="41549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/>
              <p:cNvSpPr/>
              <p:nvPr/>
            </p:nvSpPr>
            <p:spPr>
              <a:xfrm>
                <a:off x="7354572" y="5323986"/>
                <a:ext cx="208813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  <m: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es-MX" sz="2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572" y="5323986"/>
                <a:ext cx="2088136" cy="41549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/>
              <p:cNvSpPr/>
              <p:nvPr/>
            </p:nvSpPr>
            <p:spPr>
              <a:xfrm>
                <a:off x="4891825" y="5317225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825" y="5317225"/>
                <a:ext cx="447558" cy="41549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ángulo 16"/>
              <p:cNvSpPr/>
              <p:nvPr/>
            </p:nvSpPr>
            <p:spPr>
              <a:xfrm>
                <a:off x="7126796" y="5323986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796" y="5323986"/>
                <a:ext cx="447558" cy="415498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ángulo 17"/>
              <p:cNvSpPr/>
              <p:nvPr/>
            </p:nvSpPr>
            <p:spPr>
              <a:xfrm>
                <a:off x="1438366" y="5812199"/>
                <a:ext cx="194495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66" y="5812199"/>
                <a:ext cx="1944956" cy="415498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ángulo 18"/>
              <p:cNvSpPr/>
              <p:nvPr/>
            </p:nvSpPr>
            <p:spPr>
              <a:xfrm>
                <a:off x="3235285" y="5812199"/>
                <a:ext cx="6704050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es-MX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</m:d>
                  </m:oMath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5" y="5812199"/>
                <a:ext cx="6704050" cy="415498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ángulo 20"/>
              <p:cNvSpPr/>
              <p:nvPr/>
            </p:nvSpPr>
            <p:spPr>
              <a:xfrm>
                <a:off x="1424252" y="3618775"/>
                <a:ext cx="1037279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𝒘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₁ = (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), 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𝒘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₂ = (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), 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𝒘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₃ = (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), 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 (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Rectá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252" y="3618775"/>
                <a:ext cx="10372795" cy="400110"/>
              </a:xfrm>
              <a:prstGeom prst="rect">
                <a:avLst/>
              </a:prstGeom>
              <a:blipFill rotWithShape="0">
                <a:blip r:embed="rId19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ángulo 21"/>
              <p:cNvSpPr/>
              <p:nvPr/>
            </p:nvSpPr>
            <p:spPr>
              <a:xfrm>
                <a:off x="1424252" y="4209816"/>
                <a:ext cx="644599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·</m:t>
                    </m:r>
                    <m:r>
                      <a:rPr lang="en-US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𝒘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</m:t>
                    </m:r>
                    <m:r>
                      <a:rPr lang="en-US" b="1" i="1" dirty="0" err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b="1" i="1" dirty="0" err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·</m:t>
                    </m:r>
                    <m:r>
                      <a:rPr lang="en-US" b="1" i="1" dirty="0" err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𝒘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+ </m:t>
                    </m:r>
                    <m:r>
                      <a:rPr lang="en-US" b="1" i="1" dirty="0" err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  <m:r>
                      <a:rPr lang="en-US" b="1" i="1" dirty="0" err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·</m:t>
                    </m:r>
                    <m:r>
                      <a:rPr lang="en-US" b="1" i="1" dirty="0" err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𝒘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₃ = 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NI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Igualando componentes:</a:t>
                </a:r>
              </a:p>
            </p:txBody>
          </p:sp>
        </mc:Choice>
        <mc:Fallback>
          <p:sp>
            <p:nvSpPr>
              <p:cNvPr id="22" name="Rectá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252" y="4209816"/>
                <a:ext cx="6445995" cy="400110"/>
              </a:xfrm>
              <a:prstGeom prst="rect">
                <a:avLst/>
              </a:prstGeom>
              <a:blipFill rotWithShape="0">
                <a:blip r:embed="rId20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03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0" grpId="0"/>
      <p:bldP spid="11" grpId="0"/>
      <p:bldP spid="12" grpId="0"/>
      <p:bldP spid="15" grpId="0"/>
      <p:bldP spid="16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1"/>
              <p:cNvSpPr txBox="1">
                <a:spLocks/>
              </p:cNvSpPr>
              <p:nvPr/>
            </p:nvSpPr>
            <p:spPr>
              <a:xfrm>
                <a:off x="0" y="1221561"/>
                <a:ext cx="12192000" cy="7231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/>
              <a:lstStyle>
                <a:lvl1pPr marL="0" indent="0" algn="l" defTabSz="914400" rtl="0" eaLnBrk="1" latinLnBrk="0" hangingPunct="1">
                  <a:spcBef>
                    <a:spcPct val="0"/>
                  </a:spcBef>
                  <a:buNone/>
                  <a:defRPr lang="en-US" sz="2200" b="1" kern="1200" dirty="0">
                    <a:solidFill>
                      <a:schemeClr val="accent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defRPr>
                </a:lvl1pPr>
              </a:lstStyle>
              <a:p>
                <a:pPr lvl="0" algn="just"/>
                <a:r>
                  <a:rPr lang="es-MX" sz="2000" dirty="0" smtClean="0">
                    <a:solidFill>
                      <a:schemeClr val="accent3">
                        <a:lumMod val="50000"/>
                      </a:schemeClr>
                    </a:solidFill>
                  </a:rPr>
                  <a:t>Matriz 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</a:rPr>
                  <a:t>aumentada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₁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₂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₃ |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]. 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</a:rPr>
                  <a:t>Si en la forma reducida aparece una fila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[0 0 0 |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</a:rPr>
                  <a:t>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≠ 0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</a:rPr>
                  <a:t>, el sistema es inconsistente.</a:t>
                </a:r>
              </a:p>
            </p:txBody>
          </p:sp>
        </mc:Choice>
        <mc:Fallback>
          <p:sp>
            <p:nvSpPr>
              <p:cNvPr id="2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21561"/>
                <a:ext cx="12192000" cy="723150"/>
              </a:xfrm>
              <a:prstGeom prst="rect">
                <a:avLst/>
              </a:prstGeom>
              <a:blipFill rotWithShape="0">
                <a:blip r:embed="rId2"/>
                <a:stretch>
                  <a:fillRect l="-1250" t="-10084" r="-1250" b="-672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81857"/>
              </p:ext>
            </p:extLst>
          </p:nvPr>
        </p:nvGraphicFramePr>
        <p:xfrm>
          <a:off x="784323" y="2182969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5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225771" y="3005929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3134331" y="2228689"/>
                <a:ext cx="1700784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₂−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₃−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₅−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331" y="2228689"/>
                <a:ext cx="1700784" cy="731520"/>
              </a:xfrm>
              <a:prstGeom prst="rect">
                <a:avLst/>
              </a:prstGeom>
              <a:blipFill rotWithShape="0">
                <a:blip r:embed="rId3"/>
                <a:stretch>
                  <a:fillRect b="-75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480725"/>
              </p:ext>
            </p:extLst>
          </p:nvPr>
        </p:nvGraphicFramePr>
        <p:xfrm>
          <a:off x="4853403" y="2182969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-8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5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94851" y="3005929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4"/>
              <p:cNvSpPr txBox="1"/>
              <p:nvPr/>
            </p:nvSpPr>
            <p:spPr>
              <a:xfrm>
                <a:off x="7203411" y="2459865"/>
                <a:ext cx="1700784" cy="5003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⅓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−⅛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411" y="2459865"/>
                <a:ext cx="1700784" cy="500344"/>
              </a:xfrm>
              <a:prstGeom prst="rect">
                <a:avLst/>
              </a:prstGeom>
              <a:blipFill rotWithShape="0">
                <a:blip r:embed="rId4"/>
                <a:stretch>
                  <a:fillRect b="-1097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5769"/>
              </p:ext>
            </p:extLst>
          </p:nvPr>
        </p:nvGraphicFramePr>
        <p:xfrm>
          <a:off x="8922483" y="2182969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−1/3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5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0" y="4316999"/>
            <a:ext cx="12192000" cy="6928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pivote de la primera columna ya es 1. Se eliminan las entradas debajo y se normalizan las filas 2 y 3.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538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95931"/>
              </p:ext>
            </p:extLst>
          </p:nvPr>
        </p:nvGraphicFramePr>
        <p:xfrm>
          <a:off x="681292" y="1345842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−1/3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5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Shape 1"/>
          <p:cNvSpPr/>
          <p:nvPr/>
        </p:nvSpPr>
        <p:spPr>
          <a:xfrm>
            <a:off x="3122740" y="2168802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2"/>
              <p:cNvSpPr txBox="1"/>
              <p:nvPr/>
            </p:nvSpPr>
            <p:spPr>
              <a:xfrm>
                <a:off x="3031300" y="1391562"/>
                <a:ext cx="1700784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₃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₄−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₂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₅−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₂</m:t>
                      </m:r>
                    </m:oMath>
                  </m:oMathPara>
                </a14:m>
                <a:endParaRPr lang="en-US" sz="14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300" y="1391562"/>
                <a:ext cx="1700784" cy="731520"/>
              </a:xfrm>
              <a:prstGeom prst="rect">
                <a:avLst/>
              </a:prstGeom>
              <a:blipFill rotWithShape="0">
                <a:blip r:embed="rId2"/>
                <a:stretch>
                  <a:fillRect b="-8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33480"/>
              </p:ext>
            </p:extLst>
          </p:nvPr>
        </p:nvGraphicFramePr>
        <p:xfrm>
          <a:off x="4750372" y="1345842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−1/3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8/3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8/3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Shape 3"/>
          <p:cNvSpPr/>
          <p:nvPr/>
        </p:nvSpPr>
        <p:spPr>
          <a:xfrm>
            <a:off x="7191820" y="2168802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4"/>
              <p:cNvSpPr txBox="1"/>
              <p:nvPr/>
            </p:nvSpPr>
            <p:spPr>
              <a:xfrm>
                <a:off x="7100380" y="1596980"/>
                <a:ext cx="1700784" cy="5261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₄−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</m:t>
                      </m:r>
                    </m:oMath>
                  </m:oMathPara>
                </a14:m>
                <a:endParaRPr lang="en-US" sz="1400" b="1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₅−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</m:t>
                      </m:r>
                    </m:oMath>
                  </m:oMathPara>
                </a14:m>
                <a:endParaRPr lang="en-US" sz="1400" b="1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380" y="1596980"/>
                <a:ext cx="1700784" cy="526102"/>
              </a:xfrm>
              <a:prstGeom prst="rect">
                <a:avLst/>
              </a:prstGeom>
              <a:blipFill rotWithShape="0">
                <a:blip r:embed="rId3"/>
                <a:stretch>
                  <a:fillRect b="-10465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886897"/>
              </p:ext>
            </p:extLst>
          </p:nvPr>
        </p:nvGraphicFramePr>
        <p:xfrm>
          <a:off x="8819452" y="1345842"/>
          <a:ext cx="2331720" cy="1676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822960"/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−1/3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8/3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8/3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5"/>
              <p:cNvSpPr txBox="1"/>
              <p:nvPr/>
            </p:nvSpPr>
            <p:spPr>
              <a:xfrm>
                <a:off x="0" y="3205926"/>
                <a:ext cx="5653825" cy="409548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Las filas 4 y 5 dicen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𝟖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/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algo imposible.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05926"/>
                <a:ext cx="5653825" cy="409548"/>
              </a:xfrm>
              <a:prstGeom prst="rect">
                <a:avLst/>
              </a:prstGeom>
              <a:blipFill rotWithShape="0">
                <a:blip r:embed="rId4"/>
                <a:stretch>
                  <a:fillRect l="-2697" t="-17910" b="-14925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3"/>
              <p:cNvSpPr txBox="1"/>
              <p:nvPr/>
            </p:nvSpPr>
            <p:spPr>
              <a:xfrm>
                <a:off x="30266" y="3731574"/>
                <a:ext cx="10079650" cy="833521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El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sistema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es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inconsistente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(no hay </a:t>
                </a:r>
                <a:r>
                  <a:rPr lang="en-US" sz="2000" b="1" dirty="0" err="1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solucion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)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Comprobación: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de las ecuaciones 1 y 3 salen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𝒂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𝒄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de la 2 sale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−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/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6" y="3731574"/>
                <a:ext cx="10079650" cy="833521"/>
              </a:xfrm>
              <a:prstGeom prst="rect">
                <a:avLst/>
              </a:prstGeom>
              <a:blipFill rotWithShape="0">
                <a:blip r:embed="rId5"/>
                <a:stretch>
                  <a:fillRect l="-1512" t="-8759" b="-438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4"/>
          <p:cNvSpPr/>
          <p:nvPr/>
        </p:nvSpPr>
        <p:spPr>
          <a:xfrm>
            <a:off x="730874" y="6200645"/>
            <a:ext cx="9845899" cy="551215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5"/>
              <p:cNvSpPr txBox="1"/>
              <p:nvPr/>
            </p:nvSpPr>
            <p:spPr>
              <a:xfrm>
                <a:off x="857410" y="6172200"/>
                <a:ext cx="9592829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Conclusión: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no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es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posible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expresar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dicho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vector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 ∉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𝑪𝑳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𝒘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₁,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𝒘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₂,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𝒘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₃}. </m:t>
                    </m:r>
                  </m:oMath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2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0" y="6172200"/>
                <a:ext cx="9592829" cy="640080"/>
              </a:xfrm>
              <a:prstGeom prst="rect">
                <a:avLst/>
              </a:prstGeom>
              <a:blipFill rotWithShape="0">
                <a:blip r:embed="rId6"/>
                <a:stretch>
                  <a:fillRect l="-165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ángulo 22"/>
              <p:cNvSpPr/>
              <p:nvPr/>
            </p:nvSpPr>
            <p:spPr>
              <a:xfrm>
                <a:off x="902767" y="4710204"/>
                <a:ext cx="194495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3" name="Rectá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67" y="4710204"/>
                <a:ext cx="1944956" cy="4154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ángulo 23"/>
              <p:cNvSpPr/>
              <p:nvPr/>
            </p:nvSpPr>
            <p:spPr>
              <a:xfrm>
                <a:off x="2699687" y="4710204"/>
                <a:ext cx="1842877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d>
                      <m:dPr>
                        <m:ctrlP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687" y="4710204"/>
                <a:ext cx="1842877" cy="4154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ángulo 24"/>
              <p:cNvSpPr/>
              <p:nvPr/>
            </p:nvSpPr>
            <p:spPr>
              <a:xfrm>
                <a:off x="4628201" y="4565095"/>
                <a:ext cx="2179507" cy="6994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den>
                      </m:f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s-MX" sz="2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Rectá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201" y="4565095"/>
                <a:ext cx="2179507" cy="6994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ángulo 25"/>
              <p:cNvSpPr/>
              <p:nvPr/>
            </p:nvSpPr>
            <p:spPr>
              <a:xfrm>
                <a:off x="6913404" y="4707090"/>
                <a:ext cx="1887760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s-MX" sz="2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Rectá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404" y="4707090"/>
                <a:ext cx="1887760" cy="41549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ángulo 26"/>
              <p:cNvSpPr/>
              <p:nvPr/>
            </p:nvSpPr>
            <p:spPr>
              <a:xfrm>
                <a:off x="4371633" y="4707090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27" name="Rectá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633" y="4707090"/>
                <a:ext cx="447558" cy="4154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ángulo 27"/>
              <p:cNvSpPr/>
              <p:nvPr/>
            </p:nvSpPr>
            <p:spPr>
              <a:xfrm>
                <a:off x="6597408" y="4707090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28" name="Rectángulo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408" y="4707090"/>
                <a:ext cx="447558" cy="41549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ángulo 28"/>
              <p:cNvSpPr/>
              <p:nvPr/>
            </p:nvSpPr>
            <p:spPr>
              <a:xfrm>
                <a:off x="948774" y="5484379"/>
                <a:ext cx="168257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9" name="Rectángulo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74" y="5484379"/>
                <a:ext cx="1682575" cy="41549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ángulo 29"/>
              <p:cNvSpPr/>
              <p:nvPr/>
            </p:nvSpPr>
            <p:spPr>
              <a:xfrm>
                <a:off x="2699687" y="5253959"/>
                <a:ext cx="2393283" cy="8184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MX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Rectángulo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687" y="5253959"/>
                <a:ext cx="2393283" cy="81842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ángulo 30"/>
              <p:cNvSpPr/>
              <p:nvPr/>
            </p:nvSpPr>
            <p:spPr>
              <a:xfrm>
                <a:off x="2456522" y="5482627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31" name="Rectángulo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522" y="5482627"/>
                <a:ext cx="410690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90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  <p:bldP spid="22" grpId="0" animBg="1"/>
      <p:bldP spid="23" grpId="0"/>
      <p:bldP spid="27" grpId="0"/>
      <p:bldP spid="28" grpId="0"/>
      <p:bldP spid="29" grpId="0"/>
      <p:bldP spid="30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474470" y="1260575"/>
            <a:ext cx="503391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sz="2100" b="1" kern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</a:t>
            </a:r>
            <a:r>
              <a:rPr lang="es-ES" sz="21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para Asignación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le 1"/>
              <p:cNvSpPr txBox="1">
                <a:spLocks/>
              </p:cNvSpPr>
              <p:nvPr/>
            </p:nvSpPr>
            <p:spPr>
              <a:xfrm>
                <a:off x="0" y="1859779"/>
                <a:ext cx="10728102" cy="41838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Determine si el subconjunto dado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del espacio vectorial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</a:t>
                </a:r>
                <a:r>
                  <a:rPr lang="es-MX" sz="2100" b="1" dirty="0" err="1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59779"/>
                <a:ext cx="10728102" cy="418384"/>
              </a:xfrm>
              <a:prstGeom prst="rect">
                <a:avLst/>
              </a:prstGeom>
              <a:blipFill rotWithShape="0">
                <a:blip r:embed="rId2"/>
                <a:stretch>
                  <a:fillRect l="-682" t="-8696" r="-511" b="-275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/>
          <p:cNvSpPr txBox="1">
            <a:spLocks/>
          </p:cNvSpPr>
          <p:nvPr/>
        </p:nvSpPr>
        <p:spPr>
          <a:xfrm>
            <a:off x="1" y="2480963"/>
            <a:ext cx="515155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0" y="3107892"/>
            <a:ext cx="605308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/>
              <p:cNvSpPr txBox="1">
                <a:spLocks/>
              </p:cNvSpPr>
              <p:nvPr/>
            </p:nvSpPr>
            <p:spPr>
              <a:xfrm>
                <a:off x="605308" y="2486708"/>
                <a:ext cx="4662153" cy="41838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𝒚</m:t>
                            </m:r>
                          </m:e>
                        </m:d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</m:d>
                  </m:oMath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08" y="2486708"/>
                <a:ext cx="4662153" cy="418384"/>
              </a:xfrm>
              <a:prstGeom prst="rect">
                <a:avLst/>
              </a:prstGeom>
              <a:blipFill rotWithShape="0">
                <a:blip r:embed="rId3"/>
                <a:stretch>
                  <a:fillRect t="-7246" b="-275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itle 1"/>
              <p:cNvSpPr txBox="1">
                <a:spLocks/>
              </p:cNvSpPr>
              <p:nvPr/>
            </p:nvSpPr>
            <p:spPr>
              <a:xfrm>
                <a:off x="605308" y="3107096"/>
                <a:ext cx="3709116" cy="41838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𝒚</m:t>
                            </m:r>
                          </m:e>
                        </m:d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</m:d>
                  </m:oMath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08" y="3107096"/>
                <a:ext cx="3709116" cy="418384"/>
              </a:xfrm>
              <a:prstGeom prst="rect">
                <a:avLst/>
              </a:prstGeom>
              <a:blipFill rotWithShape="0">
                <a:blip r:embed="rId4"/>
                <a:stretch>
                  <a:fillRect t="-8824" b="-29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/>
          <p:cNvSpPr txBox="1">
            <a:spLocks/>
          </p:cNvSpPr>
          <p:nvPr/>
        </p:nvSpPr>
        <p:spPr>
          <a:xfrm>
            <a:off x="1" y="3734821"/>
            <a:ext cx="605307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/>
              <p:cNvSpPr txBox="1">
                <a:spLocks/>
              </p:cNvSpPr>
              <p:nvPr/>
            </p:nvSpPr>
            <p:spPr>
              <a:xfrm>
                <a:off x="605308" y="3734821"/>
                <a:ext cx="5087156" cy="41838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 </m:t>
                            </m:r>
                            <m:sSub>
                              <m:sSubPr>
                                <m:ctrl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  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08" y="3734821"/>
                <a:ext cx="5087156" cy="418384"/>
              </a:xfrm>
              <a:prstGeom prst="rect">
                <a:avLst/>
              </a:prstGeom>
              <a:blipFill rotWithShape="0">
                <a:blip r:embed="rId5"/>
                <a:stretch>
                  <a:fillRect t="-8824" b="-29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itle 1"/>
          <p:cNvSpPr txBox="1">
            <a:spLocks/>
          </p:cNvSpPr>
          <p:nvPr/>
        </p:nvSpPr>
        <p:spPr>
          <a:xfrm>
            <a:off x="1" y="4355209"/>
            <a:ext cx="605307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/>
              <p:cNvSpPr txBox="1">
                <a:spLocks/>
              </p:cNvSpPr>
              <p:nvPr/>
            </p:nvSpPr>
            <p:spPr>
              <a:xfrm>
                <a:off x="605308" y="4355209"/>
                <a:ext cx="5490694" cy="41838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𝒔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.−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𝒔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</m:d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</m:d>
                  </m:oMath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08" y="4355209"/>
                <a:ext cx="5490694" cy="418384"/>
              </a:xfrm>
              <a:prstGeom prst="rect">
                <a:avLst/>
              </a:prstGeom>
              <a:blipFill rotWithShape="0">
                <a:blip r:embed="rId6"/>
                <a:stretch>
                  <a:fillRect t="-7246" b="-2898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06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19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688849" y="1354737"/>
            <a:ext cx="5188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</a:t>
            </a:r>
            <a:r>
              <a:rPr lang="es-NI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BIBLIOGRÁFICAS </a:t>
            </a:r>
            <a:endParaRPr lang="es-ES" sz="24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0" y="2127949"/>
            <a:ext cx="12192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Obligatorio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Grossman, S., &amp; Flores Godoy, J. (2019). </a:t>
            </a:r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Álgebra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lineal (8.ª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Lay, D. C. (2012). Álgebra lineal y sus aplicaciones (4.ª ed.). Pearson Educación.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Optativos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Chapra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C., &amp;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 P. (2015). Métodos numéricos para ingenieros (7.ª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 (2011). Álgebra lineal: Una introducción moderna (3.ª ed.).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3148</Words>
  <Application>Microsoft Office PowerPoint</Application>
  <PresentationFormat>Panorámica</PresentationFormat>
  <Paragraphs>570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8" baseType="lpstr">
      <vt:lpstr>Arial</vt:lpstr>
      <vt:lpstr>Calibri</vt:lpstr>
      <vt:lpstr>Cambria</vt:lpstr>
      <vt:lpstr>Cambria Math</vt:lpstr>
      <vt:lpstr>Franklin Gothic Book</vt:lpstr>
      <vt:lpstr>Franklin Gothic Medium</vt:lpstr>
      <vt:lpstr>Franklin Gothic Std No. 2 Roman</vt:lpstr>
      <vt:lpstr>Times New Roman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Cuenta Microsoft</cp:lastModifiedBy>
  <cp:revision>578</cp:revision>
  <dcterms:created xsi:type="dcterms:W3CDTF">2019-03-11T22:56:00Z</dcterms:created>
  <dcterms:modified xsi:type="dcterms:W3CDTF">2026-10-12T01:55:28Z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DAF54AE3DF304A368D573207D0A3D9DC_12</vt:lpwstr>
  </property>
  <property fmtid="{D5CDD505-2E9C-101B-9397-08002B2CF9AE}" pid="3" name="KSOProductBuildVer">
    <vt:lpwstr>3082-12.2.0.22549</vt:lpwstr>
  </property>
</Properties>
</file>