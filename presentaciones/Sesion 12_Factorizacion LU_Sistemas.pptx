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29"/>
  </p:notesMasterIdLst>
  <p:handoutMasterIdLst>
    <p:handoutMasterId r:id="rId30"/>
  </p:handoutMasterIdLst>
  <p:sldIdLst>
    <p:sldId id="371" r:id="rId3"/>
    <p:sldId id="380" r:id="rId4"/>
    <p:sldId id="460" r:id="rId5"/>
    <p:sldId id="538" r:id="rId6"/>
    <p:sldId id="537" r:id="rId7"/>
    <p:sldId id="549" r:id="rId8"/>
    <p:sldId id="552" r:id="rId9"/>
    <p:sldId id="551" r:id="rId10"/>
    <p:sldId id="550" r:id="rId11"/>
    <p:sldId id="553" r:id="rId12"/>
    <p:sldId id="536" r:id="rId13"/>
    <p:sldId id="548" r:id="rId14"/>
    <p:sldId id="541" r:id="rId15"/>
    <p:sldId id="544" r:id="rId16"/>
    <p:sldId id="546" r:id="rId17"/>
    <p:sldId id="547" r:id="rId18"/>
    <p:sldId id="542" r:id="rId19"/>
    <p:sldId id="554" r:id="rId20"/>
    <p:sldId id="557" r:id="rId21"/>
    <p:sldId id="556" r:id="rId22"/>
    <p:sldId id="558" r:id="rId23"/>
    <p:sldId id="559" r:id="rId24"/>
    <p:sldId id="535" r:id="rId25"/>
    <p:sldId id="534" r:id="rId26"/>
    <p:sldId id="379" r:id="rId27"/>
    <p:sldId id="372" r:id="rId2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C20"/>
    <a:srgbClr val="D71920"/>
    <a:srgbClr val="C8B160"/>
    <a:srgbClr val="009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2475" autoAdjust="0"/>
  </p:normalViewPr>
  <p:slideViewPr>
    <p:cSldViewPr snapToGrid="0" showGuides="1">
      <p:cViewPr varScale="1">
        <p:scale>
          <a:sx n="53" d="100"/>
          <a:sy n="53" d="100"/>
        </p:scale>
        <p:origin x="787" y="58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7612F-F4F6-49E7-9E06-3D5220FEBB27}" type="datetimeFigureOut">
              <a:rPr lang="es-NI" smtClean="0"/>
              <a:t>5/10/2026</a:t>
            </a:fld>
            <a:endParaRPr lang="es-NI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4567-83D8-42DA-AC87-6626250FF12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72244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99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ED7D31"/>
                </a:solidFill>
              </a:rPr>
              <a:t>i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6" y="164707"/>
            <a:ext cx="5145908" cy="15180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90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841" y="2276388"/>
            <a:ext cx="7814318" cy="23052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42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47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42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42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0.png"/><Relationship Id="rId3" Type="http://schemas.openxmlformats.org/officeDocument/2006/relationships/image" Target="../media/image930.png"/><Relationship Id="rId7" Type="http://schemas.openxmlformats.org/officeDocument/2006/relationships/image" Target="../media/image970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0.png"/><Relationship Id="rId5" Type="http://schemas.openxmlformats.org/officeDocument/2006/relationships/image" Target="../media/image950.png"/><Relationship Id="rId4" Type="http://schemas.openxmlformats.org/officeDocument/2006/relationships/image" Target="../media/image940.png"/><Relationship Id="rId9" Type="http://schemas.openxmlformats.org/officeDocument/2006/relationships/image" Target="../media/image99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14473" y="4346647"/>
            <a:ext cx="6390291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NI" altLang="es-NI" sz="3000" b="1" dirty="0">
                <a:solidFill>
                  <a:prstClr val="white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José Andrés Munguía Cortez </a:t>
            </a:r>
            <a:endParaRPr lang="es-MX" altLang="es-NI" sz="3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/>
          <p:cNvSpPr txBox="1"/>
          <p:nvPr/>
        </p:nvSpPr>
        <p:spPr>
          <a:xfrm>
            <a:off x="3701737" y="2985575"/>
            <a:ext cx="6815762" cy="1569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NI" sz="4800" dirty="0">
                <a:solidFill>
                  <a:prstClr val="white">
                    <a:lumMod val="95000"/>
                  </a:prstClr>
                </a:solidFill>
              </a:rPr>
              <a:t>ALGEBRA LINEAL</a:t>
            </a:r>
            <a:endParaRPr lang="es-ES_tradnl" sz="4800" b="1" dirty="0">
              <a:ln w="12700">
                <a:solidFill>
                  <a:srgbClr val="5B9BD5"/>
                </a:solidFill>
                <a:prstDash val="solid"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Franklin Gothic Std No. 2 Roman" charset="0"/>
              <a:cs typeface="Franklin Gothic Std No. 2 Roman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1" y="0"/>
            <a:ext cx="12191999" cy="10673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bg1"/>
                </a:solidFill>
              </a:rPr>
              <a:t>UNIDAD II  </a:t>
            </a:r>
            <a:r>
              <a:rPr lang="es-NI" sz="2800" b="1" dirty="0">
                <a:solidFill>
                  <a:schemeClr val="bg1"/>
                </a:solidFill>
              </a:rPr>
              <a:t>ALGEBRA DE MATRICES Y DETERMINANTES</a:t>
            </a:r>
            <a:endParaRPr lang="es-ES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0" y="4503642"/>
                <a:ext cx="12192000" cy="1061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NI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Factorización </a:t>
                </a:r>
                <a14:m>
                  <m:oMath xmlns:m="http://schemas.openxmlformats.org/officeDocument/2006/math">
                    <m:r>
                      <a:rPr lang="es-NI" sz="21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r>
                  <a:rPr lang="es-NI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matrices y resolución de sistemas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Descomposición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MX" sz="21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1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algoritmo de construcción y resolución eficiente del par de sistemas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𝑳𝒚</m:t>
                    </m:r>
                    <m:r>
                      <a:rPr lang="es-MX" sz="21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1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MX" sz="21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𝑼𝒙</m:t>
                    </m:r>
                    <m:r>
                      <a:rPr lang="es-MX" sz="21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1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endParaRPr lang="es-MX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03642"/>
                <a:ext cx="12192000" cy="1061829"/>
              </a:xfrm>
              <a:prstGeom prst="rect">
                <a:avLst/>
              </a:prstGeom>
              <a:blipFill rotWithShape="0">
                <a:blip r:embed="rId2"/>
                <a:stretch>
                  <a:fillRect l="-500" t="-3448" r="-600" b="-1034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/>
          <p:cNvSpPr/>
          <p:nvPr/>
        </p:nvSpPr>
        <p:spPr>
          <a:xfrm>
            <a:off x="0" y="4020439"/>
            <a:ext cx="1173706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Temas: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5703838"/>
            <a:ext cx="3670479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Resultado de aprendizaje: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" y="6119336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NI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Aplica operaciones con matrices y el cálculo de determinantes para la resolución de problemas en contextos matemáticos e ingenieriles.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2"/>
              <p:cNvSpPr txBox="1"/>
              <p:nvPr/>
            </p:nvSpPr>
            <p:spPr>
              <a:xfrm>
                <a:off x="0" y="1295472"/>
                <a:ext cx="12192000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sz="2100" dirty="0">
                    <a:solidFill>
                      <a:srgbClr val="FF0000"/>
                    </a:solidFill>
                  </a:rPr>
                  <a:t>La </a:t>
                </a:r>
                <a:r>
                  <a:rPr sz="2100" dirty="0" err="1">
                    <a:solidFill>
                      <a:srgbClr val="FF0000"/>
                    </a:solidFill>
                  </a:rPr>
                  <a:t>factorización</a:t>
                </a:r>
                <a:r>
                  <a:rPr sz="21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𝐿𝑈</m:t>
                    </m:r>
                  </m:oMath>
                </a14:m>
                <a:r>
                  <a:rPr sz="2100" dirty="0">
                    <a:solidFill>
                      <a:srgbClr val="FF0000"/>
                    </a:solidFill>
                  </a:rPr>
                  <a:t> </a:t>
                </a:r>
                <a:r>
                  <a:rPr sz="2100" dirty="0" err="1">
                    <a:solidFill>
                      <a:srgbClr val="FF0000"/>
                    </a:solidFill>
                  </a:rPr>
                  <a:t>descompone</a:t>
                </a:r>
                <a:r>
                  <a:rPr sz="21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100" dirty="0">
                    <a:solidFill>
                      <a:srgbClr val="FF0000"/>
                    </a:solidFill>
                  </a:rPr>
                  <a:t> en </a:t>
                </a:r>
                <a:r>
                  <a:rPr sz="2100" dirty="0" err="1">
                    <a:solidFill>
                      <a:srgbClr val="FF0000"/>
                    </a:solidFill>
                  </a:rPr>
                  <a:t>una</a:t>
                </a:r>
                <a:r>
                  <a:rPr sz="2100" dirty="0">
                    <a:solidFill>
                      <a:srgbClr val="FF0000"/>
                    </a:solidFill>
                  </a:rPr>
                  <a:t> </a:t>
                </a:r>
                <a:r>
                  <a:rPr sz="2100" dirty="0" err="1">
                    <a:solidFill>
                      <a:srgbClr val="FF0000"/>
                    </a:solidFill>
                  </a:rPr>
                  <a:t>matriz</a:t>
                </a:r>
                <a:r>
                  <a:rPr sz="2100" dirty="0">
                    <a:solidFill>
                      <a:srgbClr val="FF0000"/>
                    </a:solidFill>
                  </a:rPr>
                  <a:t> triangular inferior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100" dirty="0">
                    <a:solidFill>
                      <a:srgbClr val="FF0000"/>
                    </a:solidFill>
                  </a:rPr>
                  <a:t> y </a:t>
                </a:r>
                <a:r>
                  <a:rPr sz="2100" dirty="0" err="1">
                    <a:solidFill>
                      <a:srgbClr val="FF0000"/>
                    </a:solidFill>
                  </a:rPr>
                  <a:t>escalonada</a:t>
                </a:r>
                <a:r>
                  <a:rPr sz="21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sz="2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95472"/>
                <a:ext cx="12192000" cy="415498"/>
              </a:xfrm>
              <a:prstGeom prst="rect">
                <a:avLst/>
              </a:prstGeom>
              <a:blipFill>
                <a:blip r:embed="rId2"/>
                <a:stretch>
                  <a:fillRect t="-10294" b="-2794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5"/>
              <p:cNvSpPr/>
              <p:nvPr/>
            </p:nvSpPr>
            <p:spPr>
              <a:xfrm>
                <a:off x="6233375" y="2083802"/>
                <a:ext cx="5212080" cy="4389120"/>
              </a:xfrm>
              <a:prstGeom prst="roundRect">
                <a:avLst/>
              </a:prstGeom>
              <a:solidFill>
                <a:srgbClr val="F1F5F9"/>
              </a:solidFill>
              <a:ln>
                <a:solidFill>
                  <a:srgbClr val="0EA5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rtlCol="0" anchor="ctr"/>
              <a:lstStyle/>
              <a:p>
                <a:pPr algn="ctr">
                  <a:defRPr sz="1800" b="1">
                    <a:solidFill>
                      <a:srgbClr val="0EA5E9"/>
                    </a:solidFill>
                    <a:latin typeface="Georgia"/>
                  </a:defRPr>
                </a:pPr>
                <a:r>
                  <a:rPr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Estructura</a:t>
                </a:r>
                <a:r>
                  <a:rPr dirty="0">
                    <a:latin typeface="Arial" panose="020B0604020202020204" pitchFamily="34" charset="0"/>
                    <a:cs typeface="Arial" panose="020B0604020202020204" pitchFamily="34" charset="0"/>
                  </a:rPr>
                  <a:t> Visual de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s-MX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𝐿𝑈</m:t>
                    </m:r>
                  </m:oMath>
                </a14:m>
                <a:endParaRPr lang="es-NI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defRPr sz="1800" b="1">
                    <a:solidFill>
                      <a:srgbClr val="0EA5E9"/>
                    </a:solidFill>
                    <a:latin typeface="Georgia"/>
                  </a:defRPr>
                </a:pPr>
                <a:endParaRPr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1000"/>
                  </a:spcBef>
                  <a:defRPr sz="1200" b="1">
                    <a:solidFill>
                      <a:srgbClr val="0F172A"/>
                    </a:solidFill>
                    <a:latin typeface="Courier New"/>
                  </a:defRPr>
                </a:pP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  <a:r>
                  <a:rPr sz="15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Matriz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</m:oMath>
                </a14:m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)      </a:t>
                </a: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sz="15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Matriz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</m:oMath>
                </a14:m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15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b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[ 1  0  0  0 ]   </a:t>
                </a: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x   </a:t>
                </a: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[ ■  *  *  *  * ]</a:t>
                </a:r>
                <a:b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[ *  1  0  0 ]      </a:t>
                </a: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[ 0  ■  *  *  * ]</a:t>
                </a:r>
                <a:b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[ *  *  1  0 ]       </a:t>
                </a: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[ 0  0  0  ■  * ]</a:t>
                </a:r>
                <a:b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[ *  *  *  1 ]      </a:t>
                </a:r>
                <a:r>
                  <a:rPr lang="es-NI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</a:t>
                </a:r>
                <a: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 [ 0  0  0  0  0 ]</a:t>
                </a:r>
                <a:b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Donde</a:t>
                </a:r>
                <a:r>
                  <a:rPr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br>
                  <a:rPr sz="15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■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representa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entradas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pivote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(no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nulas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b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*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representa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cualquier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valor real</a:t>
                </a:r>
                <a:b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es-MX" sz="15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</m:oMath>
                </a14:m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invertible y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sus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15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diagonales</a:t>
                </a:r>
                <a:r>
                  <a:rPr lang="es-MX" sz="15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son 1</a:t>
                </a:r>
              </a:p>
            </p:txBody>
          </p:sp>
        </mc:Choice>
        <mc:Fallback xmlns="">
          <p:sp>
            <p:nvSpPr>
              <p:cNvPr id="8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375" y="2083802"/>
                <a:ext cx="5212080" cy="4389120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rgbClr val="0EA5E9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5">
                <a:extLst>
                  <a:ext uri="{FF2B5EF4-FFF2-40B4-BE49-F238E27FC236}">
                    <a16:creationId xmlns:a16="http://schemas.microsoft.com/office/drawing/2014/main" id="{854D6A79-E162-4676-992D-BEC8DB12A92C}"/>
                  </a:ext>
                </a:extLst>
              </p:cNvPr>
              <p:cNvSpPr/>
              <p:nvPr/>
            </p:nvSpPr>
            <p:spPr>
              <a:xfrm>
                <a:off x="580061" y="2083802"/>
                <a:ext cx="5212080" cy="4389120"/>
              </a:xfrm>
              <a:prstGeom prst="roundRect">
                <a:avLst/>
              </a:prstGeom>
              <a:solidFill>
                <a:srgbClr val="F1F5F9"/>
              </a:solidFill>
              <a:ln>
                <a:solidFill>
                  <a:srgbClr val="0EA5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rtlCol="0" anchor="ctr"/>
              <a:lstStyle/>
              <a:p>
                <a:pPr algn="ctr">
                  <a:defRPr sz="1800" b="1">
                    <a:solidFill>
                      <a:srgbClr val="0EA5E9"/>
                    </a:solidFill>
                    <a:latin typeface="Georgia"/>
                  </a:defRPr>
                </a:pPr>
                <a:r>
                  <a:rPr lang="es-ES" b="1" dirty="0">
                    <a:solidFill>
                      <a:srgbClr val="0EA5E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Definición Formal de </a:t>
                </a:r>
                <a14:m>
                  <m:oMath xmlns:m="http://schemas.openxmlformats.org/officeDocument/2006/math">
                    <m:r>
                      <a:rPr lang="es-ES" b="1" dirty="0">
                        <a:solidFill>
                          <a:srgbClr val="0EA5E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b="1" dirty="0">
                        <a:solidFill>
                          <a:srgbClr val="0EA5E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dirty="0">
                        <a:solidFill>
                          <a:srgbClr val="0EA5E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endParaRPr lang="es-ES" b="1" dirty="0">
                  <a:solidFill>
                    <a:srgbClr val="0EA5E9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1000"/>
                  </a:spcBef>
                </a:pPr>
                <a:r>
                  <a:rPr lang="es-ES" sz="1500" b="1" dirty="0">
                    <a:solidFill>
                      <a:srgbClr val="0D94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</a:t>
                </a:r>
                <a:r>
                  <a:rPr lang="es-ES" sz="15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Supuesto</a:t>
                </a:r>
                <a:r>
                  <a:rPr lang="es-E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Base</a:t>
                </a:r>
                <a:r>
                  <a:rPr lang="es-ES" sz="1500" b="1" dirty="0">
                    <a:solidFill>
                      <a:srgbClr val="0D94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s-ES" sz="1500" dirty="0">
                    <a:solidFill>
                      <a:srgbClr val="0F172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una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puede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reducirse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forma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escalonada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mediante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operaciones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reemplazo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filas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(sin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intercambios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algn="just">
                  <a:spcBef>
                    <a:spcPts val="1000"/>
                  </a:spcBef>
                </a:pPr>
                <a:r>
                  <a:rPr lang="es-ES" sz="1500" b="1" dirty="0">
                    <a:solidFill>
                      <a:srgbClr val="0D94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</a:t>
                </a:r>
                <a:r>
                  <a:rPr lang="es-ES" sz="15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</a:t>
                </a:r>
                <a:r>
                  <a:rPr lang="es-E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5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s-E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s-ES" sz="15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Upper</a:t>
                </a:r>
                <a:r>
                  <a:rPr lang="es-E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s-ES" sz="15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oSuperior</a:t>
                </a:r>
                <a:r>
                  <a:rPr lang="es-E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s-ES" sz="1500" b="1" dirty="0">
                    <a:solidFill>
                      <a:srgbClr val="0D94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s-ES" sz="1500" dirty="0">
                    <a:solidFill>
                      <a:srgbClr val="0F172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la forma escalonada de </a:t>
                </a:r>
                <a14:m>
                  <m:oMath xmlns:m="http://schemas.openxmlformats.org/officeDocument/2006/math"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obtenida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tras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reducción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filas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spcBef>
                    <a:spcPts val="1000"/>
                  </a:spcBef>
                </a:pPr>
                <a:r>
                  <a:rPr lang="es-ES" sz="1500" b="1" dirty="0">
                    <a:solidFill>
                      <a:srgbClr val="0D94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</a:t>
                </a:r>
                <a:r>
                  <a:rPr lang="es-E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 </a:t>
                </a:r>
                <a14:m>
                  <m:oMath xmlns:m="http://schemas.openxmlformats.org/officeDocument/2006/math">
                    <m:r>
                      <a:rPr lang="es-ES" sz="15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s-E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s-ES" sz="15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Lower</a:t>
                </a:r>
                <a:r>
                  <a:rPr lang="es-ES" sz="15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 Inferior)</a:t>
                </a:r>
                <a:r>
                  <a:rPr lang="es-ES" sz="1500" b="1" dirty="0">
                    <a:solidFill>
                      <a:srgbClr val="0D94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s-ES" sz="1500" dirty="0">
                    <a:solidFill>
                      <a:srgbClr val="0F172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una matriz </a:t>
                </a:r>
                <a14:m>
                  <m:oMath xmlns:m="http://schemas.openxmlformats.org/officeDocument/2006/math"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ES" sz="15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sz="15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triangular inferior unitaria con unos (1) en la diagonal principal y los multiplicadores de reducción en la parte inferior.</a:t>
                </a:r>
              </a:p>
            </p:txBody>
          </p:sp>
        </mc:Choice>
        <mc:Fallback>
          <p:sp>
            <p:nvSpPr>
              <p:cNvPr id="5" name="Rounded Rectangle 5">
                <a:extLst>
                  <a:ext uri="{FF2B5EF4-FFF2-40B4-BE49-F238E27FC236}">
                    <a16:creationId xmlns:a16="http://schemas.microsoft.com/office/drawing/2014/main" id="{854D6A79-E162-4676-992D-BEC8DB12A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61" y="2083802"/>
                <a:ext cx="5212080" cy="438912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EA5E9"/>
                </a:solidFill>
              </a:ln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3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"/>
              <p:cNvSpPr txBox="1"/>
              <p:nvPr/>
            </p:nvSpPr>
            <p:spPr>
              <a:xfrm>
                <a:off x="1268845" y="1258266"/>
                <a:ext cx="978794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Resolver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𝐴𝑥</m:t>
                    </m:r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mediante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𝐿𝑈</m:t>
                    </m:r>
                  </m:oMath>
                </a14:m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requiere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solo dos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sustituciones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directas</a:t>
                </a:r>
                <a:endParaRPr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845" y="1258266"/>
                <a:ext cx="9787944" cy="430887"/>
              </a:xfrm>
              <a:prstGeom prst="rect">
                <a:avLst/>
              </a:prstGeom>
              <a:blipFill rotWithShape="0">
                <a:blip r:embed="rId2"/>
                <a:stretch>
                  <a:fillRect t="-7042" b="-2957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5">
                <a:extLst>
                  <a:ext uri="{FF2B5EF4-FFF2-40B4-BE49-F238E27FC236}">
                    <a16:creationId xmlns:a16="http://schemas.microsoft.com/office/drawing/2014/main" id="{9DFFB984-E1F3-4B00-9BD7-DACD9F824711}"/>
                  </a:ext>
                </a:extLst>
              </p:cNvPr>
              <p:cNvSpPr/>
              <p:nvPr/>
            </p:nvSpPr>
            <p:spPr>
              <a:xfrm>
                <a:off x="580061" y="2083802"/>
                <a:ext cx="10871710" cy="4389120"/>
              </a:xfrm>
              <a:prstGeom prst="roundRect">
                <a:avLst/>
              </a:prstGeom>
              <a:solidFill>
                <a:srgbClr val="F1F5F9"/>
              </a:solidFill>
              <a:ln>
                <a:solidFill>
                  <a:srgbClr val="0EA5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rtlCol="0" anchor="ctr"/>
              <a:lstStyle/>
              <a:p>
                <a:pPr algn="ctr">
                  <a:defRPr sz="1800" b="1">
                    <a:solidFill>
                      <a:srgbClr val="0EA5E9"/>
                    </a:solidFill>
                    <a:latin typeface="Georgia"/>
                  </a:defRPr>
                </a:pPr>
                <a:r>
                  <a:rPr lang="es-ES" sz="2200" b="1" dirty="0">
                    <a:solidFill>
                      <a:srgbClr val="0EA5E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Proceso de resolución en dos etapas</a:t>
                </a:r>
              </a:p>
              <a:p>
                <a:pPr algn="ctr">
                  <a:defRPr sz="2000" b="1">
                    <a:solidFill>
                      <a:srgbClr val="0D9488"/>
                    </a:solidFill>
                    <a:latin typeface="Georgia"/>
                  </a:defRPr>
                </a:pPr>
                <a:endParaRPr lang="es-E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Dado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la ecuación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convierte en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s-ES" b="1" i="1" dirty="0" err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𝑼𝒙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Haciendo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𝑼𝒙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s-E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Paso 1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Sustitución Hacia Adelante (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𝑳𝒚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Se resuelve el sistema triangular inferior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𝑳𝒚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encontrar el vector intermedio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Al ser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triangular inferior con unos en la diagonal,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₁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₁ 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el resto se despeja directamente.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Paso 2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Sustitución Hacia Atrás (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𝑼𝒙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Se resuelve el sistema triangular superior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𝑼𝒙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para encontrar la solución final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Ventaja Computacional en Ingeniería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En aplicaciones reales (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₁,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₂, …), 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calcula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una sola vez. Para cada nuevo vector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resolver las dos sustituciones requiere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²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operaciones en lugar de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³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de la eliminación gaussiana completa.</a:t>
                </a:r>
              </a:p>
              <a:p>
                <a:pPr algn="just">
                  <a:spcBef>
                    <a:spcPts val="1200"/>
                  </a:spcBef>
                </a:pPr>
                <a:endParaRPr lang="es-ES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ounded Rectangle 5">
                <a:extLst>
                  <a:ext uri="{FF2B5EF4-FFF2-40B4-BE49-F238E27FC236}">
                    <a16:creationId xmlns:a16="http://schemas.microsoft.com/office/drawing/2014/main" id="{9DFFB984-E1F3-4B00-9BD7-DACD9F8247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61" y="2083802"/>
                <a:ext cx="10871710" cy="4389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EA5E9"/>
                </a:solidFill>
              </a:ln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9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"/>
              <p:cNvSpPr txBox="1"/>
              <p:nvPr/>
            </p:nvSpPr>
            <p:spPr>
              <a:xfrm>
                <a:off x="1090750" y="1322661"/>
                <a:ext cx="988655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registra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los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multiplicadores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exactos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reducción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filas</a:t>
                </a:r>
                <a:endParaRPr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50" y="1322661"/>
                <a:ext cx="9886557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801" t="-8451" b="-2816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5">
                <a:extLst>
                  <a:ext uri="{FF2B5EF4-FFF2-40B4-BE49-F238E27FC236}">
                    <a16:creationId xmlns:a16="http://schemas.microsoft.com/office/drawing/2014/main" id="{86EC14D4-4246-4480-8C0B-193CCCA377E1}"/>
                  </a:ext>
                </a:extLst>
              </p:cNvPr>
              <p:cNvSpPr/>
              <p:nvPr/>
            </p:nvSpPr>
            <p:spPr>
              <a:xfrm>
                <a:off x="580061" y="2083802"/>
                <a:ext cx="10871710" cy="4389120"/>
              </a:xfrm>
              <a:prstGeom prst="roundRect">
                <a:avLst/>
              </a:prstGeom>
              <a:solidFill>
                <a:srgbClr val="F1F5F9"/>
              </a:solidFill>
              <a:ln>
                <a:solidFill>
                  <a:srgbClr val="0EA5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rtlCol="0" anchor="ctr"/>
              <a:lstStyle/>
              <a:p>
                <a:pPr algn="ctr">
                  <a:defRPr sz="1800" b="1">
                    <a:solidFill>
                      <a:srgbClr val="0EA5E9"/>
                    </a:solidFill>
                    <a:latin typeface="Georgia"/>
                  </a:defRPr>
                </a:pPr>
                <a:r>
                  <a:rPr lang="es-ES" sz="2200" b="1" dirty="0">
                    <a:solidFill>
                      <a:srgbClr val="0EA5E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Algoritmo para </a:t>
                </a:r>
                <a:r>
                  <a:rPr lang="es-ES" sz="2200" b="1" dirty="0" err="1">
                    <a:solidFill>
                      <a:srgbClr val="0EA5E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construir</a:t>
                </a:r>
                <a:r>
                  <a:rPr lang="es-ES" sz="2200" b="1" dirty="0">
                    <a:solidFill>
                      <a:srgbClr val="0EA5E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200" b="1" dirty="0">
                        <a:solidFill>
                          <a:srgbClr val="0EA5E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𝐿</m:t>
                    </m:r>
                  </m:oMath>
                </a14:m>
                <a:r>
                  <a:rPr lang="es-ES" sz="2200" b="1" dirty="0">
                    <a:solidFill>
                      <a:srgbClr val="0EA5E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ES" sz="2200" b="1" dirty="0">
                        <a:solidFill>
                          <a:srgbClr val="0EA5E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𝑈</m:t>
                    </m:r>
                  </m:oMath>
                </a14:m>
                <a:endParaRPr lang="es-ES" sz="2200" b="1" dirty="0">
                  <a:solidFill>
                    <a:srgbClr val="0EA5E9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:r>
                  <a:rPr lang="es-ES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Obtención</a:t>
                </a: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s-E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Reduzca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forma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escalonada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utilizando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únicamente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operaciones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reemplazo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adición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múltiplos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otra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es-ES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Estructura</a:t>
                </a: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s-E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Cree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tamaño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triangular inferior con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unos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 la diagonal principal.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:r>
                  <a:rPr lang="es-ES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Llenado</a:t>
                </a: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columnas</a:t>
                </a: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s-E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cada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pivote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durante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reducción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divida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los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elementos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están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sobre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debajo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del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pivote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entre el valor del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pivote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Inserte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esos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cocientes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 la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correspondiente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s-ES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Regla</a:t>
                </a: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práctica</a:t>
                </a:r>
                <a:r>
                  <a:rPr lang="es-ES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s-E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misma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secuencia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operaciones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reduce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la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Identidad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reduce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s-ES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4" name="Rounded Rectangle 5">
                <a:extLst>
                  <a:ext uri="{FF2B5EF4-FFF2-40B4-BE49-F238E27FC236}">
                    <a16:creationId xmlns:a16="http://schemas.microsoft.com/office/drawing/2014/main" id="{86EC14D4-4246-4480-8C0B-193CCCA377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61" y="2083802"/>
                <a:ext cx="10871710" cy="4389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EA5E9"/>
                </a:solidFill>
              </a:ln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97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0"/>
              <p:cNvSpPr txBox="1">
                <a:spLocks/>
              </p:cNvSpPr>
              <p:nvPr/>
            </p:nvSpPr>
            <p:spPr>
              <a:xfrm>
                <a:off x="772733" y="1520866"/>
                <a:ext cx="5242925" cy="4850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MX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 1. 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</a:rPr>
                  <a:t>Datos: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𝑳𝑼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</a:rPr>
                  <a:t>y vector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33" y="1520866"/>
                <a:ext cx="5242925" cy="485019"/>
              </a:xfrm>
              <a:prstGeom prst="rect">
                <a:avLst/>
              </a:prstGeom>
              <a:blipFill rotWithShape="0">
                <a:blip r:embed="rId2"/>
                <a:stretch>
                  <a:fillRect l="-3605" t="-8750" b="-2375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tiqueta A"/>
              <p:cNvSpPr txBox="1"/>
              <p:nvPr/>
            </p:nvSpPr>
            <p:spPr>
              <a:xfrm>
                <a:off x="974266" y="2160946"/>
                <a:ext cx="2414016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etiqueta 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6" y="2160946"/>
                <a:ext cx="2414016" cy="36576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724909"/>
              </p:ext>
            </p:extLst>
          </p:nvPr>
        </p:nvGraphicFramePr>
        <p:xfrm>
          <a:off x="1111426" y="2663866"/>
          <a:ext cx="2139696" cy="1700784"/>
        </p:xfrm>
        <a:graphic>
          <a:graphicData uri="http://schemas.openxmlformats.org/drawingml/2006/table">
            <a:tbl>
              <a:tblPr/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corchete"/>
          <p:cNvSpPr/>
          <p:nvPr/>
        </p:nvSpPr>
        <p:spPr>
          <a:xfrm>
            <a:off x="974266" y="2663866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/>
          <p:cNvSpPr/>
          <p:nvPr/>
        </p:nvSpPr>
        <p:spPr>
          <a:xfrm>
            <a:off x="974266" y="266386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/>
          <p:cNvSpPr/>
          <p:nvPr/>
        </p:nvSpPr>
        <p:spPr>
          <a:xfrm>
            <a:off x="974266" y="436465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1" name="corchete"/>
          <p:cNvSpPr/>
          <p:nvPr/>
        </p:nvSpPr>
        <p:spPr>
          <a:xfrm>
            <a:off x="3388282" y="2663866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2" name="corchete"/>
          <p:cNvSpPr/>
          <p:nvPr/>
        </p:nvSpPr>
        <p:spPr>
          <a:xfrm>
            <a:off x="3296842" y="266386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3" name="corchete"/>
          <p:cNvSpPr/>
          <p:nvPr/>
        </p:nvSpPr>
        <p:spPr>
          <a:xfrm>
            <a:off x="3296842" y="436465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4" name="simbolo"/>
          <p:cNvSpPr txBox="1"/>
          <p:nvPr/>
        </p:nvSpPr>
        <p:spPr>
          <a:xfrm>
            <a:off x="3388282" y="2663866"/>
            <a:ext cx="5029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=</a:t>
            </a:r>
            <a:endParaRPr 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tiqueta L"/>
              <p:cNvSpPr txBox="1"/>
              <p:nvPr/>
            </p:nvSpPr>
            <p:spPr>
              <a:xfrm>
                <a:off x="3891202" y="2160946"/>
                <a:ext cx="2215896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etiqueta 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202" y="2160946"/>
                <a:ext cx="2215896" cy="36576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251575"/>
              </p:ext>
            </p:extLst>
          </p:nvPr>
        </p:nvGraphicFramePr>
        <p:xfrm>
          <a:off x="4028362" y="2663866"/>
          <a:ext cx="1941576" cy="1700784"/>
        </p:xfrm>
        <a:graphic>
          <a:graphicData uri="http://schemas.openxmlformats.org/drawingml/2006/table">
            <a:tbl>
              <a:tblPr/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corchete"/>
          <p:cNvSpPr/>
          <p:nvPr/>
        </p:nvSpPr>
        <p:spPr>
          <a:xfrm>
            <a:off x="3891202" y="2663866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/>
          <p:cNvSpPr/>
          <p:nvPr/>
        </p:nvSpPr>
        <p:spPr>
          <a:xfrm>
            <a:off x="3891202" y="266386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9" name="corchete"/>
          <p:cNvSpPr/>
          <p:nvPr/>
        </p:nvSpPr>
        <p:spPr>
          <a:xfrm>
            <a:off x="3891202" y="436465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0" name="corchete"/>
          <p:cNvSpPr/>
          <p:nvPr/>
        </p:nvSpPr>
        <p:spPr>
          <a:xfrm>
            <a:off x="6107098" y="2663866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1" name="corchete"/>
          <p:cNvSpPr/>
          <p:nvPr/>
        </p:nvSpPr>
        <p:spPr>
          <a:xfrm>
            <a:off x="6015658" y="266386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2" name="corchete"/>
          <p:cNvSpPr/>
          <p:nvPr/>
        </p:nvSpPr>
        <p:spPr>
          <a:xfrm>
            <a:off x="6015658" y="436465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tiqueta U"/>
              <p:cNvSpPr txBox="1"/>
              <p:nvPr/>
            </p:nvSpPr>
            <p:spPr>
              <a:xfrm>
                <a:off x="6289978" y="2160946"/>
                <a:ext cx="2215896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etiqueta U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978" y="2160946"/>
                <a:ext cx="2215896" cy="36576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08767"/>
              </p:ext>
            </p:extLst>
          </p:nvPr>
        </p:nvGraphicFramePr>
        <p:xfrm>
          <a:off x="6427138" y="2663866"/>
          <a:ext cx="1941576" cy="1700784"/>
        </p:xfrm>
        <a:graphic>
          <a:graphicData uri="http://schemas.openxmlformats.org/drawingml/2006/table">
            <a:tbl>
              <a:tblPr/>
              <a:tblGrid>
                <a:gridCol w="51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corchete"/>
          <p:cNvSpPr/>
          <p:nvPr/>
        </p:nvSpPr>
        <p:spPr>
          <a:xfrm>
            <a:off x="6289978" y="2663866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6" name="corchete"/>
          <p:cNvSpPr/>
          <p:nvPr/>
        </p:nvSpPr>
        <p:spPr>
          <a:xfrm>
            <a:off x="6289978" y="266386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corchete"/>
          <p:cNvSpPr/>
          <p:nvPr/>
        </p:nvSpPr>
        <p:spPr>
          <a:xfrm>
            <a:off x="6289978" y="436465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8" name="corchete"/>
          <p:cNvSpPr/>
          <p:nvPr/>
        </p:nvSpPr>
        <p:spPr>
          <a:xfrm>
            <a:off x="8505874" y="2663866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9" name="corchete"/>
          <p:cNvSpPr/>
          <p:nvPr/>
        </p:nvSpPr>
        <p:spPr>
          <a:xfrm>
            <a:off x="8414434" y="266386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0" name="corchete"/>
          <p:cNvSpPr/>
          <p:nvPr/>
        </p:nvSpPr>
        <p:spPr>
          <a:xfrm>
            <a:off x="8414434" y="436465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1" name="simbolo"/>
          <p:cNvSpPr txBox="1"/>
          <p:nvPr/>
        </p:nvSpPr>
        <p:spPr>
          <a:xfrm>
            <a:off x="8505874" y="2663866"/>
            <a:ext cx="4572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,</a:t>
            </a:r>
            <a:endParaRPr 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etiqueta b"/>
              <p:cNvSpPr txBox="1"/>
              <p:nvPr/>
            </p:nvSpPr>
            <p:spPr>
              <a:xfrm>
                <a:off x="8963074" y="2160946"/>
                <a:ext cx="987552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etiqueta 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074" y="2160946"/>
                <a:ext cx="987552" cy="3657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171639"/>
              </p:ext>
            </p:extLst>
          </p:nvPr>
        </p:nvGraphicFramePr>
        <p:xfrm>
          <a:off x="9100234" y="2663866"/>
          <a:ext cx="713232" cy="1700784"/>
        </p:xfrm>
        <a:graphic>
          <a:graphicData uri="http://schemas.openxmlformats.org/drawingml/2006/table">
            <a:tbl>
              <a:tblPr/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corchete"/>
          <p:cNvSpPr/>
          <p:nvPr/>
        </p:nvSpPr>
        <p:spPr>
          <a:xfrm>
            <a:off x="8963074" y="2663866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5" name="corchete"/>
          <p:cNvSpPr/>
          <p:nvPr/>
        </p:nvSpPr>
        <p:spPr>
          <a:xfrm>
            <a:off x="8963074" y="266386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6" name="corchete"/>
          <p:cNvSpPr/>
          <p:nvPr/>
        </p:nvSpPr>
        <p:spPr>
          <a:xfrm>
            <a:off x="8963074" y="436465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7" name="corchete"/>
          <p:cNvSpPr/>
          <p:nvPr/>
        </p:nvSpPr>
        <p:spPr>
          <a:xfrm>
            <a:off x="9950626" y="2663866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8" name="corchete"/>
          <p:cNvSpPr/>
          <p:nvPr/>
        </p:nvSpPr>
        <p:spPr>
          <a:xfrm>
            <a:off x="9859186" y="266386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9" name="corchete"/>
          <p:cNvSpPr/>
          <p:nvPr/>
        </p:nvSpPr>
        <p:spPr>
          <a:xfrm>
            <a:off x="9859186" y="436465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0" name="recuadro plan"/>
          <p:cNvSpPr/>
          <p:nvPr/>
        </p:nvSpPr>
        <p:spPr>
          <a:xfrm>
            <a:off x="930436" y="4931191"/>
            <a:ext cx="815492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plan"/>
              <p:cNvSpPr txBox="1"/>
              <p:nvPr/>
            </p:nvSpPr>
            <p:spPr>
              <a:xfrm>
                <a:off x="1250476" y="5022631"/>
                <a:ext cx="7834884" cy="1554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Plan de solución</a:t>
                </a: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1)  </a:t>
                </a:r>
                <a:r>
                  <a:rPr lang="en-US" sz="18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Resolver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𝑳𝒚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 Gauss - Jordan: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 ∼ [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18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2)  </a:t>
                </a:r>
                <a:r>
                  <a:rPr lang="en-US" sz="18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Resolver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𝑼𝒙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 Gauss - Jordan: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 ∼ [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18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Comprobación: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(verificado entrada por entrada) 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1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n-US" sz="18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1" name="pla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476" y="5022631"/>
                <a:ext cx="7834884" cy="1554480"/>
              </a:xfrm>
              <a:prstGeom prst="rect">
                <a:avLst/>
              </a:prstGeom>
              <a:blipFill rotWithShape="0">
                <a:blip r:embed="rId7"/>
                <a:stretch>
                  <a:fillRect l="-179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99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 txBox="1">
                <a:spLocks/>
              </p:cNvSpPr>
              <p:nvPr/>
            </p:nvSpPr>
            <p:spPr>
              <a:xfrm>
                <a:off x="317572" y="1342107"/>
                <a:ext cx="4537764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Paso 1: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𝑳𝒚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72" y="1342107"/>
                <a:ext cx="4537764" cy="731520"/>
              </a:xfrm>
              <a:prstGeom prst="rect">
                <a:avLst/>
              </a:prstGeom>
              <a:blipFill rotWithShape="0">
                <a:blip r:embed="rId2"/>
                <a:stretch>
                  <a:fillRect l="-4032" r="-53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peraciones"/>
              <p:cNvSpPr txBox="1"/>
              <p:nvPr/>
            </p:nvSpPr>
            <p:spPr>
              <a:xfrm>
                <a:off x="695230" y="2395469"/>
                <a:ext cx="2283193" cy="254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 inicial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operacion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30" y="2395469"/>
                <a:ext cx="2283193" cy="254100"/>
              </a:xfrm>
              <a:prstGeom prst="rect">
                <a:avLst/>
              </a:prstGeom>
              <a:blipFill>
                <a:blip r:embed="rId3"/>
                <a:stretch>
                  <a:fillRect l="-6667" t="-47619" b="-61905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859051"/>
              </p:ext>
            </p:extLst>
          </p:nvPr>
        </p:nvGraphicFramePr>
        <p:xfrm>
          <a:off x="453980" y="2805147"/>
          <a:ext cx="2552700" cy="159105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orchete"/>
          <p:cNvSpPr/>
          <p:nvPr/>
        </p:nvSpPr>
        <p:spPr>
          <a:xfrm>
            <a:off x="316820" y="280514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" name="corchete"/>
          <p:cNvSpPr/>
          <p:nvPr/>
        </p:nvSpPr>
        <p:spPr>
          <a:xfrm>
            <a:off x="316820" y="280514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" name="corchete"/>
          <p:cNvSpPr/>
          <p:nvPr/>
        </p:nvSpPr>
        <p:spPr>
          <a:xfrm>
            <a:off x="316820" y="439620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8" name="corchete"/>
          <p:cNvSpPr/>
          <p:nvPr/>
        </p:nvSpPr>
        <p:spPr>
          <a:xfrm>
            <a:off x="3143840" y="280514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/>
          <p:cNvSpPr/>
          <p:nvPr/>
        </p:nvSpPr>
        <p:spPr>
          <a:xfrm>
            <a:off x="3052400" y="280514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/>
          <p:cNvSpPr/>
          <p:nvPr/>
        </p:nvSpPr>
        <p:spPr>
          <a:xfrm>
            <a:off x="3052400" y="439620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1" name="divisor"/>
          <p:cNvSpPr/>
          <p:nvPr/>
        </p:nvSpPr>
        <p:spPr>
          <a:xfrm>
            <a:off x="2320880" y="2832579"/>
            <a:ext cx="0" cy="1536192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p:sp>
        <p:nvSpPr>
          <p:cNvPr id="12" name="simbolo"/>
          <p:cNvSpPr txBox="1"/>
          <p:nvPr/>
        </p:nvSpPr>
        <p:spPr>
          <a:xfrm>
            <a:off x="3143840" y="2805147"/>
            <a:ext cx="502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operaciones"/>
          <p:cNvSpPr txBox="1"/>
          <p:nvPr/>
        </p:nvSpPr>
        <p:spPr>
          <a:xfrm>
            <a:off x="3395300" y="2201643"/>
            <a:ext cx="185659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F2 ← F2 + F1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F3 − 2F1</a:t>
            </a:r>
          </a:p>
        </p:txBody>
      </p:sp>
      <p:graphicFrame>
        <p:nvGraphicFramePr>
          <p:cNvPr id="1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644538"/>
              </p:ext>
            </p:extLst>
          </p:nvPr>
        </p:nvGraphicFramePr>
        <p:xfrm>
          <a:off x="3783920" y="2805147"/>
          <a:ext cx="2362200" cy="1591056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corchete"/>
          <p:cNvSpPr/>
          <p:nvPr/>
        </p:nvSpPr>
        <p:spPr>
          <a:xfrm>
            <a:off x="3646760" y="280514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6" name="corchete"/>
          <p:cNvSpPr/>
          <p:nvPr/>
        </p:nvSpPr>
        <p:spPr>
          <a:xfrm>
            <a:off x="3692480" y="2832579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7" name="corchete"/>
          <p:cNvSpPr/>
          <p:nvPr/>
        </p:nvSpPr>
        <p:spPr>
          <a:xfrm>
            <a:off x="3646760" y="439620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/>
          <p:cNvSpPr/>
          <p:nvPr/>
        </p:nvSpPr>
        <p:spPr>
          <a:xfrm>
            <a:off x="6283280" y="280514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9" name="corchete"/>
          <p:cNvSpPr/>
          <p:nvPr/>
        </p:nvSpPr>
        <p:spPr>
          <a:xfrm>
            <a:off x="6191840" y="280514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0" name="corchete"/>
          <p:cNvSpPr/>
          <p:nvPr/>
        </p:nvSpPr>
        <p:spPr>
          <a:xfrm>
            <a:off x="6191840" y="439620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1" name="divisor"/>
          <p:cNvSpPr/>
          <p:nvPr/>
        </p:nvSpPr>
        <p:spPr>
          <a:xfrm>
            <a:off x="5460320" y="2832579"/>
            <a:ext cx="0" cy="1536192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p:sp>
        <p:nvSpPr>
          <p:cNvPr id="22" name="simbolo"/>
          <p:cNvSpPr txBox="1"/>
          <p:nvPr/>
        </p:nvSpPr>
        <p:spPr>
          <a:xfrm>
            <a:off x="6283280" y="2805147"/>
            <a:ext cx="502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23" name="operaciones"/>
          <p:cNvSpPr txBox="1"/>
          <p:nvPr/>
        </p:nvSpPr>
        <p:spPr>
          <a:xfrm>
            <a:off x="6534740" y="2395469"/>
            <a:ext cx="2108724" cy="409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F3 + 5F2</a:t>
            </a:r>
          </a:p>
        </p:txBody>
      </p:sp>
      <p:graphicFrame>
        <p:nvGraphicFramePr>
          <p:cNvPr id="2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5691"/>
              </p:ext>
            </p:extLst>
          </p:nvPr>
        </p:nvGraphicFramePr>
        <p:xfrm>
          <a:off x="6923360" y="2805147"/>
          <a:ext cx="2171700" cy="1591056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corchete"/>
          <p:cNvSpPr/>
          <p:nvPr/>
        </p:nvSpPr>
        <p:spPr>
          <a:xfrm>
            <a:off x="6786200" y="280514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6" name="corchete"/>
          <p:cNvSpPr/>
          <p:nvPr/>
        </p:nvSpPr>
        <p:spPr>
          <a:xfrm>
            <a:off x="6786200" y="280514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corchete"/>
          <p:cNvSpPr/>
          <p:nvPr/>
        </p:nvSpPr>
        <p:spPr>
          <a:xfrm>
            <a:off x="6786200" y="439620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8" name="corchete"/>
          <p:cNvSpPr/>
          <p:nvPr/>
        </p:nvSpPr>
        <p:spPr>
          <a:xfrm>
            <a:off x="9232220" y="280514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9" name="corchete"/>
          <p:cNvSpPr/>
          <p:nvPr/>
        </p:nvSpPr>
        <p:spPr>
          <a:xfrm>
            <a:off x="9140780" y="280514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0" name="corchete"/>
          <p:cNvSpPr/>
          <p:nvPr/>
        </p:nvSpPr>
        <p:spPr>
          <a:xfrm>
            <a:off x="9140780" y="439620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1" name="divisor"/>
          <p:cNvSpPr/>
          <p:nvPr/>
        </p:nvSpPr>
        <p:spPr>
          <a:xfrm>
            <a:off x="8409260" y="2832579"/>
            <a:ext cx="0" cy="1536192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sultado y"/>
              <p:cNvSpPr txBox="1"/>
              <p:nvPr/>
            </p:nvSpPr>
            <p:spPr>
              <a:xfrm>
                <a:off x="9652661" y="2777720"/>
                <a:ext cx="1856597" cy="15910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5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b="1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5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5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5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5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5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5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2" name="resultado 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661" y="2777720"/>
                <a:ext cx="1856597" cy="15910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97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  <p:bldP spid="22" grpId="0" animBg="1"/>
      <p:bldP spid="23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 txBox="1">
                <a:spLocks/>
              </p:cNvSpPr>
              <p:nvPr/>
            </p:nvSpPr>
            <p:spPr>
              <a:xfrm>
                <a:off x="311025" y="1640769"/>
                <a:ext cx="4737493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Paso 2: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𝑼𝒙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25" y="1640769"/>
                <a:ext cx="4737493" cy="731520"/>
              </a:xfrm>
              <a:prstGeom prst="rect">
                <a:avLst/>
              </a:prstGeom>
              <a:blipFill rotWithShape="0">
                <a:blip r:embed="rId2"/>
                <a:stretch>
                  <a:fillRect l="-3861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peraciones"/>
              <p:cNvSpPr txBox="1"/>
              <p:nvPr/>
            </p:nvSpPr>
            <p:spPr>
              <a:xfrm>
                <a:off x="528196" y="2886220"/>
                <a:ext cx="2246375" cy="3437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 inicial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operacion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96" y="2886220"/>
                <a:ext cx="2246375" cy="343736"/>
              </a:xfrm>
              <a:prstGeom prst="rect">
                <a:avLst/>
              </a:prstGeom>
              <a:blipFill>
                <a:blip r:embed="rId3"/>
                <a:stretch>
                  <a:fillRect l="-7065" t="-8772" r="-2717" b="-45614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313682"/>
              </p:ext>
            </p:extLst>
          </p:nvPr>
        </p:nvGraphicFramePr>
        <p:xfrm>
          <a:off x="402465" y="3460424"/>
          <a:ext cx="2246376" cy="1371600"/>
        </p:xfrm>
        <a:graphic>
          <a:graphicData uri="http://schemas.openxmlformats.org/drawingml/2006/table">
            <a:tbl>
              <a:tblPr/>
              <a:tblGrid>
                <a:gridCol w="435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orchete"/>
          <p:cNvSpPr/>
          <p:nvPr/>
        </p:nvSpPr>
        <p:spPr>
          <a:xfrm>
            <a:off x="265305" y="3460424"/>
            <a:ext cx="0" cy="1371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" name="corchete"/>
          <p:cNvSpPr/>
          <p:nvPr/>
        </p:nvSpPr>
        <p:spPr>
          <a:xfrm>
            <a:off x="265305" y="34604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" name="corchete"/>
          <p:cNvSpPr/>
          <p:nvPr/>
        </p:nvSpPr>
        <p:spPr>
          <a:xfrm>
            <a:off x="265305" y="48320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8" name="corchete"/>
          <p:cNvSpPr/>
          <p:nvPr/>
        </p:nvSpPr>
        <p:spPr>
          <a:xfrm>
            <a:off x="2786001" y="3460424"/>
            <a:ext cx="0" cy="1371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/>
          <p:cNvSpPr/>
          <p:nvPr/>
        </p:nvSpPr>
        <p:spPr>
          <a:xfrm>
            <a:off x="2694561" y="34604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/>
          <p:cNvSpPr/>
          <p:nvPr/>
        </p:nvSpPr>
        <p:spPr>
          <a:xfrm>
            <a:off x="2694561" y="48320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1" name="divisor"/>
          <p:cNvSpPr/>
          <p:nvPr/>
        </p:nvSpPr>
        <p:spPr>
          <a:xfrm>
            <a:off x="2045337" y="3487856"/>
            <a:ext cx="0" cy="1316736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p:sp>
        <p:nvSpPr>
          <p:cNvPr id="12" name="simbolo"/>
          <p:cNvSpPr txBox="1"/>
          <p:nvPr/>
        </p:nvSpPr>
        <p:spPr>
          <a:xfrm>
            <a:off x="2786001" y="3460424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operaciones"/>
          <p:cNvSpPr txBox="1"/>
          <p:nvPr/>
        </p:nvSpPr>
        <p:spPr>
          <a:xfrm>
            <a:off x="3037461" y="2600888"/>
            <a:ext cx="213207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−F3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← F1 + 2F3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F2 ← F2 + F3</a:t>
            </a:r>
          </a:p>
        </p:txBody>
      </p:sp>
      <p:graphicFrame>
        <p:nvGraphicFramePr>
          <p:cNvPr id="1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164497"/>
              </p:ext>
            </p:extLst>
          </p:nvPr>
        </p:nvGraphicFramePr>
        <p:xfrm>
          <a:off x="3426081" y="3460424"/>
          <a:ext cx="2246376" cy="1371600"/>
        </p:xfrm>
        <a:graphic>
          <a:graphicData uri="http://schemas.openxmlformats.org/drawingml/2006/table">
            <a:tbl>
              <a:tblPr/>
              <a:tblGrid>
                <a:gridCol w="435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corchete"/>
          <p:cNvSpPr/>
          <p:nvPr/>
        </p:nvSpPr>
        <p:spPr>
          <a:xfrm>
            <a:off x="3288921" y="3460424"/>
            <a:ext cx="0" cy="1371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6" name="corchete"/>
          <p:cNvSpPr/>
          <p:nvPr/>
        </p:nvSpPr>
        <p:spPr>
          <a:xfrm>
            <a:off x="3288921" y="34604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7" name="corchete"/>
          <p:cNvSpPr/>
          <p:nvPr/>
        </p:nvSpPr>
        <p:spPr>
          <a:xfrm>
            <a:off x="3288921" y="48320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/>
          <p:cNvSpPr/>
          <p:nvPr/>
        </p:nvSpPr>
        <p:spPr>
          <a:xfrm>
            <a:off x="5809617" y="3460424"/>
            <a:ext cx="0" cy="1371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9" name="corchete"/>
          <p:cNvSpPr/>
          <p:nvPr/>
        </p:nvSpPr>
        <p:spPr>
          <a:xfrm>
            <a:off x="5718177" y="34604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0" name="corchete"/>
          <p:cNvSpPr/>
          <p:nvPr/>
        </p:nvSpPr>
        <p:spPr>
          <a:xfrm>
            <a:off x="5718177" y="48320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1" name="divisor"/>
          <p:cNvSpPr/>
          <p:nvPr/>
        </p:nvSpPr>
        <p:spPr>
          <a:xfrm>
            <a:off x="4901313" y="3487856"/>
            <a:ext cx="0" cy="1316736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p:sp>
        <p:nvSpPr>
          <p:cNvPr id="22" name="simbolo"/>
          <p:cNvSpPr txBox="1"/>
          <p:nvPr/>
        </p:nvSpPr>
        <p:spPr>
          <a:xfrm>
            <a:off x="5809617" y="3460424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23" name="operaciones"/>
          <p:cNvSpPr txBox="1"/>
          <p:nvPr/>
        </p:nvSpPr>
        <p:spPr>
          <a:xfrm>
            <a:off x="6061077" y="2975018"/>
            <a:ext cx="1933956" cy="4854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F2 ← (−1/2)·F2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← F1 + 7F2</a:t>
            </a:r>
          </a:p>
        </p:txBody>
      </p:sp>
      <p:graphicFrame>
        <p:nvGraphicFramePr>
          <p:cNvPr id="2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908718"/>
              </p:ext>
            </p:extLst>
          </p:nvPr>
        </p:nvGraphicFramePr>
        <p:xfrm>
          <a:off x="6449697" y="3460424"/>
          <a:ext cx="1911096" cy="1371600"/>
        </p:xfrm>
        <a:graphic>
          <a:graphicData uri="http://schemas.openxmlformats.org/drawingml/2006/table">
            <a:tbl>
              <a:tblPr/>
              <a:tblGrid>
                <a:gridCol w="435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corchete"/>
          <p:cNvSpPr/>
          <p:nvPr/>
        </p:nvSpPr>
        <p:spPr>
          <a:xfrm>
            <a:off x="6312537" y="3460424"/>
            <a:ext cx="0" cy="1371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6" name="corchete"/>
          <p:cNvSpPr/>
          <p:nvPr/>
        </p:nvSpPr>
        <p:spPr>
          <a:xfrm>
            <a:off x="6312537" y="34604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corchete"/>
          <p:cNvSpPr/>
          <p:nvPr/>
        </p:nvSpPr>
        <p:spPr>
          <a:xfrm>
            <a:off x="6312537" y="48320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8" name="corchete"/>
          <p:cNvSpPr/>
          <p:nvPr/>
        </p:nvSpPr>
        <p:spPr>
          <a:xfrm>
            <a:off x="8497953" y="3460424"/>
            <a:ext cx="0" cy="1371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9" name="corchete"/>
          <p:cNvSpPr/>
          <p:nvPr/>
        </p:nvSpPr>
        <p:spPr>
          <a:xfrm>
            <a:off x="8406513" y="34604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0" name="corchete"/>
          <p:cNvSpPr/>
          <p:nvPr/>
        </p:nvSpPr>
        <p:spPr>
          <a:xfrm>
            <a:off x="8406513" y="48320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1" name="divisor"/>
          <p:cNvSpPr/>
          <p:nvPr/>
        </p:nvSpPr>
        <p:spPr>
          <a:xfrm>
            <a:off x="7757289" y="3487856"/>
            <a:ext cx="0" cy="1316736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p:sp>
        <p:nvSpPr>
          <p:cNvPr id="32" name="simbolo"/>
          <p:cNvSpPr txBox="1"/>
          <p:nvPr/>
        </p:nvSpPr>
        <p:spPr>
          <a:xfrm>
            <a:off x="8497953" y="3460424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33" name="operaciones"/>
          <p:cNvSpPr txBox="1"/>
          <p:nvPr/>
        </p:nvSpPr>
        <p:spPr>
          <a:xfrm>
            <a:off x="8749412" y="3058089"/>
            <a:ext cx="1911095" cy="339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 ← (1/3)·F1</a:t>
            </a:r>
          </a:p>
        </p:txBody>
      </p:sp>
      <p:graphicFrame>
        <p:nvGraphicFramePr>
          <p:cNvPr id="3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30159"/>
              </p:ext>
            </p:extLst>
          </p:nvPr>
        </p:nvGraphicFramePr>
        <p:xfrm>
          <a:off x="9138033" y="3460424"/>
          <a:ext cx="1911096" cy="1371600"/>
        </p:xfrm>
        <a:graphic>
          <a:graphicData uri="http://schemas.openxmlformats.org/drawingml/2006/table">
            <a:tbl>
              <a:tblPr/>
              <a:tblGrid>
                <a:gridCol w="435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corchete"/>
          <p:cNvSpPr/>
          <p:nvPr/>
        </p:nvSpPr>
        <p:spPr>
          <a:xfrm>
            <a:off x="9000873" y="3460424"/>
            <a:ext cx="0" cy="1371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6" name="corchete"/>
          <p:cNvSpPr/>
          <p:nvPr/>
        </p:nvSpPr>
        <p:spPr>
          <a:xfrm>
            <a:off x="9000873" y="34604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7" name="corchete"/>
          <p:cNvSpPr/>
          <p:nvPr/>
        </p:nvSpPr>
        <p:spPr>
          <a:xfrm>
            <a:off x="9000873" y="48320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8" name="corchete"/>
          <p:cNvSpPr/>
          <p:nvPr/>
        </p:nvSpPr>
        <p:spPr>
          <a:xfrm>
            <a:off x="11186289" y="3460424"/>
            <a:ext cx="0" cy="13716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9" name="corchete"/>
          <p:cNvSpPr/>
          <p:nvPr/>
        </p:nvSpPr>
        <p:spPr>
          <a:xfrm>
            <a:off x="11094849" y="34604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0" name="corchete"/>
          <p:cNvSpPr/>
          <p:nvPr/>
        </p:nvSpPr>
        <p:spPr>
          <a:xfrm>
            <a:off x="11094849" y="4832024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1" name="divisor"/>
          <p:cNvSpPr/>
          <p:nvPr/>
        </p:nvSpPr>
        <p:spPr>
          <a:xfrm>
            <a:off x="10445625" y="3487856"/>
            <a:ext cx="0" cy="1316736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sultado x"/>
              <p:cNvSpPr txBox="1"/>
              <p:nvPr/>
            </p:nvSpPr>
            <p:spPr>
              <a:xfrm>
                <a:off x="725618" y="5033191"/>
                <a:ext cx="1600070" cy="13715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5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5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b="1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5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5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5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500" b="1" i="1" dirty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5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2" name="resultado 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18" y="5033191"/>
                <a:ext cx="1600070" cy="1371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18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3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1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  <p:bldP spid="22" grpId="0" animBg="1"/>
      <p:bldP spid="32" grpId="0" animBg="1"/>
      <p:bldP spid="33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 txBox="1">
                <a:spLocks/>
              </p:cNvSpPr>
              <p:nvPr/>
            </p:nvSpPr>
            <p:spPr>
              <a:xfrm>
                <a:off x="992317" y="1313259"/>
                <a:ext cx="7481982" cy="4620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Comparación</a:t>
                </a:r>
                <a:r>
                  <a:rPr lang="en-US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8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reducción</a:t>
                </a:r>
                <a:r>
                  <a:rPr lang="en-US" sz="28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8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ordinaria</a:t>
                </a:r>
                <a:r>
                  <a:rPr lang="en-US" sz="28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sz="2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28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28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17" y="1313259"/>
                <a:ext cx="7481982" cy="462094"/>
              </a:xfrm>
              <a:prstGeom prst="rect">
                <a:avLst/>
              </a:prstGeom>
              <a:blipFill rotWithShape="0">
                <a:blip r:embed="rId2"/>
                <a:stretch>
                  <a:fillRect l="-2934" t="-23684" b="-3815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peraciones"/>
              <p:cNvSpPr txBox="1"/>
              <p:nvPr/>
            </p:nvSpPr>
            <p:spPr>
              <a:xfrm>
                <a:off x="723042" y="2016320"/>
                <a:ext cx="2194559" cy="362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 inicial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operacion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42" y="2016320"/>
                <a:ext cx="2194559" cy="362537"/>
              </a:xfrm>
              <a:prstGeom prst="rect">
                <a:avLst/>
              </a:prstGeom>
              <a:blipFill>
                <a:blip r:embed="rId3"/>
                <a:stretch>
                  <a:fillRect l="-7222" t="-5085" r="-4167" b="-45763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640836"/>
              </p:ext>
            </p:extLst>
          </p:nvPr>
        </p:nvGraphicFramePr>
        <p:xfrm>
          <a:off x="441101" y="2470297"/>
          <a:ext cx="2743200" cy="159105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orchete"/>
          <p:cNvSpPr/>
          <p:nvPr/>
        </p:nvSpPr>
        <p:spPr>
          <a:xfrm>
            <a:off x="303941" y="247029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" name="corchete"/>
          <p:cNvSpPr/>
          <p:nvPr/>
        </p:nvSpPr>
        <p:spPr>
          <a:xfrm>
            <a:off x="303941" y="247029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" name="corchete"/>
          <p:cNvSpPr/>
          <p:nvPr/>
        </p:nvSpPr>
        <p:spPr>
          <a:xfrm>
            <a:off x="303941" y="406135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8" name="corchete"/>
          <p:cNvSpPr/>
          <p:nvPr/>
        </p:nvSpPr>
        <p:spPr>
          <a:xfrm>
            <a:off x="3321461" y="247029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/>
          <p:cNvSpPr/>
          <p:nvPr/>
        </p:nvSpPr>
        <p:spPr>
          <a:xfrm>
            <a:off x="3230021" y="247029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/>
          <p:cNvSpPr/>
          <p:nvPr/>
        </p:nvSpPr>
        <p:spPr>
          <a:xfrm>
            <a:off x="3230021" y="406135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1" name="divisor"/>
          <p:cNvSpPr/>
          <p:nvPr/>
        </p:nvSpPr>
        <p:spPr>
          <a:xfrm>
            <a:off x="2498501" y="2497729"/>
            <a:ext cx="0" cy="1536192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p:sp>
        <p:nvSpPr>
          <p:cNvPr id="12" name="simbolo"/>
          <p:cNvSpPr txBox="1"/>
          <p:nvPr/>
        </p:nvSpPr>
        <p:spPr>
          <a:xfrm>
            <a:off x="3321461" y="2470297"/>
            <a:ext cx="502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operaciones"/>
          <p:cNvSpPr txBox="1"/>
          <p:nvPr/>
        </p:nvSpPr>
        <p:spPr>
          <a:xfrm>
            <a:off x="3572921" y="1866793"/>
            <a:ext cx="19676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F2 ← F2 + F1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F3 − 2F1</a:t>
            </a:r>
          </a:p>
        </p:txBody>
      </p:sp>
      <p:graphicFrame>
        <p:nvGraphicFramePr>
          <p:cNvPr id="1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018424"/>
              </p:ext>
            </p:extLst>
          </p:nvPr>
        </p:nvGraphicFramePr>
        <p:xfrm>
          <a:off x="3961541" y="2470297"/>
          <a:ext cx="2552700" cy="1591056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corchete"/>
          <p:cNvSpPr/>
          <p:nvPr/>
        </p:nvSpPr>
        <p:spPr>
          <a:xfrm>
            <a:off x="3824381" y="247029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6" name="corchete"/>
          <p:cNvSpPr/>
          <p:nvPr/>
        </p:nvSpPr>
        <p:spPr>
          <a:xfrm>
            <a:off x="3824381" y="247029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7" name="corchete"/>
          <p:cNvSpPr/>
          <p:nvPr/>
        </p:nvSpPr>
        <p:spPr>
          <a:xfrm>
            <a:off x="3824381" y="406135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/>
          <p:cNvSpPr/>
          <p:nvPr/>
        </p:nvSpPr>
        <p:spPr>
          <a:xfrm>
            <a:off x="6651401" y="247029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9" name="corchete"/>
          <p:cNvSpPr/>
          <p:nvPr/>
        </p:nvSpPr>
        <p:spPr>
          <a:xfrm>
            <a:off x="6559961" y="247029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0" name="corchete"/>
          <p:cNvSpPr/>
          <p:nvPr/>
        </p:nvSpPr>
        <p:spPr>
          <a:xfrm>
            <a:off x="6559961" y="406135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1" name="divisor"/>
          <p:cNvSpPr/>
          <p:nvPr/>
        </p:nvSpPr>
        <p:spPr>
          <a:xfrm>
            <a:off x="5828441" y="2497729"/>
            <a:ext cx="0" cy="1536192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p:sp>
        <p:nvSpPr>
          <p:cNvPr id="22" name="simbolo"/>
          <p:cNvSpPr txBox="1"/>
          <p:nvPr/>
        </p:nvSpPr>
        <p:spPr>
          <a:xfrm>
            <a:off x="6651401" y="2470297"/>
            <a:ext cx="502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23" name="operaciones"/>
          <p:cNvSpPr txBox="1"/>
          <p:nvPr/>
        </p:nvSpPr>
        <p:spPr>
          <a:xfrm>
            <a:off x="6902861" y="2122825"/>
            <a:ext cx="1906718" cy="3474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F3 + 5F2</a:t>
            </a:r>
          </a:p>
        </p:txBody>
      </p:sp>
      <p:graphicFrame>
        <p:nvGraphicFramePr>
          <p:cNvPr id="24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073125"/>
              </p:ext>
            </p:extLst>
          </p:nvPr>
        </p:nvGraphicFramePr>
        <p:xfrm>
          <a:off x="7291481" y="2470297"/>
          <a:ext cx="2552700" cy="1591056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5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corchete"/>
          <p:cNvSpPr/>
          <p:nvPr/>
        </p:nvSpPr>
        <p:spPr>
          <a:xfrm>
            <a:off x="7154321" y="247029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6" name="corchete"/>
          <p:cNvSpPr/>
          <p:nvPr/>
        </p:nvSpPr>
        <p:spPr>
          <a:xfrm>
            <a:off x="7154321" y="247029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corchete"/>
          <p:cNvSpPr/>
          <p:nvPr/>
        </p:nvSpPr>
        <p:spPr>
          <a:xfrm>
            <a:off x="7154321" y="406135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8" name="corchete"/>
          <p:cNvSpPr/>
          <p:nvPr/>
        </p:nvSpPr>
        <p:spPr>
          <a:xfrm>
            <a:off x="9981341" y="2470297"/>
            <a:ext cx="0" cy="159105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9" name="corchete"/>
          <p:cNvSpPr/>
          <p:nvPr/>
        </p:nvSpPr>
        <p:spPr>
          <a:xfrm>
            <a:off x="9889901" y="247029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0" name="corchete"/>
          <p:cNvSpPr/>
          <p:nvPr/>
        </p:nvSpPr>
        <p:spPr>
          <a:xfrm>
            <a:off x="9889901" y="406135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1" name="divisor"/>
          <p:cNvSpPr/>
          <p:nvPr/>
        </p:nvSpPr>
        <p:spPr>
          <a:xfrm>
            <a:off x="9158381" y="2497729"/>
            <a:ext cx="0" cy="1536192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</p:sp>
      <p:sp>
        <p:nvSpPr>
          <p:cNvPr id="32" name="recuadro comparacion"/>
          <p:cNvSpPr/>
          <p:nvPr/>
        </p:nvSpPr>
        <p:spPr>
          <a:xfrm>
            <a:off x="303941" y="4472833"/>
            <a:ext cx="9951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servaciones"/>
              <p:cNvSpPr txBox="1"/>
              <p:nvPr/>
            </p:nvSpPr>
            <p:spPr>
              <a:xfrm>
                <a:off x="0" y="4664857"/>
                <a:ext cx="12192000" cy="2011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Observaciones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parte de abajo es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aparecen los mismos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que se obtuvieron con la factorización.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Los multiplicadores usados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son las entradas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debajo de la diagonal.</a:t>
                </a:r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Desde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 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fase regresiva es idéntica al Paso 2 y da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(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𝟔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).</m:t>
                    </m:r>
                  </m:oMath>
                </a14:m>
                <a:endParaRPr lang="en-U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3" name="observacion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64857"/>
                <a:ext cx="12192000" cy="2011680"/>
              </a:xfrm>
              <a:prstGeom prst="rect">
                <a:avLst/>
              </a:prstGeom>
              <a:blipFill>
                <a:blip r:embed="rId4"/>
                <a:stretch>
                  <a:fillRect l="-1250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29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  <p:bldP spid="22" grpId="0" animBg="1"/>
      <p:bldP spid="23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/>
          </p:cNvSpPr>
          <p:nvPr/>
        </p:nvSpPr>
        <p:spPr>
          <a:xfrm>
            <a:off x="443678" y="1285955"/>
            <a:ext cx="4441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lang="en-US" sz="26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26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comprobación</a:t>
            </a:r>
            <a:endParaRPr lang="en-US" sz="26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tiqueta y"/>
              <p:cNvSpPr txBox="1"/>
              <p:nvPr/>
            </p:nvSpPr>
            <p:spPr>
              <a:xfrm>
                <a:off x="397957" y="2260242"/>
                <a:ext cx="10972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etiqueta 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57" y="2260242"/>
                <a:ext cx="1097280" cy="365760"/>
              </a:xfrm>
              <a:prstGeom prst="rect">
                <a:avLst/>
              </a:prstGeom>
              <a:blipFill rotWithShape="0">
                <a:blip r:embed="rId2"/>
                <a:stretch>
                  <a:fillRect b="-1500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y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421409"/>
                  </p:ext>
                </p:extLst>
              </p:nvPr>
            </p:nvGraphicFramePr>
            <p:xfrm>
              <a:off x="535117" y="2717442"/>
              <a:ext cx="713232" cy="1700784"/>
            </p:xfrm>
            <a:graphic>
              <a:graphicData uri="http://schemas.openxmlformats.org/drawingml/2006/table">
                <a:tbl>
                  <a:tblPr/>
                  <a:tblGrid>
                    <a:gridCol w="7132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56692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2600" b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692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600" b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692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600" b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y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421409"/>
                  </p:ext>
                </p:extLst>
              </p:nvPr>
            </p:nvGraphicFramePr>
            <p:xfrm>
              <a:off x="535117" y="2717442"/>
              <a:ext cx="713232" cy="1700784"/>
            </p:xfrm>
            <a:graphic>
              <a:graphicData uri="http://schemas.openxmlformats.org/drawingml/2006/table">
                <a:tbl>
                  <a:tblPr/>
                  <a:tblGrid>
                    <a:gridCol w="713232"/>
                  </a:tblGrid>
                  <a:tr h="566928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3"/>
                          <a:stretch>
                            <a:fillRect b="-201075"/>
                          </a:stretch>
                        </a:blipFill>
                      </a:tcPr>
                    </a:tc>
                  </a:tr>
                  <a:tr h="566928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3"/>
                          <a:stretch>
                            <a:fillRect t="-98936" b="-98936"/>
                          </a:stretch>
                        </a:blipFill>
                      </a:tcPr>
                    </a:tc>
                  </a:tr>
                  <a:tr h="566928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3"/>
                          <a:stretch>
                            <a:fillRect t="-2010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corchete"/>
          <p:cNvSpPr/>
          <p:nvPr/>
        </p:nvSpPr>
        <p:spPr>
          <a:xfrm>
            <a:off x="397957" y="2717442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" name="corchete"/>
          <p:cNvSpPr/>
          <p:nvPr/>
        </p:nvSpPr>
        <p:spPr>
          <a:xfrm>
            <a:off x="397957" y="2717442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" name="corchete"/>
          <p:cNvSpPr/>
          <p:nvPr/>
        </p:nvSpPr>
        <p:spPr>
          <a:xfrm>
            <a:off x="397957" y="441822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8" name="corchete"/>
          <p:cNvSpPr/>
          <p:nvPr/>
        </p:nvSpPr>
        <p:spPr>
          <a:xfrm>
            <a:off x="1385509" y="2717442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/>
          <p:cNvSpPr/>
          <p:nvPr/>
        </p:nvSpPr>
        <p:spPr>
          <a:xfrm>
            <a:off x="1294069" y="2717442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/>
          <p:cNvSpPr/>
          <p:nvPr/>
        </p:nvSpPr>
        <p:spPr>
          <a:xfrm>
            <a:off x="1294069" y="441822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tiqueta x"/>
              <p:cNvSpPr txBox="1"/>
              <p:nvPr/>
            </p:nvSpPr>
            <p:spPr>
              <a:xfrm>
                <a:off x="2208469" y="2260242"/>
                <a:ext cx="10972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etiqueta 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469" y="2260242"/>
                <a:ext cx="1097280" cy="36576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x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511892"/>
                  </p:ext>
                </p:extLst>
              </p:nvPr>
            </p:nvGraphicFramePr>
            <p:xfrm>
              <a:off x="2345629" y="2717442"/>
              <a:ext cx="713232" cy="1700784"/>
            </p:xfrm>
            <a:graphic>
              <a:graphicData uri="http://schemas.openxmlformats.org/drawingml/2006/table">
                <a:tbl>
                  <a:tblPr/>
                  <a:tblGrid>
                    <a:gridCol w="7132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56692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600" b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692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600" b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692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26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600" b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x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511892"/>
                  </p:ext>
                </p:extLst>
              </p:nvPr>
            </p:nvGraphicFramePr>
            <p:xfrm>
              <a:off x="2345629" y="2717442"/>
              <a:ext cx="713232" cy="1700784"/>
            </p:xfrm>
            <a:graphic>
              <a:graphicData uri="http://schemas.openxmlformats.org/drawingml/2006/table">
                <a:tbl>
                  <a:tblPr/>
                  <a:tblGrid>
                    <a:gridCol w="713232"/>
                  </a:tblGrid>
                  <a:tr h="566928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5"/>
                          <a:stretch>
                            <a:fillRect b="-201075"/>
                          </a:stretch>
                        </a:blipFill>
                      </a:tcPr>
                    </a:tc>
                  </a:tr>
                  <a:tr h="566928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5"/>
                          <a:stretch>
                            <a:fillRect t="-98936" b="-98936"/>
                          </a:stretch>
                        </a:blipFill>
                      </a:tcPr>
                    </a:tc>
                  </a:tr>
                  <a:tr h="566928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0" marR="0" marT="0" marB="0"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5"/>
                          <a:stretch>
                            <a:fillRect t="-2010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corchete"/>
          <p:cNvSpPr/>
          <p:nvPr/>
        </p:nvSpPr>
        <p:spPr>
          <a:xfrm>
            <a:off x="2208469" y="2717442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4" name="corchete"/>
          <p:cNvSpPr/>
          <p:nvPr/>
        </p:nvSpPr>
        <p:spPr>
          <a:xfrm>
            <a:off x="2208469" y="2717442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5" name="corchete"/>
          <p:cNvSpPr/>
          <p:nvPr/>
        </p:nvSpPr>
        <p:spPr>
          <a:xfrm>
            <a:off x="2208469" y="441822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6" name="corchete"/>
          <p:cNvSpPr/>
          <p:nvPr/>
        </p:nvSpPr>
        <p:spPr>
          <a:xfrm>
            <a:off x="3196021" y="2717442"/>
            <a:ext cx="0" cy="170078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7" name="corchete"/>
          <p:cNvSpPr/>
          <p:nvPr/>
        </p:nvSpPr>
        <p:spPr>
          <a:xfrm>
            <a:off x="3104581" y="2717442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/>
          <p:cNvSpPr/>
          <p:nvPr/>
        </p:nvSpPr>
        <p:spPr>
          <a:xfrm>
            <a:off x="3104581" y="441822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itulo comprobacion"/>
              <p:cNvSpPr txBox="1"/>
              <p:nvPr/>
            </p:nvSpPr>
            <p:spPr>
              <a:xfrm>
                <a:off x="6380369" y="2260242"/>
                <a:ext cx="3603162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Comprobación de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titulo comprobac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369" y="2260242"/>
                <a:ext cx="3603162" cy="365760"/>
              </a:xfrm>
              <a:prstGeom prst="rect">
                <a:avLst/>
              </a:prstGeom>
              <a:blipFill>
                <a:blip r:embed="rId6"/>
                <a:stretch>
                  <a:fillRect l="-4738" t="-18333" b="-43333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omprobacion"/>
              <p:cNvSpPr txBox="1"/>
              <p:nvPr/>
            </p:nvSpPr>
            <p:spPr>
              <a:xfrm>
                <a:off x="4695637" y="2717442"/>
                <a:ext cx="6756134" cy="12621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+ (−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𝟕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+ (−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= 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𝟕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✓</m:t>
                      </m:r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+ 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+ 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✓</m:t>
                      </m:r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+ (−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+ (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)·(−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✓</m:t>
                      </m:r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comprobac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637" y="2717442"/>
                <a:ext cx="6756134" cy="1262130"/>
              </a:xfrm>
              <a:prstGeom prst="rect">
                <a:avLst/>
              </a:prstGeom>
              <a:blipFill>
                <a:blip r:embed="rId7"/>
                <a:stretch>
                  <a:fillRect b="-2899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018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"/>
              <p:cNvSpPr txBox="1"/>
              <p:nvPr/>
            </p:nvSpPr>
            <p:spPr>
              <a:xfrm>
                <a:off x="592428" y="1232508"/>
                <a:ext cx="1090840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numérico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completo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resolución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𝐴𝑥</m:t>
                    </m:r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mediante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factorización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𝐿𝑈</m:t>
                    </m:r>
                  </m:oMath>
                </a14:m>
                <a:endParaRPr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28" y="1232508"/>
                <a:ext cx="10908406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335" t="-8451" b="-2957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4"/>
              <p:cNvSpPr/>
              <p:nvPr/>
            </p:nvSpPr>
            <p:spPr>
              <a:xfrm>
                <a:off x="592428" y="2032285"/>
                <a:ext cx="11419821" cy="4535939"/>
              </a:xfrm>
              <a:prstGeom prst="roundRect">
                <a:avLst/>
              </a:prstGeom>
              <a:solidFill>
                <a:srgbClr val="F1F5F9"/>
              </a:solidFill>
              <a:ln>
                <a:solidFill>
                  <a:srgbClr val="0EA5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rtlCol="0" anchor="ctr"/>
              <a:lstStyle/>
              <a:p>
                <a:pPr>
                  <a:defRPr sz="1800" b="1">
                    <a:solidFill>
                      <a:srgbClr val="0EA5E9"/>
                    </a:solidFill>
                    <a:latin typeface="Georgia"/>
                  </a:defRPr>
                </a:pPr>
                <a:r>
                  <a:rPr lang="es-MX" sz="2000" dirty="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Resolución paso a paso</a:t>
                </a:r>
              </a:p>
              <a:p>
                <a:pPr>
                  <a:spcBef>
                    <a:spcPts val="1000"/>
                  </a:spcBef>
                  <a:defRPr sz="1200" b="1">
                    <a:solidFill>
                      <a:srgbClr val="0F172A"/>
                    </a:solidFill>
                    <a:latin typeface="Courier New"/>
                  </a:defRPr>
                </a:pP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 2. </a:t>
                </a:r>
              </a:p>
              <a:p>
                <a:pPr>
                  <a:spcBef>
                    <a:spcPts val="1000"/>
                  </a:spcBef>
                  <a:defRPr sz="1200" b="1">
                    <a:solidFill>
                      <a:srgbClr val="0F172A"/>
                    </a:solidFill>
                    <a:latin typeface="Courier New"/>
                  </a:defRPr>
                </a:pP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Sistema: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[[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𝟕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], [−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], [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𝟔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], [−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𝟏𝟐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]], 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[−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𝟕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𝟏𝟏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]ᵀ</m:t>
                    </m:r>
                  </m:oMath>
                </a14:m>
                <a:b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Factorización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</m:t>
                    </m:r>
                    <m:r>
                      <a:rPr lang="es-MX" sz="20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b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[[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],             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[[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𝟕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],</m:t>
                    </m:r>
                  </m:oMath>
                </a14:m>
                <a:b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NI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],                        [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],</m:t>
                    </m:r>
                  </m:oMath>
                </a14:m>
                <a:b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</m:t>
                      </m:r>
                      <m:r>
                        <a:rPr lang="es-NI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,−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],                [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−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],</m:t>
                      </m:r>
                    </m:oMath>
                    <m:oMath xmlns:m="http://schemas.openxmlformats.org/officeDocument/2006/math"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</m:t>
                      </m:r>
                      <m:r>
                        <a:rPr lang="es-NI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[−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]]                        [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NI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−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MX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]]</m:t>
                      </m:r>
                    </m:oMath>
                  </m:oMathPara>
                </a14:m>
                <a:b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Resolver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𝑳𝒚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=&gt; 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[−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]ᵀ   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MX" sz="20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Sustitución</a:t>
                </a: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0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hacia</a:t>
                </a: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0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adelante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b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Resolver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𝑼𝒙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=&gt;  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[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𝟔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−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s-MX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]ᵀ   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MX" sz="20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Sustitución</a:t>
                </a: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0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hacia</a:t>
                </a: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0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atrás</a:t>
                </a:r>
                <a:r>
                  <a:rPr lang="es-MX" sz="2000" dirty="0">
                    <a:solidFill>
                      <a:schemeClr val="accent4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sz="2000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28" y="2032285"/>
                <a:ext cx="11419821" cy="4535939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rgbClr val="0EA5E9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931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"/>
              <p:cNvSpPr txBox="1"/>
              <p:nvPr/>
            </p:nvSpPr>
            <p:spPr>
              <a:xfrm>
                <a:off x="0" y="1142356"/>
                <a:ext cx="1219200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Utilidad de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𝐿𝑈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Cuando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𝐿𝑈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la ecuación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𝐴𝑥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escribe como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s-MX" sz="2100" i="1" dirty="0" err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𝑈𝑥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= 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Sustituyendo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𝑈𝑥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por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se puede encontrar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resolviendo el par de ecuaciones</a:t>
                </a:r>
              </a:p>
            </p:txBody>
          </p:sp>
        </mc:Choice>
        <mc:Fallback xmlns="">
          <p:sp>
            <p:nvSpPr>
              <p:cNvPr id="2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42356"/>
                <a:ext cx="12192000" cy="738664"/>
              </a:xfrm>
              <a:prstGeom prst="rect">
                <a:avLst/>
              </a:prstGeom>
              <a:blipFill rotWithShape="0">
                <a:blip r:embed="rId2"/>
                <a:stretch>
                  <a:fillRect l="-600" t="-4918" r="-600" b="-14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/>
              <p:cNvSpPr txBox="1"/>
              <p:nvPr/>
            </p:nvSpPr>
            <p:spPr>
              <a:xfrm>
                <a:off x="3990304" y="2067488"/>
                <a:ext cx="31188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𝑳𝒚</m:t>
                      </m:r>
                      <m:r>
                        <a:rPr lang="es-MX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 </m:t>
                      </m:r>
                      <m:r>
                        <a:rPr lang="es-MX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MX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</m:t>
                      </m:r>
                      <m:r>
                        <a:rPr lang="es-MX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𝑼𝒙</m:t>
                      </m:r>
                      <m:r>
                        <a:rPr lang="es-MX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= </m:t>
                      </m:r>
                      <m:r>
                        <a:rPr lang="es-MX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𝒚</m:t>
                      </m:r>
                    </m:oMath>
                  </m:oMathPara>
                </a14:m>
                <a:endParaRPr lang="es-MX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304" y="2067488"/>
                <a:ext cx="3118834" cy="430887"/>
              </a:xfrm>
              <a:prstGeom prst="rect">
                <a:avLst/>
              </a:prstGeom>
              <a:blipFill rotWithShape="0">
                <a:blip r:embed="rId3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"/>
              <p:cNvSpPr txBox="1"/>
              <p:nvPr/>
            </p:nvSpPr>
            <p:spPr>
              <a:xfrm>
                <a:off x="1" y="2654066"/>
                <a:ext cx="100584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Primero se despeja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𝐿𝑦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y luego se resuelve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𝑈𝑥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s-MX" sz="21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obtener </a:t>
                </a:r>
                <a14:m>
                  <m:oMath xmlns:m="http://schemas.openxmlformats.org/officeDocument/2006/math">
                    <m:r>
                      <a:rPr lang="es-MX" sz="21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s-MX" sz="21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2654066"/>
                <a:ext cx="10058400" cy="430887"/>
              </a:xfrm>
              <a:prstGeom prst="rect">
                <a:avLst/>
              </a:prstGeom>
              <a:blipFill rotWithShape="0">
                <a:blip r:embed="rId4"/>
                <a:stretch>
                  <a:fillRect l="-727" t="-8451" b="-2394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52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180025"/>
            <a:ext cx="237116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defRPr sz="2200" b="1">
                <a:solidFill>
                  <a:srgbClr val="0F172A"/>
                </a:solidFill>
                <a:latin typeface="Georgia"/>
              </a:defRPr>
            </a:pPr>
            <a:r>
              <a:rPr lang="es-MX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2: </a:t>
            </a:r>
            <a:r>
              <a:rPr lang="es-MX" sz="21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379170" y="1797380"/>
                <a:ext cx="3233257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19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sz="19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𝟕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𝟓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𝟓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𝟏𝟐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NI" sz="19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0" y="1797380"/>
                <a:ext cx="3233257" cy="116955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3467366" y="1797379"/>
                <a:ext cx="2130840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NI" sz="19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366" y="1797379"/>
                <a:ext cx="2130840" cy="116955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5466023" y="1797379"/>
                <a:ext cx="2313582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𝟕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𝟐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dirty="0"/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23" y="1797379"/>
                <a:ext cx="2313582" cy="116955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2"/>
              <p:cNvSpPr txBox="1"/>
              <p:nvPr/>
            </p:nvSpPr>
            <p:spPr>
              <a:xfrm>
                <a:off x="7596863" y="2189793"/>
                <a:ext cx="880057" cy="384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19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19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𝑳</m:t>
                      </m:r>
                      <m:r>
                        <a:rPr lang="es-NI" sz="19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𝑼</m:t>
                      </m:r>
                    </m:oMath>
                  </m:oMathPara>
                </a14:m>
                <a:endParaRPr lang="es-MX" sz="19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863" y="2189793"/>
                <a:ext cx="880057" cy="3847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/>
          <p:cNvSpPr/>
          <p:nvPr/>
        </p:nvSpPr>
        <p:spPr>
          <a:xfrm>
            <a:off x="8525941" y="2189793"/>
            <a:ext cx="32092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defRPr sz="2200" b="1">
                <a:solidFill>
                  <a:srgbClr val="0F172A"/>
                </a:solidFill>
                <a:latin typeface="Georgia"/>
              </a:defRPr>
            </a:pPr>
            <a:r>
              <a:rPr lang="es-MX" sz="19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8907237" y="1797377"/>
                <a:ext cx="1251561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19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NI" sz="19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19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19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237" y="1797377"/>
                <a:ext cx="1251561" cy="116955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379170" y="3751760"/>
                <a:ext cx="1117037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𝑳</m:t>
                          </m:r>
                          <m: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  </m:t>
                          </m:r>
                          <m: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</m:d>
                      <m:r>
                        <a:rPr lang="es-NI" sz="19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0" y="3751760"/>
                <a:ext cx="1117037" cy="38472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1481449" y="3359344"/>
                <a:ext cx="2703111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𝟕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449" y="3359344"/>
                <a:ext cx="2703111" cy="116955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2664" y="3848643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/>
              <p:cNvSpPr/>
              <p:nvPr/>
            </p:nvSpPr>
            <p:spPr>
              <a:xfrm>
                <a:off x="5049259" y="3359343"/>
                <a:ext cx="2781659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𝟕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259" y="3359343"/>
                <a:ext cx="2781659" cy="116955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/>
              <p:cNvSpPr/>
              <p:nvPr/>
            </p:nvSpPr>
            <p:spPr>
              <a:xfrm>
                <a:off x="4005087" y="3586086"/>
                <a:ext cx="12553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21" name="Rectá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087" y="3586086"/>
                <a:ext cx="1255344" cy="307777"/>
              </a:xfrm>
              <a:prstGeom prst="rect">
                <a:avLst/>
              </a:prstGeom>
              <a:blipFill rotWithShape="0">
                <a:blip r:embed="rId1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n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9339" y="3848642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/>
              <p:cNvSpPr/>
              <p:nvPr/>
            </p:nvSpPr>
            <p:spPr>
              <a:xfrm>
                <a:off x="8966094" y="3359342"/>
                <a:ext cx="2781659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𝟐𝟓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á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094" y="3359342"/>
                <a:ext cx="2781659" cy="116955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/>
              <p:cNvSpPr/>
              <p:nvPr/>
            </p:nvSpPr>
            <p:spPr>
              <a:xfrm>
                <a:off x="7649807" y="3580289"/>
                <a:ext cx="153907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24" name="Rectá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807" y="3580289"/>
                <a:ext cx="1539076" cy="307777"/>
              </a:xfrm>
              <a:prstGeom prst="rect">
                <a:avLst/>
              </a:prstGeom>
              <a:blipFill rotWithShape="0">
                <a:blip r:embed="rId1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71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  <p:bldP spid="14" grpId="0"/>
      <p:bldP spid="16" grpId="0"/>
      <p:bldP spid="17" grpId="0"/>
      <p:bldP spid="19" grpId="0"/>
      <p:bldP spid="21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118309" y="1427510"/>
                <a:ext cx="2781659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𝟐𝟓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09" y="1427510"/>
                <a:ext cx="2781659" cy="116955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215" y="1916810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3981970" y="1427510"/>
                <a:ext cx="2666243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𝟐𝟓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𝟏𝟔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970" y="1427510"/>
                <a:ext cx="2666243" cy="116955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2665683" y="1648457"/>
                <a:ext cx="140442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83" y="1648457"/>
                <a:ext cx="1404423" cy="307777"/>
              </a:xfrm>
              <a:prstGeom prst="rect">
                <a:avLst/>
              </a:prstGeom>
              <a:blipFill rotWithShape="0"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730" y="1916810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7843485" y="1427510"/>
                <a:ext cx="2562048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𝟏𝟔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485" y="1427510"/>
                <a:ext cx="2562048" cy="116955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6527198" y="1648457"/>
                <a:ext cx="140442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198" y="1648457"/>
                <a:ext cx="1404423" cy="307777"/>
              </a:xfrm>
              <a:prstGeom prst="rect">
                <a:avLst/>
              </a:prstGeom>
              <a:blipFill rotWithShape="0"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118309" y="2895242"/>
                <a:ext cx="2562048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𝟏𝟔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09" y="2895242"/>
                <a:ext cx="2562048" cy="116955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535" y="3511644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/>
              <p:cNvSpPr/>
              <p:nvPr/>
            </p:nvSpPr>
            <p:spPr>
              <a:xfrm>
                <a:off x="2433003" y="3243291"/>
                <a:ext cx="153907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𝟖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003" y="3243291"/>
                <a:ext cx="1539076" cy="307777"/>
              </a:xfrm>
              <a:prstGeom prst="rect">
                <a:avLst/>
              </a:prstGeom>
              <a:blipFill rotWithShape="0">
                <a:blip r:embed="rId9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/>
              <p:cNvSpPr/>
              <p:nvPr/>
            </p:nvSpPr>
            <p:spPr>
              <a:xfrm>
                <a:off x="3859372" y="2895242"/>
                <a:ext cx="2337627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𝟏𝟔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372" y="2895242"/>
                <a:ext cx="2337627" cy="116955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352" y="3511644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/>
              <p:cNvSpPr/>
              <p:nvPr/>
            </p:nvSpPr>
            <p:spPr>
              <a:xfrm>
                <a:off x="6049820" y="3243291"/>
                <a:ext cx="153907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22" name="Rectá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820" y="3243291"/>
                <a:ext cx="1539076" cy="307777"/>
              </a:xfrm>
              <a:prstGeom prst="rect">
                <a:avLst/>
              </a:prstGeom>
              <a:blipFill rotWithShape="0">
                <a:blip r:embed="rId1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/>
              <p:cNvSpPr/>
              <p:nvPr/>
            </p:nvSpPr>
            <p:spPr>
              <a:xfrm>
                <a:off x="7476189" y="2895242"/>
                <a:ext cx="2416174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á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189" y="2895242"/>
                <a:ext cx="2416174" cy="116955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/>
              <p:cNvSpPr/>
              <p:nvPr/>
            </p:nvSpPr>
            <p:spPr>
              <a:xfrm>
                <a:off x="9666637" y="3204818"/>
                <a:ext cx="1083374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1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NI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𝑰</m:t>
                          </m:r>
                          <m:r>
                            <a:rPr lang="es-NI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  </m:t>
                          </m:r>
                          <m:r>
                            <a:rPr lang="es-NI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s-MX" sz="19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Rectá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637" y="3204818"/>
                <a:ext cx="1083374" cy="384721"/>
              </a:xfrm>
              <a:prstGeom prst="rect">
                <a:avLst/>
              </a:prstGeom>
              <a:blipFill rotWithShape="0">
                <a:blip r:embed="rId13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24"/>
              <p:cNvSpPr/>
              <p:nvPr/>
            </p:nvSpPr>
            <p:spPr>
              <a:xfrm>
                <a:off x="11055643" y="2865822"/>
                <a:ext cx="1137106" cy="10561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17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𝒚</m:t>
                      </m:r>
                      <m:r>
                        <a:rPr lang="es-NI" sz="17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17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7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17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17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s-NI" sz="17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7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NI" sz="17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e>
                                  <m:e>
                                    <m:r>
                                      <a:rPr lang="es-NI" sz="17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e>
                                  <m:e>
                                    <m:r>
                                      <a:rPr lang="es-NI" sz="17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7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á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5643" y="2865822"/>
                <a:ext cx="1137106" cy="105612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lecha derecha 1"/>
          <p:cNvSpPr/>
          <p:nvPr/>
        </p:nvSpPr>
        <p:spPr>
          <a:xfrm>
            <a:off x="10634101" y="3239546"/>
            <a:ext cx="421542" cy="308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25"/>
              <p:cNvSpPr/>
              <p:nvPr/>
            </p:nvSpPr>
            <p:spPr>
              <a:xfrm>
                <a:off x="102042" y="5159490"/>
                <a:ext cx="1153906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𝑼</m:t>
                          </m:r>
                          <m: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  </m:t>
                          </m:r>
                          <m: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e>
                      </m:d>
                      <m:r>
                        <a:rPr lang="es-NI" sz="19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Rectángulo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2" y="5159490"/>
                <a:ext cx="1153906" cy="384721"/>
              </a:xfrm>
              <a:prstGeom prst="rect">
                <a:avLst/>
              </a:prstGeom>
              <a:blipFill rotWithShape="0">
                <a:blip r:embed="rId15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/>
              <p:cNvSpPr/>
              <p:nvPr/>
            </p:nvSpPr>
            <p:spPr>
              <a:xfrm>
                <a:off x="1086224" y="4767074"/>
                <a:ext cx="2885855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𝟕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𝟗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Rectá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224" y="4767074"/>
                <a:ext cx="2885855" cy="1169551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741" y="5351849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ángulo 28"/>
              <p:cNvSpPr/>
              <p:nvPr/>
            </p:nvSpPr>
            <p:spPr>
              <a:xfrm>
                <a:off x="3850377" y="4910960"/>
                <a:ext cx="991297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29" name="Rectángulo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377" y="4910960"/>
                <a:ext cx="991297" cy="497059"/>
              </a:xfrm>
              <a:prstGeom prst="rect">
                <a:avLst/>
              </a:prstGeom>
              <a:blipFill rotWithShape="0">
                <a:blip r:embed="rId17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ángulo 29"/>
              <p:cNvSpPr/>
              <p:nvPr/>
            </p:nvSpPr>
            <p:spPr>
              <a:xfrm>
                <a:off x="4625903" y="4767073"/>
                <a:ext cx="4105098" cy="1174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𝟕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Rectángulo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903" y="4767073"/>
                <a:ext cx="4105098" cy="1174552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15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5" grpId="0"/>
      <p:bldP spid="16" grpId="0"/>
      <p:bldP spid="17" grpId="0"/>
      <p:bldP spid="19" grpId="0"/>
      <p:bldP spid="20" grpId="0"/>
      <p:bldP spid="22" grpId="0"/>
      <p:bldP spid="23" grpId="0"/>
      <p:bldP spid="24" grpId="0"/>
      <p:bldP spid="25" grpId="0"/>
      <p:bldP spid="2" grpId="0" animBg="1"/>
      <p:bldP spid="26" grpId="0"/>
      <p:bldP spid="27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893" y="1926068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3940529" y="1485179"/>
                <a:ext cx="1197571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529" y="1485179"/>
                <a:ext cx="1197571" cy="495649"/>
              </a:xfrm>
              <a:prstGeom prst="rect">
                <a:avLst/>
              </a:prstGeom>
              <a:blipFill rotWithShape="0"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118298" y="1367051"/>
                <a:ext cx="4105098" cy="1174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𝟕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98" y="1367051"/>
                <a:ext cx="4105098" cy="117455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4916587" y="1353552"/>
                <a:ext cx="3948004" cy="1189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𝟕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587" y="1353552"/>
                <a:ext cx="3948004" cy="11899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196845" y="2673230"/>
                <a:ext cx="3948004" cy="1189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𝟕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900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45" y="2673230"/>
                <a:ext cx="3948004" cy="118994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396" y="3263551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3899287" y="2821237"/>
                <a:ext cx="1434367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287" y="2821237"/>
                <a:ext cx="1434367" cy="495649"/>
              </a:xfrm>
              <a:prstGeom prst="rect">
                <a:avLst/>
              </a:prstGeom>
              <a:blipFill rotWithShape="0">
                <a:blip r:embed="rId7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5138100" y="2673229"/>
                <a:ext cx="3258521" cy="11806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100" y="2673229"/>
                <a:ext cx="3258521" cy="118064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06" y="4640195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3220444" y="4418103"/>
                <a:ext cx="128669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444" y="4418103"/>
                <a:ext cx="1286698" cy="307777"/>
              </a:xfrm>
              <a:prstGeom prst="rect">
                <a:avLst/>
              </a:prstGeom>
              <a:blipFill rotWithShape="0"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137722" y="4137457"/>
                <a:ext cx="3258521" cy="11806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22" y="4137457"/>
                <a:ext cx="3258521" cy="118064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4378660" y="4135558"/>
                <a:ext cx="3258521" cy="11806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660" y="4135558"/>
                <a:ext cx="3258521" cy="118064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909" y="4673425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7335800" y="4231111"/>
                <a:ext cx="1614993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800" y="4231111"/>
                <a:ext cx="1614993" cy="495649"/>
              </a:xfrm>
              <a:prstGeom prst="rect">
                <a:avLst/>
              </a:prstGeom>
              <a:blipFill rotWithShape="0">
                <a:blip r:embed="rId12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8649412" y="4135558"/>
                <a:ext cx="3299108" cy="1191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412" y="4135558"/>
                <a:ext cx="3299108" cy="119148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137722" y="5601703"/>
                <a:ext cx="3299108" cy="1191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900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22" y="5601703"/>
                <a:ext cx="3299108" cy="119148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987" y="6204387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/>
              <p:cNvSpPr/>
              <p:nvPr/>
            </p:nvSpPr>
            <p:spPr>
              <a:xfrm>
                <a:off x="3174878" y="5762073"/>
                <a:ext cx="1614993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878" y="5762073"/>
                <a:ext cx="1614993" cy="495649"/>
              </a:xfrm>
              <a:prstGeom prst="rect">
                <a:avLst/>
              </a:prstGeom>
              <a:blipFill rotWithShape="0">
                <a:blip r:embed="rId15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/>
              <p:cNvSpPr/>
              <p:nvPr/>
            </p:nvSpPr>
            <p:spPr>
              <a:xfrm>
                <a:off x="4507142" y="5601703"/>
                <a:ext cx="3164200" cy="1191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𝟕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142" y="5601703"/>
                <a:ext cx="3164200" cy="119148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n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499" y="6200571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/>
              <p:cNvSpPr/>
              <p:nvPr/>
            </p:nvSpPr>
            <p:spPr>
              <a:xfrm>
                <a:off x="7447731" y="5856008"/>
                <a:ext cx="128669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d>
                        <m:d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e>
                      </m:d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22" name="Rectá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731" y="5856008"/>
                <a:ext cx="1286698" cy="307777"/>
              </a:xfrm>
              <a:prstGeom prst="rect">
                <a:avLst/>
              </a:prstGeom>
              <a:blipFill rotWithShape="0"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/>
              <p:cNvSpPr/>
              <p:nvPr/>
            </p:nvSpPr>
            <p:spPr>
              <a:xfrm>
                <a:off x="8510818" y="5601096"/>
                <a:ext cx="3164200" cy="1191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𝟕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á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0818" y="5601096"/>
                <a:ext cx="3164200" cy="119148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78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0" grpId="0"/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0" y="1441220"/>
                <a:ext cx="3164200" cy="1191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𝟕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𝟓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1220"/>
                <a:ext cx="3164200" cy="119148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34" y="2036960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2976237" y="1755292"/>
                <a:ext cx="129702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237" y="1755292"/>
                <a:ext cx="1297022" cy="307777"/>
              </a:xfrm>
              <a:prstGeom prst="rect">
                <a:avLst/>
              </a:prstGeom>
              <a:blipFill rotWithShape="0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4085296" y="1441220"/>
                <a:ext cx="3164200" cy="1191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𝟕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𝟔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296" y="1441220"/>
                <a:ext cx="3164200" cy="119148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30" y="2036960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7013700" y="1567420"/>
                <a:ext cx="1392689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700" y="1567420"/>
                <a:ext cx="1392689" cy="495649"/>
              </a:xfrm>
              <a:prstGeom prst="rect">
                <a:avLst/>
              </a:prstGeom>
              <a:blipFill rotWithShape="0">
                <a:blip r:embed="rId6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8170592" y="1441220"/>
                <a:ext cx="3164200" cy="1191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𝟕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𝟔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592" y="1441220"/>
                <a:ext cx="3164200" cy="119148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0" y="2946772"/>
                <a:ext cx="3164200" cy="1191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−</m:t>
                                                          </m:r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𝟕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9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𝟔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𝟔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46772"/>
                <a:ext cx="3164200" cy="119148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663" y="3536484"/>
            <a:ext cx="715162" cy="25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2903733" y="3066944"/>
                <a:ext cx="1392689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</m:den>
                          </m:f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MX" sz="1400" dirty="0">
                  <a:effectLst/>
                </a:endParaRPr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733" y="3066944"/>
                <a:ext cx="1392689" cy="495649"/>
              </a:xfrm>
              <a:prstGeom prst="rect">
                <a:avLst/>
              </a:prstGeom>
              <a:blipFill rotWithShape="0">
                <a:blip r:embed="rId9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4060625" y="2940744"/>
                <a:ext cx="2337628" cy="1174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9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19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19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NI" sz="19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𝟑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𝟔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9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9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625" y="2940744"/>
                <a:ext cx="2337628" cy="117455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6180660" y="3318014"/>
                <a:ext cx="1078565" cy="384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1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NI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𝑰</m:t>
                          </m:r>
                          <m:r>
                            <a:rPr lang="es-NI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  </m:t>
                          </m:r>
                          <m:r>
                            <a:rPr lang="es-NI" sz="19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s-MX" sz="19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660" y="3318014"/>
                <a:ext cx="1078565" cy="38472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7569666" y="2979018"/>
                <a:ext cx="1132298" cy="10561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17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es-NI" sz="17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17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17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17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s-NI" sz="17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7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e>
                                  <m:e>
                                    <m:r>
                                      <a:rPr lang="es-NI" sz="17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NI" sz="17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𝟔</m:t>
                                    </m:r>
                                  </m:e>
                                  <m:e>
                                    <m:r>
                                      <a:rPr lang="es-NI" sz="17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sz="17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7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666" y="2979018"/>
                <a:ext cx="1132298" cy="105612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lecha derecha 14"/>
          <p:cNvSpPr/>
          <p:nvPr/>
        </p:nvSpPr>
        <p:spPr>
          <a:xfrm>
            <a:off x="7145720" y="3352742"/>
            <a:ext cx="421542" cy="308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4"/>
              <p:cNvSpPr/>
              <p:nvPr/>
            </p:nvSpPr>
            <p:spPr>
              <a:xfrm>
                <a:off x="295898" y="4361599"/>
                <a:ext cx="11419821" cy="2063196"/>
              </a:xfrm>
              <a:prstGeom prst="roundRect">
                <a:avLst/>
              </a:prstGeom>
              <a:solidFill>
                <a:srgbClr val="F1F5F9"/>
              </a:solidFill>
              <a:ln>
                <a:solidFill>
                  <a:srgbClr val="0EA5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rtlCol="0" anchor="ctr"/>
              <a:lstStyle/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Algoritmo para una factorización </a:t>
                </a:r>
                <a14:m>
                  <m:oMath xmlns:m="http://schemas.openxmlformats.org/officeDocument/2006/math">
                    <m:r>
                      <a:rPr lang="es-NI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endParaRPr lang="es-MX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endParaRPr lang="es-MX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es posible, reduzca </a:t>
                </a:r>
                <a14:m>
                  <m:oMath xmlns:m="http://schemas.openxmlformats.org/officeDocument/2006/math">
                    <m:r>
                      <a:rPr lang="es-MX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000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una forma escalonada </a:t>
                </a:r>
                <a14:m>
                  <m:oMath xmlns:m="http://schemas.openxmlformats.org/officeDocument/2006/math">
                    <m:r>
                      <a:rPr lang="es-MX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con una sucesión de operaciones de remplazo de filas.</a:t>
                </a:r>
              </a:p>
              <a:p>
                <a:pPr algn="just">
                  <a:defRPr sz="2200" b="1">
                    <a:solidFill>
                      <a:srgbClr val="0F172A"/>
                    </a:solidFill>
                    <a:latin typeface="Georgia"/>
                  </a:defRPr>
                </a:pPr>
                <a:r>
                  <a:rPr lang="es-MX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Coloque las entradas de </a:t>
                </a:r>
                <a14:m>
                  <m:oMath xmlns:m="http://schemas.openxmlformats.org/officeDocument/2006/math">
                    <m:r>
                      <a:rPr lang="es-MX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tal manera que la misma secuencia de operaciones de fila reduzca </a:t>
                </a:r>
                <a14:m>
                  <m:oMath xmlns:m="http://schemas.openxmlformats.org/officeDocument/2006/math">
                    <m:r>
                      <a:rPr lang="es-MX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s-MX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</m:oMath>
                </a14:m>
                <a:r>
                  <a:rPr lang="es-MX" sz="2000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98" y="4361599"/>
                <a:ext cx="11419821" cy="2063196"/>
              </a:xfrm>
              <a:prstGeom prst="roundRect">
                <a:avLst/>
              </a:prstGeom>
              <a:blipFill rotWithShape="0">
                <a:blip r:embed="rId13"/>
                <a:stretch>
                  <a:fillRect b="-7353"/>
                </a:stretch>
              </a:blipFill>
              <a:ln>
                <a:solidFill>
                  <a:srgbClr val="0EA5E9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55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9" grpId="0"/>
      <p:bldP spid="11" grpId="0"/>
      <p:bldP spid="12" grpId="0"/>
      <p:bldP spid="14" grpId="0"/>
      <p:bldP spid="15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5CD00BF0-CBE8-45D4-9251-AEDCFFC626BD}"/>
              </a:ext>
            </a:extLst>
          </p:cNvPr>
          <p:cNvSpPr txBox="1">
            <a:spLocks/>
          </p:cNvSpPr>
          <p:nvPr/>
        </p:nvSpPr>
        <p:spPr>
          <a:xfrm>
            <a:off x="153852" y="1280160"/>
            <a:ext cx="6769462" cy="50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3: </a:t>
            </a:r>
            <a:r>
              <a:rPr lang="es-ES" sz="24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Encuentre una factorización 𝐿𝑈 de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tiqueta A (4 × 5)">
                <a:extLst>
                  <a:ext uri="{FF2B5EF4-FFF2-40B4-BE49-F238E27FC236}">
                    <a16:creationId xmlns:a16="http://schemas.microsoft.com/office/drawing/2014/main" id="{F9398E77-92F0-4E4B-8371-96A0C6780FE2}"/>
                  </a:ext>
                </a:extLst>
              </p:cNvPr>
              <p:cNvSpPr txBox="1"/>
              <p:nvPr/>
            </p:nvSpPr>
            <p:spPr>
              <a:xfrm>
                <a:off x="381000" y="2103120"/>
                <a:ext cx="32918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8" name="etiqueta A (4 × 5)">
                <a:extLst>
                  <a:ext uri="{FF2B5EF4-FFF2-40B4-BE49-F238E27FC236}">
                    <a16:creationId xmlns:a16="http://schemas.microsoft.com/office/drawing/2014/main" id="{F9398E77-92F0-4E4B-8371-96A0C6780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103120"/>
                <a:ext cx="3291840" cy="365760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A">
            <a:extLst>
              <a:ext uri="{FF2B5EF4-FFF2-40B4-BE49-F238E27FC236}">
                <a16:creationId xmlns:a16="http://schemas.microsoft.com/office/drawing/2014/main" id="{79D74997-E84F-4EED-90D4-E72DE462B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800588"/>
              </p:ext>
            </p:extLst>
          </p:nvPr>
        </p:nvGraphicFramePr>
        <p:xfrm>
          <a:off x="518160" y="2560320"/>
          <a:ext cx="3017520" cy="2194560"/>
        </p:xfrm>
        <a:graphic>
          <a:graphicData uri="http://schemas.openxmlformats.org/drawingml/2006/table">
            <a:tbl>
              <a:tblPr/>
              <a:tblGrid>
                <a:gridCol w="603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corchete">
            <a:extLst>
              <a:ext uri="{FF2B5EF4-FFF2-40B4-BE49-F238E27FC236}">
                <a16:creationId xmlns:a16="http://schemas.microsoft.com/office/drawing/2014/main" id="{0254FC3A-A4D1-4198-847C-5953CB1F06D6}"/>
              </a:ext>
            </a:extLst>
          </p:cNvPr>
          <p:cNvSpPr/>
          <p:nvPr/>
        </p:nvSpPr>
        <p:spPr>
          <a:xfrm>
            <a:off x="381000" y="2560320"/>
            <a:ext cx="0" cy="21945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1" name="corchete">
            <a:extLst>
              <a:ext uri="{FF2B5EF4-FFF2-40B4-BE49-F238E27FC236}">
                <a16:creationId xmlns:a16="http://schemas.microsoft.com/office/drawing/2014/main" id="{CDE2BAD6-BEF1-4A98-91E5-DAC56D0A3F1E}"/>
              </a:ext>
            </a:extLst>
          </p:cNvPr>
          <p:cNvSpPr/>
          <p:nvPr/>
        </p:nvSpPr>
        <p:spPr>
          <a:xfrm>
            <a:off x="381000" y="25603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2" name="corchete">
            <a:extLst>
              <a:ext uri="{FF2B5EF4-FFF2-40B4-BE49-F238E27FC236}">
                <a16:creationId xmlns:a16="http://schemas.microsoft.com/office/drawing/2014/main" id="{A83D9712-EF29-452D-88A9-474F33A12EC3}"/>
              </a:ext>
            </a:extLst>
          </p:cNvPr>
          <p:cNvSpPr/>
          <p:nvPr/>
        </p:nvSpPr>
        <p:spPr>
          <a:xfrm>
            <a:off x="381000" y="475488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3" name="corchete">
            <a:extLst>
              <a:ext uri="{FF2B5EF4-FFF2-40B4-BE49-F238E27FC236}">
                <a16:creationId xmlns:a16="http://schemas.microsoft.com/office/drawing/2014/main" id="{F40FCB5E-9361-471A-9308-F5F8CDCE777F}"/>
              </a:ext>
            </a:extLst>
          </p:cNvPr>
          <p:cNvSpPr/>
          <p:nvPr/>
        </p:nvSpPr>
        <p:spPr>
          <a:xfrm>
            <a:off x="3672840" y="2560320"/>
            <a:ext cx="0" cy="21945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4" name="corchete">
            <a:extLst>
              <a:ext uri="{FF2B5EF4-FFF2-40B4-BE49-F238E27FC236}">
                <a16:creationId xmlns:a16="http://schemas.microsoft.com/office/drawing/2014/main" id="{D58698CF-6A69-471E-8B7C-5F87EA8370E3}"/>
              </a:ext>
            </a:extLst>
          </p:cNvPr>
          <p:cNvSpPr/>
          <p:nvPr/>
        </p:nvSpPr>
        <p:spPr>
          <a:xfrm>
            <a:off x="3581400" y="25603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5" name="corchete">
            <a:extLst>
              <a:ext uri="{FF2B5EF4-FFF2-40B4-BE49-F238E27FC236}">
                <a16:creationId xmlns:a16="http://schemas.microsoft.com/office/drawing/2014/main" id="{BB23266C-ECA9-428C-8F98-A857D0474E89}"/>
              </a:ext>
            </a:extLst>
          </p:cNvPr>
          <p:cNvSpPr/>
          <p:nvPr/>
        </p:nvSpPr>
        <p:spPr>
          <a:xfrm>
            <a:off x="3581400" y="475488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o">
                <a:extLst>
                  <a:ext uri="{FF2B5EF4-FFF2-40B4-BE49-F238E27FC236}">
                    <a16:creationId xmlns:a16="http://schemas.microsoft.com/office/drawing/2014/main" id="{AF353804-CC82-4DF0-967C-EDFBC777E440}"/>
                  </a:ext>
                </a:extLst>
              </p:cNvPr>
              <p:cNvSpPr txBox="1"/>
              <p:nvPr/>
            </p:nvSpPr>
            <p:spPr>
              <a:xfrm>
                <a:off x="4404359" y="2194560"/>
                <a:ext cx="6629401" cy="2743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 algn="just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filas y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columnas.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será cuadrada, de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× 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triangular inferior con unos en la diagonal.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será de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× 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una forma escalonada de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Char char="•"/>
                </a:pPr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Solo se usan reemplazos de fila (sumar un múltiplo de una fila a otra de abajo), sin intercambios.</a:t>
                </a:r>
              </a:p>
            </p:txBody>
          </p:sp>
        </mc:Choice>
        <mc:Fallback>
          <p:sp>
            <p:nvSpPr>
              <p:cNvPr id="26" name="texto">
                <a:extLst>
                  <a:ext uri="{FF2B5EF4-FFF2-40B4-BE49-F238E27FC236}">
                    <a16:creationId xmlns:a16="http://schemas.microsoft.com/office/drawing/2014/main" id="{AF353804-CC82-4DF0-967C-EDFBC777E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359" y="2194560"/>
                <a:ext cx="6629401" cy="2743200"/>
              </a:xfrm>
              <a:prstGeom prst="rect">
                <a:avLst/>
              </a:prstGeom>
              <a:blipFill>
                <a:blip r:embed="rId3"/>
                <a:stretch>
                  <a:fillRect l="-2114" r="-2298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o">
                <a:extLst>
                  <a:ext uri="{FF2B5EF4-FFF2-40B4-BE49-F238E27FC236}">
                    <a16:creationId xmlns:a16="http://schemas.microsoft.com/office/drawing/2014/main" id="{655B8973-EDCE-42FC-A60D-F58A2A9878EC}"/>
                  </a:ext>
                </a:extLst>
              </p:cNvPr>
              <p:cNvSpPr txBox="1"/>
              <p:nvPr/>
            </p:nvSpPr>
            <p:spPr>
              <a:xfrm>
                <a:off x="426720" y="5349240"/>
                <a:ext cx="10424160" cy="1508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9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Plan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9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1)  </a:t>
                </a:r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Reducir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con reemplazos de fila.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9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2)  </a:t>
                </a:r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Construir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en cada columna pivote, dividir las entradas resaltadas entre el pivote.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9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3)  </a:t>
                </a:r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Comprobar que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19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19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27" name="texto">
                <a:extLst>
                  <a:ext uri="{FF2B5EF4-FFF2-40B4-BE49-F238E27FC236}">
                    <a16:creationId xmlns:a16="http://schemas.microsoft.com/office/drawing/2014/main" id="{655B8973-EDCE-42FC-A60D-F58A2A987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5349240"/>
                <a:ext cx="10424160" cy="1508760"/>
              </a:xfrm>
              <a:prstGeom prst="rect">
                <a:avLst/>
              </a:prstGeom>
              <a:blipFill>
                <a:blip r:embed="rId4"/>
                <a:stretch>
                  <a:fillRect l="-1404" t="-1619" b="-5668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952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0">
                <a:extLst>
                  <a:ext uri="{FF2B5EF4-FFF2-40B4-BE49-F238E27FC236}">
                    <a16:creationId xmlns:a16="http://schemas.microsoft.com/office/drawing/2014/main" id="{3C848487-BB93-42AC-9183-4EBB4B98D8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461" y="1169852"/>
                <a:ext cx="3274424" cy="5863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Paso 1: </a:t>
                </a:r>
                <a:r>
                  <a:rPr lang="en-US" sz="24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Reducir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endParaRPr lang="en-US" sz="24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 0">
                <a:extLst>
                  <a:ext uri="{FF2B5EF4-FFF2-40B4-BE49-F238E27FC236}">
                    <a16:creationId xmlns:a16="http://schemas.microsoft.com/office/drawing/2014/main" id="{3C848487-BB93-42AC-9183-4EBB4B98D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61" y="1169852"/>
                <a:ext cx="3274424" cy="586375"/>
              </a:xfrm>
              <a:prstGeom prst="rect">
                <a:avLst/>
              </a:prstGeom>
              <a:blipFill>
                <a:blip r:embed="rId2"/>
                <a:stretch>
                  <a:fillRect l="-5587" b="-10417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peraciones">
                <a:extLst>
                  <a:ext uri="{FF2B5EF4-FFF2-40B4-BE49-F238E27FC236}">
                    <a16:creationId xmlns:a16="http://schemas.microsoft.com/office/drawing/2014/main" id="{F3BB858F-37B5-4150-A12E-CB9B70B46D80}"/>
                  </a:ext>
                </a:extLst>
              </p:cNvPr>
              <p:cNvSpPr txBox="1"/>
              <p:nvPr/>
            </p:nvSpPr>
            <p:spPr>
              <a:xfrm>
                <a:off x="956310" y="2464961"/>
                <a:ext cx="1262744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operaciones">
                <a:extLst>
                  <a:ext uri="{FF2B5EF4-FFF2-40B4-BE49-F238E27FC236}">
                    <a16:creationId xmlns:a16="http://schemas.microsoft.com/office/drawing/2014/main" id="{F3BB858F-37B5-4150-A12E-CB9B70B46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10" y="2464961"/>
                <a:ext cx="1262744" cy="292608"/>
              </a:xfrm>
              <a:prstGeom prst="rect">
                <a:avLst/>
              </a:prstGeom>
              <a:blipFill>
                <a:blip r:embed="rId3"/>
                <a:stretch>
                  <a:fillRect l="-12560" t="-29167" b="-56250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matriz">
            <a:extLst>
              <a:ext uri="{FF2B5EF4-FFF2-40B4-BE49-F238E27FC236}">
                <a16:creationId xmlns:a16="http://schemas.microsoft.com/office/drawing/2014/main" id="{CB3E1124-F441-425A-AA3A-987F8F082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013123"/>
              </p:ext>
            </p:extLst>
          </p:nvPr>
        </p:nvGraphicFramePr>
        <p:xfrm>
          <a:off x="424542" y="2807208"/>
          <a:ext cx="2194560" cy="1536192"/>
        </p:xfrm>
        <a:graphic>
          <a:graphicData uri="http://schemas.openxmlformats.org/drawingml/2006/table">
            <a:tbl>
              <a:tblPr/>
              <a:tblGrid>
                <a:gridCol w="43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corchete">
            <a:extLst>
              <a:ext uri="{FF2B5EF4-FFF2-40B4-BE49-F238E27FC236}">
                <a16:creationId xmlns:a16="http://schemas.microsoft.com/office/drawing/2014/main" id="{6B7E4D9A-7144-45B2-A542-C9FA413BE7D2}"/>
              </a:ext>
            </a:extLst>
          </p:cNvPr>
          <p:cNvSpPr/>
          <p:nvPr/>
        </p:nvSpPr>
        <p:spPr>
          <a:xfrm>
            <a:off x="287382" y="280720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1" name="corchete">
            <a:extLst>
              <a:ext uri="{FF2B5EF4-FFF2-40B4-BE49-F238E27FC236}">
                <a16:creationId xmlns:a16="http://schemas.microsoft.com/office/drawing/2014/main" id="{E1FC4600-F370-4D8E-91C6-2DED14C67F73}"/>
              </a:ext>
            </a:extLst>
          </p:cNvPr>
          <p:cNvSpPr/>
          <p:nvPr/>
        </p:nvSpPr>
        <p:spPr>
          <a:xfrm>
            <a:off x="287382" y="280720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2" name="corchete">
            <a:extLst>
              <a:ext uri="{FF2B5EF4-FFF2-40B4-BE49-F238E27FC236}">
                <a16:creationId xmlns:a16="http://schemas.microsoft.com/office/drawing/2014/main" id="{58D1923E-D9CF-4573-8312-3C7C9D512521}"/>
              </a:ext>
            </a:extLst>
          </p:cNvPr>
          <p:cNvSpPr/>
          <p:nvPr/>
        </p:nvSpPr>
        <p:spPr>
          <a:xfrm>
            <a:off x="287382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3" name="corchete">
            <a:extLst>
              <a:ext uri="{FF2B5EF4-FFF2-40B4-BE49-F238E27FC236}">
                <a16:creationId xmlns:a16="http://schemas.microsoft.com/office/drawing/2014/main" id="{7F9B1D86-AB71-41D4-8168-5D7E31EEDC2F}"/>
              </a:ext>
            </a:extLst>
          </p:cNvPr>
          <p:cNvSpPr/>
          <p:nvPr/>
        </p:nvSpPr>
        <p:spPr>
          <a:xfrm>
            <a:off x="2756262" y="280720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4" name="corchete">
            <a:extLst>
              <a:ext uri="{FF2B5EF4-FFF2-40B4-BE49-F238E27FC236}">
                <a16:creationId xmlns:a16="http://schemas.microsoft.com/office/drawing/2014/main" id="{56D2D2D0-713C-4871-B1AF-CAE8F7822B53}"/>
              </a:ext>
            </a:extLst>
          </p:cNvPr>
          <p:cNvSpPr/>
          <p:nvPr/>
        </p:nvSpPr>
        <p:spPr>
          <a:xfrm>
            <a:off x="2664822" y="280720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5" name="corchete">
            <a:extLst>
              <a:ext uri="{FF2B5EF4-FFF2-40B4-BE49-F238E27FC236}">
                <a16:creationId xmlns:a16="http://schemas.microsoft.com/office/drawing/2014/main" id="{87EA3DDA-202F-4868-99A4-EE236C77F282}"/>
              </a:ext>
            </a:extLst>
          </p:cNvPr>
          <p:cNvSpPr/>
          <p:nvPr/>
        </p:nvSpPr>
        <p:spPr>
          <a:xfrm>
            <a:off x="2664822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6" name="simbolo">
            <a:extLst>
              <a:ext uri="{FF2B5EF4-FFF2-40B4-BE49-F238E27FC236}">
                <a16:creationId xmlns:a16="http://schemas.microsoft.com/office/drawing/2014/main" id="{EFD1CC61-6B1D-45F0-A3D7-AE39D926BAD0}"/>
              </a:ext>
            </a:extLst>
          </p:cNvPr>
          <p:cNvSpPr txBox="1"/>
          <p:nvPr/>
        </p:nvSpPr>
        <p:spPr>
          <a:xfrm>
            <a:off x="2756262" y="2807208"/>
            <a:ext cx="411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27" name="operaciones">
            <a:extLst>
              <a:ext uri="{FF2B5EF4-FFF2-40B4-BE49-F238E27FC236}">
                <a16:creationId xmlns:a16="http://schemas.microsoft.com/office/drawing/2014/main" id="{1D6CFD2D-1D33-48D9-8CE1-8BB747A3C13A}"/>
              </a:ext>
            </a:extLst>
          </p:cNvPr>
          <p:cNvSpPr txBox="1"/>
          <p:nvPr/>
        </p:nvSpPr>
        <p:spPr>
          <a:xfrm>
            <a:off x="2992482" y="1756227"/>
            <a:ext cx="1927861" cy="1065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F2 ← F2 + 2F1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F3 − F1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F4 ← F4 + 3F1</a:t>
            </a:r>
          </a:p>
        </p:txBody>
      </p:sp>
      <p:graphicFrame>
        <p:nvGraphicFramePr>
          <p:cNvPr id="28" name="matriz">
            <a:extLst>
              <a:ext uri="{FF2B5EF4-FFF2-40B4-BE49-F238E27FC236}">
                <a16:creationId xmlns:a16="http://schemas.microsoft.com/office/drawing/2014/main" id="{27EEC15E-A706-4098-8A57-C932E5A69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18012"/>
              </p:ext>
            </p:extLst>
          </p:nvPr>
        </p:nvGraphicFramePr>
        <p:xfrm>
          <a:off x="3304902" y="2807208"/>
          <a:ext cx="2072640" cy="1536192"/>
        </p:xfrm>
        <a:graphic>
          <a:graphicData uri="http://schemas.openxmlformats.org/drawingml/2006/table">
            <a:tbl>
              <a:tblPr/>
              <a:tblGrid>
                <a:gridCol w="31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corchete">
            <a:extLst>
              <a:ext uri="{FF2B5EF4-FFF2-40B4-BE49-F238E27FC236}">
                <a16:creationId xmlns:a16="http://schemas.microsoft.com/office/drawing/2014/main" id="{1038148C-110E-4173-87F2-152ED2300942}"/>
              </a:ext>
            </a:extLst>
          </p:cNvPr>
          <p:cNvSpPr/>
          <p:nvPr/>
        </p:nvSpPr>
        <p:spPr>
          <a:xfrm>
            <a:off x="3167742" y="280720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0" name="corchete">
            <a:extLst>
              <a:ext uri="{FF2B5EF4-FFF2-40B4-BE49-F238E27FC236}">
                <a16:creationId xmlns:a16="http://schemas.microsoft.com/office/drawing/2014/main" id="{FDACCB54-2D0D-4B71-966E-62BE5898597C}"/>
              </a:ext>
            </a:extLst>
          </p:cNvPr>
          <p:cNvSpPr/>
          <p:nvPr/>
        </p:nvSpPr>
        <p:spPr>
          <a:xfrm>
            <a:off x="3167742" y="280720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1" name="corchete">
            <a:extLst>
              <a:ext uri="{FF2B5EF4-FFF2-40B4-BE49-F238E27FC236}">
                <a16:creationId xmlns:a16="http://schemas.microsoft.com/office/drawing/2014/main" id="{79EE84D6-BB66-4E83-BE3D-71052F94F6AC}"/>
              </a:ext>
            </a:extLst>
          </p:cNvPr>
          <p:cNvSpPr/>
          <p:nvPr/>
        </p:nvSpPr>
        <p:spPr>
          <a:xfrm>
            <a:off x="3167742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2" name="corchete">
            <a:extLst>
              <a:ext uri="{FF2B5EF4-FFF2-40B4-BE49-F238E27FC236}">
                <a16:creationId xmlns:a16="http://schemas.microsoft.com/office/drawing/2014/main" id="{AF7A49F0-2386-469C-9265-8E84257E6F8B}"/>
              </a:ext>
            </a:extLst>
          </p:cNvPr>
          <p:cNvSpPr/>
          <p:nvPr/>
        </p:nvSpPr>
        <p:spPr>
          <a:xfrm>
            <a:off x="5514702" y="280720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3" name="corchete">
            <a:extLst>
              <a:ext uri="{FF2B5EF4-FFF2-40B4-BE49-F238E27FC236}">
                <a16:creationId xmlns:a16="http://schemas.microsoft.com/office/drawing/2014/main" id="{CC59986C-D97E-43EB-93AA-3318DE22F588}"/>
              </a:ext>
            </a:extLst>
          </p:cNvPr>
          <p:cNvSpPr/>
          <p:nvPr/>
        </p:nvSpPr>
        <p:spPr>
          <a:xfrm>
            <a:off x="5423262" y="280720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4" name="corchete">
            <a:extLst>
              <a:ext uri="{FF2B5EF4-FFF2-40B4-BE49-F238E27FC236}">
                <a16:creationId xmlns:a16="http://schemas.microsoft.com/office/drawing/2014/main" id="{8A423F2C-761C-47AD-B659-E7EB60E37D76}"/>
              </a:ext>
            </a:extLst>
          </p:cNvPr>
          <p:cNvSpPr/>
          <p:nvPr/>
        </p:nvSpPr>
        <p:spPr>
          <a:xfrm>
            <a:off x="5423262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5" name="simbolo">
            <a:extLst>
              <a:ext uri="{FF2B5EF4-FFF2-40B4-BE49-F238E27FC236}">
                <a16:creationId xmlns:a16="http://schemas.microsoft.com/office/drawing/2014/main" id="{8BB8E6B0-CD67-4692-8267-2FA940C4B849}"/>
              </a:ext>
            </a:extLst>
          </p:cNvPr>
          <p:cNvSpPr txBox="1"/>
          <p:nvPr/>
        </p:nvSpPr>
        <p:spPr>
          <a:xfrm>
            <a:off x="5514702" y="2807208"/>
            <a:ext cx="411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36" name="operaciones">
            <a:extLst>
              <a:ext uri="{FF2B5EF4-FFF2-40B4-BE49-F238E27FC236}">
                <a16:creationId xmlns:a16="http://schemas.microsoft.com/office/drawing/2014/main" id="{C2F89B40-320F-4355-97F5-3F7BECF7E226}"/>
              </a:ext>
            </a:extLst>
          </p:cNvPr>
          <p:cNvSpPr txBox="1"/>
          <p:nvPr/>
        </p:nvSpPr>
        <p:spPr>
          <a:xfrm>
            <a:off x="5720442" y="2057400"/>
            <a:ext cx="192786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F3 + 3F2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F4 ← F4 − 4F2</a:t>
            </a:r>
          </a:p>
        </p:txBody>
      </p:sp>
      <p:graphicFrame>
        <p:nvGraphicFramePr>
          <p:cNvPr id="37" name="matriz">
            <a:extLst>
              <a:ext uri="{FF2B5EF4-FFF2-40B4-BE49-F238E27FC236}">
                <a16:creationId xmlns:a16="http://schemas.microsoft.com/office/drawing/2014/main" id="{C1CC6469-D398-4B4C-88B9-47C3B037D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720932"/>
              </p:ext>
            </p:extLst>
          </p:nvPr>
        </p:nvGraphicFramePr>
        <p:xfrm>
          <a:off x="6063342" y="2807208"/>
          <a:ext cx="1828800" cy="1536192"/>
        </p:xfrm>
        <a:graphic>
          <a:graphicData uri="http://schemas.openxmlformats.org/drawingml/2006/table">
            <a:tbl>
              <a:tblPr/>
              <a:tblGrid>
                <a:gridCol w="31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corchete">
            <a:extLst>
              <a:ext uri="{FF2B5EF4-FFF2-40B4-BE49-F238E27FC236}">
                <a16:creationId xmlns:a16="http://schemas.microsoft.com/office/drawing/2014/main" id="{E07DA23E-AD3E-4AB8-A22D-1729A8E39761}"/>
              </a:ext>
            </a:extLst>
          </p:cNvPr>
          <p:cNvSpPr/>
          <p:nvPr/>
        </p:nvSpPr>
        <p:spPr>
          <a:xfrm>
            <a:off x="5926182" y="280720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9" name="corchete">
            <a:extLst>
              <a:ext uri="{FF2B5EF4-FFF2-40B4-BE49-F238E27FC236}">
                <a16:creationId xmlns:a16="http://schemas.microsoft.com/office/drawing/2014/main" id="{34C0B476-2ECB-4A3B-82D1-685E50FFBA70}"/>
              </a:ext>
            </a:extLst>
          </p:cNvPr>
          <p:cNvSpPr/>
          <p:nvPr/>
        </p:nvSpPr>
        <p:spPr>
          <a:xfrm>
            <a:off x="5926182" y="280720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0" name="corchete">
            <a:extLst>
              <a:ext uri="{FF2B5EF4-FFF2-40B4-BE49-F238E27FC236}">
                <a16:creationId xmlns:a16="http://schemas.microsoft.com/office/drawing/2014/main" id="{49057BD0-D27F-438F-9C8F-FD1BE939341A}"/>
              </a:ext>
            </a:extLst>
          </p:cNvPr>
          <p:cNvSpPr/>
          <p:nvPr/>
        </p:nvSpPr>
        <p:spPr>
          <a:xfrm>
            <a:off x="5926182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1" name="corchete">
            <a:extLst>
              <a:ext uri="{FF2B5EF4-FFF2-40B4-BE49-F238E27FC236}">
                <a16:creationId xmlns:a16="http://schemas.microsoft.com/office/drawing/2014/main" id="{00A8528A-FF52-45E2-919B-60A59C62C9B7}"/>
              </a:ext>
            </a:extLst>
          </p:cNvPr>
          <p:cNvSpPr/>
          <p:nvPr/>
        </p:nvSpPr>
        <p:spPr>
          <a:xfrm>
            <a:off x="8029302" y="280720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2" name="corchete">
            <a:extLst>
              <a:ext uri="{FF2B5EF4-FFF2-40B4-BE49-F238E27FC236}">
                <a16:creationId xmlns:a16="http://schemas.microsoft.com/office/drawing/2014/main" id="{251707C9-2A2F-43BA-A8DF-9A15F4AAB183}"/>
              </a:ext>
            </a:extLst>
          </p:cNvPr>
          <p:cNvSpPr/>
          <p:nvPr/>
        </p:nvSpPr>
        <p:spPr>
          <a:xfrm>
            <a:off x="7937862" y="280720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3" name="corchete">
            <a:extLst>
              <a:ext uri="{FF2B5EF4-FFF2-40B4-BE49-F238E27FC236}">
                <a16:creationId xmlns:a16="http://schemas.microsoft.com/office/drawing/2014/main" id="{070A9ADD-CB6F-41AA-AE9B-2A98CBCED4F6}"/>
              </a:ext>
            </a:extLst>
          </p:cNvPr>
          <p:cNvSpPr/>
          <p:nvPr/>
        </p:nvSpPr>
        <p:spPr>
          <a:xfrm>
            <a:off x="7937862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4" name="simbolo">
            <a:extLst>
              <a:ext uri="{FF2B5EF4-FFF2-40B4-BE49-F238E27FC236}">
                <a16:creationId xmlns:a16="http://schemas.microsoft.com/office/drawing/2014/main" id="{ED51952C-280B-4D4D-BE08-D0988B513564}"/>
              </a:ext>
            </a:extLst>
          </p:cNvPr>
          <p:cNvSpPr txBox="1"/>
          <p:nvPr/>
        </p:nvSpPr>
        <p:spPr>
          <a:xfrm>
            <a:off x="8029302" y="2807208"/>
            <a:ext cx="411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45" name="operaciones">
            <a:extLst>
              <a:ext uri="{FF2B5EF4-FFF2-40B4-BE49-F238E27FC236}">
                <a16:creationId xmlns:a16="http://schemas.microsoft.com/office/drawing/2014/main" id="{A95D43BC-131D-4E08-B8D9-7AD5FDAFFE40}"/>
              </a:ext>
            </a:extLst>
          </p:cNvPr>
          <p:cNvSpPr txBox="1"/>
          <p:nvPr/>
        </p:nvSpPr>
        <p:spPr>
          <a:xfrm>
            <a:off x="8235042" y="2328777"/>
            <a:ext cx="1943099" cy="4287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F4 ← F4 − 2F3</a:t>
            </a:r>
          </a:p>
        </p:txBody>
      </p:sp>
      <p:graphicFrame>
        <p:nvGraphicFramePr>
          <p:cNvPr id="46" name="matriz">
            <a:extLst>
              <a:ext uri="{FF2B5EF4-FFF2-40B4-BE49-F238E27FC236}">
                <a16:creationId xmlns:a16="http://schemas.microsoft.com/office/drawing/2014/main" id="{02E798E1-A039-4441-93DD-4D254B8A9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098400"/>
              </p:ext>
            </p:extLst>
          </p:nvPr>
        </p:nvGraphicFramePr>
        <p:xfrm>
          <a:off x="8577942" y="2807208"/>
          <a:ext cx="1828800" cy="1536192"/>
        </p:xfrm>
        <a:graphic>
          <a:graphicData uri="http://schemas.openxmlformats.org/drawingml/2006/table">
            <a:tbl>
              <a:tblPr/>
              <a:tblGrid>
                <a:gridCol w="31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corchete">
            <a:extLst>
              <a:ext uri="{FF2B5EF4-FFF2-40B4-BE49-F238E27FC236}">
                <a16:creationId xmlns:a16="http://schemas.microsoft.com/office/drawing/2014/main" id="{FCB15383-B585-4253-B1B7-B689D6E087F1}"/>
              </a:ext>
            </a:extLst>
          </p:cNvPr>
          <p:cNvSpPr/>
          <p:nvPr/>
        </p:nvSpPr>
        <p:spPr>
          <a:xfrm>
            <a:off x="8440782" y="280720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8" name="corchete">
            <a:extLst>
              <a:ext uri="{FF2B5EF4-FFF2-40B4-BE49-F238E27FC236}">
                <a16:creationId xmlns:a16="http://schemas.microsoft.com/office/drawing/2014/main" id="{19625FD1-8CAE-4B6F-BC8F-BD214DCBC3BE}"/>
              </a:ext>
            </a:extLst>
          </p:cNvPr>
          <p:cNvSpPr/>
          <p:nvPr/>
        </p:nvSpPr>
        <p:spPr>
          <a:xfrm>
            <a:off x="8440782" y="280720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9" name="corchete">
            <a:extLst>
              <a:ext uri="{FF2B5EF4-FFF2-40B4-BE49-F238E27FC236}">
                <a16:creationId xmlns:a16="http://schemas.microsoft.com/office/drawing/2014/main" id="{B6E0553B-EA6B-489A-B0AB-A57658DC04A3}"/>
              </a:ext>
            </a:extLst>
          </p:cNvPr>
          <p:cNvSpPr/>
          <p:nvPr/>
        </p:nvSpPr>
        <p:spPr>
          <a:xfrm>
            <a:off x="8440782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0" name="corchete">
            <a:extLst>
              <a:ext uri="{FF2B5EF4-FFF2-40B4-BE49-F238E27FC236}">
                <a16:creationId xmlns:a16="http://schemas.microsoft.com/office/drawing/2014/main" id="{43D7DE06-771C-4B33-ABBE-27718063E9A4}"/>
              </a:ext>
            </a:extLst>
          </p:cNvPr>
          <p:cNvSpPr/>
          <p:nvPr/>
        </p:nvSpPr>
        <p:spPr>
          <a:xfrm>
            <a:off x="10543902" y="280720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1" name="corchete">
            <a:extLst>
              <a:ext uri="{FF2B5EF4-FFF2-40B4-BE49-F238E27FC236}">
                <a16:creationId xmlns:a16="http://schemas.microsoft.com/office/drawing/2014/main" id="{1EB527B5-E304-437E-88CA-7F072FB158D5}"/>
              </a:ext>
            </a:extLst>
          </p:cNvPr>
          <p:cNvSpPr/>
          <p:nvPr/>
        </p:nvSpPr>
        <p:spPr>
          <a:xfrm>
            <a:off x="10452462" y="280720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2" name="corchete">
            <a:extLst>
              <a:ext uri="{FF2B5EF4-FFF2-40B4-BE49-F238E27FC236}">
                <a16:creationId xmlns:a16="http://schemas.microsoft.com/office/drawing/2014/main" id="{839F2440-0251-4E99-B6EC-8DC6B97C9B7A}"/>
              </a:ext>
            </a:extLst>
          </p:cNvPr>
          <p:cNvSpPr/>
          <p:nvPr/>
        </p:nvSpPr>
        <p:spPr>
          <a:xfrm>
            <a:off x="10452462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o">
                <a:extLst>
                  <a:ext uri="{FF2B5EF4-FFF2-40B4-BE49-F238E27FC236}">
                    <a16:creationId xmlns:a16="http://schemas.microsoft.com/office/drawing/2014/main" id="{9775A1B8-3F07-41F6-AA48-CDC64B7A5F1D}"/>
                  </a:ext>
                </a:extLst>
              </p:cNvPr>
              <p:cNvSpPr txBox="1"/>
              <p:nvPr/>
            </p:nvSpPr>
            <p:spPr>
              <a:xfrm>
                <a:off x="0" y="4746315"/>
                <a:ext cx="12192000" cy="159642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 algn="just"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Columnas pivote de </a:t>
                </a:r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1, 2, 4 y 5 (pivotes 2, 3, 2 y 5). La columna 3 no tiene pivote: bajo la fila 2 solo hay ceros.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 entradas resaltadas son las que se dividen entre el pivote para construir </a:t>
                </a:r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Solo hay reemplazos de fila hacia abajo, sin intercambios; por eso existe </a:t>
                </a:r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sz="21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1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r>
                  <a:rPr lang="en-US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3" name="texto">
                <a:extLst>
                  <a:ext uri="{FF2B5EF4-FFF2-40B4-BE49-F238E27FC236}">
                    <a16:creationId xmlns:a16="http://schemas.microsoft.com/office/drawing/2014/main" id="{9775A1B8-3F07-41F6-AA48-CDC64B7A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46315"/>
                <a:ext cx="12192000" cy="1596427"/>
              </a:xfrm>
              <a:prstGeom prst="rect">
                <a:avLst/>
              </a:prstGeom>
              <a:blipFill>
                <a:blip r:embed="rId4"/>
                <a:stretch>
                  <a:fillRect l="-1250" t="-383" r="-1350" b="-5364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4170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9C3F4640-B110-4F6B-A522-C8AD5D196E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104" y="1359260"/>
                <a:ext cx="3054096" cy="4727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Paso 2: 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sz="24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onstruir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9C3F4640-B110-4F6B-A522-C8AD5D196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" y="1359260"/>
                <a:ext cx="3054096" cy="472732"/>
              </a:xfrm>
              <a:prstGeom prst="rect">
                <a:avLst/>
              </a:prstGeom>
              <a:blipFill>
                <a:blip r:embed="rId2"/>
                <a:stretch>
                  <a:fillRect l="-6188" t="-11538" b="-24359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ulo tarjeta">
                <a:extLst>
                  <a:ext uri="{FF2B5EF4-FFF2-40B4-BE49-F238E27FC236}">
                    <a16:creationId xmlns:a16="http://schemas.microsoft.com/office/drawing/2014/main" id="{C96574D7-2C42-4D6F-9A49-8DAD1F15A5E8}"/>
                  </a:ext>
                </a:extLst>
              </p:cNvPr>
              <p:cNvSpPr txBox="1"/>
              <p:nvPr/>
            </p:nvSpPr>
            <p:spPr>
              <a:xfrm>
                <a:off x="289560" y="2259003"/>
                <a:ext cx="2651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 1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endParaRPr lang="en-U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pivote 2 (col. 1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3" name="titulo tarjeta">
                <a:extLst>
                  <a:ext uri="{FF2B5EF4-FFF2-40B4-BE49-F238E27FC236}">
                    <a16:creationId xmlns:a16="http://schemas.microsoft.com/office/drawing/2014/main" id="{C96574D7-2C42-4D6F-9A49-8DAD1F15A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" y="2259003"/>
                <a:ext cx="2651760" cy="685800"/>
              </a:xfrm>
              <a:prstGeom prst="rect">
                <a:avLst/>
              </a:prstGeom>
              <a:blipFill>
                <a:blip r:embed="rId3"/>
                <a:stretch>
                  <a:fillRect l="-5977" t="-10714" b="-12500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entradas">
            <a:extLst>
              <a:ext uri="{FF2B5EF4-FFF2-40B4-BE49-F238E27FC236}">
                <a16:creationId xmlns:a16="http://schemas.microsoft.com/office/drawing/2014/main" id="{299F6438-6C38-443C-85B5-91A92EC29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180839"/>
              </p:ext>
            </p:extLst>
          </p:nvPr>
        </p:nvGraphicFramePr>
        <p:xfrm>
          <a:off x="472440" y="3008811"/>
          <a:ext cx="493776" cy="1389888"/>
        </p:xfrm>
        <a:graphic>
          <a:graphicData uri="http://schemas.openxmlformats.org/drawingml/2006/table">
            <a:tbl>
              <a:tblPr/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−4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−6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orchete">
            <a:extLst>
              <a:ext uri="{FF2B5EF4-FFF2-40B4-BE49-F238E27FC236}">
                <a16:creationId xmlns:a16="http://schemas.microsoft.com/office/drawing/2014/main" id="{A8BFF374-D428-44CA-B598-83520DF80EB2}"/>
              </a:ext>
            </a:extLst>
          </p:cNvPr>
          <p:cNvSpPr/>
          <p:nvPr/>
        </p:nvSpPr>
        <p:spPr>
          <a:xfrm>
            <a:off x="335280" y="3008811"/>
            <a:ext cx="0" cy="1389888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" name="corchete">
            <a:extLst>
              <a:ext uri="{FF2B5EF4-FFF2-40B4-BE49-F238E27FC236}">
                <a16:creationId xmlns:a16="http://schemas.microsoft.com/office/drawing/2014/main" id="{3B9EBBAD-347C-4646-82E0-107021E2E43C}"/>
              </a:ext>
            </a:extLst>
          </p:cNvPr>
          <p:cNvSpPr/>
          <p:nvPr/>
        </p:nvSpPr>
        <p:spPr>
          <a:xfrm>
            <a:off x="335280" y="30088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" name="corchete">
            <a:extLst>
              <a:ext uri="{FF2B5EF4-FFF2-40B4-BE49-F238E27FC236}">
                <a16:creationId xmlns:a16="http://schemas.microsoft.com/office/drawing/2014/main" id="{B781D749-CDF6-45AF-8AD9-42239DBFC28D}"/>
              </a:ext>
            </a:extLst>
          </p:cNvPr>
          <p:cNvSpPr/>
          <p:nvPr/>
        </p:nvSpPr>
        <p:spPr>
          <a:xfrm>
            <a:off x="335280" y="4398699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8" name="corchete">
            <a:extLst>
              <a:ext uri="{FF2B5EF4-FFF2-40B4-BE49-F238E27FC236}">
                <a16:creationId xmlns:a16="http://schemas.microsoft.com/office/drawing/2014/main" id="{C083FC89-5855-4E20-830B-C14BECC7E40E}"/>
              </a:ext>
            </a:extLst>
          </p:cNvPr>
          <p:cNvSpPr/>
          <p:nvPr/>
        </p:nvSpPr>
        <p:spPr>
          <a:xfrm>
            <a:off x="1103376" y="3008811"/>
            <a:ext cx="0" cy="1389888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>
            <a:extLst>
              <a:ext uri="{FF2B5EF4-FFF2-40B4-BE49-F238E27FC236}">
                <a16:creationId xmlns:a16="http://schemas.microsoft.com/office/drawing/2014/main" id="{2C88817A-2886-4EDF-9CB6-FBBF312E0F23}"/>
              </a:ext>
            </a:extLst>
          </p:cNvPr>
          <p:cNvSpPr/>
          <p:nvPr/>
        </p:nvSpPr>
        <p:spPr>
          <a:xfrm>
            <a:off x="1011936" y="30088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>
            <a:extLst>
              <a:ext uri="{FF2B5EF4-FFF2-40B4-BE49-F238E27FC236}">
                <a16:creationId xmlns:a16="http://schemas.microsoft.com/office/drawing/2014/main" id="{CC1876E1-13D7-4DF1-94A2-030B3CAE7854}"/>
              </a:ext>
            </a:extLst>
          </p:cNvPr>
          <p:cNvSpPr/>
          <p:nvPr/>
        </p:nvSpPr>
        <p:spPr>
          <a:xfrm>
            <a:off x="1011936" y="4398699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1" name="simbolo">
            <a:extLst>
              <a:ext uri="{FF2B5EF4-FFF2-40B4-BE49-F238E27FC236}">
                <a16:creationId xmlns:a16="http://schemas.microsoft.com/office/drawing/2014/main" id="{595792D5-F6DB-4C45-8165-09C5C217A0CE}"/>
              </a:ext>
            </a:extLst>
          </p:cNvPr>
          <p:cNvSpPr txBox="1"/>
          <p:nvPr/>
        </p:nvSpPr>
        <p:spPr>
          <a:xfrm>
            <a:off x="1149096" y="3008811"/>
            <a:ext cx="8686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÷ 2 →</a:t>
            </a:r>
            <a:endParaRPr lang="en-US" sz="1800" dirty="0"/>
          </a:p>
        </p:txBody>
      </p:sp>
      <p:graphicFrame>
        <p:nvGraphicFramePr>
          <p:cNvPr id="12" name="columna de L">
            <a:extLst>
              <a:ext uri="{FF2B5EF4-FFF2-40B4-BE49-F238E27FC236}">
                <a16:creationId xmlns:a16="http://schemas.microsoft.com/office/drawing/2014/main" id="{A4B0BED1-06EE-4571-9875-CC3ED331C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83158"/>
              </p:ext>
            </p:extLst>
          </p:nvPr>
        </p:nvGraphicFramePr>
        <p:xfrm>
          <a:off x="2154936" y="3008811"/>
          <a:ext cx="493776" cy="1389888"/>
        </p:xfrm>
        <a:graphic>
          <a:graphicData uri="http://schemas.openxmlformats.org/drawingml/2006/table">
            <a:tbl>
              <a:tblPr/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corchete">
            <a:extLst>
              <a:ext uri="{FF2B5EF4-FFF2-40B4-BE49-F238E27FC236}">
                <a16:creationId xmlns:a16="http://schemas.microsoft.com/office/drawing/2014/main" id="{0FF67BFF-C887-44D8-A784-38543D9B11A9}"/>
              </a:ext>
            </a:extLst>
          </p:cNvPr>
          <p:cNvSpPr/>
          <p:nvPr/>
        </p:nvSpPr>
        <p:spPr>
          <a:xfrm>
            <a:off x="2017776" y="3008811"/>
            <a:ext cx="0" cy="1389888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4" name="corchete">
            <a:extLst>
              <a:ext uri="{FF2B5EF4-FFF2-40B4-BE49-F238E27FC236}">
                <a16:creationId xmlns:a16="http://schemas.microsoft.com/office/drawing/2014/main" id="{E58DF150-5183-42CC-BEC4-B4B83E739707}"/>
              </a:ext>
            </a:extLst>
          </p:cNvPr>
          <p:cNvSpPr/>
          <p:nvPr/>
        </p:nvSpPr>
        <p:spPr>
          <a:xfrm>
            <a:off x="2017776" y="30088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5" name="corchete">
            <a:extLst>
              <a:ext uri="{FF2B5EF4-FFF2-40B4-BE49-F238E27FC236}">
                <a16:creationId xmlns:a16="http://schemas.microsoft.com/office/drawing/2014/main" id="{FB18CC05-3F97-473D-A325-F52139EE4991}"/>
              </a:ext>
            </a:extLst>
          </p:cNvPr>
          <p:cNvSpPr/>
          <p:nvPr/>
        </p:nvSpPr>
        <p:spPr>
          <a:xfrm>
            <a:off x="2017776" y="4398699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6" name="corchete">
            <a:extLst>
              <a:ext uri="{FF2B5EF4-FFF2-40B4-BE49-F238E27FC236}">
                <a16:creationId xmlns:a16="http://schemas.microsoft.com/office/drawing/2014/main" id="{7ED0A657-9787-4C0E-8F13-69AF832B4600}"/>
              </a:ext>
            </a:extLst>
          </p:cNvPr>
          <p:cNvSpPr/>
          <p:nvPr/>
        </p:nvSpPr>
        <p:spPr>
          <a:xfrm>
            <a:off x="2785872" y="3008811"/>
            <a:ext cx="0" cy="1389888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7" name="corchete">
            <a:extLst>
              <a:ext uri="{FF2B5EF4-FFF2-40B4-BE49-F238E27FC236}">
                <a16:creationId xmlns:a16="http://schemas.microsoft.com/office/drawing/2014/main" id="{EAE36E95-E7A9-40F7-8849-F881AA31433D}"/>
              </a:ext>
            </a:extLst>
          </p:cNvPr>
          <p:cNvSpPr/>
          <p:nvPr/>
        </p:nvSpPr>
        <p:spPr>
          <a:xfrm>
            <a:off x="2694432" y="30088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>
            <a:extLst>
              <a:ext uri="{FF2B5EF4-FFF2-40B4-BE49-F238E27FC236}">
                <a16:creationId xmlns:a16="http://schemas.microsoft.com/office/drawing/2014/main" id="{F5256B93-ACB0-491E-AB45-2759BAC38E4A}"/>
              </a:ext>
            </a:extLst>
          </p:cNvPr>
          <p:cNvSpPr/>
          <p:nvPr/>
        </p:nvSpPr>
        <p:spPr>
          <a:xfrm>
            <a:off x="2694432" y="4398699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itulo tarjeta">
                <a:extLst>
                  <a:ext uri="{FF2B5EF4-FFF2-40B4-BE49-F238E27FC236}">
                    <a16:creationId xmlns:a16="http://schemas.microsoft.com/office/drawing/2014/main" id="{BABC6F6D-EDF0-444C-911D-56F7F8F00E5E}"/>
                  </a:ext>
                </a:extLst>
              </p:cNvPr>
              <p:cNvSpPr txBox="1"/>
              <p:nvPr/>
            </p:nvSpPr>
            <p:spPr>
              <a:xfrm>
                <a:off x="3489960" y="2259003"/>
                <a:ext cx="2651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 2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endParaRPr lang="en-U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pivote 3 (col. 2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titulo tarjeta">
                <a:extLst>
                  <a:ext uri="{FF2B5EF4-FFF2-40B4-BE49-F238E27FC236}">
                    <a16:creationId xmlns:a16="http://schemas.microsoft.com/office/drawing/2014/main" id="{BABC6F6D-EDF0-444C-911D-56F7F8F00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960" y="2259003"/>
                <a:ext cx="2651760" cy="685800"/>
              </a:xfrm>
              <a:prstGeom prst="rect">
                <a:avLst/>
              </a:prstGeom>
              <a:blipFill>
                <a:blip r:embed="rId4"/>
                <a:stretch>
                  <a:fillRect l="-5977" t="-10714" b="-12500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entradas">
            <a:extLst>
              <a:ext uri="{FF2B5EF4-FFF2-40B4-BE49-F238E27FC236}">
                <a16:creationId xmlns:a16="http://schemas.microsoft.com/office/drawing/2014/main" id="{05C3F6ED-4596-4E26-B36B-349EA1FA4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29252"/>
              </p:ext>
            </p:extLst>
          </p:nvPr>
        </p:nvGraphicFramePr>
        <p:xfrm>
          <a:off x="3672840" y="3008811"/>
          <a:ext cx="493776" cy="1042416"/>
        </p:xfrm>
        <a:graphic>
          <a:graphicData uri="http://schemas.openxmlformats.org/drawingml/2006/table">
            <a:tbl>
              <a:tblPr/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−9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corchete">
            <a:extLst>
              <a:ext uri="{FF2B5EF4-FFF2-40B4-BE49-F238E27FC236}">
                <a16:creationId xmlns:a16="http://schemas.microsoft.com/office/drawing/2014/main" id="{EC0429BF-5A06-40AD-B749-E27D861A06D5}"/>
              </a:ext>
            </a:extLst>
          </p:cNvPr>
          <p:cNvSpPr/>
          <p:nvPr/>
        </p:nvSpPr>
        <p:spPr>
          <a:xfrm>
            <a:off x="3535680" y="3008811"/>
            <a:ext cx="0" cy="104241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2" name="corchete">
            <a:extLst>
              <a:ext uri="{FF2B5EF4-FFF2-40B4-BE49-F238E27FC236}">
                <a16:creationId xmlns:a16="http://schemas.microsoft.com/office/drawing/2014/main" id="{5D90C468-9B41-472C-9F6D-C1BFC0EC24E7}"/>
              </a:ext>
            </a:extLst>
          </p:cNvPr>
          <p:cNvSpPr/>
          <p:nvPr/>
        </p:nvSpPr>
        <p:spPr>
          <a:xfrm>
            <a:off x="3535680" y="30088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3" name="corchete">
            <a:extLst>
              <a:ext uri="{FF2B5EF4-FFF2-40B4-BE49-F238E27FC236}">
                <a16:creationId xmlns:a16="http://schemas.microsoft.com/office/drawing/2014/main" id="{F1061D78-4273-4740-8FF2-1BF55ACD6FE3}"/>
              </a:ext>
            </a:extLst>
          </p:cNvPr>
          <p:cNvSpPr/>
          <p:nvPr/>
        </p:nvSpPr>
        <p:spPr>
          <a:xfrm>
            <a:off x="3535680" y="405122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4" name="corchete">
            <a:extLst>
              <a:ext uri="{FF2B5EF4-FFF2-40B4-BE49-F238E27FC236}">
                <a16:creationId xmlns:a16="http://schemas.microsoft.com/office/drawing/2014/main" id="{94D2D9CB-9435-4B7C-A4CE-171230C4F04D}"/>
              </a:ext>
            </a:extLst>
          </p:cNvPr>
          <p:cNvSpPr/>
          <p:nvPr/>
        </p:nvSpPr>
        <p:spPr>
          <a:xfrm>
            <a:off x="4303776" y="3008811"/>
            <a:ext cx="0" cy="104241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5" name="corchete">
            <a:extLst>
              <a:ext uri="{FF2B5EF4-FFF2-40B4-BE49-F238E27FC236}">
                <a16:creationId xmlns:a16="http://schemas.microsoft.com/office/drawing/2014/main" id="{68138DFB-28D6-41D0-BF41-5D401032B8CE}"/>
              </a:ext>
            </a:extLst>
          </p:cNvPr>
          <p:cNvSpPr/>
          <p:nvPr/>
        </p:nvSpPr>
        <p:spPr>
          <a:xfrm>
            <a:off x="4212336" y="30088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6" name="corchete">
            <a:extLst>
              <a:ext uri="{FF2B5EF4-FFF2-40B4-BE49-F238E27FC236}">
                <a16:creationId xmlns:a16="http://schemas.microsoft.com/office/drawing/2014/main" id="{2521DD78-F68C-4046-A8FD-CBBFAF13A24F}"/>
              </a:ext>
            </a:extLst>
          </p:cNvPr>
          <p:cNvSpPr/>
          <p:nvPr/>
        </p:nvSpPr>
        <p:spPr>
          <a:xfrm>
            <a:off x="4212336" y="405122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simbolo">
            <a:extLst>
              <a:ext uri="{FF2B5EF4-FFF2-40B4-BE49-F238E27FC236}">
                <a16:creationId xmlns:a16="http://schemas.microsoft.com/office/drawing/2014/main" id="{876008E3-1EA7-4637-A68D-57C5247A7E32}"/>
              </a:ext>
            </a:extLst>
          </p:cNvPr>
          <p:cNvSpPr txBox="1"/>
          <p:nvPr/>
        </p:nvSpPr>
        <p:spPr>
          <a:xfrm>
            <a:off x="4349496" y="3008811"/>
            <a:ext cx="868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÷ 3 →</a:t>
            </a:r>
            <a:endParaRPr lang="en-US" sz="1800" dirty="0"/>
          </a:p>
        </p:txBody>
      </p:sp>
      <p:graphicFrame>
        <p:nvGraphicFramePr>
          <p:cNvPr id="28" name="columna de L">
            <a:extLst>
              <a:ext uri="{FF2B5EF4-FFF2-40B4-BE49-F238E27FC236}">
                <a16:creationId xmlns:a16="http://schemas.microsoft.com/office/drawing/2014/main" id="{E142A34C-ED47-4156-AA23-325380D73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943688"/>
              </p:ext>
            </p:extLst>
          </p:nvPr>
        </p:nvGraphicFramePr>
        <p:xfrm>
          <a:off x="5355336" y="3008811"/>
          <a:ext cx="493776" cy="1042416"/>
        </p:xfrm>
        <a:graphic>
          <a:graphicData uri="http://schemas.openxmlformats.org/drawingml/2006/table">
            <a:tbl>
              <a:tblPr/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corchete">
            <a:extLst>
              <a:ext uri="{FF2B5EF4-FFF2-40B4-BE49-F238E27FC236}">
                <a16:creationId xmlns:a16="http://schemas.microsoft.com/office/drawing/2014/main" id="{ADD25426-F7BA-484C-9A0C-550958433F5E}"/>
              </a:ext>
            </a:extLst>
          </p:cNvPr>
          <p:cNvSpPr/>
          <p:nvPr/>
        </p:nvSpPr>
        <p:spPr>
          <a:xfrm>
            <a:off x="5218176" y="3008811"/>
            <a:ext cx="0" cy="104241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0" name="corchete">
            <a:extLst>
              <a:ext uri="{FF2B5EF4-FFF2-40B4-BE49-F238E27FC236}">
                <a16:creationId xmlns:a16="http://schemas.microsoft.com/office/drawing/2014/main" id="{9490D96C-5BC5-4762-8B7F-9954DDE6C888}"/>
              </a:ext>
            </a:extLst>
          </p:cNvPr>
          <p:cNvSpPr/>
          <p:nvPr/>
        </p:nvSpPr>
        <p:spPr>
          <a:xfrm>
            <a:off x="5218176" y="30088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1" name="corchete">
            <a:extLst>
              <a:ext uri="{FF2B5EF4-FFF2-40B4-BE49-F238E27FC236}">
                <a16:creationId xmlns:a16="http://schemas.microsoft.com/office/drawing/2014/main" id="{8205C8DE-BD43-4B51-85AE-7F25AE67725A}"/>
              </a:ext>
            </a:extLst>
          </p:cNvPr>
          <p:cNvSpPr/>
          <p:nvPr/>
        </p:nvSpPr>
        <p:spPr>
          <a:xfrm>
            <a:off x="5218176" y="405122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2" name="corchete">
            <a:extLst>
              <a:ext uri="{FF2B5EF4-FFF2-40B4-BE49-F238E27FC236}">
                <a16:creationId xmlns:a16="http://schemas.microsoft.com/office/drawing/2014/main" id="{A7913526-8245-46B2-BF3E-D86F1E3423DD}"/>
              </a:ext>
            </a:extLst>
          </p:cNvPr>
          <p:cNvSpPr/>
          <p:nvPr/>
        </p:nvSpPr>
        <p:spPr>
          <a:xfrm>
            <a:off x="5986272" y="3008811"/>
            <a:ext cx="0" cy="1042416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3" name="corchete">
            <a:extLst>
              <a:ext uri="{FF2B5EF4-FFF2-40B4-BE49-F238E27FC236}">
                <a16:creationId xmlns:a16="http://schemas.microsoft.com/office/drawing/2014/main" id="{32BEDD3F-D65B-4FB4-BFAA-D5312563DBEF}"/>
              </a:ext>
            </a:extLst>
          </p:cNvPr>
          <p:cNvSpPr/>
          <p:nvPr/>
        </p:nvSpPr>
        <p:spPr>
          <a:xfrm>
            <a:off x="5894832" y="30088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4" name="corchete">
            <a:extLst>
              <a:ext uri="{FF2B5EF4-FFF2-40B4-BE49-F238E27FC236}">
                <a16:creationId xmlns:a16="http://schemas.microsoft.com/office/drawing/2014/main" id="{A41AFF89-299B-49A8-8CF0-7CD13E8829B9}"/>
              </a:ext>
            </a:extLst>
          </p:cNvPr>
          <p:cNvSpPr/>
          <p:nvPr/>
        </p:nvSpPr>
        <p:spPr>
          <a:xfrm>
            <a:off x="5894832" y="4051227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5" name="recuadro">
            <a:extLst>
              <a:ext uri="{FF2B5EF4-FFF2-40B4-BE49-F238E27FC236}">
                <a16:creationId xmlns:a16="http://schemas.microsoft.com/office/drawing/2014/main" id="{BD4C3B7E-7996-4312-81CC-B4D1B1E59C3E}"/>
              </a:ext>
            </a:extLst>
          </p:cNvPr>
          <p:cNvSpPr/>
          <p:nvPr/>
        </p:nvSpPr>
        <p:spPr>
          <a:xfrm>
            <a:off x="106680" y="4700451"/>
            <a:ext cx="30175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itulo tarjeta">
                <a:extLst>
                  <a:ext uri="{FF2B5EF4-FFF2-40B4-BE49-F238E27FC236}">
                    <a16:creationId xmlns:a16="http://schemas.microsoft.com/office/drawing/2014/main" id="{1C0E416E-8C2C-4A35-99F4-9B815190676B}"/>
                  </a:ext>
                </a:extLst>
              </p:cNvPr>
              <p:cNvSpPr txBox="1"/>
              <p:nvPr/>
            </p:nvSpPr>
            <p:spPr>
              <a:xfrm>
                <a:off x="289560" y="4773603"/>
                <a:ext cx="2651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 3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endParaRPr lang="en-U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pivote 2 (col. 4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36" name="titulo tarjeta">
                <a:extLst>
                  <a:ext uri="{FF2B5EF4-FFF2-40B4-BE49-F238E27FC236}">
                    <a16:creationId xmlns:a16="http://schemas.microsoft.com/office/drawing/2014/main" id="{1C0E416E-8C2C-4A35-99F4-9B8151906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" y="4773603"/>
                <a:ext cx="2651760" cy="685800"/>
              </a:xfrm>
              <a:prstGeom prst="rect">
                <a:avLst/>
              </a:prstGeom>
              <a:blipFill>
                <a:blip r:embed="rId5"/>
                <a:stretch>
                  <a:fillRect l="-5977" t="-10619" b="-12389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entradas">
            <a:extLst>
              <a:ext uri="{FF2B5EF4-FFF2-40B4-BE49-F238E27FC236}">
                <a16:creationId xmlns:a16="http://schemas.microsoft.com/office/drawing/2014/main" id="{E68A7F56-AD6F-48A3-83E9-00C3DD64E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335550"/>
              </p:ext>
            </p:extLst>
          </p:nvPr>
        </p:nvGraphicFramePr>
        <p:xfrm>
          <a:off x="472440" y="5523411"/>
          <a:ext cx="356616" cy="694944"/>
        </p:xfrm>
        <a:graphic>
          <a:graphicData uri="http://schemas.openxmlformats.org/drawingml/2006/table">
            <a:tbl>
              <a:tblPr/>
              <a:tblGrid>
                <a:gridCol w="35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corchete">
            <a:extLst>
              <a:ext uri="{FF2B5EF4-FFF2-40B4-BE49-F238E27FC236}">
                <a16:creationId xmlns:a16="http://schemas.microsoft.com/office/drawing/2014/main" id="{52FB67B2-102D-4A2C-B116-BB87A7B47C53}"/>
              </a:ext>
            </a:extLst>
          </p:cNvPr>
          <p:cNvSpPr/>
          <p:nvPr/>
        </p:nvSpPr>
        <p:spPr>
          <a:xfrm>
            <a:off x="335280" y="5523411"/>
            <a:ext cx="0" cy="69494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9" name="corchete">
            <a:extLst>
              <a:ext uri="{FF2B5EF4-FFF2-40B4-BE49-F238E27FC236}">
                <a16:creationId xmlns:a16="http://schemas.microsoft.com/office/drawing/2014/main" id="{0858792F-4087-4188-8B46-31F6F07D90F4}"/>
              </a:ext>
            </a:extLst>
          </p:cNvPr>
          <p:cNvSpPr/>
          <p:nvPr/>
        </p:nvSpPr>
        <p:spPr>
          <a:xfrm>
            <a:off x="335280" y="55234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0" name="corchete">
            <a:extLst>
              <a:ext uri="{FF2B5EF4-FFF2-40B4-BE49-F238E27FC236}">
                <a16:creationId xmlns:a16="http://schemas.microsoft.com/office/drawing/2014/main" id="{8FF09331-EE28-47CD-B861-F092C6A51603}"/>
              </a:ext>
            </a:extLst>
          </p:cNvPr>
          <p:cNvSpPr/>
          <p:nvPr/>
        </p:nvSpPr>
        <p:spPr>
          <a:xfrm>
            <a:off x="335280" y="6218355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1" name="corchete">
            <a:extLst>
              <a:ext uri="{FF2B5EF4-FFF2-40B4-BE49-F238E27FC236}">
                <a16:creationId xmlns:a16="http://schemas.microsoft.com/office/drawing/2014/main" id="{D7A120A9-EB92-4BA1-9DD8-473646B27329}"/>
              </a:ext>
            </a:extLst>
          </p:cNvPr>
          <p:cNvSpPr/>
          <p:nvPr/>
        </p:nvSpPr>
        <p:spPr>
          <a:xfrm>
            <a:off x="966216" y="5523411"/>
            <a:ext cx="0" cy="69494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2" name="corchete">
            <a:extLst>
              <a:ext uri="{FF2B5EF4-FFF2-40B4-BE49-F238E27FC236}">
                <a16:creationId xmlns:a16="http://schemas.microsoft.com/office/drawing/2014/main" id="{820FED41-1684-4967-BCE8-A083D5A9252E}"/>
              </a:ext>
            </a:extLst>
          </p:cNvPr>
          <p:cNvSpPr/>
          <p:nvPr/>
        </p:nvSpPr>
        <p:spPr>
          <a:xfrm>
            <a:off x="874776" y="55234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3" name="corchete">
            <a:extLst>
              <a:ext uri="{FF2B5EF4-FFF2-40B4-BE49-F238E27FC236}">
                <a16:creationId xmlns:a16="http://schemas.microsoft.com/office/drawing/2014/main" id="{E407F6B8-1C27-4E47-AF0F-976DF6458B65}"/>
              </a:ext>
            </a:extLst>
          </p:cNvPr>
          <p:cNvSpPr/>
          <p:nvPr/>
        </p:nvSpPr>
        <p:spPr>
          <a:xfrm>
            <a:off x="874776" y="6218355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4" name="simbolo">
            <a:extLst>
              <a:ext uri="{FF2B5EF4-FFF2-40B4-BE49-F238E27FC236}">
                <a16:creationId xmlns:a16="http://schemas.microsoft.com/office/drawing/2014/main" id="{FD7AA843-D238-4714-A54B-55D43AB0F7AC}"/>
              </a:ext>
            </a:extLst>
          </p:cNvPr>
          <p:cNvSpPr txBox="1"/>
          <p:nvPr/>
        </p:nvSpPr>
        <p:spPr>
          <a:xfrm>
            <a:off x="1011936" y="5523411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÷ 2 →</a:t>
            </a:r>
            <a:endParaRPr lang="en-US" sz="1800" dirty="0"/>
          </a:p>
        </p:txBody>
      </p:sp>
      <p:graphicFrame>
        <p:nvGraphicFramePr>
          <p:cNvPr id="45" name="columna de L">
            <a:extLst>
              <a:ext uri="{FF2B5EF4-FFF2-40B4-BE49-F238E27FC236}">
                <a16:creationId xmlns:a16="http://schemas.microsoft.com/office/drawing/2014/main" id="{DC0FE092-E30B-4541-A444-EFE7901B7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80120"/>
              </p:ext>
            </p:extLst>
          </p:nvPr>
        </p:nvGraphicFramePr>
        <p:xfrm>
          <a:off x="2017776" y="5523411"/>
          <a:ext cx="356616" cy="694944"/>
        </p:xfrm>
        <a:graphic>
          <a:graphicData uri="http://schemas.openxmlformats.org/drawingml/2006/table">
            <a:tbl>
              <a:tblPr/>
              <a:tblGrid>
                <a:gridCol w="35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corchete">
            <a:extLst>
              <a:ext uri="{FF2B5EF4-FFF2-40B4-BE49-F238E27FC236}">
                <a16:creationId xmlns:a16="http://schemas.microsoft.com/office/drawing/2014/main" id="{69C3027F-CBEE-4EC7-9441-4D1B2EF1703B}"/>
              </a:ext>
            </a:extLst>
          </p:cNvPr>
          <p:cNvSpPr/>
          <p:nvPr/>
        </p:nvSpPr>
        <p:spPr>
          <a:xfrm>
            <a:off x="1880616" y="5523411"/>
            <a:ext cx="0" cy="69494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7" name="corchete">
            <a:extLst>
              <a:ext uri="{FF2B5EF4-FFF2-40B4-BE49-F238E27FC236}">
                <a16:creationId xmlns:a16="http://schemas.microsoft.com/office/drawing/2014/main" id="{960B1132-06D9-46DC-917C-F86C96B5B876}"/>
              </a:ext>
            </a:extLst>
          </p:cNvPr>
          <p:cNvSpPr/>
          <p:nvPr/>
        </p:nvSpPr>
        <p:spPr>
          <a:xfrm>
            <a:off x="1880616" y="55234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8" name="corchete">
            <a:extLst>
              <a:ext uri="{FF2B5EF4-FFF2-40B4-BE49-F238E27FC236}">
                <a16:creationId xmlns:a16="http://schemas.microsoft.com/office/drawing/2014/main" id="{71D093CA-C536-4D8A-9395-B35F523483B7}"/>
              </a:ext>
            </a:extLst>
          </p:cNvPr>
          <p:cNvSpPr/>
          <p:nvPr/>
        </p:nvSpPr>
        <p:spPr>
          <a:xfrm>
            <a:off x="1880616" y="6218355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49" name="corchete">
            <a:extLst>
              <a:ext uri="{FF2B5EF4-FFF2-40B4-BE49-F238E27FC236}">
                <a16:creationId xmlns:a16="http://schemas.microsoft.com/office/drawing/2014/main" id="{4A4E6006-2440-4AB7-A1F1-1B0E013315DA}"/>
              </a:ext>
            </a:extLst>
          </p:cNvPr>
          <p:cNvSpPr/>
          <p:nvPr/>
        </p:nvSpPr>
        <p:spPr>
          <a:xfrm>
            <a:off x="2511552" y="5523411"/>
            <a:ext cx="0" cy="69494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0" name="corchete">
            <a:extLst>
              <a:ext uri="{FF2B5EF4-FFF2-40B4-BE49-F238E27FC236}">
                <a16:creationId xmlns:a16="http://schemas.microsoft.com/office/drawing/2014/main" id="{52C84864-1CA3-4C8B-AEA3-2F403B644EAC}"/>
              </a:ext>
            </a:extLst>
          </p:cNvPr>
          <p:cNvSpPr/>
          <p:nvPr/>
        </p:nvSpPr>
        <p:spPr>
          <a:xfrm>
            <a:off x="2420112" y="55234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1" name="corchete">
            <a:extLst>
              <a:ext uri="{FF2B5EF4-FFF2-40B4-BE49-F238E27FC236}">
                <a16:creationId xmlns:a16="http://schemas.microsoft.com/office/drawing/2014/main" id="{F224B4E8-DC52-4C66-BADF-92263AFD0734}"/>
              </a:ext>
            </a:extLst>
          </p:cNvPr>
          <p:cNvSpPr/>
          <p:nvPr/>
        </p:nvSpPr>
        <p:spPr>
          <a:xfrm>
            <a:off x="2420112" y="6218355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2" name="recuadro">
            <a:extLst>
              <a:ext uri="{FF2B5EF4-FFF2-40B4-BE49-F238E27FC236}">
                <a16:creationId xmlns:a16="http://schemas.microsoft.com/office/drawing/2014/main" id="{4AD0B8B1-FAD8-4E61-958A-05913B2DBD48}"/>
              </a:ext>
            </a:extLst>
          </p:cNvPr>
          <p:cNvSpPr/>
          <p:nvPr/>
        </p:nvSpPr>
        <p:spPr>
          <a:xfrm>
            <a:off x="3307080" y="4700451"/>
            <a:ext cx="30175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itulo tarjeta">
                <a:extLst>
                  <a:ext uri="{FF2B5EF4-FFF2-40B4-BE49-F238E27FC236}">
                    <a16:creationId xmlns:a16="http://schemas.microsoft.com/office/drawing/2014/main" id="{9FFC7AE2-9012-4785-92B3-6B75E6FB8723}"/>
                  </a:ext>
                </a:extLst>
              </p:cNvPr>
              <p:cNvSpPr txBox="1"/>
              <p:nvPr/>
            </p:nvSpPr>
            <p:spPr>
              <a:xfrm>
                <a:off x="3489960" y="4773603"/>
                <a:ext cx="2651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 4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endParaRPr lang="en-U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pivote 5 (col. 5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53" name="titulo tarjeta">
                <a:extLst>
                  <a:ext uri="{FF2B5EF4-FFF2-40B4-BE49-F238E27FC236}">
                    <a16:creationId xmlns:a16="http://schemas.microsoft.com/office/drawing/2014/main" id="{9FFC7AE2-9012-4785-92B3-6B75E6FB8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960" y="4773603"/>
                <a:ext cx="2651760" cy="685800"/>
              </a:xfrm>
              <a:prstGeom prst="rect">
                <a:avLst/>
              </a:prstGeom>
              <a:blipFill>
                <a:blip r:embed="rId6"/>
                <a:stretch>
                  <a:fillRect l="-5977" t="-10619" b="-12389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" name="entradas">
            <a:extLst>
              <a:ext uri="{FF2B5EF4-FFF2-40B4-BE49-F238E27FC236}">
                <a16:creationId xmlns:a16="http://schemas.microsoft.com/office/drawing/2014/main" id="{205AC1F6-BEFB-4CC1-A1DA-6B814F55B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426412"/>
              </p:ext>
            </p:extLst>
          </p:nvPr>
        </p:nvGraphicFramePr>
        <p:xfrm>
          <a:off x="3672840" y="5523411"/>
          <a:ext cx="356616" cy="347472"/>
        </p:xfrm>
        <a:graphic>
          <a:graphicData uri="http://schemas.openxmlformats.org/drawingml/2006/table">
            <a:tbl>
              <a:tblPr/>
              <a:tblGrid>
                <a:gridCol w="35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corchete">
            <a:extLst>
              <a:ext uri="{FF2B5EF4-FFF2-40B4-BE49-F238E27FC236}">
                <a16:creationId xmlns:a16="http://schemas.microsoft.com/office/drawing/2014/main" id="{93462D2B-E05A-4D02-8CE0-FF33C0EEFA51}"/>
              </a:ext>
            </a:extLst>
          </p:cNvPr>
          <p:cNvSpPr/>
          <p:nvPr/>
        </p:nvSpPr>
        <p:spPr>
          <a:xfrm>
            <a:off x="3535680" y="5523411"/>
            <a:ext cx="0" cy="34747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6" name="corchete">
            <a:extLst>
              <a:ext uri="{FF2B5EF4-FFF2-40B4-BE49-F238E27FC236}">
                <a16:creationId xmlns:a16="http://schemas.microsoft.com/office/drawing/2014/main" id="{53369FD1-A97E-4A4A-B11B-5F71F9335383}"/>
              </a:ext>
            </a:extLst>
          </p:cNvPr>
          <p:cNvSpPr/>
          <p:nvPr/>
        </p:nvSpPr>
        <p:spPr>
          <a:xfrm>
            <a:off x="3535680" y="55234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7" name="corchete">
            <a:extLst>
              <a:ext uri="{FF2B5EF4-FFF2-40B4-BE49-F238E27FC236}">
                <a16:creationId xmlns:a16="http://schemas.microsoft.com/office/drawing/2014/main" id="{0CC33AF5-6EC1-43DC-91C2-F613B62F768F}"/>
              </a:ext>
            </a:extLst>
          </p:cNvPr>
          <p:cNvSpPr/>
          <p:nvPr/>
        </p:nvSpPr>
        <p:spPr>
          <a:xfrm>
            <a:off x="3535680" y="587088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8" name="corchete">
            <a:extLst>
              <a:ext uri="{FF2B5EF4-FFF2-40B4-BE49-F238E27FC236}">
                <a16:creationId xmlns:a16="http://schemas.microsoft.com/office/drawing/2014/main" id="{0F02C598-91EF-4BCB-ABC5-EB4E1F132580}"/>
              </a:ext>
            </a:extLst>
          </p:cNvPr>
          <p:cNvSpPr/>
          <p:nvPr/>
        </p:nvSpPr>
        <p:spPr>
          <a:xfrm>
            <a:off x="4166616" y="5523411"/>
            <a:ext cx="0" cy="34747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59" name="corchete">
            <a:extLst>
              <a:ext uri="{FF2B5EF4-FFF2-40B4-BE49-F238E27FC236}">
                <a16:creationId xmlns:a16="http://schemas.microsoft.com/office/drawing/2014/main" id="{D0945464-34CD-4695-AB8C-018227131689}"/>
              </a:ext>
            </a:extLst>
          </p:cNvPr>
          <p:cNvSpPr/>
          <p:nvPr/>
        </p:nvSpPr>
        <p:spPr>
          <a:xfrm>
            <a:off x="4075176" y="55234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0" name="corchete">
            <a:extLst>
              <a:ext uri="{FF2B5EF4-FFF2-40B4-BE49-F238E27FC236}">
                <a16:creationId xmlns:a16="http://schemas.microsoft.com/office/drawing/2014/main" id="{3AFD00E7-743C-4BB3-AF2F-923D292DFA2C}"/>
              </a:ext>
            </a:extLst>
          </p:cNvPr>
          <p:cNvSpPr/>
          <p:nvPr/>
        </p:nvSpPr>
        <p:spPr>
          <a:xfrm>
            <a:off x="4075176" y="587088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1" name="simbolo">
            <a:extLst>
              <a:ext uri="{FF2B5EF4-FFF2-40B4-BE49-F238E27FC236}">
                <a16:creationId xmlns:a16="http://schemas.microsoft.com/office/drawing/2014/main" id="{5D04609B-AD1C-47C4-BB48-B6376612501E}"/>
              </a:ext>
            </a:extLst>
          </p:cNvPr>
          <p:cNvSpPr txBox="1"/>
          <p:nvPr/>
        </p:nvSpPr>
        <p:spPr>
          <a:xfrm>
            <a:off x="4212336" y="5523411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÷ 5 →</a:t>
            </a:r>
            <a:endParaRPr lang="en-US" sz="1800" dirty="0"/>
          </a:p>
        </p:txBody>
      </p:sp>
      <p:graphicFrame>
        <p:nvGraphicFramePr>
          <p:cNvPr id="62" name="columna de L">
            <a:extLst>
              <a:ext uri="{FF2B5EF4-FFF2-40B4-BE49-F238E27FC236}">
                <a16:creationId xmlns:a16="http://schemas.microsoft.com/office/drawing/2014/main" id="{D8F8D5E7-ADAD-4B73-9A79-FDE7098CC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463570"/>
              </p:ext>
            </p:extLst>
          </p:nvPr>
        </p:nvGraphicFramePr>
        <p:xfrm>
          <a:off x="5218176" y="5523411"/>
          <a:ext cx="356616" cy="347472"/>
        </p:xfrm>
        <a:graphic>
          <a:graphicData uri="http://schemas.openxmlformats.org/drawingml/2006/table">
            <a:tbl>
              <a:tblPr/>
              <a:tblGrid>
                <a:gridCol w="35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corchete">
            <a:extLst>
              <a:ext uri="{FF2B5EF4-FFF2-40B4-BE49-F238E27FC236}">
                <a16:creationId xmlns:a16="http://schemas.microsoft.com/office/drawing/2014/main" id="{3D972D23-4D72-4E22-B6C4-AF3BB3652832}"/>
              </a:ext>
            </a:extLst>
          </p:cNvPr>
          <p:cNvSpPr/>
          <p:nvPr/>
        </p:nvSpPr>
        <p:spPr>
          <a:xfrm>
            <a:off x="5081016" y="5523411"/>
            <a:ext cx="0" cy="34747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4" name="corchete">
            <a:extLst>
              <a:ext uri="{FF2B5EF4-FFF2-40B4-BE49-F238E27FC236}">
                <a16:creationId xmlns:a16="http://schemas.microsoft.com/office/drawing/2014/main" id="{20D8D590-A56A-4814-A113-C89A7DFE66DD}"/>
              </a:ext>
            </a:extLst>
          </p:cNvPr>
          <p:cNvSpPr/>
          <p:nvPr/>
        </p:nvSpPr>
        <p:spPr>
          <a:xfrm>
            <a:off x="5081016" y="55234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5" name="corchete">
            <a:extLst>
              <a:ext uri="{FF2B5EF4-FFF2-40B4-BE49-F238E27FC236}">
                <a16:creationId xmlns:a16="http://schemas.microsoft.com/office/drawing/2014/main" id="{85F64A84-8D68-457B-8A97-BEEEAABB8BF8}"/>
              </a:ext>
            </a:extLst>
          </p:cNvPr>
          <p:cNvSpPr/>
          <p:nvPr/>
        </p:nvSpPr>
        <p:spPr>
          <a:xfrm>
            <a:off x="5081016" y="587088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6" name="corchete">
            <a:extLst>
              <a:ext uri="{FF2B5EF4-FFF2-40B4-BE49-F238E27FC236}">
                <a16:creationId xmlns:a16="http://schemas.microsoft.com/office/drawing/2014/main" id="{06887C27-6C89-4D17-BBEF-4DC52B35DF04}"/>
              </a:ext>
            </a:extLst>
          </p:cNvPr>
          <p:cNvSpPr/>
          <p:nvPr/>
        </p:nvSpPr>
        <p:spPr>
          <a:xfrm>
            <a:off x="5711952" y="5523411"/>
            <a:ext cx="0" cy="34747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7" name="corchete">
            <a:extLst>
              <a:ext uri="{FF2B5EF4-FFF2-40B4-BE49-F238E27FC236}">
                <a16:creationId xmlns:a16="http://schemas.microsoft.com/office/drawing/2014/main" id="{CF10EFE7-767C-4513-82D5-EDF58AC26064}"/>
              </a:ext>
            </a:extLst>
          </p:cNvPr>
          <p:cNvSpPr/>
          <p:nvPr/>
        </p:nvSpPr>
        <p:spPr>
          <a:xfrm>
            <a:off x="5620512" y="55234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8" name="corchete">
            <a:extLst>
              <a:ext uri="{FF2B5EF4-FFF2-40B4-BE49-F238E27FC236}">
                <a16:creationId xmlns:a16="http://schemas.microsoft.com/office/drawing/2014/main" id="{08A472FD-5355-40C7-9EF2-B23E7AF66DB7}"/>
              </a:ext>
            </a:extLst>
          </p:cNvPr>
          <p:cNvSpPr/>
          <p:nvPr/>
        </p:nvSpPr>
        <p:spPr>
          <a:xfrm>
            <a:off x="5620512" y="5870883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etiqueta L (4 × 4)">
                <a:extLst>
                  <a:ext uri="{FF2B5EF4-FFF2-40B4-BE49-F238E27FC236}">
                    <a16:creationId xmlns:a16="http://schemas.microsoft.com/office/drawing/2014/main" id="{84B4FCEA-771A-4EAF-9C93-D83AD4C7F42C}"/>
                  </a:ext>
                </a:extLst>
              </p:cNvPr>
              <p:cNvSpPr txBox="1"/>
              <p:nvPr/>
            </p:nvSpPr>
            <p:spPr>
              <a:xfrm>
                <a:off x="7421880" y="2323011"/>
                <a:ext cx="2353056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×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69" name="etiqueta L (4 × 4)">
                <a:extLst>
                  <a:ext uri="{FF2B5EF4-FFF2-40B4-BE49-F238E27FC236}">
                    <a16:creationId xmlns:a16="http://schemas.microsoft.com/office/drawing/2014/main" id="{84B4FCEA-771A-4EAF-9C93-D83AD4C7F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880" y="2323011"/>
                <a:ext cx="2353056" cy="365760"/>
              </a:xfrm>
              <a:prstGeom prst="rect">
                <a:avLst/>
              </a:prstGeom>
              <a:blipFill>
                <a:blip r:embed="rId7"/>
                <a:stretch>
                  <a:fillRect t="-11667" b="-36667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" name="L">
            <a:extLst>
              <a:ext uri="{FF2B5EF4-FFF2-40B4-BE49-F238E27FC236}">
                <a16:creationId xmlns:a16="http://schemas.microsoft.com/office/drawing/2014/main" id="{19E1C33C-7E72-4627-BDC4-F766C59F2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680482"/>
              </p:ext>
            </p:extLst>
          </p:nvPr>
        </p:nvGraphicFramePr>
        <p:xfrm>
          <a:off x="7559040" y="2780211"/>
          <a:ext cx="2078736" cy="2194560"/>
        </p:xfrm>
        <a:graphic>
          <a:graphicData uri="http://schemas.openxmlformats.org/drawingml/2006/table">
            <a:tbl>
              <a:tblPr/>
              <a:tblGrid>
                <a:gridCol w="603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5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−2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−3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−3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" name="corchete">
            <a:extLst>
              <a:ext uri="{FF2B5EF4-FFF2-40B4-BE49-F238E27FC236}">
                <a16:creationId xmlns:a16="http://schemas.microsoft.com/office/drawing/2014/main" id="{64352F1C-081D-4E6D-A11E-ABAA7417D72F}"/>
              </a:ext>
            </a:extLst>
          </p:cNvPr>
          <p:cNvSpPr/>
          <p:nvPr/>
        </p:nvSpPr>
        <p:spPr>
          <a:xfrm>
            <a:off x="7421880" y="2780211"/>
            <a:ext cx="0" cy="21945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2" name="corchete">
            <a:extLst>
              <a:ext uri="{FF2B5EF4-FFF2-40B4-BE49-F238E27FC236}">
                <a16:creationId xmlns:a16="http://schemas.microsoft.com/office/drawing/2014/main" id="{5AD9A74A-8CCE-4F9A-8AA9-359226F49109}"/>
              </a:ext>
            </a:extLst>
          </p:cNvPr>
          <p:cNvSpPr/>
          <p:nvPr/>
        </p:nvSpPr>
        <p:spPr>
          <a:xfrm>
            <a:off x="7421880" y="27802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3" name="corchete">
            <a:extLst>
              <a:ext uri="{FF2B5EF4-FFF2-40B4-BE49-F238E27FC236}">
                <a16:creationId xmlns:a16="http://schemas.microsoft.com/office/drawing/2014/main" id="{81E48A55-8717-4A37-835C-B8428D817A6B}"/>
              </a:ext>
            </a:extLst>
          </p:cNvPr>
          <p:cNvSpPr/>
          <p:nvPr/>
        </p:nvSpPr>
        <p:spPr>
          <a:xfrm>
            <a:off x="7421880" y="497477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4" name="corchete">
            <a:extLst>
              <a:ext uri="{FF2B5EF4-FFF2-40B4-BE49-F238E27FC236}">
                <a16:creationId xmlns:a16="http://schemas.microsoft.com/office/drawing/2014/main" id="{CA089C59-3BF1-47C2-998E-401793A795F9}"/>
              </a:ext>
            </a:extLst>
          </p:cNvPr>
          <p:cNvSpPr/>
          <p:nvPr/>
        </p:nvSpPr>
        <p:spPr>
          <a:xfrm>
            <a:off x="9774936" y="2780211"/>
            <a:ext cx="0" cy="21945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5" name="corchete">
            <a:extLst>
              <a:ext uri="{FF2B5EF4-FFF2-40B4-BE49-F238E27FC236}">
                <a16:creationId xmlns:a16="http://schemas.microsoft.com/office/drawing/2014/main" id="{A56CD04E-23E6-47BE-B34A-39FD241BB075}"/>
              </a:ext>
            </a:extLst>
          </p:cNvPr>
          <p:cNvSpPr/>
          <p:nvPr/>
        </p:nvSpPr>
        <p:spPr>
          <a:xfrm>
            <a:off x="9683496" y="278021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6" name="corchete">
            <a:extLst>
              <a:ext uri="{FF2B5EF4-FFF2-40B4-BE49-F238E27FC236}">
                <a16:creationId xmlns:a16="http://schemas.microsoft.com/office/drawing/2014/main" id="{C7E669D4-F66A-4BD1-AA0D-5C763D2C4F54}"/>
              </a:ext>
            </a:extLst>
          </p:cNvPr>
          <p:cNvSpPr/>
          <p:nvPr/>
        </p:nvSpPr>
        <p:spPr>
          <a:xfrm>
            <a:off x="9683496" y="4974771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o">
                <a:extLst>
                  <a:ext uri="{FF2B5EF4-FFF2-40B4-BE49-F238E27FC236}">
                    <a16:creationId xmlns:a16="http://schemas.microsoft.com/office/drawing/2014/main" id="{30D0EF8C-5A59-4425-88DD-B4F792049C7C}"/>
                  </a:ext>
                </a:extLst>
              </p:cNvPr>
              <p:cNvSpPr txBox="1"/>
              <p:nvPr/>
            </p:nvSpPr>
            <p:spPr>
              <a:xfrm>
                <a:off x="7147560" y="5294811"/>
                <a:ext cx="4572000" cy="10972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just">
                  <a:spcAft>
                    <a:spcPts val="600"/>
                  </a:spcAft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Sobre la diagonal van ceros y la diagonal son unos: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triangular inferior unitaria.</a:t>
                </a:r>
              </a:p>
            </p:txBody>
          </p:sp>
        </mc:Choice>
        <mc:Fallback>
          <p:sp>
            <p:nvSpPr>
              <p:cNvPr id="77" name="texto">
                <a:extLst>
                  <a:ext uri="{FF2B5EF4-FFF2-40B4-BE49-F238E27FC236}">
                    <a16:creationId xmlns:a16="http://schemas.microsoft.com/office/drawing/2014/main" id="{30D0EF8C-5A59-4425-88DD-B4F792049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560" y="5294811"/>
                <a:ext cx="4572000" cy="1097280"/>
              </a:xfrm>
              <a:prstGeom prst="rect">
                <a:avLst/>
              </a:prstGeom>
              <a:blipFill>
                <a:blip r:embed="rId8"/>
                <a:stretch>
                  <a:fillRect l="-3467" r="-3333" b="-6111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406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B0C7ABDF-8925-4CB7-8577-E53B804F3C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6423" y="1261872"/>
                <a:ext cx="5879592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 </a:t>
                </a:r>
                <a:r>
                  <a:rPr lang="en-US" sz="24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mismas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operaciones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reducen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</m:oMath>
                </a14:m>
                <a:endParaRPr lang="en-US" sz="24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B0C7ABDF-8925-4CB7-8577-E53B804F3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23" y="1261872"/>
                <a:ext cx="5879592" cy="640080"/>
              </a:xfrm>
              <a:prstGeom prst="rect">
                <a:avLst/>
              </a:prstGeom>
              <a:blipFill>
                <a:blip r:embed="rId2"/>
                <a:stretch>
                  <a:fillRect l="-3216" b="-5714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peraciones">
                <a:extLst>
                  <a:ext uri="{FF2B5EF4-FFF2-40B4-BE49-F238E27FC236}">
                    <a16:creationId xmlns:a16="http://schemas.microsoft.com/office/drawing/2014/main" id="{0E999CBD-CA68-45AC-BED4-747A43EAD06D}"/>
                  </a:ext>
                </a:extLst>
              </p:cNvPr>
              <p:cNvSpPr txBox="1"/>
              <p:nvPr/>
            </p:nvSpPr>
            <p:spPr>
              <a:xfrm>
                <a:off x="646975" y="2468880"/>
                <a:ext cx="1197864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operaciones">
                <a:extLst>
                  <a:ext uri="{FF2B5EF4-FFF2-40B4-BE49-F238E27FC236}">
                    <a16:creationId xmlns:a16="http://schemas.microsoft.com/office/drawing/2014/main" id="{0E999CBD-CA68-45AC-BED4-747A43EAD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75" y="2468880"/>
                <a:ext cx="1197864" cy="384048"/>
              </a:xfrm>
              <a:prstGeom prst="rect">
                <a:avLst/>
              </a:prstGeom>
              <a:blipFill>
                <a:blip r:embed="rId3"/>
                <a:stretch>
                  <a:fillRect l="-12690" b="-41270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matriz">
            <a:extLst>
              <a:ext uri="{FF2B5EF4-FFF2-40B4-BE49-F238E27FC236}">
                <a16:creationId xmlns:a16="http://schemas.microsoft.com/office/drawing/2014/main" id="{35259998-1456-4993-82C9-290C52CB7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681396"/>
              </p:ext>
            </p:extLst>
          </p:nvPr>
        </p:nvGraphicFramePr>
        <p:xfrm>
          <a:off x="395515" y="2852928"/>
          <a:ext cx="1700784" cy="1536192"/>
        </p:xfrm>
        <a:graphic>
          <a:graphicData uri="http://schemas.openxmlformats.org/drawingml/2006/table">
            <a:tbl>
              <a:tblPr/>
              <a:tblGrid>
                <a:gridCol w="4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orchete">
            <a:extLst>
              <a:ext uri="{FF2B5EF4-FFF2-40B4-BE49-F238E27FC236}">
                <a16:creationId xmlns:a16="http://schemas.microsoft.com/office/drawing/2014/main" id="{8E5C24E3-BF25-42FC-ACAA-A725F0C439A6}"/>
              </a:ext>
            </a:extLst>
          </p:cNvPr>
          <p:cNvSpPr/>
          <p:nvPr/>
        </p:nvSpPr>
        <p:spPr>
          <a:xfrm>
            <a:off x="258355" y="285292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" name="corchete">
            <a:extLst>
              <a:ext uri="{FF2B5EF4-FFF2-40B4-BE49-F238E27FC236}">
                <a16:creationId xmlns:a16="http://schemas.microsoft.com/office/drawing/2014/main" id="{83E0D9AA-CBBD-447D-9C2C-8BC633A1688E}"/>
              </a:ext>
            </a:extLst>
          </p:cNvPr>
          <p:cNvSpPr/>
          <p:nvPr/>
        </p:nvSpPr>
        <p:spPr>
          <a:xfrm>
            <a:off x="258355" y="285292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" name="corchete">
            <a:extLst>
              <a:ext uri="{FF2B5EF4-FFF2-40B4-BE49-F238E27FC236}">
                <a16:creationId xmlns:a16="http://schemas.microsoft.com/office/drawing/2014/main" id="{B836DF26-ACC1-454B-AFF0-1A9230D1A542}"/>
              </a:ext>
            </a:extLst>
          </p:cNvPr>
          <p:cNvSpPr/>
          <p:nvPr/>
        </p:nvSpPr>
        <p:spPr>
          <a:xfrm>
            <a:off x="258355" y="43891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8" name="corchete">
            <a:extLst>
              <a:ext uri="{FF2B5EF4-FFF2-40B4-BE49-F238E27FC236}">
                <a16:creationId xmlns:a16="http://schemas.microsoft.com/office/drawing/2014/main" id="{6AF87468-1954-44D2-A151-A028A8C92B15}"/>
              </a:ext>
            </a:extLst>
          </p:cNvPr>
          <p:cNvSpPr/>
          <p:nvPr/>
        </p:nvSpPr>
        <p:spPr>
          <a:xfrm>
            <a:off x="2233459" y="285292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>
            <a:extLst>
              <a:ext uri="{FF2B5EF4-FFF2-40B4-BE49-F238E27FC236}">
                <a16:creationId xmlns:a16="http://schemas.microsoft.com/office/drawing/2014/main" id="{B2E0F658-2450-4694-BD12-2282607D0948}"/>
              </a:ext>
            </a:extLst>
          </p:cNvPr>
          <p:cNvSpPr/>
          <p:nvPr/>
        </p:nvSpPr>
        <p:spPr>
          <a:xfrm>
            <a:off x="2142019" y="285292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>
            <a:extLst>
              <a:ext uri="{FF2B5EF4-FFF2-40B4-BE49-F238E27FC236}">
                <a16:creationId xmlns:a16="http://schemas.microsoft.com/office/drawing/2014/main" id="{5EC407C6-D6E1-48EB-B0FB-0B4A4214E25F}"/>
              </a:ext>
            </a:extLst>
          </p:cNvPr>
          <p:cNvSpPr/>
          <p:nvPr/>
        </p:nvSpPr>
        <p:spPr>
          <a:xfrm>
            <a:off x="2142019" y="43891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1" name="simbolo">
            <a:extLst>
              <a:ext uri="{FF2B5EF4-FFF2-40B4-BE49-F238E27FC236}">
                <a16:creationId xmlns:a16="http://schemas.microsoft.com/office/drawing/2014/main" id="{9582399B-8951-403A-8BF4-05C9C700F712}"/>
              </a:ext>
            </a:extLst>
          </p:cNvPr>
          <p:cNvSpPr txBox="1"/>
          <p:nvPr/>
        </p:nvSpPr>
        <p:spPr>
          <a:xfrm>
            <a:off x="2233459" y="2852928"/>
            <a:ext cx="411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operaciones">
            <a:extLst>
              <a:ext uri="{FF2B5EF4-FFF2-40B4-BE49-F238E27FC236}">
                <a16:creationId xmlns:a16="http://schemas.microsoft.com/office/drawing/2014/main" id="{CB153596-217C-4D4D-BCE5-D1A9F6CFEF5C}"/>
              </a:ext>
            </a:extLst>
          </p:cNvPr>
          <p:cNvSpPr txBox="1"/>
          <p:nvPr/>
        </p:nvSpPr>
        <p:spPr>
          <a:xfrm>
            <a:off x="2439198" y="1901952"/>
            <a:ext cx="2455163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F2 ← F2 + 2F1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F3 − F1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F4 ← F4 + 3F1</a:t>
            </a:r>
          </a:p>
        </p:txBody>
      </p:sp>
      <p:graphicFrame>
        <p:nvGraphicFramePr>
          <p:cNvPr id="13" name="matriz">
            <a:extLst>
              <a:ext uri="{FF2B5EF4-FFF2-40B4-BE49-F238E27FC236}">
                <a16:creationId xmlns:a16="http://schemas.microsoft.com/office/drawing/2014/main" id="{A705E38A-19B5-4878-8BFB-096CA9334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16836"/>
              </p:ext>
            </p:extLst>
          </p:nvPr>
        </p:nvGraphicFramePr>
        <p:xfrm>
          <a:off x="2782099" y="2852928"/>
          <a:ext cx="1563624" cy="1536192"/>
        </p:xfrm>
        <a:graphic>
          <a:graphicData uri="http://schemas.openxmlformats.org/drawingml/2006/table">
            <a:tbl>
              <a:tblPr/>
              <a:tblGrid>
                <a:gridCol w="35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corchete">
            <a:extLst>
              <a:ext uri="{FF2B5EF4-FFF2-40B4-BE49-F238E27FC236}">
                <a16:creationId xmlns:a16="http://schemas.microsoft.com/office/drawing/2014/main" id="{BADFEE7D-10DE-4C86-825B-6C42CBE8609C}"/>
              </a:ext>
            </a:extLst>
          </p:cNvPr>
          <p:cNvSpPr/>
          <p:nvPr/>
        </p:nvSpPr>
        <p:spPr>
          <a:xfrm>
            <a:off x="2644939" y="285292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5" name="corchete">
            <a:extLst>
              <a:ext uri="{FF2B5EF4-FFF2-40B4-BE49-F238E27FC236}">
                <a16:creationId xmlns:a16="http://schemas.microsoft.com/office/drawing/2014/main" id="{CF83636C-B3C8-469A-9ECD-EA70956DA1FE}"/>
              </a:ext>
            </a:extLst>
          </p:cNvPr>
          <p:cNvSpPr/>
          <p:nvPr/>
        </p:nvSpPr>
        <p:spPr>
          <a:xfrm>
            <a:off x="2644939" y="285292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6" name="corchete">
            <a:extLst>
              <a:ext uri="{FF2B5EF4-FFF2-40B4-BE49-F238E27FC236}">
                <a16:creationId xmlns:a16="http://schemas.microsoft.com/office/drawing/2014/main" id="{B702DE0D-9F45-4EA4-BC78-A23F42961461}"/>
              </a:ext>
            </a:extLst>
          </p:cNvPr>
          <p:cNvSpPr/>
          <p:nvPr/>
        </p:nvSpPr>
        <p:spPr>
          <a:xfrm>
            <a:off x="2644939" y="43891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7" name="corchete">
            <a:extLst>
              <a:ext uri="{FF2B5EF4-FFF2-40B4-BE49-F238E27FC236}">
                <a16:creationId xmlns:a16="http://schemas.microsoft.com/office/drawing/2014/main" id="{D4D5DC22-9596-447A-8F6D-B764A8CD6D0C}"/>
              </a:ext>
            </a:extLst>
          </p:cNvPr>
          <p:cNvSpPr/>
          <p:nvPr/>
        </p:nvSpPr>
        <p:spPr>
          <a:xfrm>
            <a:off x="4482883" y="285292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>
            <a:extLst>
              <a:ext uri="{FF2B5EF4-FFF2-40B4-BE49-F238E27FC236}">
                <a16:creationId xmlns:a16="http://schemas.microsoft.com/office/drawing/2014/main" id="{D1D47297-C3A7-4D74-8E9A-718825011761}"/>
              </a:ext>
            </a:extLst>
          </p:cNvPr>
          <p:cNvSpPr/>
          <p:nvPr/>
        </p:nvSpPr>
        <p:spPr>
          <a:xfrm>
            <a:off x="4391443" y="285292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9" name="corchete">
            <a:extLst>
              <a:ext uri="{FF2B5EF4-FFF2-40B4-BE49-F238E27FC236}">
                <a16:creationId xmlns:a16="http://schemas.microsoft.com/office/drawing/2014/main" id="{1B583116-C413-4E44-899B-4069D7FEFF4B}"/>
              </a:ext>
            </a:extLst>
          </p:cNvPr>
          <p:cNvSpPr/>
          <p:nvPr/>
        </p:nvSpPr>
        <p:spPr>
          <a:xfrm>
            <a:off x="4391443" y="43891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0" name="simbolo">
            <a:extLst>
              <a:ext uri="{FF2B5EF4-FFF2-40B4-BE49-F238E27FC236}">
                <a16:creationId xmlns:a16="http://schemas.microsoft.com/office/drawing/2014/main" id="{0572DB70-CF3E-4282-876B-5FAAE8280D06}"/>
              </a:ext>
            </a:extLst>
          </p:cNvPr>
          <p:cNvSpPr txBox="1"/>
          <p:nvPr/>
        </p:nvSpPr>
        <p:spPr>
          <a:xfrm>
            <a:off x="4482883" y="2852928"/>
            <a:ext cx="411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operaciones">
            <a:extLst>
              <a:ext uri="{FF2B5EF4-FFF2-40B4-BE49-F238E27FC236}">
                <a16:creationId xmlns:a16="http://schemas.microsoft.com/office/drawing/2014/main" id="{C5D4FF1D-25F9-4744-BF11-1EB571D08DD0}"/>
              </a:ext>
            </a:extLst>
          </p:cNvPr>
          <p:cNvSpPr txBox="1"/>
          <p:nvPr/>
        </p:nvSpPr>
        <p:spPr>
          <a:xfrm>
            <a:off x="4700053" y="2103120"/>
            <a:ext cx="21808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F3 ← F3 + 3F2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F4 ← F4 − 4F2</a:t>
            </a:r>
          </a:p>
        </p:txBody>
      </p:sp>
      <p:graphicFrame>
        <p:nvGraphicFramePr>
          <p:cNvPr id="22" name="matriz">
            <a:extLst>
              <a:ext uri="{FF2B5EF4-FFF2-40B4-BE49-F238E27FC236}">
                <a16:creationId xmlns:a16="http://schemas.microsoft.com/office/drawing/2014/main" id="{F9DB4C4F-5E10-415B-B0E3-B45F42B5E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148939"/>
              </p:ext>
            </p:extLst>
          </p:nvPr>
        </p:nvGraphicFramePr>
        <p:xfrm>
          <a:off x="5031523" y="2852928"/>
          <a:ext cx="1426464" cy="1536192"/>
        </p:xfrm>
        <a:graphic>
          <a:graphicData uri="http://schemas.openxmlformats.org/drawingml/2006/table">
            <a:tbl>
              <a:tblPr/>
              <a:tblGrid>
                <a:gridCol w="35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corchete">
            <a:extLst>
              <a:ext uri="{FF2B5EF4-FFF2-40B4-BE49-F238E27FC236}">
                <a16:creationId xmlns:a16="http://schemas.microsoft.com/office/drawing/2014/main" id="{65FE9AE5-0E08-4BCD-9973-73647324C8B1}"/>
              </a:ext>
            </a:extLst>
          </p:cNvPr>
          <p:cNvSpPr/>
          <p:nvPr/>
        </p:nvSpPr>
        <p:spPr>
          <a:xfrm>
            <a:off x="4894363" y="285292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4" name="corchete">
            <a:extLst>
              <a:ext uri="{FF2B5EF4-FFF2-40B4-BE49-F238E27FC236}">
                <a16:creationId xmlns:a16="http://schemas.microsoft.com/office/drawing/2014/main" id="{ED1BEE4F-D78F-4938-9103-7C2E9826A1F8}"/>
              </a:ext>
            </a:extLst>
          </p:cNvPr>
          <p:cNvSpPr/>
          <p:nvPr/>
        </p:nvSpPr>
        <p:spPr>
          <a:xfrm>
            <a:off x="4894363" y="285292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5" name="corchete">
            <a:extLst>
              <a:ext uri="{FF2B5EF4-FFF2-40B4-BE49-F238E27FC236}">
                <a16:creationId xmlns:a16="http://schemas.microsoft.com/office/drawing/2014/main" id="{6609B9B0-3DBB-4A02-819C-535CA2EBB002}"/>
              </a:ext>
            </a:extLst>
          </p:cNvPr>
          <p:cNvSpPr/>
          <p:nvPr/>
        </p:nvSpPr>
        <p:spPr>
          <a:xfrm>
            <a:off x="4894363" y="43891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6" name="corchete">
            <a:extLst>
              <a:ext uri="{FF2B5EF4-FFF2-40B4-BE49-F238E27FC236}">
                <a16:creationId xmlns:a16="http://schemas.microsoft.com/office/drawing/2014/main" id="{87BB7385-0122-4CCD-8EA4-D014930E1628}"/>
              </a:ext>
            </a:extLst>
          </p:cNvPr>
          <p:cNvSpPr/>
          <p:nvPr/>
        </p:nvSpPr>
        <p:spPr>
          <a:xfrm>
            <a:off x="6595147" y="285292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corchete">
            <a:extLst>
              <a:ext uri="{FF2B5EF4-FFF2-40B4-BE49-F238E27FC236}">
                <a16:creationId xmlns:a16="http://schemas.microsoft.com/office/drawing/2014/main" id="{E135EA19-C159-46A5-93BA-B2A36776B114}"/>
              </a:ext>
            </a:extLst>
          </p:cNvPr>
          <p:cNvSpPr/>
          <p:nvPr/>
        </p:nvSpPr>
        <p:spPr>
          <a:xfrm>
            <a:off x="6503707" y="285292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8" name="corchete">
            <a:extLst>
              <a:ext uri="{FF2B5EF4-FFF2-40B4-BE49-F238E27FC236}">
                <a16:creationId xmlns:a16="http://schemas.microsoft.com/office/drawing/2014/main" id="{C6BE1D61-8B20-426C-A05F-F767D16EBAB0}"/>
              </a:ext>
            </a:extLst>
          </p:cNvPr>
          <p:cNvSpPr/>
          <p:nvPr/>
        </p:nvSpPr>
        <p:spPr>
          <a:xfrm>
            <a:off x="6503707" y="43891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9" name="simbolo">
            <a:extLst>
              <a:ext uri="{FF2B5EF4-FFF2-40B4-BE49-F238E27FC236}">
                <a16:creationId xmlns:a16="http://schemas.microsoft.com/office/drawing/2014/main" id="{03E2B6FE-84DD-4627-A714-1D882B738F80}"/>
              </a:ext>
            </a:extLst>
          </p:cNvPr>
          <p:cNvSpPr txBox="1"/>
          <p:nvPr/>
        </p:nvSpPr>
        <p:spPr>
          <a:xfrm>
            <a:off x="6595147" y="2852928"/>
            <a:ext cx="411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→</a:t>
            </a:r>
            <a:endParaRPr lang="en-US" sz="2600" dirty="0"/>
          </a:p>
        </p:txBody>
      </p:sp>
      <p:sp>
        <p:nvSpPr>
          <p:cNvPr id="30" name="operaciones">
            <a:extLst>
              <a:ext uri="{FF2B5EF4-FFF2-40B4-BE49-F238E27FC236}">
                <a16:creationId xmlns:a16="http://schemas.microsoft.com/office/drawing/2014/main" id="{438E51C0-F70C-4363-BD6F-D724986F182B}"/>
              </a:ext>
            </a:extLst>
          </p:cNvPr>
          <p:cNvSpPr txBox="1"/>
          <p:nvPr/>
        </p:nvSpPr>
        <p:spPr>
          <a:xfrm>
            <a:off x="6800887" y="2491086"/>
            <a:ext cx="2180844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F4 ← F4 − 2F3</a:t>
            </a:r>
          </a:p>
        </p:txBody>
      </p:sp>
      <p:graphicFrame>
        <p:nvGraphicFramePr>
          <p:cNvPr id="31" name="matriz">
            <a:extLst>
              <a:ext uri="{FF2B5EF4-FFF2-40B4-BE49-F238E27FC236}">
                <a16:creationId xmlns:a16="http://schemas.microsoft.com/office/drawing/2014/main" id="{4706EA5B-B5CE-44CF-91B4-04CD1DC95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499874"/>
              </p:ext>
            </p:extLst>
          </p:nvPr>
        </p:nvGraphicFramePr>
        <p:xfrm>
          <a:off x="7143787" y="2852928"/>
          <a:ext cx="1426464" cy="1536192"/>
        </p:xfrm>
        <a:graphic>
          <a:graphicData uri="http://schemas.openxmlformats.org/drawingml/2006/table">
            <a:tbl>
              <a:tblPr/>
              <a:tblGrid>
                <a:gridCol w="356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corchete">
            <a:extLst>
              <a:ext uri="{FF2B5EF4-FFF2-40B4-BE49-F238E27FC236}">
                <a16:creationId xmlns:a16="http://schemas.microsoft.com/office/drawing/2014/main" id="{BAB60626-94BB-49C9-8D1C-F390913EF02B}"/>
              </a:ext>
            </a:extLst>
          </p:cNvPr>
          <p:cNvSpPr/>
          <p:nvPr/>
        </p:nvSpPr>
        <p:spPr>
          <a:xfrm>
            <a:off x="7006627" y="285292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3" name="corchete">
            <a:extLst>
              <a:ext uri="{FF2B5EF4-FFF2-40B4-BE49-F238E27FC236}">
                <a16:creationId xmlns:a16="http://schemas.microsoft.com/office/drawing/2014/main" id="{EB769576-8345-418B-8E0E-080732B8B3EC}"/>
              </a:ext>
            </a:extLst>
          </p:cNvPr>
          <p:cNvSpPr/>
          <p:nvPr/>
        </p:nvSpPr>
        <p:spPr>
          <a:xfrm>
            <a:off x="7006627" y="285292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4" name="corchete">
            <a:extLst>
              <a:ext uri="{FF2B5EF4-FFF2-40B4-BE49-F238E27FC236}">
                <a16:creationId xmlns:a16="http://schemas.microsoft.com/office/drawing/2014/main" id="{38DB85CF-5C3D-4AF8-A023-5AC62E7603CE}"/>
              </a:ext>
            </a:extLst>
          </p:cNvPr>
          <p:cNvSpPr/>
          <p:nvPr/>
        </p:nvSpPr>
        <p:spPr>
          <a:xfrm>
            <a:off x="7006627" y="43891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5" name="corchete">
            <a:extLst>
              <a:ext uri="{FF2B5EF4-FFF2-40B4-BE49-F238E27FC236}">
                <a16:creationId xmlns:a16="http://schemas.microsoft.com/office/drawing/2014/main" id="{F73E9B51-0F13-49EC-87A7-8B9302A473A2}"/>
              </a:ext>
            </a:extLst>
          </p:cNvPr>
          <p:cNvSpPr/>
          <p:nvPr/>
        </p:nvSpPr>
        <p:spPr>
          <a:xfrm>
            <a:off x="8707411" y="2852928"/>
            <a:ext cx="0" cy="153619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6" name="corchete">
            <a:extLst>
              <a:ext uri="{FF2B5EF4-FFF2-40B4-BE49-F238E27FC236}">
                <a16:creationId xmlns:a16="http://schemas.microsoft.com/office/drawing/2014/main" id="{0852B1BD-4A57-441F-990C-230363DE920C}"/>
              </a:ext>
            </a:extLst>
          </p:cNvPr>
          <p:cNvSpPr/>
          <p:nvPr/>
        </p:nvSpPr>
        <p:spPr>
          <a:xfrm>
            <a:off x="8615971" y="2852928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37" name="corchete">
            <a:extLst>
              <a:ext uri="{FF2B5EF4-FFF2-40B4-BE49-F238E27FC236}">
                <a16:creationId xmlns:a16="http://schemas.microsoft.com/office/drawing/2014/main" id="{F949D194-2AE4-4167-8554-A90A48C7EEE6}"/>
              </a:ext>
            </a:extLst>
          </p:cNvPr>
          <p:cNvSpPr/>
          <p:nvPr/>
        </p:nvSpPr>
        <p:spPr>
          <a:xfrm>
            <a:off x="8615971" y="438912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o">
                <a:extLst>
                  <a:ext uri="{FF2B5EF4-FFF2-40B4-BE49-F238E27FC236}">
                    <a16:creationId xmlns:a16="http://schemas.microsoft.com/office/drawing/2014/main" id="{9CFD76C4-CC97-429E-98F4-D446CA7ECE8B}"/>
                  </a:ext>
                </a:extLst>
              </p:cNvPr>
              <p:cNvSpPr txBox="1"/>
              <p:nvPr/>
            </p:nvSpPr>
            <p:spPr>
              <a:xfrm>
                <a:off x="-16328" y="4750962"/>
                <a:ext cx="12208328" cy="9509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 algn="just"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Aplicamos 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exactamente las mismas operaciones que redujeron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el resultado es la identidad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8" name="texto">
                <a:extLst>
                  <a:ext uri="{FF2B5EF4-FFF2-40B4-BE49-F238E27FC236}">
                    <a16:creationId xmlns:a16="http://schemas.microsoft.com/office/drawing/2014/main" id="{9CFD76C4-CC97-429E-98F4-D446CA7EC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328" y="4750962"/>
                <a:ext cx="12208328" cy="950975"/>
              </a:xfrm>
              <a:prstGeom prst="rect">
                <a:avLst/>
              </a:prstGeom>
              <a:blipFill>
                <a:blip r:embed="rId4"/>
                <a:stretch>
                  <a:fillRect l="-1198" r="-1298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09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BD51BEDE-5285-4B06-BA05-91798662D8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451" y="1280161"/>
                <a:ext cx="3633652" cy="54863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Comprobación: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BD51BEDE-5285-4B06-BA05-91798662D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1" y="1280161"/>
                <a:ext cx="3633652" cy="548639"/>
              </a:xfrm>
              <a:prstGeom prst="rect">
                <a:avLst/>
              </a:prstGeom>
              <a:blipFill>
                <a:blip r:embed="rId2"/>
                <a:stretch>
                  <a:fillRect l="-5034" t="-2222" b="-14444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tiqueta A">
                <a:extLst>
                  <a:ext uri="{FF2B5EF4-FFF2-40B4-BE49-F238E27FC236}">
                    <a16:creationId xmlns:a16="http://schemas.microsoft.com/office/drawing/2014/main" id="{E31D4CB5-CBB4-4AC1-ADAA-2ECAEC1B6C44}"/>
                  </a:ext>
                </a:extLst>
              </p:cNvPr>
              <p:cNvSpPr txBox="1"/>
              <p:nvPr/>
            </p:nvSpPr>
            <p:spPr>
              <a:xfrm>
                <a:off x="1140387" y="2057400"/>
                <a:ext cx="30175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etiqueta A">
                <a:extLst>
                  <a:ext uri="{FF2B5EF4-FFF2-40B4-BE49-F238E27FC236}">
                    <a16:creationId xmlns:a16="http://schemas.microsoft.com/office/drawing/2014/main" id="{E31D4CB5-CBB4-4AC1-ADAA-2ECAEC1B6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387" y="2057400"/>
                <a:ext cx="3017520" cy="365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A">
            <a:extLst>
              <a:ext uri="{FF2B5EF4-FFF2-40B4-BE49-F238E27FC236}">
                <a16:creationId xmlns:a16="http://schemas.microsoft.com/office/drawing/2014/main" id="{CCD2A828-18D2-4611-A33D-89A594394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948175"/>
              </p:ext>
            </p:extLst>
          </p:nvPr>
        </p:nvGraphicFramePr>
        <p:xfrm>
          <a:off x="1277547" y="2514600"/>
          <a:ext cx="2743200" cy="18288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orchete">
            <a:extLst>
              <a:ext uri="{FF2B5EF4-FFF2-40B4-BE49-F238E27FC236}">
                <a16:creationId xmlns:a16="http://schemas.microsoft.com/office/drawing/2014/main" id="{D30BD357-CAF6-4AF0-A9A5-2F79E4C288C7}"/>
              </a:ext>
            </a:extLst>
          </p:cNvPr>
          <p:cNvSpPr/>
          <p:nvPr/>
        </p:nvSpPr>
        <p:spPr>
          <a:xfrm>
            <a:off x="1140387" y="2514600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" name="corchete">
            <a:extLst>
              <a:ext uri="{FF2B5EF4-FFF2-40B4-BE49-F238E27FC236}">
                <a16:creationId xmlns:a16="http://schemas.microsoft.com/office/drawing/2014/main" id="{993441EE-D3A3-4FD1-9673-9ACC37234F7B}"/>
              </a:ext>
            </a:extLst>
          </p:cNvPr>
          <p:cNvSpPr/>
          <p:nvPr/>
        </p:nvSpPr>
        <p:spPr>
          <a:xfrm>
            <a:off x="1140387" y="25146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" name="corchete">
            <a:extLst>
              <a:ext uri="{FF2B5EF4-FFF2-40B4-BE49-F238E27FC236}">
                <a16:creationId xmlns:a16="http://schemas.microsoft.com/office/drawing/2014/main" id="{FFDF84D6-5511-424E-B931-F6B3876454F1}"/>
              </a:ext>
            </a:extLst>
          </p:cNvPr>
          <p:cNvSpPr/>
          <p:nvPr/>
        </p:nvSpPr>
        <p:spPr>
          <a:xfrm>
            <a:off x="1140387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8" name="corchete">
            <a:extLst>
              <a:ext uri="{FF2B5EF4-FFF2-40B4-BE49-F238E27FC236}">
                <a16:creationId xmlns:a16="http://schemas.microsoft.com/office/drawing/2014/main" id="{87FE7085-D144-4665-91DB-D9EA5CCF8C0A}"/>
              </a:ext>
            </a:extLst>
          </p:cNvPr>
          <p:cNvSpPr/>
          <p:nvPr/>
        </p:nvSpPr>
        <p:spPr>
          <a:xfrm>
            <a:off x="4157907" y="2514600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>
            <a:extLst>
              <a:ext uri="{FF2B5EF4-FFF2-40B4-BE49-F238E27FC236}">
                <a16:creationId xmlns:a16="http://schemas.microsoft.com/office/drawing/2014/main" id="{CDDA54F8-E668-4E23-B6B9-11C25CAF997E}"/>
              </a:ext>
            </a:extLst>
          </p:cNvPr>
          <p:cNvSpPr/>
          <p:nvPr/>
        </p:nvSpPr>
        <p:spPr>
          <a:xfrm>
            <a:off x="4066467" y="25146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>
            <a:extLst>
              <a:ext uri="{FF2B5EF4-FFF2-40B4-BE49-F238E27FC236}">
                <a16:creationId xmlns:a16="http://schemas.microsoft.com/office/drawing/2014/main" id="{A4A3EB5B-E34B-41CA-9B22-7E7B8EE795CE}"/>
              </a:ext>
            </a:extLst>
          </p:cNvPr>
          <p:cNvSpPr/>
          <p:nvPr/>
        </p:nvSpPr>
        <p:spPr>
          <a:xfrm>
            <a:off x="4066467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1" name="simbolo">
            <a:extLst>
              <a:ext uri="{FF2B5EF4-FFF2-40B4-BE49-F238E27FC236}">
                <a16:creationId xmlns:a16="http://schemas.microsoft.com/office/drawing/2014/main" id="{41265054-2D11-498B-B8CD-509725608118}"/>
              </a:ext>
            </a:extLst>
          </p:cNvPr>
          <p:cNvSpPr txBox="1"/>
          <p:nvPr/>
        </p:nvSpPr>
        <p:spPr>
          <a:xfrm>
            <a:off x="4157907" y="251460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=</a:t>
            </a:r>
            <a:endParaRPr lang="en-US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tiqueta L">
                <a:extLst>
                  <a:ext uri="{FF2B5EF4-FFF2-40B4-BE49-F238E27FC236}">
                    <a16:creationId xmlns:a16="http://schemas.microsoft.com/office/drawing/2014/main" id="{19D2D058-E33E-4A3D-B9B5-5566326960F4}"/>
                  </a:ext>
                </a:extLst>
              </p:cNvPr>
              <p:cNvSpPr txBox="1"/>
              <p:nvPr/>
            </p:nvSpPr>
            <p:spPr>
              <a:xfrm>
                <a:off x="4660827" y="2057400"/>
                <a:ext cx="21640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𝑳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etiqueta L">
                <a:extLst>
                  <a:ext uri="{FF2B5EF4-FFF2-40B4-BE49-F238E27FC236}">
                    <a16:creationId xmlns:a16="http://schemas.microsoft.com/office/drawing/2014/main" id="{19D2D058-E33E-4A3D-B9B5-556632696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827" y="2057400"/>
                <a:ext cx="216408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L">
            <a:extLst>
              <a:ext uri="{FF2B5EF4-FFF2-40B4-BE49-F238E27FC236}">
                <a16:creationId xmlns:a16="http://schemas.microsoft.com/office/drawing/2014/main" id="{D6848EE0-F4CA-4592-A6E5-9040FB001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52895"/>
              </p:ext>
            </p:extLst>
          </p:nvPr>
        </p:nvGraphicFramePr>
        <p:xfrm>
          <a:off x="4797987" y="2514600"/>
          <a:ext cx="1889760" cy="18288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corchete">
            <a:extLst>
              <a:ext uri="{FF2B5EF4-FFF2-40B4-BE49-F238E27FC236}">
                <a16:creationId xmlns:a16="http://schemas.microsoft.com/office/drawing/2014/main" id="{E63867CB-AC61-4D43-A931-11FCE1D49451}"/>
              </a:ext>
            </a:extLst>
          </p:cNvPr>
          <p:cNvSpPr/>
          <p:nvPr/>
        </p:nvSpPr>
        <p:spPr>
          <a:xfrm>
            <a:off x="4660827" y="2514600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5" name="corchete">
            <a:extLst>
              <a:ext uri="{FF2B5EF4-FFF2-40B4-BE49-F238E27FC236}">
                <a16:creationId xmlns:a16="http://schemas.microsoft.com/office/drawing/2014/main" id="{157989E3-585F-4663-AA9C-EB419890F06E}"/>
              </a:ext>
            </a:extLst>
          </p:cNvPr>
          <p:cNvSpPr/>
          <p:nvPr/>
        </p:nvSpPr>
        <p:spPr>
          <a:xfrm>
            <a:off x="4660827" y="25146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6" name="corchete">
            <a:extLst>
              <a:ext uri="{FF2B5EF4-FFF2-40B4-BE49-F238E27FC236}">
                <a16:creationId xmlns:a16="http://schemas.microsoft.com/office/drawing/2014/main" id="{1401ABBA-564E-4486-ADCC-07D69BA8BEFA}"/>
              </a:ext>
            </a:extLst>
          </p:cNvPr>
          <p:cNvSpPr/>
          <p:nvPr/>
        </p:nvSpPr>
        <p:spPr>
          <a:xfrm>
            <a:off x="4660827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7" name="corchete">
            <a:extLst>
              <a:ext uri="{FF2B5EF4-FFF2-40B4-BE49-F238E27FC236}">
                <a16:creationId xmlns:a16="http://schemas.microsoft.com/office/drawing/2014/main" id="{E6C382F8-0503-4055-9EB6-B89BD2203475}"/>
              </a:ext>
            </a:extLst>
          </p:cNvPr>
          <p:cNvSpPr/>
          <p:nvPr/>
        </p:nvSpPr>
        <p:spPr>
          <a:xfrm>
            <a:off x="6824907" y="2514600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>
            <a:extLst>
              <a:ext uri="{FF2B5EF4-FFF2-40B4-BE49-F238E27FC236}">
                <a16:creationId xmlns:a16="http://schemas.microsoft.com/office/drawing/2014/main" id="{1B7EF497-EC44-47AD-9DC1-5D960FF7EF1A}"/>
              </a:ext>
            </a:extLst>
          </p:cNvPr>
          <p:cNvSpPr/>
          <p:nvPr/>
        </p:nvSpPr>
        <p:spPr>
          <a:xfrm>
            <a:off x="6733467" y="25146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9" name="corchete">
            <a:extLst>
              <a:ext uri="{FF2B5EF4-FFF2-40B4-BE49-F238E27FC236}">
                <a16:creationId xmlns:a16="http://schemas.microsoft.com/office/drawing/2014/main" id="{7C5602F4-C9F5-4B84-923B-A9B169848C15}"/>
              </a:ext>
            </a:extLst>
          </p:cNvPr>
          <p:cNvSpPr/>
          <p:nvPr/>
        </p:nvSpPr>
        <p:spPr>
          <a:xfrm>
            <a:off x="6733467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tiqueta U">
                <a:extLst>
                  <a:ext uri="{FF2B5EF4-FFF2-40B4-BE49-F238E27FC236}">
                    <a16:creationId xmlns:a16="http://schemas.microsoft.com/office/drawing/2014/main" id="{23AF67F3-501E-467B-B8B7-8F0399E9D350}"/>
                  </a:ext>
                </a:extLst>
              </p:cNvPr>
              <p:cNvSpPr txBox="1"/>
              <p:nvPr/>
            </p:nvSpPr>
            <p:spPr>
              <a:xfrm>
                <a:off x="7007787" y="2057400"/>
                <a:ext cx="25603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𝑼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etiqueta U">
                <a:extLst>
                  <a:ext uri="{FF2B5EF4-FFF2-40B4-BE49-F238E27FC236}">
                    <a16:creationId xmlns:a16="http://schemas.microsoft.com/office/drawing/2014/main" id="{23AF67F3-501E-467B-B8B7-8F0399E9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787" y="2057400"/>
                <a:ext cx="256032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U">
            <a:extLst>
              <a:ext uri="{FF2B5EF4-FFF2-40B4-BE49-F238E27FC236}">
                <a16:creationId xmlns:a16="http://schemas.microsoft.com/office/drawing/2014/main" id="{DE492BC4-F8CA-45A5-950B-7E5F6BC20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49169"/>
              </p:ext>
            </p:extLst>
          </p:nvPr>
        </p:nvGraphicFramePr>
        <p:xfrm>
          <a:off x="7144947" y="2514600"/>
          <a:ext cx="2286000" cy="1828800"/>
        </p:xfrm>
        <a:graphic>
          <a:graphicData uri="http://schemas.openxmlformats.org/drawingml/2006/table">
            <a:tbl>
              <a:tblPr/>
              <a:tblGrid>
                <a:gridCol w="39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corchete">
            <a:extLst>
              <a:ext uri="{FF2B5EF4-FFF2-40B4-BE49-F238E27FC236}">
                <a16:creationId xmlns:a16="http://schemas.microsoft.com/office/drawing/2014/main" id="{8D169C88-F150-44D1-91A2-F812EEFAA614}"/>
              </a:ext>
            </a:extLst>
          </p:cNvPr>
          <p:cNvSpPr/>
          <p:nvPr/>
        </p:nvSpPr>
        <p:spPr>
          <a:xfrm>
            <a:off x="7007787" y="2514600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3" name="corchete">
            <a:extLst>
              <a:ext uri="{FF2B5EF4-FFF2-40B4-BE49-F238E27FC236}">
                <a16:creationId xmlns:a16="http://schemas.microsoft.com/office/drawing/2014/main" id="{A0ED3E7D-EA3B-4788-979F-CD2451F3DB3B}"/>
              </a:ext>
            </a:extLst>
          </p:cNvPr>
          <p:cNvSpPr/>
          <p:nvPr/>
        </p:nvSpPr>
        <p:spPr>
          <a:xfrm>
            <a:off x="7007787" y="25146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4" name="corchete">
            <a:extLst>
              <a:ext uri="{FF2B5EF4-FFF2-40B4-BE49-F238E27FC236}">
                <a16:creationId xmlns:a16="http://schemas.microsoft.com/office/drawing/2014/main" id="{77523FF7-56B0-4E96-A6CC-3F050D52981C}"/>
              </a:ext>
            </a:extLst>
          </p:cNvPr>
          <p:cNvSpPr/>
          <p:nvPr/>
        </p:nvSpPr>
        <p:spPr>
          <a:xfrm>
            <a:off x="7007787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5" name="corchete">
            <a:extLst>
              <a:ext uri="{FF2B5EF4-FFF2-40B4-BE49-F238E27FC236}">
                <a16:creationId xmlns:a16="http://schemas.microsoft.com/office/drawing/2014/main" id="{3C62ABC4-12A6-4040-A58D-094E209946E0}"/>
              </a:ext>
            </a:extLst>
          </p:cNvPr>
          <p:cNvSpPr/>
          <p:nvPr/>
        </p:nvSpPr>
        <p:spPr>
          <a:xfrm>
            <a:off x="9568107" y="2514600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6" name="corchete">
            <a:extLst>
              <a:ext uri="{FF2B5EF4-FFF2-40B4-BE49-F238E27FC236}">
                <a16:creationId xmlns:a16="http://schemas.microsoft.com/office/drawing/2014/main" id="{5AF2C0C8-ABDC-4E4E-922F-3B38310622BB}"/>
              </a:ext>
            </a:extLst>
          </p:cNvPr>
          <p:cNvSpPr/>
          <p:nvPr/>
        </p:nvSpPr>
        <p:spPr>
          <a:xfrm>
            <a:off x="9476667" y="25146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corchete">
            <a:extLst>
              <a:ext uri="{FF2B5EF4-FFF2-40B4-BE49-F238E27FC236}">
                <a16:creationId xmlns:a16="http://schemas.microsoft.com/office/drawing/2014/main" id="{38642FC1-1BB1-4846-A7C9-EC878A630A35}"/>
              </a:ext>
            </a:extLst>
          </p:cNvPr>
          <p:cNvSpPr/>
          <p:nvPr/>
        </p:nvSpPr>
        <p:spPr>
          <a:xfrm>
            <a:off x="9476667" y="4343400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o">
                <a:extLst>
                  <a:ext uri="{FF2B5EF4-FFF2-40B4-BE49-F238E27FC236}">
                    <a16:creationId xmlns:a16="http://schemas.microsoft.com/office/drawing/2014/main" id="{F2190C6C-60B9-45A7-8C42-34332A1D004E}"/>
                  </a:ext>
                </a:extLst>
              </p:cNvPr>
              <p:cNvSpPr txBox="1"/>
              <p:nvPr/>
            </p:nvSpPr>
            <p:spPr>
              <a:xfrm>
                <a:off x="128451" y="4800600"/>
                <a:ext cx="10149838" cy="17163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just">
                  <a:spcAft>
                    <a:spcPts val="600"/>
                  </a:spcAft>
                  <a:buNone/>
                </a:pPr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Ejemplos de entradas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(fila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por columna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sin los términos nulos)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spcAft>
                    <a:spcPts val="600"/>
                  </a:spcAft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 4, col. 5: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)·(−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+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·(−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+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endParaRPr lang="en-U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spcAft>
                    <a:spcPts val="600"/>
                  </a:spcAft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 3, col. 2: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(−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)·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</m:oMath>
                </a14:m>
                <a:endParaRPr lang="en-U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spcAft>
                    <a:spcPts val="600"/>
                  </a:spcAft>
                  <a:buNone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 2, col. 5: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)·(−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+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·(−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=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endParaRPr lang="en-U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" name="texto">
                <a:extLst>
                  <a:ext uri="{FF2B5EF4-FFF2-40B4-BE49-F238E27FC236}">
                    <a16:creationId xmlns:a16="http://schemas.microsoft.com/office/drawing/2014/main" id="{F2190C6C-60B9-45A7-8C42-34332A1D0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1" y="4800600"/>
                <a:ext cx="10149838" cy="1716312"/>
              </a:xfrm>
              <a:prstGeom prst="rect">
                <a:avLst/>
              </a:prstGeom>
              <a:blipFill>
                <a:blip r:embed="rId6"/>
                <a:stretch>
                  <a:fillRect l="-1502" b="-1423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143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575760BD-D22F-4CD6-90CA-A7AFA15C78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1269" y="1317172"/>
                <a:ext cx="3095895" cy="5363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Resultado</a:t>
                </a:r>
                <a:r>
                  <a:rPr 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575760BD-D22F-4CD6-90CA-A7AFA15C7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69" y="1317172"/>
                <a:ext cx="3095895" cy="536303"/>
              </a:xfrm>
              <a:prstGeom prst="rect">
                <a:avLst/>
              </a:prstGeom>
              <a:blipFill>
                <a:blip r:embed="rId2"/>
                <a:stretch>
                  <a:fillRect l="-5906" t="-3409" b="-17045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tiqueta L (4 × 4)">
                <a:extLst>
                  <a:ext uri="{FF2B5EF4-FFF2-40B4-BE49-F238E27FC236}">
                    <a16:creationId xmlns:a16="http://schemas.microsoft.com/office/drawing/2014/main" id="{DA7D5EA6-9946-47C5-8AC1-7338F5DDE2CB}"/>
                  </a:ext>
                </a:extLst>
              </p:cNvPr>
              <p:cNvSpPr txBox="1"/>
              <p:nvPr/>
            </p:nvSpPr>
            <p:spPr>
              <a:xfrm>
                <a:off x="2543556" y="2281646"/>
                <a:ext cx="21640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𝑳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×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etiqueta L (4 × 4)">
                <a:extLst>
                  <a:ext uri="{FF2B5EF4-FFF2-40B4-BE49-F238E27FC236}">
                    <a16:creationId xmlns:a16="http://schemas.microsoft.com/office/drawing/2014/main" id="{DA7D5EA6-9946-47C5-8AC1-7338F5DDE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556" y="2281646"/>
                <a:ext cx="2164080" cy="365760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L">
            <a:extLst>
              <a:ext uri="{FF2B5EF4-FFF2-40B4-BE49-F238E27FC236}">
                <a16:creationId xmlns:a16="http://schemas.microsoft.com/office/drawing/2014/main" id="{58509A3D-7A8E-42D4-9B65-EB4A4A7F4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385430"/>
              </p:ext>
            </p:extLst>
          </p:nvPr>
        </p:nvGraphicFramePr>
        <p:xfrm>
          <a:off x="2680716" y="2738846"/>
          <a:ext cx="1889760" cy="18288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orchete">
            <a:extLst>
              <a:ext uri="{FF2B5EF4-FFF2-40B4-BE49-F238E27FC236}">
                <a16:creationId xmlns:a16="http://schemas.microsoft.com/office/drawing/2014/main" id="{00ADF8A1-683C-4D43-B4EF-C9E94D85CACB}"/>
              </a:ext>
            </a:extLst>
          </p:cNvPr>
          <p:cNvSpPr/>
          <p:nvPr/>
        </p:nvSpPr>
        <p:spPr>
          <a:xfrm>
            <a:off x="2543556" y="2738846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6" name="corchete">
            <a:extLst>
              <a:ext uri="{FF2B5EF4-FFF2-40B4-BE49-F238E27FC236}">
                <a16:creationId xmlns:a16="http://schemas.microsoft.com/office/drawing/2014/main" id="{E8AA8C0B-D0AF-4C61-9DF1-D15A252334B1}"/>
              </a:ext>
            </a:extLst>
          </p:cNvPr>
          <p:cNvSpPr/>
          <p:nvPr/>
        </p:nvSpPr>
        <p:spPr>
          <a:xfrm>
            <a:off x="2543556" y="273884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7" name="corchete">
            <a:extLst>
              <a:ext uri="{FF2B5EF4-FFF2-40B4-BE49-F238E27FC236}">
                <a16:creationId xmlns:a16="http://schemas.microsoft.com/office/drawing/2014/main" id="{A02C79A9-641D-44CA-9302-9E681CEFF27A}"/>
              </a:ext>
            </a:extLst>
          </p:cNvPr>
          <p:cNvSpPr/>
          <p:nvPr/>
        </p:nvSpPr>
        <p:spPr>
          <a:xfrm>
            <a:off x="2543556" y="456764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8" name="corchete">
            <a:extLst>
              <a:ext uri="{FF2B5EF4-FFF2-40B4-BE49-F238E27FC236}">
                <a16:creationId xmlns:a16="http://schemas.microsoft.com/office/drawing/2014/main" id="{23DBFD7F-1924-4336-A247-CF836218AC27}"/>
              </a:ext>
            </a:extLst>
          </p:cNvPr>
          <p:cNvSpPr/>
          <p:nvPr/>
        </p:nvSpPr>
        <p:spPr>
          <a:xfrm>
            <a:off x="4707636" y="2738846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9" name="corchete">
            <a:extLst>
              <a:ext uri="{FF2B5EF4-FFF2-40B4-BE49-F238E27FC236}">
                <a16:creationId xmlns:a16="http://schemas.microsoft.com/office/drawing/2014/main" id="{F1A6822D-A959-486D-B5EA-11FFBC7AFF32}"/>
              </a:ext>
            </a:extLst>
          </p:cNvPr>
          <p:cNvSpPr/>
          <p:nvPr/>
        </p:nvSpPr>
        <p:spPr>
          <a:xfrm>
            <a:off x="4616196" y="273884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0" name="corchete">
            <a:extLst>
              <a:ext uri="{FF2B5EF4-FFF2-40B4-BE49-F238E27FC236}">
                <a16:creationId xmlns:a16="http://schemas.microsoft.com/office/drawing/2014/main" id="{B8B4D5CB-5A69-42E3-9632-698A285B8A27}"/>
              </a:ext>
            </a:extLst>
          </p:cNvPr>
          <p:cNvSpPr/>
          <p:nvPr/>
        </p:nvSpPr>
        <p:spPr>
          <a:xfrm>
            <a:off x="4616196" y="456764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1" name="simbolo">
            <a:extLst>
              <a:ext uri="{FF2B5EF4-FFF2-40B4-BE49-F238E27FC236}">
                <a16:creationId xmlns:a16="http://schemas.microsoft.com/office/drawing/2014/main" id="{2D7830ED-2AC6-4193-82EE-9DA594146082}"/>
              </a:ext>
            </a:extLst>
          </p:cNvPr>
          <p:cNvSpPr txBox="1"/>
          <p:nvPr/>
        </p:nvSpPr>
        <p:spPr>
          <a:xfrm>
            <a:off x="4707636" y="2738846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·</a:t>
            </a:r>
            <a:endParaRPr lang="en-US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tiqueta U (4 × 5)">
                <a:extLst>
                  <a:ext uri="{FF2B5EF4-FFF2-40B4-BE49-F238E27FC236}">
                    <a16:creationId xmlns:a16="http://schemas.microsoft.com/office/drawing/2014/main" id="{909AE552-82FC-4849-BCB1-9DF2C7B39BF9}"/>
                  </a:ext>
                </a:extLst>
              </p:cNvPr>
              <p:cNvSpPr txBox="1"/>
              <p:nvPr/>
            </p:nvSpPr>
            <p:spPr>
              <a:xfrm>
                <a:off x="5347716" y="2281646"/>
                <a:ext cx="25603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𝑼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×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etiqueta U (4 × 5)">
                <a:extLst>
                  <a:ext uri="{FF2B5EF4-FFF2-40B4-BE49-F238E27FC236}">
                    <a16:creationId xmlns:a16="http://schemas.microsoft.com/office/drawing/2014/main" id="{909AE552-82FC-4849-BCB1-9DF2C7B39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716" y="2281646"/>
                <a:ext cx="2560320" cy="365760"/>
              </a:xfrm>
              <a:prstGeom prst="rect">
                <a:avLst/>
              </a:prstGeom>
              <a:blipFill>
                <a:blip r:embed="rId4"/>
                <a:stretch>
                  <a:fillRect b="-25000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U">
            <a:extLst>
              <a:ext uri="{FF2B5EF4-FFF2-40B4-BE49-F238E27FC236}">
                <a16:creationId xmlns:a16="http://schemas.microsoft.com/office/drawing/2014/main" id="{67506E32-E650-43DC-B455-E1C36E6AE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321178"/>
              </p:ext>
            </p:extLst>
          </p:nvPr>
        </p:nvGraphicFramePr>
        <p:xfrm>
          <a:off x="5484876" y="2738846"/>
          <a:ext cx="2286000" cy="1828800"/>
        </p:xfrm>
        <a:graphic>
          <a:graphicData uri="http://schemas.openxmlformats.org/drawingml/2006/table">
            <a:tbl>
              <a:tblPr/>
              <a:tblGrid>
                <a:gridCol w="39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corchete">
            <a:extLst>
              <a:ext uri="{FF2B5EF4-FFF2-40B4-BE49-F238E27FC236}">
                <a16:creationId xmlns:a16="http://schemas.microsoft.com/office/drawing/2014/main" id="{0961246F-2689-4240-8FD5-2F6D7E8CBBFB}"/>
              </a:ext>
            </a:extLst>
          </p:cNvPr>
          <p:cNvSpPr/>
          <p:nvPr/>
        </p:nvSpPr>
        <p:spPr>
          <a:xfrm>
            <a:off x="5347716" y="2738846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5" name="corchete">
            <a:extLst>
              <a:ext uri="{FF2B5EF4-FFF2-40B4-BE49-F238E27FC236}">
                <a16:creationId xmlns:a16="http://schemas.microsoft.com/office/drawing/2014/main" id="{2CC10090-FBAA-49CD-BB91-F141BB115489}"/>
              </a:ext>
            </a:extLst>
          </p:cNvPr>
          <p:cNvSpPr/>
          <p:nvPr/>
        </p:nvSpPr>
        <p:spPr>
          <a:xfrm>
            <a:off x="5347716" y="273884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6" name="corchete">
            <a:extLst>
              <a:ext uri="{FF2B5EF4-FFF2-40B4-BE49-F238E27FC236}">
                <a16:creationId xmlns:a16="http://schemas.microsoft.com/office/drawing/2014/main" id="{45CDDA8C-C0D9-403C-9058-6C62617A6921}"/>
              </a:ext>
            </a:extLst>
          </p:cNvPr>
          <p:cNvSpPr/>
          <p:nvPr/>
        </p:nvSpPr>
        <p:spPr>
          <a:xfrm>
            <a:off x="5347716" y="456764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7" name="corchete">
            <a:extLst>
              <a:ext uri="{FF2B5EF4-FFF2-40B4-BE49-F238E27FC236}">
                <a16:creationId xmlns:a16="http://schemas.microsoft.com/office/drawing/2014/main" id="{0ABA3B48-5640-4F11-BCE2-786AA51EF081}"/>
              </a:ext>
            </a:extLst>
          </p:cNvPr>
          <p:cNvSpPr/>
          <p:nvPr/>
        </p:nvSpPr>
        <p:spPr>
          <a:xfrm>
            <a:off x="7908036" y="2738846"/>
            <a:ext cx="0" cy="18288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8" name="corchete">
            <a:extLst>
              <a:ext uri="{FF2B5EF4-FFF2-40B4-BE49-F238E27FC236}">
                <a16:creationId xmlns:a16="http://schemas.microsoft.com/office/drawing/2014/main" id="{54D7079B-5F4F-4865-ABD0-B725A68FCF71}"/>
              </a:ext>
            </a:extLst>
          </p:cNvPr>
          <p:cNvSpPr/>
          <p:nvPr/>
        </p:nvSpPr>
        <p:spPr>
          <a:xfrm>
            <a:off x="7816596" y="273884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19" name="corchete">
            <a:extLst>
              <a:ext uri="{FF2B5EF4-FFF2-40B4-BE49-F238E27FC236}">
                <a16:creationId xmlns:a16="http://schemas.microsoft.com/office/drawing/2014/main" id="{882B57BF-2CC0-495E-8619-0BDCA737D7DE}"/>
              </a:ext>
            </a:extLst>
          </p:cNvPr>
          <p:cNvSpPr/>
          <p:nvPr/>
        </p:nvSpPr>
        <p:spPr>
          <a:xfrm>
            <a:off x="7816596" y="4567646"/>
            <a:ext cx="9144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o">
                <a:extLst>
                  <a:ext uri="{FF2B5EF4-FFF2-40B4-BE49-F238E27FC236}">
                    <a16:creationId xmlns:a16="http://schemas.microsoft.com/office/drawing/2014/main" id="{000F6F82-455B-4B99-96B1-F25C59CC7280}"/>
                  </a:ext>
                </a:extLst>
              </p:cNvPr>
              <p:cNvSpPr txBox="1"/>
              <p:nvPr/>
            </p:nvSpPr>
            <p:spPr>
              <a:xfrm>
                <a:off x="0" y="4887686"/>
                <a:ext cx="12192000" cy="22402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 algn="just"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Cada fila tiene pivote, así que los 4 pivotes dan las 4 columnas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 no hace falta completar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con columnas de la </a:t>
                </a:r>
                <a:r>
                  <a:rPr lang="en-US" sz="20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identidad</a:t>
                </a: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0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Aquí</a:t>
                </a: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 hay vector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por lo que no se calculan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ni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Con un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dado se resuelven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𝑳𝒚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𝑼𝒙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 Gauss-Jordan.</a:t>
                </a:r>
              </a:p>
              <a:p>
                <a:pPr marL="342900" indent="-342900" algn="just">
                  <a:spcAft>
                    <a:spcPts val="600"/>
                  </a:spcAft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𝑼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pivote en cada fila (rango 4):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siempre es consistente 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₃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variable libre, con infinitas soluciones.</a:t>
                </a:r>
              </a:p>
            </p:txBody>
          </p:sp>
        </mc:Choice>
        <mc:Fallback>
          <p:sp>
            <p:nvSpPr>
              <p:cNvPr id="20" name="texto">
                <a:extLst>
                  <a:ext uri="{FF2B5EF4-FFF2-40B4-BE49-F238E27FC236}">
                    <a16:creationId xmlns:a16="http://schemas.microsoft.com/office/drawing/2014/main" id="{000F6F82-455B-4B99-96B1-F25C59CC7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87686"/>
                <a:ext cx="12192000" cy="2240280"/>
              </a:xfrm>
              <a:prstGeom prst="rect">
                <a:avLst/>
              </a:prstGeom>
              <a:blipFill>
                <a:blip r:embed="rId5"/>
                <a:stretch>
                  <a:fillRect l="-1200" r="-1250" b="-1635"/>
                </a:stretch>
              </a:blipFill>
              <a:ln/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443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"/>
              <p:cNvSpPr txBox="1"/>
              <p:nvPr/>
            </p:nvSpPr>
            <p:spPr>
              <a:xfrm>
                <a:off x="682580" y="1258266"/>
                <a:ext cx="1130765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200" b="1">
                    <a:solidFill>
                      <a:srgbClr val="FFFFFF"/>
                    </a:solidFill>
                    <a:latin typeface="Georgia"/>
                  </a:defRPr>
                </a:pP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descomposición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𝐿𝑈</m:t>
                    </m:r>
                  </m:oMath>
                </a14:m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acelera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simulación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sistemas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continuos</a:t>
                </a:r>
                <a:r>
                  <a:rPr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industriales</a:t>
                </a:r>
                <a:endParaRPr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80" y="1258266"/>
                <a:ext cx="11307651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701" t="-7042" b="-2957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4"/>
              <p:cNvSpPr/>
              <p:nvPr/>
            </p:nvSpPr>
            <p:spPr>
              <a:xfrm>
                <a:off x="386089" y="2119372"/>
                <a:ext cx="11419821" cy="3671828"/>
              </a:xfrm>
              <a:prstGeom prst="roundRect">
                <a:avLst/>
              </a:prstGeom>
              <a:solidFill>
                <a:srgbClr val="F1F5F9"/>
              </a:solidFill>
              <a:ln>
                <a:solidFill>
                  <a:srgbClr val="0EA5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rtlCol="0" anchor="ctr"/>
              <a:lstStyle/>
              <a:p>
                <a:pPr algn="ctr">
                  <a:defRPr sz="2000" b="1">
                    <a:solidFill>
                      <a:srgbClr val="0EA5E9"/>
                    </a:solidFill>
                    <a:latin typeface="Georgia"/>
                  </a:defRPr>
                </a:pPr>
                <a:r>
                  <a:rPr lang="es-MX" dirty="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Conclusiones clave de la Factorización LU</a:t>
                </a:r>
              </a:p>
              <a:p>
                <a:pPr marL="342900" indent="-342900" algn="just">
                  <a:spcBef>
                    <a:spcPts val="1400"/>
                  </a:spcBef>
                  <a:buFont typeface="Wingdings" panose="05000000000000000000" pitchFamily="2" charset="2"/>
                  <a:buChar char="ü"/>
                </a:pPr>
                <a:r>
                  <a:rPr lang="es-MX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Eficiencia reutilizable</a:t>
                </a: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Si la matriz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 cambia (ej. estructura de un puente o red eléctrica) pero las cargas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varían con el tiempo,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ahorra más del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𝟗𝟗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%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del cómputo respecto a rehacer Gauss.</a:t>
                </a:r>
              </a:p>
              <a:p>
                <a:pPr marL="342900" indent="-342900" algn="just">
                  <a:spcBef>
                    <a:spcPts val="1400"/>
                  </a:spcBef>
                  <a:buFont typeface="Wingdings" panose="05000000000000000000" pitchFamily="2" charset="2"/>
                  <a:buChar char="ü"/>
                </a:pPr>
                <a:r>
                  <a:rPr lang="es-MX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Estabilidad numérica</a:t>
                </a: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Es la base de librerías científicas como BLAS, LAPACK, </a:t>
                </a:r>
                <a:r>
                  <a:rPr lang="es-MX" sz="20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NumPy</a:t>
                </a: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MATLAB para resolver sistemas de ecuaciones lineales.</a:t>
                </a:r>
              </a:p>
              <a:p>
                <a:pPr marL="342900" indent="-342900" algn="just">
                  <a:spcBef>
                    <a:spcPts val="1400"/>
                  </a:spcBef>
                  <a:buFont typeface="Wingdings" panose="05000000000000000000" pitchFamily="2" charset="2"/>
                  <a:buChar char="ü"/>
                </a:pPr>
                <a:r>
                  <a:rPr lang="es-MX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Requisito de intercambios (Pivoteo parcial)</a:t>
                </a: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Si la reducción por filas requiere intercambiar filas, se utiliza la factorización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𝑷𝑨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𝑳𝑼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donde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de permutación.</a:t>
                </a:r>
              </a:p>
            </p:txBody>
          </p:sp>
        </mc:Choice>
        <mc:Fallback>
          <p:sp>
            <p:nvSpPr>
              <p:cNvPr id="4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89" y="2119372"/>
                <a:ext cx="11419821" cy="3671828"/>
              </a:xfrm>
              <a:prstGeom prst="roundRect">
                <a:avLst/>
              </a:prstGeom>
              <a:blipFill>
                <a:blip r:embed="rId3"/>
                <a:stretch>
                  <a:fillRect b="-1824"/>
                </a:stretch>
              </a:blipFill>
              <a:ln>
                <a:solidFill>
                  <a:srgbClr val="0EA5E9"/>
                </a:solidFill>
              </a:ln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727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474469" y="1260575"/>
            <a:ext cx="538420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ES" sz="2100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Ejercicios para Asignación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615618" y="2510339"/>
                <a:ext cx="3376833" cy="8249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kern="12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8" y="2510339"/>
                <a:ext cx="3376833" cy="82490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/>
              <p:cNvSpPr/>
              <p:nvPr/>
            </p:nvSpPr>
            <p:spPr>
              <a:xfrm>
                <a:off x="615619" y="3538998"/>
                <a:ext cx="3595774" cy="824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kern="12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Rectá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9" y="3538998"/>
                <a:ext cx="3595774" cy="82496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 21"/>
          <p:cNvSpPr/>
          <p:nvPr/>
        </p:nvSpPr>
        <p:spPr>
          <a:xfrm>
            <a:off x="0" y="1877169"/>
            <a:ext cx="857733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Resuelva la ecuación 𝑨𝒙 = 𝒃 usando la factorización 𝑳𝑼 dada para 𝑨.</a:t>
            </a:r>
          </a:p>
        </p:txBody>
      </p:sp>
      <p:sp>
        <p:nvSpPr>
          <p:cNvPr id="6" name="Rectángulo 5"/>
          <p:cNvSpPr/>
          <p:nvPr/>
        </p:nvSpPr>
        <p:spPr>
          <a:xfrm>
            <a:off x="0" y="2788941"/>
            <a:ext cx="7216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ES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5584717" y="2510339"/>
                <a:ext cx="3198675" cy="848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kern="12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717" y="2510339"/>
                <a:ext cx="3198675" cy="84875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5584718" y="3552917"/>
                <a:ext cx="3391858" cy="848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kern="12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718" y="3552917"/>
                <a:ext cx="3391858" cy="8487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/>
          <p:cNvSpPr/>
          <p:nvPr/>
        </p:nvSpPr>
        <p:spPr>
          <a:xfrm>
            <a:off x="4994857" y="2783167"/>
            <a:ext cx="7216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ES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615618" y="4785392"/>
                <a:ext cx="3376833" cy="848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kern="12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8" y="4785392"/>
                <a:ext cx="3376833" cy="84875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615619" y="5814051"/>
                <a:ext cx="3595774" cy="848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kern="12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9" y="5814051"/>
                <a:ext cx="3595774" cy="84875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 16"/>
          <p:cNvSpPr/>
          <p:nvPr/>
        </p:nvSpPr>
        <p:spPr>
          <a:xfrm>
            <a:off x="0" y="5063994"/>
            <a:ext cx="7216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ES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/>
              <p:cNvSpPr/>
              <p:nvPr/>
            </p:nvSpPr>
            <p:spPr>
              <a:xfrm>
                <a:off x="5584717" y="4785392"/>
                <a:ext cx="3198675" cy="848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kern="12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717" y="4785392"/>
                <a:ext cx="3198675" cy="84875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/>
              <p:cNvSpPr/>
              <p:nvPr/>
            </p:nvSpPr>
            <p:spPr>
              <a:xfrm>
                <a:off x="5584717" y="5827970"/>
                <a:ext cx="3778223" cy="848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b="1" i="1" kern="120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b="1" i="1" kern="12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 kern="12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b="1" i="1" kern="120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b="1" kern="12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Rectángulo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717" y="5827970"/>
                <a:ext cx="3778223" cy="84875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ángulo 23"/>
          <p:cNvSpPr/>
          <p:nvPr/>
        </p:nvSpPr>
        <p:spPr>
          <a:xfrm>
            <a:off x="4994857" y="5058220"/>
            <a:ext cx="7216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ES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(4.)</a:t>
            </a:r>
          </a:p>
        </p:txBody>
      </p:sp>
    </p:spTree>
    <p:extLst>
      <p:ext uri="{BB962C8B-B14F-4D97-AF65-F5344CB8AC3E}">
        <p14:creationId xmlns:p14="http://schemas.microsoft.com/office/powerpoint/2010/main" val="146006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21" grpId="0"/>
      <p:bldP spid="22" grpId="0"/>
      <p:bldP spid="6" grpId="0"/>
      <p:bldP spid="7" grpId="0"/>
      <p:bldP spid="8" grpId="0"/>
      <p:bldP spid="9" grpId="0"/>
      <p:bldP spid="15" grpId="0"/>
      <p:bldP spid="16" grpId="0"/>
      <p:bldP spid="17" grpId="0"/>
      <p:bldP spid="20" grpId="0"/>
      <p:bldP spid="23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688849" y="1354737"/>
            <a:ext cx="5188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 </a:t>
            </a:r>
            <a:r>
              <a:rPr lang="es-NI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BIBLIOGRÁFICAS </a:t>
            </a:r>
            <a:endParaRPr lang="es-ES" sz="24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0" y="2127949"/>
            <a:ext cx="121920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Obligatorio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Grossman, S., &amp; Flores Godoy, J. (2019). </a:t>
            </a:r>
            <a:r>
              <a:rPr lang="en-US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Álgebra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lineal (8.ª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Lay, D. C. (2012). Álgebra lineal y sus aplicaciones (4.ª ed.). Pearson Educación.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Optativos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Chapra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C., &amp;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R. P. (2015). Métodos numéricos para ingenieros (7.ª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D. (2011). Álgebra lineal: Una introducción moderna (3.ª ed.).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2891</Words>
  <Application>Microsoft Office PowerPoint</Application>
  <PresentationFormat>Panorámica</PresentationFormat>
  <Paragraphs>687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26</vt:i4>
      </vt:variant>
    </vt:vector>
  </HeadingPairs>
  <TitlesOfParts>
    <vt:vector size="36" baseType="lpstr">
      <vt:lpstr>Arial</vt:lpstr>
      <vt:lpstr>Calibri</vt:lpstr>
      <vt:lpstr>Cambria</vt:lpstr>
      <vt:lpstr>Cambria Math</vt:lpstr>
      <vt:lpstr>Franklin Gothic Book</vt:lpstr>
      <vt:lpstr>Franklin Gothic Medium</vt:lpstr>
      <vt:lpstr>Georgia</vt:lpstr>
      <vt:lpstr>Wingdings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Gloria Cordero</dc:creator>
  <cp:lastModifiedBy>Sala Docentes</cp:lastModifiedBy>
  <cp:revision>519</cp:revision>
  <dcterms:created xsi:type="dcterms:W3CDTF">2019-03-11T22:56:00Z</dcterms:created>
  <dcterms:modified xsi:type="dcterms:W3CDTF">2026-10-05T18:35:12Z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DAF54AE3DF304A368D573207D0A3D9DC_12</vt:lpwstr>
  </property>
  <property fmtid="{D5CDD505-2E9C-101B-9397-08002B2CF9AE}" pid="3" name="KSOProductBuildVer">
    <vt:lpwstr>3082-12.2.0.22549</vt:lpwstr>
  </property>
</Properties>
</file>