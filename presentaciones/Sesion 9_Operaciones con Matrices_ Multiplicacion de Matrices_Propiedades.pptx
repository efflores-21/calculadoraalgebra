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1"/>
  </p:notesMasterIdLst>
  <p:handoutMasterIdLst>
    <p:handoutMasterId r:id="rId22"/>
  </p:handoutMasterIdLst>
  <p:sldIdLst>
    <p:sldId id="371" r:id="rId3"/>
    <p:sldId id="380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  <p:sldId id="458" r:id="rId15"/>
    <p:sldId id="459" r:id="rId16"/>
    <p:sldId id="436" r:id="rId17"/>
    <p:sldId id="447" r:id="rId18"/>
    <p:sldId id="379" r:id="rId19"/>
    <p:sldId id="372" r:id="rId20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C20"/>
    <a:srgbClr val="D71920"/>
    <a:srgbClr val="C8B160"/>
    <a:srgbClr val="00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2475" autoAdjust="0"/>
  </p:normalViewPr>
  <p:slideViewPr>
    <p:cSldViewPr snapToGrid="0" showGuides="1">
      <p:cViewPr varScale="1">
        <p:scale>
          <a:sx n="74" d="100"/>
          <a:sy n="74" d="100"/>
        </p:scale>
        <p:origin x="678" y="72"/>
      </p:cViewPr>
      <p:guideLst>
        <p:guide orient="horz" pos="216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7612F-F4F6-49E7-9E06-3D5220FEBB27}" type="datetimeFigureOut">
              <a:rPr lang="es-NI" smtClean="0"/>
              <a:t>13/9/2026</a:t>
            </a:fld>
            <a:endParaRPr lang="es-NI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NI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84567-83D8-42DA-AC87-6626250FF122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22447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  <a:t>13/09/2026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099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910"/>
            <a:ext cx="5306096" cy="141672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533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6921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rgbClr val="F47C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ln>
                <a:noFill/>
              </a:ln>
            </a:endParaRPr>
          </a:p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455" y="2253803"/>
            <a:ext cx="7187089" cy="191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0" y="1709738"/>
            <a:ext cx="12192000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ED7D31"/>
                </a:solidFill>
              </a:rPr>
              <a:t>i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Editar el estilo de texto del patrón</a:t>
            </a:r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6" y="164707"/>
            <a:ext cx="5145908" cy="15180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editar el estilo de subtítulo del patrón</a:t>
            </a:r>
            <a:endParaRPr lang="es-NI" dirty="0"/>
          </a:p>
        </p:txBody>
      </p:sp>
      <p:sp>
        <p:nvSpPr>
          <p:cNvPr id="8" name="Rectángulo 7"/>
          <p:cNvSpPr/>
          <p:nvPr userDrawn="1"/>
        </p:nvSpPr>
        <p:spPr>
          <a:xfrm>
            <a:off x="0" y="-1"/>
            <a:ext cx="12192000" cy="11223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490" y="-36372"/>
            <a:ext cx="2139467" cy="11951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  <p:sp>
        <p:nvSpPr>
          <p:cNvPr id="9" name="Rectángulo 8"/>
          <p:cNvSpPr/>
          <p:nvPr userDrawn="1"/>
        </p:nvSpPr>
        <p:spPr>
          <a:xfrm>
            <a:off x="0" y="6542468"/>
            <a:ext cx="12192000" cy="3155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054" y="-380"/>
            <a:ext cx="1040946" cy="5814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 userDrawn="1"/>
        </p:nvSpPr>
        <p:spPr>
          <a:xfrm>
            <a:off x="0" y="6349284"/>
            <a:ext cx="12192000" cy="5087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>
              <a:solidFill>
                <a:srgbClr val="FFFFFF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841" y="2276388"/>
            <a:ext cx="7814318" cy="23052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NI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NI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7" Type="http://schemas.openxmlformats.org/officeDocument/2006/relationships/image" Target="../media/image7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65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14473" y="4346647"/>
            <a:ext cx="6390291" cy="76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304704" rIns="91440" bIns="0" numCol="1" anchor="ctr" anchorCtr="0" compatLnSpc="1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NI" altLang="es-NI" sz="3000" b="1" dirty="0">
                <a:solidFill>
                  <a:prstClr val="white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José Andrés Munguía Cortez </a:t>
            </a:r>
            <a:endParaRPr lang="es-MX" altLang="es-NI" sz="3000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/>
          <p:cNvSpPr txBox="1"/>
          <p:nvPr/>
        </p:nvSpPr>
        <p:spPr>
          <a:xfrm>
            <a:off x="3701737" y="2985575"/>
            <a:ext cx="6815762" cy="1569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NI" sz="4800" dirty="0">
                <a:solidFill>
                  <a:prstClr val="white">
                    <a:lumMod val="95000"/>
                  </a:prstClr>
                </a:solidFill>
              </a:rPr>
              <a:t>ALGEBRA LINEAL</a:t>
            </a:r>
            <a:endParaRPr lang="es-ES_tradnl" sz="4800" b="1" dirty="0">
              <a:ln w="12700">
                <a:solidFill>
                  <a:srgbClr val="5B9BD5"/>
                </a:solidFill>
                <a:prstDash val="solid"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/>
              <a:ea typeface="Franklin Gothic Std No. 2 Roman" charset="0"/>
              <a:cs typeface="Franklin Gothic Std No. 2 Roman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/>
          <p:nvPr/>
        </p:nvSpPr>
        <p:spPr>
          <a:xfrm>
            <a:off x="1" y="0"/>
            <a:ext cx="12191999" cy="10673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800" b="1" dirty="0">
                <a:solidFill>
                  <a:schemeClr val="bg1"/>
                </a:solidFill>
              </a:rPr>
              <a:t>UNIDAD </a:t>
            </a:r>
            <a:r>
              <a:rPr lang="es-ES" sz="2800" b="1" dirty="0" smtClean="0">
                <a:solidFill>
                  <a:schemeClr val="bg1"/>
                </a:solidFill>
              </a:rPr>
              <a:t>II  </a:t>
            </a:r>
            <a:r>
              <a:rPr lang="es-NI" sz="2800" b="1" dirty="0" smtClean="0">
                <a:solidFill>
                  <a:schemeClr val="bg1"/>
                </a:solidFill>
              </a:rPr>
              <a:t>ALGEBRA DE MATRICES Y DETERMINANTES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0" y="4376621"/>
            <a:ext cx="8409905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Matrices </a:t>
            </a:r>
            <a:r>
              <a:rPr lang="es-NI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tipos de 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matrices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</a:t>
            </a:r>
            <a:r>
              <a:rPr lang="es-NI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básicas: suma, resta, multiplicación por 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escalar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Multiplicación </a:t>
            </a:r>
            <a:r>
              <a:rPr lang="es-NI" sz="21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matrices y </a:t>
            </a:r>
            <a:r>
              <a:rPr lang="es-NI" sz="2100" b="1" dirty="0" smtClean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propiedades</a:t>
            </a:r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0" y="3825634"/>
            <a:ext cx="1173706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Temas: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0" y="5571144"/>
            <a:ext cx="3670479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100" b="1" dirty="0" smtClean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Resultado </a:t>
            </a:r>
            <a:r>
              <a:rPr lang="es-ES" sz="21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aprendizaje:</a:t>
            </a:r>
            <a:endParaRPr lang="es-MX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" y="6119336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NI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NI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Aplica </a:t>
            </a:r>
            <a:r>
              <a:rPr lang="es-NI" sz="21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operaciones con matrices y el cálculo de determinantes para la resolución de problemas en contextos matemáticos e ingenieriles.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12192000" cy="6809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es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decir, una matriz con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filas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columnas, entonces la entrada escalar en la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 ésima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 ésima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columna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denota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se llama la entrada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12192000" cy="680956"/>
              </a:xfrm>
              <a:prstGeom prst="rect">
                <a:avLst/>
              </a:prstGeom>
              <a:blipFill rotWithShape="0">
                <a:blip r:embed="rId2"/>
                <a:stretch>
                  <a:fillRect l="-500" t="-8036" r="-500" b="-1071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3425781" y="1165317"/>
            <a:ext cx="441745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Operaciones con matrices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0" y="2584583"/>
                <a:ext cx="12192000" cy="9495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Las entradas diagonales en una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[</m:t>
                    </m:r>
                    <m:sSub>
                      <m:sSubPr>
                        <m:ctrlPr>
                          <a:rPr lang="es-MX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𝟏𝟏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𝟐𝟐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𝟑𝟑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,…,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y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forman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diagonal principal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matriz diagonal es una matriz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cuadrada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cuyas entradas no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diagonales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son cero. </a:t>
                </a: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84583"/>
                <a:ext cx="12192000" cy="949555"/>
              </a:xfrm>
              <a:prstGeom prst="rect">
                <a:avLst/>
              </a:prstGeom>
              <a:blipFill rotWithShape="0">
                <a:blip r:embed="rId3"/>
                <a:stretch>
                  <a:fillRect l="-500" t="-6410" r="-500" b="-1089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0" y="3675806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Un ejemplo es la matriz identidad de </a:t>
                </a:r>
                <a14:m>
                  <m:oMath xmlns:m="http://schemas.openxmlformats.org/officeDocument/2006/math"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NI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Una matriz de </a:t>
                </a:r>
                <a14:m>
                  <m:oMath xmlns:m="http://schemas.openxmlformats.org/officeDocument/2006/math"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cuyas entradas son todas cero es una matriz cero o matriz nula y se escribe como </a:t>
                </a:r>
                <a14:m>
                  <m:oMath xmlns:m="http://schemas.openxmlformats.org/officeDocument/2006/math">
                    <m:r>
                      <a:rPr lang="es-MX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75806"/>
                <a:ext cx="12192000" cy="646331"/>
              </a:xfrm>
              <a:prstGeom prst="rect">
                <a:avLst/>
              </a:prstGeom>
              <a:blipFill rotWithShape="0">
                <a:blip r:embed="rId4"/>
                <a:stretch>
                  <a:fillRect l="-500" t="-9434" r="-500" b="-16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072" y="4463804"/>
            <a:ext cx="4713210" cy="239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3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1761959"/>
            <a:ext cx="1219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rgbClr val="3F3F3F"/>
              </a:buClr>
              <a:buSzPts val="2800"/>
            </a:pPr>
            <a:r>
              <a:rPr lang="es-MX" sz="2000" b="1" dirty="0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dice que dos matrices son iguales si tienen el mismo tamaño (es decir, el mismo número de filas y de columnas) y si sus columnas correspondientes son iguales, lo que equivale a decir que sus entradas correspondientes son iguales. 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3425781" y="1165317"/>
            <a:ext cx="409548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Suma y múltiplo escalar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 6"/>
              <p:cNvSpPr/>
              <p:nvPr/>
            </p:nvSpPr>
            <p:spPr>
              <a:xfrm>
                <a:off x="0" y="2857382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matrices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 la suma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la matriz 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cuyas columnas son las sumas de las columnas correspondientes en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Rectá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57382"/>
                <a:ext cx="12192000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00" t="-9434" r="-500" b="-16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ángulo 1"/>
              <p:cNvSpPr/>
              <p:nvPr/>
            </p:nvSpPr>
            <p:spPr>
              <a:xfrm>
                <a:off x="0" y="3675806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Cada entrada en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 la suma de las entradas correspondientes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La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suma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está definida solo cuando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del mismo tamaño.</a:t>
                </a:r>
              </a:p>
            </p:txBody>
          </p:sp>
        </mc:Choice>
        <mc:Fallback xmlns=""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75806"/>
                <a:ext cx="12192000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500" t="-9434" r="-500" b="-16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879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contenido 2"/>
          <p:cNvSpPr txBox="1">
            <a:spLocks/>
          </p:cNvSpPr>
          <p:nvPr/>
        </p:nvSpPr>
        <p:spPr>
          <a:xfrm>
            <a:off x="0" y="1180137"/>
            <a:ext cx="2369714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1. </a:t>
            </a:r>
            <a:r>
              <a:rPr lang="es-NI" sz="21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/>
              <p:cNvSpPr txBox="1">
                <a:spLocks/>
              </p:cNvSpPr>
              <p:nvPr/>
            </p:nvSpPr>
            <p:spPr>
              <a:xfrm>
                <a:off x="1098260" y="1826351"/>
                <a:ext cx="5537916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0" y="1826351"/>
                <a:ext cx="5537916" cy="723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contenido 2"/>
          <p:cNvSpPr txBox="1">
            <a:spLocks/>
          </p:cNvSpPr>
          <p:nvPr/>
        </p:nvSpPr>
        <p:spPr>
          <a:xfrm>
            <a:off x="0" y="2550016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1184857" y="3097764"/>
                <a:ext cx="4159875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𝑩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0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857" y="3097764"/>
                <a:ext cx="4159875" cy="723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arcador de contenido 2"/>
              <p:cNvSpPr txBox="1">
                <a:spLocks/>
              </p:cNvSpPr>
              <p:nvPr/>
            </p:nvSpPr>
            <p:spPr>
              <a:xfrm>
                <a:off x="5188041" y="3097764"/>
                <a:ext cx="1779430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041" y="3097764"/>
                <a:ext cx="1779430" cy="723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/>
              <p:cNvSpPr txBox="1">
                <a:spLocks/>
              </p:cNvSpPr>
              <p:nvPr/>
            </p:nvSpPr>
            <p:spPr>
              <a:xfrm>
                <a:off x="0" y="3955409"/>
                <a:ext cx="8242480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Pero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no esta definida porque tienen diferentes tamaños.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55409"/>
                <a:ext cx="8242480" cy="454974"/>
              </a:xfrm>
              <a:prstGeom prst="rect">
                <a:avLst/>
              </a:prstGeom>
              <a:blipFill rotWithShape="0">
                <a:blip r:embed="rId5"/>
                <a:stretch>
                  <a:fillRect l="-740" t="-13514" b="-67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arcador de contenido 2"/>
              <p:cNvSpPr txBox="1">
                <a:spLocks/>
              </p:cNvSpPr>
              <p:nvPr/>
            </p:nvSpPr>
            <p:spPr>
              <a:xfrm>
                <a:off x="0" y="4544361"/>
                <a:ext cx="12192000" cy="10708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 escalar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matriz, entonces el múltiplo escalar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𝒓𝑨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matriz cuyas columnas son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veces las columnas correspondientes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Al igual que sucede con los vectores,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significa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igual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d>
                      <m:d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e>
                    </m:d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44361"/>
                <a:ext cx="12192000" cy="1070828"/>
              </a:xfrm>
              <a:prstGeom prst="rect">
                <a:avLst/>
              </a:prstGeom>
              <a:blipFill rotWithShape="0">
                <a:blip r:embed="rId6"/>
                <a:stretch>
                  <a:fillRect l="-500" t="-5114" r="-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45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9" grpId="0"/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Marcador de contenido 2"/>
              <p:cNvSpPr txBox="1">
                <a:spLocks/>
              </p:cNvSpPr>
              <p:nvPr/>
            </p:nvSpPr>
            <p:spPr>
              <a:xfrm>
                <a:off x="-1" y="1180137"/>
                <a:ext cx="7547021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 2. </a:t>
                </a:r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son las matrices del ejemplo 1, entonces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180137"/>
                <a:ext cx="7547021" cy="454974"/>
              </a:xfrm>
              <a:prstGeom prst="rect">
                <a:avLst/>
              </a:prstGeom>
              <a:blipFill rotWithShape="0">
                <a:blip r:embed="rId2"/>
                <a:stretch>
                  <a:fillRect l="-808" t="-13514" b="-67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/>
              <p:cNvSpPr txBox="1">
                <a:spLocks/>
              </p:cNvSpPr>
              <p:nvPr/>
            </p:nvSpPr>
            <p:spPr>
              <a:xfrm>
                <a:off x="1098260" y="1826351"/>
                <a:ext cx="4089781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0" y="1826351"/>
                <a:ext cx="4089781" cy="723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contenido 2"/>
          <p:cNvSpPr txBox="1">
            <a:spLocks/>
          </p:cNvSpPr>
          <p:nvPr/>
        </p:nvSpPr>
        <p:spPr>
          <a:xfrm>
            <a:off x="0" y="2550016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1184857" y="3097764"/>
                <a:ext cx="2125013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𝑩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857" y="3097764"/>
                <a:ext cx="2125013" cy="72366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arcador de contenido 2"/>
              <p:cNvSpPr txBox="1">
                <a:spLocks/>
              </p:cNvSpPr>
              <p:nvPr/>
            </p:nvSpPr>
            <p:spPr>
              <a:xfrm>
                <a:off x="3143150" y="3097764"/>
                <a:ext cx="1779430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150" y="3097764"/>
                <a:ext cx="1779430" cy="723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rcador de contenido 2"/>
              <p:cNvSpPr txBox="1">
                <a:spLocks/>
              </p:cNvSpPr>
              <p:nvPr/>
            </p:nvSpPr>
            <p:spPr>
              <a:xfrm>
                <a:off x="1184856" y="4138914"/>
                <a:ext cx="4572000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𝟐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𝑩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4856" y="4138914"/>
                <a:ext cx="4572000" cy="723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arcador de contenido 2"/>
              <p:cNvSpPr txBox="1">
                <a:spLocks/>
              </p:cNvSpPr>
              <p:nvPr/>
            </p:nvSpPr>
            <p:spPr>
              <a:xfrm>
                <a:off x="5497836" y="4138914"/>
                <a:ext cx="2177971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836" y="4138914"/>
                <a:ext cx="2177971" cy="72366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3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6" grpId="0"/>
      <p:bldP spid="9" grpId="0"/>
      <p:bldP spid="10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816520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matrices del mismo tamaño, y sean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escalares.</a:t>
                </a: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8165206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747" t="-14754" b="-295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0" y="1134892"/>
            <a:ext cx="184167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Teoremas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-1" y="2303384"/>
                <a:ext cx="4108362" cy="2395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(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r>
                      <a:rPr lang="pt-BR" sz="2000" b="1" i="1" dirty="0" err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 err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𝒓𝑩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pt-BR" sz="2000" b="1" i="1" dirty="0" err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+ </m:t>
                    </m:r>
                    <m:r>
                      <a:rPr lang="pt-BR" sz="2000" b="1" i="1" dirty="0" err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𝒔𝑨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pt-BR" sz="2000" b="1" i="1" dirty="0" err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𝒔𝑨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(</m:t>
                    </m:r>
                    <m:r>
                      <a:rPr lang="pt-BR" sz="2000" b="1" i="1" dirty="0" err="1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𝒓𝒔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303384"/>
                <a:ext cx="4108362" cy="2395528"/>
              </a:xfrm>
              <a:prstGeom prst="rect">
                <a:avLst/>
              </a:prstGeom>
              <a:blipFill rotWithShape="0">
                <a:blip r:embed="rId3"/>
                <a:stretch>
                  <a:fillRect l="-1484" t="-2545" b="-381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715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12192000" cy="7041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𝒎𝒙𝒏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si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𝒏𝒙𝒑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con columnas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…, 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entonces el producto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matriz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𝒎𝒙𝒑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cuyas columnas son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,…, 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𝒃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Es decir,</a:t>
                </a:r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12192000" cy="704167"/>
              </a:xfrm>
              <a:prstGeom prst="rect">
                <a:avLst/>
              </a:prstGeom>
              <a:blipFill rotWithShape="0">
                <a:blip r:embed="rId2"/>
                <a:stretch>
                  <a:fillRect l="-500" t="-7759" r="-500" b="-1034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4082603" y="1134892"/>
            <a:ext cx="3709115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 multiplicación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485623" y="2779738"/>
                <a:ext cx="655534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𝑨𝑩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NI" sz="2000" b="1" i="1" smtClean="0">
                                                <a:solidFill>
                                                  <a:srgbClr val="A5A5A5">
                                                    <a:lumMod val="50000"/>
                                                  </a:srgbClr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…</m:t>
                                            </m:r>
                                          </m:e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NI" sz="2000" b="1" i="1" smtClean="0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𝒑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NI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𝑨</m:t>
                                    </m:r>
                                    <m:r>
                                      <a:rPr lang="es-NI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s-NI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2000" b="1" i="1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2000" b="1" i="1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2000" b="1" i="1" smtClean="0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𝑨</m:t>
                                          </m:r>
                                          <m:r>
                                            <a:rPr lang="es-NI" sz="2000" b="1" i="1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s-NI" sz="2000" b="1" i="1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s-NI" sz="2000" b="1" i="1">
                                              <a:solidFill>
                                                <a:srgbClr val="A5A5A5">
                                                  <a:lumMod val="50000"/>
                                                </a:srgb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NI" sz="2000" b="1" i="1">
                                                <a:solidFill>
                                                  <a:srgbClr val="A5A5A5">
                                                    <a:lumMod val="50000"/>
                                                  </a:srgbClr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…</m:t>
                                            </m:r>
                                          </m:e>
                                          <m:e>
                                            <m:r>
                                              <a:rPr lang="es-NI" sz="2000" b="1" i="1" smtClean="0">
                                                <a:solidFill>
                                                  <a:srgbClr val="A5A5A5">
                                                    <a:lumMod val="50000"/>
                                                  </a:srgbClr>
                                                </a:solidFill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𝑨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s-NI" sz="2000" b="1" i="1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s-NI" sz="2000" b="1" i="1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𝒃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s-NI" sz="2000" b="1" i="1">
                                                    <a:solidFill>
                                                      <a:srgbClr val="A5A5A5">
                                                        <a:lumMod val="50000"/>
                                                      </a:srgbClr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Arial" panose="020B0604020202020204" pitchFamily="34" charset="0"/>
                                                  </a:rPr>
                                                  <m:t>𝒑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623" y="2779738"/>
                <a:ext cx="6555346" cy="369332"/>
              </a:xfrm>
              <a:prstGeom prst="rect">
                <a:avLst/>
              </a:prstGeom>
              <a:blipFill rotWithShape="0">
                <a:blip r:embed="rId3"/>
                <a:stretch>
                  <a:fillRect t="-1639" b="-65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9309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/>
              <p:cNvSpPr txBox="1">
                <a:spLocks/>
              </p:cNvSpPr>
              <p:nvPr/>
            </p:nvSpPr>
            <p:spPr>
              <a:xfrm>
                <a:off x="0" y="1170242"/>
                <a:ext cx="3642918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Ejemplo. </a:t>
                </a:r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donde 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70242"/>
                <a:ext cx="3642918" cy="454974"/>
              </a:xfrm>
              <a:prstGeom prst="rect">
                <a:avLst/>
              </a:prstGeom>
              <a:blipFill rotWithShape="0">
                <a:blip r:embed="rId2"/>
                <a:stretch>
                  <a:fillRect l="-1672" t="-13333" b="-5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1098261" y="1816456"/>
                <a:ext cx="3757074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1" y="1816456"/>
                <a:ext cx="3757074" cy="723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Marcador de contenido 2"/>
          <p:cNvSpPr txBox="1">
            <a:spLocks/>
          </p:cNvSpPr>
          <p:nvPr/>
        </p:nvSpPr>
        <p:spPr>
          <a:xfrm>
            <a:off x="0" y="2540121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arcador de contenido 2"/>
              <p:cNvSpPr txBox="1">
                <a:spLocks/>
              </p:cNvSpPr>
              <p:nvPr/>
            </p:nvSpPr>
            <p:spPr>
              <a:xfrm>
                <a:off x="0" y="3044973"/>
                <a:ext cx="5022760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Escriba </a:t>
                </a:r>
                <a14:m>
                  <m:oMath xmlns:m="http://schemas.openxmlformats.org/officeDocument/2006/math"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NI" sz="2000" b="1" i="1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NI" sz="2000" b="1" i="1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s-NI" sz="2000" b="1" i="1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NI" sz="2000" b="1" i="1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s-NI" sz="2000" b="1" i="1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NI" sz="2000" b="1" i="1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s-NI" sz="2000" b="1" i="1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𝟐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s-NI" sz="2000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NI" sz="2000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𝒃</m:t>
                                        </m:r>
                                      </m:e>
                                      <m:sub>
                                        <m:r>
                                          <a:rPr lang="es-NI" sz="2000" b="1" i="1" smtClean="0">
                                            <a:solidFill>
                                              <a:schemeClr val="accent3">
                                                <a:lumMod val="50000"/>
                                              </a:scheme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𝟑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calcule: 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044973"/>
                <a:ext cx="5022760" cy="454974"/>
              </a:xfrm>
              <a:prstGeom prst="rect">
                <a:avLst/>
              </a:prstGeom>
              <a:blipFill rotWithShape="0">
                <a:blip r:embed="rId4"/>
                <a:stretch>
                  <a:fillRect l="-1214" t="-13514" b="-67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/>
              <p:cNvSpPr txBox="1">
                <a:spLocks/>
              </p:cNvSpPr>
              <p:nvPr/>
            </p:nvSpPr>
            <p:spPr>
              <a:xfrm>
                <a:off x="242552" y="3660920"/>
                <a:ext cx="2642316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52" y="3660920"/>
                <a:ext cx="2642316" cy="6877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Marcador de contenido 2"/>
              <p:cNvSpPr txBox="1">
                <a:spLocks/>
              </p:cNvSpPr>
              <p:nvPr/>
            </p:nvSpPr>
            <p:spPr>
              <a:xfrm>
                <a:off x="2542504" y="3655615"/>
                <a:ext cx="2642316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504" y="3655615"/>
                <a:ext cx="2642316" cy="68775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arcador de contenido 2"/>
              <p:cNvSpPr txBox="1">
                <a:spLocks/>
              </p:cNvSpPr>
              <p:nvPr/>
            </p:nvSpPr>
            <p:spPr>
              <a:xfrm>
                <a:off x="5039933" y="3660920"/>
                <a:ext cx="2642316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933" y="3660920"/>
                <a:ext cx="2642316" cy="68775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Marcador de contenido 2"/>
              <p:cNvSpPr txBox="1">
                <a:spLocks/>
              </p:cNvSpPr>
              <p:nvPr/>
            </p:nvSpPr>
            <p:spPr>
              <a:xfrm>
                <a:off x="242552" y="4509651"/>
                <a:ext cx="1663521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52" y="4509651"/>
                <a:ext cx="1663521" cy="687758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Marcador de contenido 2"/>
              <p:cNvSpPr txBox="1">
                <a:spLocks/>
              </p:cNvSpPr>
              <p:nvPr/>
            </p:nvSpPr>
            <p:spPr>
              <a:xfrm>
                <a:off x="1859923" y="4513426"/>
                <a:ext cx="1663521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9923" y="4513426"/>
                <a:ext cx="1663521" cy="687758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Marcador de contenido 2"/>
              <p:cNvSpPr txBox="1">
                <a:spLocks/>
              </p:cNvSpPr>
              <p:nvPr/>
            </p:nvSpPr>
            <p:spPr>
              <a:xfrm>
                <a:off x="3359239" y="4519029"/>
                <a:ext cx="1663521" cy="6877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239" y="4519029"/>
                <a:ext cx="1663521" cy="68775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Marcador de contenido 2"/>
          <p:cNvSpPr txBox="1">
            <a:spLocks/>
          </p:cNvSpPr>
          <p:nvPr/>
        </p:nvSpPr>
        <p:spPr>
          <a:xfrm>
            <a:off x="0" y="5503249"/>
            <a:ext cx="1249251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Luego,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Marcador de contenido 2"/>
              <p:cNvSpPr txBox="1">
                <a:spLocks/>
              </p:cNvSpPr>
              <p:nvPr/>
            </p:nvSpPr>
            <p:spPr>
              <a:xfrm>
                <a:off x="779172" y="5542369"/>
                <a:ext cx="2903113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NI" sz="20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𝑩</m:t>
                      </m:r>
                      <m:r>
                        <a:rPr lang="es-NI" sz="20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NI" sz="2000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s-NI" sz="20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NI" sz="20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s-NI" sz="20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NI" sz="2000" b="1" i="1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NI" sz="20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20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s-NI" sz="2000" b="1" i="1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s-NI" sz="20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NI" sz="20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𝒃</m:t>
                                          </m:r>
                                        </m:e>
                                        <m:sub>
                                          <m:r>
                                            <a:rPr lang="es-NI" sz="2000" b="1" i="1" smtClean="0">
                                              <a:solidFill>
                                                <a:schemeClr val="accent3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Arial" panose="020B0604020202020204" pitchFamily="34" charset="0"/>
                                            </a:rPr>
                                            <m:t>𝟑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72" y="5542369"/>
                <a:ext cx="2903113" cy="45497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Marcador de contenido 2"/>
              <p:cNvSpPr txBox="1">
                <a:spLocks/>
              </p:cNvSpPr>
              <p:nvPr/>
            </p:nvSpPr>
            <p:spPr>
              <a:xfrm>
                <a:off x="3373560" y="5466630"/>
                <a:ext cx="2249173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𝟗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560" y="5466630"/>
                <a:ext cx="2249173" cy="72366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ángulo 2"/>
              <p:cNvSpPr/>
              <p:nvPr/>
            </p:nvSpPr>
            <p:spPr>
              <a:xfrm>
                <a:off x="3642918" y="6488668"/>
                <a:ext cx="6446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b="1" i="1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3" name="Rectángulo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918" y="6488668"/>
                <a:ext cx="644664" cy="369332"/>
              </a:xfrm>
              <a:prstGeom prst="rect">
                <a:avLst/>
              </a:prstGeom>
              <a:blipFill rotWithShape="0">
                <a:blip r:embed="rId13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echa arriba 3"/>
          <p:cNvSpPr/>
          <p:nvPr/>
        </p:nvSpPr>
        <p:spPr>
          <a:xfrm>
            <a:off x="3907664" y="6079164"/>
            <a:ext cx="115173" cy="35255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3" name="Flecha arriba 22"/>
          <p:cNvSpPr/>
          <p:nvPr/>
        </p:nvSpPr>
        <p:spPr>
          <a:xfrm>
            <a:off x="4462882" y="6079163"/>
            <a:ext cx="115173" cy="35255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Flecha arriba 23"/>
          <p:cNvSpPr/>
          <p:nvPr/>
        </p:nvSpPr>
        <p:spPr>
          <a:xfrm>
            <a:off x="5116845" y="6079162"/>
            <a:ext cx="115173" cy="35255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ángulo 24"/>
              <p:cNvSpPr/>
              <p:nvPr/>
            </p:nvSpPr>
            <p:spPr>
              <a:xfrm>
                <a:off x="4210671" y="6488667"/>
                <a:ext cx="6446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5" name="Rectá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671" y="6488667"/>
                <a:ext cx="644664" cy="369332"/>
              </a:xfrm>
              <a:prstGeom prst="rect">
                <a:avLst/>
              </a:prstGeom>
              <a:blipFill rotWithShape="0"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ángulo 25"/>
              <p:cNvSpPr/>
              <p:nvPr/>
            </p:nvSpPr>
            <p:spPr>
              <a:xfrm>
                <a:off x="4862488" y="6485313"/>
                <a:ext cx="6446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sSub>
                        <m:sSubPr>
                          <m:ctrlP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b="1" i="1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s-MX" dirty="0"/>
              </a:p>
            </p:txBody>
          </p:sp>
        </mc:Choice>
        <mc:Fallback xmlns="">
          <p:sp>
            <p:nvSpPr>
              <p:cNvPr id="26" name="Rectángulo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488" y="6485313"/>
                <a:ext cx="644664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36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13" grpId="0"/>
      <p:bldP spid="16" grpId="0"/>
      <p:bldP spid="18" grpId="0"/>
      <p:bldP spid="20" grpId="0"/>
      <p:bldP spid="21" grpId="0"/>
      <p:bldP spid="3" grpId="0"/>
      <p:bldP spid="4" grpId="0" animBg="1"/>
      <p:bldP spid="23" grpId="0" animBg="1"/>
      <p:bldP spid="24" grpId="0" animBg="1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/>
              <p:cNvSpPr/>
              <p:nvPr/>
            </p:nvSpPr>
            <p:spPr>
              <a:xfrm>
                <a:off x="0" y="1787717"/>
                <a:ext cx="12192000" cy="9495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el producto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está definido, entonces la entrada en la fila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la columna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suma de los productos de las entradas correspondientes de la fila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la columna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s-MX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NI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𝑨𝑩</m:t>
                            </m:r>
                          </m:e>
                        </m:d>
                      </m:e>
                      <m:sub>
                        <m:r>
                          <a:rPr lang="es-NI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denota </a:t>
                </a:r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 entrada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𝒊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𝒋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si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una matriz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</a:t>
                </a:r>
              </a:p>
            </p:txBody>
          </p:sp>
        </mc:Choice>
        <mc:Fallback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87717"/>
                <a:ext cx="12192000" cy="949555"/>
              </a:xfrm>
              <a:prstGeom prst="rect">
                <a:avLst/>
              </a:prstGeom>
              <a:blipFill rotWithShape="0">
                <a:blip r:embed="rId2"/>
                <a:stretch>
                  <a:fillRect l="-500" t="-5769" r="-500" b="-1089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1466046" y="1195102"/>
            <a:ext cx="806432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Regla Fila Columna para calcular AB (Programar</a:t>
            </a:r>
            <a:r>
              <a:rPr lang="es-NI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ángulo 7"/>
              <p:cNvSpPr/>
              <p:nvPr/>
            </p:nvSpPr>
            <p:spPr>
              <a:xfrm>
                <a:off x="2818327" y="2874913"/>
                <a:ext cx="4767329" cy="3955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s-MX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𝑨𝑩</m:t>
                              </m:r>
                            </m:e>
                          </m:d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𝒊𝒋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𝒋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 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𝟐</m:t>
                          </m:r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𝒋</m:t>
                          </m:r>
                        </m:sub>
                      </m:sSub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 …+</m:t>
                      </m:r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𝒊𝒏</m:t>
                          </m:r>
                        </m:sub>
                      </m:sSub>
                      <m:sSub>
                        <m:sSub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𝒃</m:t>
                          </m:r>
                        </m:e>
                        <m:sub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𝒏𝒋</m:t>
                          </m:r>
                        </m:sub>
                      </m:sSub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327" y="2874913"/>
                <a:ext cx="4767329" cy="395558"/>
              </a:xfrm>
              <a:prstGeom prst="rect">
                <a:avLst/>
              </a:prstGeom>
              <a:blipFill rotWithShape="0">
                <a:blip r:embed="rId3"/>
                <a:stretch>
                  <a:fillRect b="-1562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Marcador de contenido 2"/>
              <p:cNvSpPr txBox="1">
                <a:spLocks/>
              </p:cNvSpPr>
              <p:nvPr/>
            </p:nvSpPr>
            <p:spPr>
              <a:xfrm>
                <a:off x="0" y="3431237"/>
                <a:ext cx="11552349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Ejemplo. 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Use la regla </a:t>
                </a:r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fila - columna </a:t>
                </a:r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calcular las entradas de la segunda fila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donde</a:t>
                </a: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31237"/>
                <a:ext cx="11552349" cy="454974"/>
              </a:xfrm>
              <a:prstGeom prst="rect">
                <a:avLst/>
              </a:prstGeom>
              <a:blipFill rotWithShape="0">
                <a:blip r:embed="rId4"/>
                <a:stretch>
                  <a:fillRect l="-528" t="-13333" r="-317" b="-5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/>
              <p:cNvSpPr txBox="1">
                <a:spLocks/>
              </p:cNvSpPr>
              <p:nvPr/>
            </p:nvSpPr>
            <p:spPr>
              <a:xfrm>
                <a:off x="1098260" y="4077451"/>
                <a:ext cx="4388139" cy="12503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sz="2000" b="0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sz="2000" b="0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−5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−8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sz="2000" b="0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−4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e>
                                <m:e>
                                  <m:r>
                                    <a:rPr lang="es-NI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e>
                              </m:eqAr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𝟔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0" y="4077451"/>
                <a:ext cx="4388139" cy="1250317"/>
              </a:xfrm>
              <a:prstGeom prst="rect">
                <a:avLst/>
              </a:prstGeom>
              <a:blipFill rotWithShape="0">
                <a:blip r:embed="rId5"/>
                <a:stretch>
                  <a:fillRect t="-146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Marcador de contenido 2"/>
          <p:cNvSpPr txBox="1">
            <a:spLocks/>
          </p:cNvSpPr>
          <p:nvPr/>
        </p:nvSpPr>
        <p:spPr>
          <a:xfrm>
            <a:off x="0" y="5360376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1098260" y="5943508"/>
                <a:ext cx="5022760" cy="91449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𝟕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0" y="5943508"/>
                <a:ext cx="5022760" cy="91449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24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8" grpId="0"/>
      <p:bldP spid="6" grpId="0"/>
      <p:bldP spid="7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una matriz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𝒎𝒙𝒏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y sean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matrices con tamaños para los que las sumas y los productos indicados están definidos.</a:t>
                </a:r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00" t="-8491" r="-500" b="-16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2408349" y="1220939"/>
            <a:ext cx="7688687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Propiedades de la multiplicación de matrices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-1" y="2494336"/>
                <a:ext cx="9440215" cy="1990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s-NI" sz="2000" b="1" i="0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r>
                      <a:rPr lang="es-NI" sz="2000" b="1" i="0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𝑩𝑪</m:t>
                        </m:r>
                      </m:e>
                    </m:d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𝑨𝑩</m:t>
                        </m:r>
                      </m:e>
                    </m:d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pt-BR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𝒍𝒆𝒚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𝒂𝒔𝒐𝒄𝒊𝒂𝒕𝒊𝒗𝒂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𝒅𝒆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𝒎𝒖𝒍𝒕𝒊𝒑𝒍𝒊𝒄𝒂𝒄𝒊𝒐𝒏</m:t>
                        </m:r>
                      </m:e>
                    </m:d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</m:d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𝑨𝑪</m:t>
                    </m:r>
                  </m:oMath>
                </a14:m>
                <a:r>
                  <a:rPr lang="pt-BR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𝒍𝒆𝒚</m:t>
                        </m:r>
                        <m:r>
                          <a:rPr lang="es-NI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𝒅𝒊𝒔𝒕𝒓𝒊𝒃𝒖𝒕𝒊𝒗𝒂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𝒊𝒛𝒒𝒖𝒊𝒆𝒓𝒅𝒂</m:t>
                        </m:r>
                      </m:e>
                    </m:d>
                  </m:oMath>
                </a14:m>
                <a:endParaRPr lang="pt-BR" sz="2000" b="1" dirty="0" smtClean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</m:t>
                        </m:r>
                      </m:e>
                    </m:d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𝑩𝑨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𝑪𝑨</m:t>
                    </m:r>
                    <m:r>
                      <a:rPr lang="pt-BR" sz="2000" b="1" i="1" dirty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pt-BR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𝒍𝒆𝒚</m:t>
                        </m:r>
                        <m:r>
                          <a:rPr lang="es-NI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𝒅𝒊𝒔𝒕𝒓𝒊𝒃𝒖𝒕𝒊𝒗𝒂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𝒅𝒆𝒓𝒆𝒄𝒉𝒂</m:t>
                        </m:r>
                      </m:e>
                    </m:d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 </a:t>
                </a:r>
                <a14:m>
                  <m:oMath xmlns:m="http://schemas.openxmlformats.org/officeDocument/2006/math">
                    <m:r>
                      <a:rPr lang="pt-BR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d>
                      <m:dPr>
                        <m:ctrlPr>
                          <a:rPr lang="pt-BR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𝑨𝑩</m:t>
                        </m:r>
                      </m:e>
                    </m:d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𝒓𝑨</m:t>
                        </m:r>
                      </m:e>
                    </m:d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d>
                      <m:dPr>
                        <m:ctrlP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𝒓𝑩</m:t>
                        </m:r>
                      </m:e>
                    </m:d>
                  </m:oMath>
                </a14:m>
                <a:r>
                  <a:rPr lang="pt-BR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𝒑𝒂𝒓𝒂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𝒄𝒖𝒂𝒍𝒒𝒖𝒊𝒆𝒓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𝒆𝒔𝒄𝒂𝒍𝒂𝒓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𝒓</m:t>
                        </m:r>
                      </m:e>
                    </m:d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sSub>
                      <m:sSub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𝑰</m:t>
                        </m:r>
                      </m:e>
                      <m:sub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pt-BR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 dirty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𝒊𝒅𝒆𝒏𝒕𝒊𝒅𝒂𝒅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𝒑𝒂𝒓𝒂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𝒍𝒂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𝒎𝒖𝒍𝒕𝒊𝒑𝒍𝒊𝒄𝒂𝒄𝒊𝒐𝒏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𝒅𝒆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s-NI" sz="2000" b="1" i="1" dirty="0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𝒎𝒂𝒕𝒓𝒊𝒄𝒆𝒔</m:t>
                        </m:r>
                      </m:e>
                    </m:d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494336"/>
                <a:ext cx="9440215" cy="1990288"/>
              </a:xfrm>
              <a:prstGeom prst="rect">
                <a:avLst/>
              </a:prstGeom>
              <a:blipFill rotWithShape="0">
                <a:blip r:embed="rId3"/>
                <a:stretch>
                  <a:fillRect l="-646" t="-2752" b="-458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12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/>
              <p:cNvSpPr txBox="1">
                <a:spLocks/>
              </p:cNvSpPr>
              <p:nvPr/>
            </p:nvSpPr>
            <p:spPr>
              <a:xfrm>
                <a:off x="0" y="2635399"/>
                <a:ext cx="9478852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Muestre que estas matrices no conmutan. Es decir, compruebe que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𝑩𝑨</m:t>
                    </m:r>
                  </m:oMath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35399"/>
                <a:ext cx="9478852" cy="454974"/>
              </a:xfrm>
              <a:prstGeom prst="rect">
                <a:avLst/>
              </a:prstGeom>
              <a:blipFill rotWithShape="0">
                <a:blip r:embed="rId2"/>
                <a:stretch>
                  <a:fillRect l="-643" t="-12000" b="-533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1098260" y="1816456"/>
                <a:ext cx="3479795" cy="7236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y  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260" y="1816456"/>
                <a:ext cx="3479795" cy="72366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Marcador de contenido 2"/>
          <p:cNvSpPr txBox="1">
            <a:spLocks/>
          </p:cNvSpPr>
          <p:nvPr/>
        </p:nvSpPr>
        <p:spPr>
          <a:xfrm>
            <a:off x="0" y="3170417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Marcador de contenido 2"/>
              <p:cNvSpPr txBox="1">
                <a:spLocks/>
              </p:cNvSpPr>
              <p:nvPr/>
            </p:nvSpPr>
            <p:spPr>
              <a:xfrm>
                <a:off x="326777" y="3757544"/>
                <a:ext cx="2751274" cy="8402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𝑨𝑩</m:t>
                      </m:r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77" y="3757544"/>
                <a:ext cx="2751274" cy="84021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Marcador de contenido 2"/>
          <p:cNvSpPr txBox="1">
            <a:spLocks/>
          </p:cNvSpPr>
          <p:nvPr/>
        </p:nvSpPr>
        <p:spPr>
          <a:xfrm>
            <a:off x="0" y="1285766"/>
            <a:ext cx="218940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 </a:t>
            </a:r>
            <a:r>
              <a:rPr lang="es-NI" sz="20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Sean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Marcador de contenido 2"/>
              <p:cNvSpPr txBox="1">
                <a:spLocks/>
              </p:cNvSpPr>
              <p:nvPr/>
            </p:nvSpPr>
            <p:spPr>
              <a:xfrm>
                <a:off x="2745859" y="3757545"/>
                <a:ext cx="1658716" cy="6727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5859" y="3757545"/>
                <a:ext cx="1658716" cy="67278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Marcador de contenido 2"/>
              <p:cNvSpPr txBox="1">
                <a:spLocks/>
              </p:cNvSpPr>
              <p:nvPr/>
            </p:nvSpPr>
            <p:spPr>
              <a:xfrm>
                <a:off x="4729205" y="3757544"/>
                <a:ext cx="2751274" cy="84021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𝑩𝑨</m:t>
                      </m:r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205" y="3757544"/>
                <a:ext cx="2751274" cy="84021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Marcador de contenido 2"/>
              <p:cNvSpPr txBox="1">
                <a:spLocks/>
              </p:cNvSpPr>
              <p:nvPr/>
            </p:nvSpPr>
            <p:spPr>
              <a:xfrm>
                <a:off x="7148287" y="3757545"/>
                <a:ext cx="1658716" cy="6727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NI" sz="20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𝟐𝟗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8287" y="3757545"/>
                <a:ext cx="1658716" cy="67278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Marcador de contenido 2"/>
              <p:cNvSpPr txBox="1">
                <a:spLocks/>
              </p:cNvSpPr>
              <p:nvPr/>
            </p:nvSpPr>
            <p:spPr>
              <a:xfrm>
                <a:off x="0" y="4919426"/>
                <a:ext cx="12192000" cy="19385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MX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Advertencias:</a:t>
                </a:r>
                <a:endParaRPr lang="es-MX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En general,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≠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𝑩𝑨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algn="just"/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Las leyes de cancelación no se aplican a la multiplicación de matrices. Es decir, si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𝑨𝑪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entonces no es cierto, en general, que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/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Si un producto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𝑨𝑩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matriz cero, no se puede concluir en general que ya sea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MX" sz="2000" b="1" dirty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</m:t>
                    </m:r>
                    <m:r>
                      <a:rPr lang="es-MX" sz="20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919426"/>
                <a:ext cx="12192000" cy="1938574"/>
              </a:xfrm>
              <a:prstGeom prst="rect">
                <a:avLst/>
              </a:prstGeom>
              <a:blipFill rotWithShape="0">
                <a:blip r:embed="rId8"/>
                <a:stretch>
                  <a:fillRect l="-500" t="-3145" r="-500" b="-943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675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4" grpId="0"/>
      <p:bldP spid="27" grpId="0"/>
      <p:bldP spid="28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Dada una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la transpuesta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es la matriz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NI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𝒎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denotada,  cuyas columnas se forman a partir de las filas correspondientes de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61959"/>
                <a:ext cx="12192000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500" t="-8491" r="-500" b="-1698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3709116" y="1220939"/>
            <a:ext cx="4559120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MX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ranspuesta </a:t>
            </a:r>
            <a:r>
              <a:rPr lang="es-MX" sz="2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una </a:t>
            </a:r>
            <a:r>
              <a:rPr lang="es-MX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matriz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/>
              <p:cNvSpPr txBox="1">
                <a:spLocks/>
              </p:cNvSpPr>
              <p:nvPr/>
            </p:nvSpPr>
            <p:spPr>
              <a:xfrm>
                <a:off x="1124016" y="3203687"/>
                <a:ext cx="6319973" cy="9819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𝒃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𝒄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𝒅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y 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𝟏</m:t>
                                  </m:r>
                                </m:e>
                                <m:e>
                                  <m:r>
                                    <a:rPr lang="es-NI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NI" sz="2000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</m:eqAr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NI" sz="2000" b="1" i="1" smtClean="0">
                                      <a:solidFill>
                                        <a:srgbClr val="A5A5A5">
                                          <a:lumMod val="5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eqArr>
                                      <m:eqArrPr>
                                        <m:ctrlPr>
                                          <a:rPr lang="es-NI" sz="2000" b="1" i="1" smtClean="0">
                                            <a:solidFill>
                                              <a:srgbClr val="A5A5A5">
                                                <a:lumMod val="50000"/>
                                              </a:srgb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s-NI" sz="2000" b="1" i="1" smtClean="0">
                                            <a:solidFill>
                                              <a:srgbClr val="A5A5A5">
                                                <a:lumMod val="50000"/>
                                              </a:srgb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𝟏</m:t>
                                        </m:r>
                                      </m:e>
                                      <m:e>
                                        <m:r>
                                          <a:rPr lang="es-NI" sz="2000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</m:eqArr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NI" sz="2000" b="1" i="1" smtClean="0">
                                            <a:solidFill>
                                              <a:srgbClr val="A5A5A5">
                                                <a:lumMod val="50000"/>
                                              </a:srgbClr>
                                            </a:solidFill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eqArr>
                                            <m:eqArrPr>
                                              <m:ctrlPr>
                                                <a:rPr lang="es-NI" sz="2000" b="1" i="1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sz="2000" b="1" i="1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sz="20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s-NI" sz="20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𝟐</m:t>
                                              </m:r>
                                            </m:e>
                                          </m:eqArr>
                                        </m:e>
                                        <m:e>
                                          <m:eqArr>
                                            <m:eqArrPr>
                                              <m:ctrlPr>
                                                <a:rPr lang="es-NI" sz="2000" b="1" i="1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</m:ctrlPr>
                                            </m:eqArrPr>
                                            <m:e>
                                              <m:r>
                                                <a:rPr lang="es-NI" sz="2000" b="1" i="1" smtClean="0">
                                                  <a:solidFill>
                                                    <a:srgbClr val="A5A5A5">
                                                      <a:lumMod val="50000"/>
                                                    </a:srgbClr>
                                                  </a:solidFill>
                                                  <a:latin typeface="Cambria Math" panose="02040503050406030204" pitchFamily="18" charset="0"/>
                                                  <a:cs typeface="Arial" panose="020B0604020202020204" pitchFamily="34" charset="0"/>
                                                </a:rPr>
                                                <m:t>𝟏</m:t>
                                              </m:r>
                                            </m:e>
                                            <m:e>
                                              <m:r>
                                                <a:rPr lang="es-NI" sz="2000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𝟕</m:t>
                                              </m:r>
                                            </m:e>
                                          </m:eqAr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016" y="3203687"/>
                <a:ext cx="6319973" cy="98194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contenido 2"/>
          <p:cNvSpPr txBox="1">
            <a:spLocks/>
          </p:cNvSpPr>
          <p:nvPr/>
        </p:nvSpPr>
        <p:spPr>
          <a:xfrm>
            <a:off x="0" y="4350735"/>
            <a:ext cx="1532586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1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MX" sz="21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1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0" y="2583612"/>
            <a:ext cx="2228045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Ejemplo. </a:t>
            </a:r>
            <a:r>
              <a:rPr lang="es-NI" sz="20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Sean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arcador de contenido 2"/>
              <p:cNvSpPr txBox="1">
                <a:spLocks/>
              </p:cNvSpPr>
              <p:nvPr/>
            </p:nvSpPr>
            <p:spPr>
              <a:xfrm>
                <a:off x="953036" y="5497783"/>
                <a:ext cx="1738649" cy="6200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𝑨</m:t>
                          </m:r>
                        </m:e>
                        <m:sup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sup>
                      </m:sSup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𝒂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𝒄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𝒃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𝒅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36" y="5497783"/>
                <a:ext cx="1738649" cy="6200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Marcador de contenido 2"/>
              <p:cNvSpPr txBox="1">
                <a:spLocks/>
              </p:cNvSpPr>
              <p:nvPr/>
            </p:nvSpPr>
            <p:spPr>
              <a:xfrm>
                <a:off x="2773955" y="5497782"/>
                <a:ext cx="2723882" cy="6200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  <m:sup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sup>
                      </m:sSup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000" b="1" i="1" smtClean="0">
                                    <a:solidFill>
                                      <a:srgbClr val="A5A5A5">
                                        <a:lumMod val="50000"/>
                                      </a:srgb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3955" y="5497782"/>
                <a:ext cx="2723882" cy="6200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Marcador de contenido 2"/>
              <p:cNvSpPr txBox="1">
                <a:spLocks/>
              </p:cNvSpPr>
              <p:nvPr/>
            </p:nvSpPr>
            <p:spPr>
              <a:xfrm>
                <a:off x="5273897" y="5275118"/>
                <a:ext cx="1860999" cy="14927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𝑪</m:t>
                          </m:r>
                        </m:e>
                        <m:sup>
                          <m: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𝑻</m:t>
                          </m:r>
                        </m:sup>
                      </m:sSup>
                      <m:r>
                        <a:rPr lang="es-NI" sz="2000" b="1" i="1" smtClean="0">
                          <a:solidFill>
                            <a:srgbClr val="A5A5A5">
                              <a:lumMod val="50000"/>
                            </a:srgbClr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NI" sz="2000" b="1" i="1" smtClean="0">
                              <a:solidFill>
                                <a:srgbClr val="A5A5A5">
                                  <a:lumMod val="50000"/>
                                </a:srgbClr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−</m:t>
                                    </m:r>
                                    <m:r>
                                      <a:rPr lang="es-NI" sz="2000" b="1" i="1" smtClean="0">
                                        <a:solidFill>
                                          <a:srgbClr val="A5A5A5">
                                            <a:lumMod val="50000"/>
                                          </a:srgbClr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NI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897" y="5275118"/>
                <a:ext cx="1860999" cy="1492730"/>
              </a:xfrm>
              <a:prstGeom prst="rect">
                <a:avLst/>
              </a:prstGeom>
              <a:blipFill rotWithShape="0">
                <a:blip r:embed="rId6"/>
                <a:stretch>
                  <a:fillRect t="-81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09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 4"/>
              <p:cNvSpPr/>
              <p:nvPr/>
            </p:nvSpPr>
            <p:spPr>
              <a:xfrm>
                <a:off x="0" y="1752063"/>
                <a:ext cx="113849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Sean </a:t>
                </a:r>
                <a14:m>
                  <m:oMath xmlns:m="http://schemas.openxmlformats.org/officeDocument/2006/math">
                    <m:r>
                      <a:rPr lang="es-MX" sz="2000" b="1" i="1" dirty="0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matrices cuyos tamaños son adecuados para las siguientes sumas y productos.</a:t>
                </a:r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52063"/>
                <a:ext cx="11384924" cy="369332"/>
              </a:xfrm>
              <a:prstGeom prst="rect">
                <a:avLst/>
              </a:prstGeom>
              <a:blipFill rotWithShape="0">
                <a:blip r:embed="rId2"/>
                <a:stretch>
                  <a:fillRect l="-535" t="-14754" b="-29508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Marcador de contenido 2"/>
          <p:cNvSpPr txBox="1">
            <a:spLocks/>
          </p:cNvSpPr>
          <p:nvPr/>
        </p:nvSpPr>
        <p:spPr>
          <a:xfrm>
            <a:off x="0" y="1220939"/>
            <a:ext cx="5847008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Teoremas (</a:t>
            </a:r>
            <a:r>
              <a:rPr lang="es-NI" sz="26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Incluir a su calculadora</a:t>
            </a:r>
            <a:r>
              <a:rPr lang="es-NI" sz="26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6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/>
              <p:cNvSpPr/>
              <p:nvPr/>
            </p:nvSpPr>
            <p:spPr>
              <a:xfrm>
                <a:off x="0" y="2326910"/>
                <a:ext cx="5009882" cy="16959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pt-BR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𝑨</m:t>
                                </m:r>
                              </m:e>
                              <m:sup>
                                <m:r>
                                  <a:rPr lang="es-NI" sz="20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endParaRPr lang="pt-BR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𝑩</m:t>
                            </m:r>
                          </m:e>
                        </m:d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endParaRPr lang="pt-BR" sz="2000" b="1" dirty="0" smtClean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</a:t>
                </a:r>
                <a:r>
                  <a:rPr lang="pt-BR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Para qualquer escalar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𝒓𝑨</m:t>
                            </m:r>
                          </m:e>
                        </m:d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𝒓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pt-BR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90000"/>
                  </a:lnSpc>
                  <a:spcBef>
                    <a:spcPts val="1000"/>
                  </a:spcBef>
                  <a:buClr>
                    <a:srgbClr val="3F3F3F"/>
                  </a:buClr>
                  <a:buSzPts val="2800"/>
                </a:pPr>
                <a:r>
                  <a:rPr lang="pt-BR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pt-BR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𝑨𝑩</m:t>
                            </m:r>
                          </m:e>
                        </m:d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endParaRPr lang="pt-BR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26910"/>
                <a:ext cx="5009882" cy="1695977"/>
              </a:xfrm>
              <a:prstGeom prst="rect">
                <a:avLst/>
              </a:prstGeom>
              <a:blipFill rotWithShape="0">
                <a:blip r:embed="rId3"/>
                <a:stretch>
                  <a:fillRect l="-1217" b="-5755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56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984321" y="1334339"/>
            <a:ext cx="48717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#1: Problema de practica</a:t>
            </a:r>
            <a:endParaRPr lang="es-ES" sz="2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0" y="1952608"/>
            <a:ext cx="8319752" cy="454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NI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NI" sz="2000" b="1" dirty="0" smtClean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Elabore un programa para escribir la transpuesta de una matriz.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sz="20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/>
              <p:cNvSpPr txBox="1">
                <a:spLocks/>
              </p:cNvSpPr>
              <p:nvPr/>
            </p:nvSpPr>
            <p:spPr>
              <a:xfrm>
                <a:off x="0" y="2572202"/>
                <a:ext cx="12192000" cy="7891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2. </a:t>
                </a:r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Puesto que los vectores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se pueden considerar como matrices de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𝒏𝒙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𝟏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las propiedades de las transpuestas del teorema 3 también se aplican a vectores. Sean 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72202"/>
                <a:ext cx="12192000" cy="789184"/>
              </a:xfrm>
              <a:prstGeom prst="rect">
                <a:avLst/>
              </a:prstGeom>
              <a:blipFill rotWithShape="0">
                <a:blip r:embed="rId2"/>
                <a:stretch>
                  <a:fillRect l="-500" t="-7752" r="-50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Marcador de contenido 2"/>
              <p:cNvSpPr txBox="1">
                <a:spLocks/>
              </p:cNvSpPr>
              <p:nvPr/>
            </p:nvSpPr>
            <p:spPr>
              <a:xfrm>
                <a:off x="1780838" y="3361386"/>
                <a:ext cx="3138892" cy="7409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−</m:t>
                              </m:r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e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s-MX" sz="2000" b="1" dirty="0" smtClean="0">
                    <a:solidFill>
                      <a:srgbClr val="A5A5A5">
                        <a:lumMod val="5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y  </a:t>
                </a:r>
                <a14:m>
                  <m:oMath xmlns:m="http://schemas.openxmlformats.org/officeDocument/2006/math"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smtClean="0">
                        <a:solidFill>
                          <a:srgbClr val="A5A5A5">
                            <a:lumMod val="50000"/>
                          </a:srgb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NI" sz="2000" b="1" i="1" smtClean="0">
                            <a:solidFill>
                              <a:srgbClr val="A5A5A5">
                                <a:lumMod val="5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NI" sz="2000" b="1" i="1" smtClean="0">
                                <a:solidFill>
                                  <a:srgbClr val="A5A5A5">
                                    <a:lumMod val="5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s-NI" sz="2000" b="1" i="1" smtClean="0">
                                  <a:solidFill>
                                    <a:srgbClr val="A5A5A5">
                                      <a:lumMod val="50000"/>
                                    </a:srgbClr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s-MX" sz="2000" b="1" dirty="0">
                  <a:solidFill>
                    <a:srgbClr val="A5A5A5">
                      <a:lumMod val="5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838" y="3361386"/>
                <a:ext cx="3138892" cy="74095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Marcador de contenido 2"/>
              <p:cNvSpPr txBox="1">
                <a:spLocks/>
              </p:cNvSpPr>
              <p:nvPr/>
            </p:nvSpPr>
            <p:spPr>
              <a:xfrm>
                <a:off x="0" y="4436550"/>
                <a:ext cx="7134896" cy="45497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s-NI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Calcule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s-NI" sz="2000" b="1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𝑨𝒙</m:t>
                            </m:r>
                          </m:e>
                        </m:d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 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𝒂𝒏𝒅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p>
                      <m:sSupPr>
                        <m:ctrlP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𝒙</m:t>
                    </m:r>
                    <m:r>
                      <a:rPr lang="es-NI" sz="2000" b="1" i="1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 </m:t>
                    </m:r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¿Esta definida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  <m:sSup>
                      <m:sSupPr>
                        <m:ctrlPr>
                          <a:rPr lang="es-MX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e>
                      <m:sup>
                        <m:r>
                          <a:rPr lang="es-NI" sz="20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s-MX" sz="2000" b="1" dirty="0" smtClean="0">
                    <a:solidFill>
                      <a:schemeClr val="accent3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s-MX" sz="2000" b="1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Marcador de contenid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36550"/>
                <a:ext cx="7134896" cy="454974"/>
              </a:xfrm>
              <a:prstGeom prst="rect">
                <a:avLst/>
              </a:prstGeom>
              <a:blipFill rotWithShape="0">
                <a:blip r:embed="rId4"/>
                <a:stretch>
                  <a:fillRect l="-855" t="-13514" b="-6757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10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984320" y="1334339"/>
            <a:ext cx="495499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 #2: Problema de practica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28E63779-F660-4A70-91DA-BA9D84F5F448}"/>
              </a:ext>
            </a:extLst>
          </p:cNvPr>
          <p:cNvSpPr/>
          <p:nvPr/>
        </p:nvSpPr>
        <p:spPr>
          <a:xfrm>
            <a:off x="0" y="1922475"/>
            <a:ext cx="31424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</a:rPr>
              <a:t>1.- </a:t>
            </a:r>
            <a:r>
              <a:rPr lang="es-ES" sz="2400" b="1" dirty="0">
                <a:solidFill>
                  <a:srgbClr val="00B050"/>
                </a:solidFill>
              </a:rPr>
              <a:t>Sean las matrices:</a:t>
            </a:r>
            <a:endParaRPr lang="es-MX" sz="2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id="{A7EB92E2-2064-46F0-83D4-45F338A705C8}"/>
                  </a:ext>
                </a:extLst>
              </p:cNvPr>
              <p:cNvSpPr/>
              <p:nvPr/>
            </p:nvSpPr>
            <p:spPr>
              <a:xfrm>
                <a:off x="2984320" y="2193419"/>
                <a:ext cx="2462011" cy="946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7EB92E2-2064-46F0-83D4-45F338A70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320" y="2193419"/>
                <a:ext cx="2462011" cy="9469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ángulo 12">
            <a:extLst>
              <a:ext uri="{FF2B5EF4-FFF2-40B4-BE49-F238E27FC236}">
                <a16:creationId xmlns:a16="http://schemas.microsoft.com/office/drawing/2014/main" xmlns="" id="{3EA8AE0C-0BA7-4F2C-B879-91EC0A6B4C25}"/>
              </a:ext>
            </a:extLst>
          </p:cNvPr>
          <p:cNvSpPr/>
          <p:nvPr/>
        </p:nvSpPr>
        <p:spPr>
          <a:xfrm>
            <a:off x="2" y="2909512"/>
            <a:ext cx="1313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</a:rPr>
              <a:t>Calcule:</a:t>
            </a:r>
            <a:endParaRPr lang="es-MX" sz="2400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xmlns="" id="{DCE67195-A073-48F4-B07F-8F0EF3161FD7}"/>
                  </a:ext>
                </a:extLst>
              </p:cNvPr>
              <p:cNvSpPr/>
              <p:nvPr/>
            </p:nvSpPr>
            <p:spPr>
              <a:xfrm>
                <a:off x="2" y="3528426"/>
                <a:ext cx="1815920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:r>
                  <a:rPr lang="es-ES" sz="2400" b="1" dirty="0" smtClean="0">
                    <a:solidFill>
                      <a:prstClr val="black"/>
                    </a:solidFill>
                  </a:rPr>
                  <a:t>(</a:t>
                </a:r>
                <a:r>
                  <a:rPr lang="es-ES" sz="2400" b="1" dirty="0" smtClean="0">
                    <a:solidFill>
                      <a:srgbClr val="FF0000"/>
                    </a:solidFill>
                  </a:rPr>
                  <a:t>a.</a:t>
                </a:r>
                <a:r>
                  <a:rPr lang="es-ES" sz="2400" b="1" dirty="0" smtClean="0">
                    <a:solidFill>
                      <a:prstClr val="black"/>
                    </a:solidFill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1" i="1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s-MX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s-MX" sz="24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MX" sz="2400" b="1" i="1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𝑨𝑩</m:t>
                    </m:r>
                  </m:oMath>
                </a14:m>
                <a:endParaRPr lang="es-MX" sz="24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Rectángulo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CE67195-A073-48F4-B07F-8F0EF3161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3528426"/>
                <a:ext cx="1815920" cy="468205"/>
              </a:xfrm>
              <a:prstGeom prst="rect">
                <a:avLst/>
              </a:prstGeom>
              <a:blipFill rotWithShape="0">
                <a:blip r:embed="rId4"/>
                <a:stretch>
                  <a:fillRect l="-5034" t="-7792" r="-336" b="-2987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xmlns="" id="{19D8EF38-086B-47CB-A9FF-176E701BE4E4}"/>
                  </a:ext>
                </a:extLst>
              </p:cNvPr>
              <p:cNvSpPr/>
              <p:nvPr/>
            </p:nvSpPr>
            <p:spPr>
              <a:xfrm>
                <a:off x="2076359" y="3528425"/>
                <a:ext cx="2070638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:r>
                  <a:rPr lang="es-ES" sz="2400" b="1" dirty="0" smtClean="0">
                    <a:solidFill>
                      <a:prstClr val="black"/>
                    </a:solidFill>
                  </a:rPr>
                  <a:t>(</a:t>
                </a:r>
                <a:r>
                  <a:rPr lang="es-ES" sz="2400" b="1" dirty="0" smtClean="0">
                    <a:solidFill>
                      <a:srgbClr val="FF0000"/>
                    </a:solidFill>
                  </a:rPr>
                  <a:t>b.</a:t>
                </a:r>
                <a:r>
                  <a:rPr lang="es-ES" sz="2400" b="1" dirty="0" smtClean="0">
                    <a:solidFill>
                      <a:prstClr val="black"/>
                    </a:solidFill>
                  </a:rPr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𝑨𝑩</m:t>
                        </m:r>
                        <m:r>
                          <a:rPr lang="es-MX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s-MX" sz="2400" b="1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s-MX" sz="24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Rectángulo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9D8EF38-086B-47CB-A9FF-176E701BE4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359" y="3528425"/>
                <a:ext cx="2070638" cy="468205"/>
              </a:xfrm>
              <a:prstGeom prst="rect">
                <a:avLst/>
              </a:prstGeom>
              <a:blipFill rotWithShape="0">
                <a:blip r:embed="rId5"/>
                <a:stretch>
                  <a:fillRect l="-4720" t="-7792" b="-2987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ángulo 17">
            <a:extLst>
              <a:ext uri="{FF2B5EF4-FFF2-40B4-BE49-F238E27FC236}">
                <a16:creationId xmlns:a16="http://schemas.microsoft.com/office/drawing/2014/main" xmlns="" id="{387B5BA4-F7FB-4835-86B8-5DF719E1B75A}"/>
              </a:ext>
            </a:extLst>
          </p:cNvPr>
          <p:cNvSpPr/>
          <p:nvPr/>
        </p:nvSpPr>
        <p:spPr>
          <a:xfrm>
            <a:off x="0" y="4153877"/>
            <a:ext cx="5537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</a:rPr>
              <a:t>2</a:t>
            </a:r>
            <a:r>
              <a:rPr lang="es-ES" sz="2400" b="1" dirty="0" smtClean="0">
                <a:solidFill>
                  <a:srgbClr val="FF0000"/>
                </a:solidFill>
              </a:rPr>
              <a:t>.- </a:t>
            </a:r>
            <a:r>
              <a:rPr lang="es-ES" sz="2400" b="1" dirty="0">
                <a:solidFill>
                  <a:srgbClr val="00B050"/>
                </a:solidFill>
              </a:rPr>
              <a:t>Resuelva las operaciones siguientes:</a:t>
            </a:r>
            <a:endParaRPr lang="es-MX" sz="2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ángulo 18">
                <a:extLst>
                  <a:ext uri="{FF2B5EF4-FFF2-40B4-BE49-F238E27FC236}">
                    <a16:creationId xmlns:a16="http://schemas.microsoft.com/office/drawing/2014/main" xmlns="" id="{3D44A37C-98B9-4208-96C2-D87F12DB4556}"/>
                  </a:ext>
                </a:extLst>
              </p:cNvPr>
              <p:cNvSpPr/>
              <p:nvPr/>
            </p:nvSpPr>
            <p:spPr>
              <a:xfrm>
                <a:off x="3897910" y="4947836"/>
                <a:ext cx="1957589" cy="6378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Rectángulo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D44A37C-98B9-4208-96C2-D87F12DB45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10" y="4947836"/>
                <a:ext cx="1957589" cy="63780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ángulo 19">
                <a:extLst>
                  <a:ext uri="{FF2B5EF4-FFF2-40B4-BE49-F238E27FC236}">
                    <a16:creationId xmlns:a16="http://schemas.microsoft.com/office/drawing/2014/main" xmlns="" id="{DFA562A7-D6CD-46DB-BD0A-18A3D4071CE5}"/>
                  </a:ext>
                </a:extLst>
              </p:cNvPr>
              <p:cNvSpPr/>
              <p:nvPr/>
            </p:nvSpPr>
            <p:spPr>
              <a:xfrm>
                <a:off x="609553" y="4779330"/>
                <a:ext cx="3288357" cy="9748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𝟗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Rectángulo 1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A562A7-D6CD-46DB-BD0A-18A3D4071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53" y="4779330"/>
                <a:ext cx="3288357" cy="97481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xmlns="" id="{EE55ACFB-5B47-42D9-802E-3941BC5F85C4}"/>
                  </a:ext>
                </a:extLst>
              </p:cNvPr>
              <p:cNvSpPr/>
              <p:nvPr/>
            </p:nvSpPr>
            <p:spPr>
              <a:xfrm>
                <a:off x="592428" y="6010725"/>
                <a:ext cx="1957589" cy="629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𝟖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e>
                              <m:e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MX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1" name="Rectángulo 2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E55ACFB-5B47-42D9-802E-3941BC5F85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28" y="6010725"/>
                <a:ext cx="1957589" cy="629083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xmlns="" id="{AFF58AC2-E79D-4967-8CBB-B2A4A0B9CF9D}"/>
                  </a:ext>
                </a:extLst>
              </p:cNvPr>
              <p:cNvSpPr/>
              <p:nvPr/>
            </p:nvSpPr>
            <p:spPr>
              <a:xfrm>
                <a:off x="2550017" y="5838915"/>
                <a:ext cx="3438612" cy="97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d>
                            <m:dPr>
                              <m:begChr m:val="["/>
                              <m:endChr m:val="]"/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MX" sz="2100" b="1" i="1" smtClean="0">
                                      <a:solidFill>
                                        <a:schemeClr val="accent3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e>
                                  <m:e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MX" sz="2100" b="1" i="1" smtClean="0">
                                        <a:solidFill>
                                          <a:schemeClr val="accent3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Rectángulo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FF58AC2-E79D-4967-8CBB-B2A4A0B9CF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017" y="5838915"/>
                <a:ext cx="3438612" cy="97270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ángulo 22">
            <a:extLst>
              <a:ext uri="{FF2B5EF4-FFF2-40B4-BE49-F238E27FC236}">
                <a16:creationId xmlns:a16="http://schemas.microsoft.com/office/drawing/2014/main" xmlns="" id="{2062DF4E-B3E1-4103-9D00-2C6D834A59DF}"/>
              </a:ext>
            </a:extLst>
          </p:cNvPr>
          <p:cNvSpPr/>
          <p:nvPr/>
        </p:nvSpPr>
        <p:spPr>
          <a:xfrm>
            <a:off x="0" y="5035906"/>
            <a:ext cx="6095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</a:rPr>
              <a:t>(a)</a:t>
            </a:r>
            <a:endParaRPr lang="es-MX" sz="2400" b="1" dirty="0">
              <a:solidFill>
                <a:srgbClr val="00B050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xmlns="" id="{48379401-C362-43BF-B450-66512C7F1A4A}"/>
              </a:ext>
            </a:extLst>
          </p:cNvPr>
          <p:cNvSpPr/>
          <p:nvPr/>
        </p:nvSpPr>
        <p:spPr>
          <a:xfrm>
            <a:off x="0" y="6098898"/>
            <a:ext cx="6095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/>
            <a:r>
              <a:rPr lang="es-ES" sz="2400" b="1" dirty="0">
                <a:solidFill>
                  <a:srgbClr val="FF0000"/>
                </a:solidFill>
              </a:rPr>
              <a:t>(b)</a:t>
            </a:r>
            <a:endParaRPr lang="es-MX" sz="24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id="{A7EB92E2-2064-46F0-83D4-45F338A705C8}"/>
                  </a:ext>
                </a:extLst>
              </p:cNvPr>
              <p:cNvSpPr/>
              <p:nvPr/>
            </p:nvSpPr>
            <p:spPr>
              <a:xfrm>
                <a:off x="5326128" y="2197305"/>
                <a:ext cx="2613185" cy="9469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NI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s-MX" sz="21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MX" sz="2100" b="1" i="1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MX" sz="2100" b="1" i="1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lang="es-NI" sz="2100" b="1" i="1" smtClean="0">
                                    <a:solidFill>
                                      <a:schemeClr val="accent3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MX" sz="2100" b="1" dirty="0">
                  <a:solidFill>
                    <a:schemeClr val="accent3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7EB92E2-2064-46F0-83D4-45F338A70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128" y="2197305"/>
                <a:ext cx="2613185" cy="94692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0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  <p:bldP spid="13" grpId="0"/>
      <p:bldP spid="14" grpId="0"/>
      <p:bldP spid="15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2688849" y="1354737"/>
            <a:ext cx="51887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REFERENCIAS </a:t>
            </a:r>
            <a:r>
              <a:rPr lang="es-NI" sz="2400" b="1">
                <a:solidFill>
                  <a:srgbClr val="A5A5A5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BIBLIOGRÁFICAS </a:t>
            </a:r>
            <a:endParaRPr lang="es-ES" sz="2400" b="1" dirty="0">
              <a:solidFill>
                <a:srgbClr val="A5A5A5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0" y="2127949"/>
            <a:ext cx="121920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Obligatorio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Grossman, S., &amp; Flores Godoy, J. (2019). </a:t>
            </a:r>
            <a:r>
              <a:rPr lang="en-US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Álgebra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lineal (8.ª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</a:pP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Lay, D. C. (2012). Álgebra lineal y sus aplicaciones (4.ª ed.). Pearson Educación.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NI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Textos Optativos</a:t>
            </a:r>
            <a:endParaRPr lang="es-MX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Chapra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S. C., &amp;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Canale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R. P. (2015). Métodos numéricos para ingenieros (7.ª ed.). McGraw-Hill.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D. (2011). Álgebra lineal: Una introducción moderna (3.ª ed.).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Cengage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000" b="1" dirty="0" err="1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  <a:r>
              <a:rPr lang="es-MX" sz="2000" b="1" dirty="0">
                <a:solidFill>
                  <a:schemeClr val="accent3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NI" sz="2000" b="1" dirty="0">
              <a:solidFill>
                <a:schemeClr val="accent3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Personalizados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892</Words>
  <Application>Microsoft Office PowerPoint</Application>
  <PresentationFormat>Panorámica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Calibri</vt:lpstr>
      <vt:lpstr>Cambria</vt:lpstr>
      <vt:lpstr>Cambria Math</vt:lpstr>
      <vt:lpstr>Franklin Gothic Book</vt:lpstr>
      <vt:lpstr>Franklin Gothic Medium</vt:lpstr>
      <vt:lpstr>Franklin Gothic Std No. 2 Roman</vt:lpstr>
      <vt:lpstr>Times New Roman</vt:lpstr>
      <vt:lpstr>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Gloria Cordero</dc:creator>
  <cp:lastModifiedBy>Cuenta Microsoft</cp:lastModifiedBy>
  <cp:revision>339</cp:revision>
  <dcterms:created xsi:type="dcterms:W3CDTF">2019-03-11T22:56:00Z</dcterms:created>
  <dcterms:modified xsi:type="dcterms:W3CDTF">2026-09-13T18:13:07Z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DAF54AE3DF304A368D573207D0A3D9DC_12</vt:lpwstr>
  </property>
  <property fmtid="{D5CDD505-2E9C-101B-9397-08002B2CF9AE}" pid="3" name="KSOProductBuildVer">
    <vt:lpwstr>3082-12.2.0.22549</vt:lpwstr>
  </property>
</Properties>
</file>