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5"/>
  </p:notesMasterIdLst>
  <p:handoutMasterIdLst>
    <p:handoutMasterId r:id="rId26"/>
  </p:handoutMasterIdLst>
  <p:sldIdLst>
    <p:sldId id="371" r:id="rId3"/>
    <p:sldId id="380" r:id="rId4"/>
    <p:sldId id="445" r:id="rId5"/>
    <p:sldId id="443" r:id="rId6"/>
    <p:sldId id="444" r:id="rId7"/>
    <p:sldId id="446" r:id="rId8"/>
    <p:sldId id="458" r:id="rId9"/>
    <p:sldId id="457" r:id="rId10"/>
    <p:sldId id="459" r:id="rId11"/>
    <p:sldId id="460" r:id="rId12"/>
    <p:sldId id="451" r:id="rId13"/>
    <p:sldId id="456" r:id="rId14"/>
    <p:sldId id="461" r:id="rId15"/>
    <p:sldId id="462" r:id="rId16"/>
    <p:sldId id="447" r:id="rId17"/>
    <p:sldId id="448" r:id="rId18"/>
    <p:sldId id="452" r:id="rId19"/>
    <p:sldId id="453" r:id="rId20"/>
    <p:sldId id="454" r:id="rId21"/>
    <p:sldId id="455" r:id="rId22"/>
    <p:sldId id="379" r:id="rId23"/>
    <p:sldId id="372" r:id="rId24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2475" autoAdjust="0"/>
  </p:normalViewPr>
  <p:slideViewPr>
    <p:cSldViewPr snapToGrid="0" showGuides="1">
      <p:cViewPr varScale="1">
        <p:scale>
          <a:sx n="74" d="100"/>
          <a:sy n="74" d="100"/>
        </p:scale>
        <p:origin x="678" y="72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29/9/2026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72244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99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2.png"/><Relationship Id="rId2" Type="http://schemas.openxmlformats.org/officeDocument/2006/relationships/image" Target="../media/image38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3" Type="http://schemas.openxmlformats.org/officeDocument/2006/relationships/image" Target="../media/image530.png"/><Relationship Id="rId18" Type="http://schemas.openxmlformats.org/officeDocument/2006/relationships/image" Target="../media/image58.png"/><Relationship Id="rId3" Type="http://schemas.openxmlformats.org/officeDocument/2006/relationships/image" Target="../media/image380.png"/><Relationship Id="rId7" Type="http://schemas.openxmlformats.org/officeDocument/2006/relationships/image" Target="../media/image470.png"/><Relationship Id="rId12" Type="http://schemas.openxmlformats.org/officeDocument/2006/relationships/image" Target="../media/image520.png"/><Relationship Id="rId17" Type="http://schemas.openxmlformats.org/officeDocument/2006/relationships/image" Target="../media/image57.png"/><Relationship Id="rId2" Type="http://schemas.openxmlformats.org/officeDocument/2006/relationships/image" Target="../media/image53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511.png"/><Relationship Id="rId5" Type="http://schemas.openxmlformats.org/officeDocument/2006/relationships/image" Target="../media/image29.png"/><Relationship Id="rId15" Type="http://schemas.openxmlformats.org/officeDocument/2006/relationships/image" Target="../media/image55.png"/><Relationship Id="rId10" Type="http://schemas.openxmlformats.org/officeDocument/2006/relationships/image" Target="../media/image500.png"/><Relationship Id="rId19" Type="http://schemas.openxmlformats.org/officeDocument/2006/relationships/image" Target="../media/image59.png"/><Relationship Id="rId4" Type="http://schemas.openxmlformats.org/officeDocument/2006/relationships/image" Target="../media/image440.png"/><Relationship Id="rId9" Type="http://schemas.openxmlformats.org/officeDocument/2006/relationships/image" Target="../media/image490.png"/><Relationship Id="rId1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3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1.png"/><Relationship Id="rId5" Type="http://schemas.openxmlformats.org/officeDocument/2006/relationships/image" Target="../media/image64.png"/><Relationship Id="rId15" Type="http://schemas.openxmlformats.org/officeDocument/2006/relationships/image" Target="../media/image29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6.png"/><Relationship Id="rId7" Type="http://schemas.openxmlformats.org/officeDocument/2006/relationships/image" Target="../media/image81.png"/><Relationship Id="rId12" Type="http://schemas.openxmlformats.org/officeDocument/2006/relationships/image" Target="../media/image2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5.png"/><Relationship Id="rId5" Type="http://schemas.openxmlformats.org/officeDocument/2006/relationships/image" Target="../media/image78.png"/><Relationship Id="rId10" Type="http://schemas.openxmlformats.org/officeDocument/2006/relationships/image" Target="../media/image84.png"/><Relationship Id="rId4" Type="http://schemas.openxmlformats.org/officeDocument/2006/relationships/image" Target="../media/image77.png"/><Relationship Id="rId9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3" Type="http://schemas.openxmlformats.org/officeDocument/2006/relationships/image" Target="../media/image620.png"/><Relationship Id="rId7" Type="http://schemas.openxmlformats.org/officeDocument/2006/relationships/image" Target="../media/image87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0.png"/><Relationship Id="rId5" Type="http://schemas.openxmlformats.org/officeDocument/2006/relationships/image" Target="../media/image86.png"/><Relationship Id="rId4" Type="http://schemas.openxmlformats.org/officeDocument/2006/relationships/image" Target="../media/image630.png"/><Relationship Id="rId9" Type="http://schemas.openxmlformats.org/officeDocument/2006/relationships/image" Target="../media/image6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760.png"/><Relationship Id="rId7" Type="http://schemas.openxmlformats.org/officeDocument/2006/relationships/image" Target="../media/image790.png"/><Relationship Id="rId12" Type="http://schemas.openxmlformats.org/officeDocument/2006/relationships/image" Target="../media/image85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11" Type="http://schemas.openxmlformats.org/officeDocument/2006/relationships/image" Target="../media/image840.png"/><Relationship Id="rId5" Type="http://schemas.openxmlformats.org/officeDocument/2006/relationships/image" Target="../media/image29.png"/><Relationship Id="rId10" Type="http://schemas.openxmlformats.org/officeDocument/2006/relationships/image" Target="../media/image830.png"/><Relationship Id="rId4" Type="http://schemas.openxmlformats.org/officeDocument/2006/relationships/image" Target="../media/image770.png"/><Relationship Id="rId9" Type="http://schemas.openxmlformats.org/officeDocument/2006/relationships/image" Target="../media/image8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/>
          <p:cNvSpPr txBox="1"/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II  </a:t>
            </a:r>
            <a:r>
              <a:rPr lang="es-NI" sz="2800" b="1" dirty="0">
                <a:solidFill>
                  <a:schemeClr val="bg1"/>
                </a:solidFill>
              </a:rPr>
              <a:t>ALGEBRA DE MATRICES Y DETERMINANTES</a:t>
            </a:r>
            <a:endParaRPr lang="es-ES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0" y="3944030"/>
                <a:ext cx="5880295" cy="17081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Operaciones con matrices</a:t>
                </a:r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inversa de una matriz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Caracterizaciones de matrices invertibles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ES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ES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Dimensión y rango</a:t>
                </a: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44030"/>
                <a:ext cx="5880295" cy="1708160"/>
              </a:xfrm>
              <a:prstGeom prst="rect">
                <a:avLst/>
              </a:prstGeom>
              <a:blipFill>
                <a:blip r:embed="rId2"/>
                <a:stretch>
                  <a:fillRect l="-1036" t="-2143" b="-607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/>
          <p:cNvSpPr/>
          <p:nvPr/>
        </p:nvSpPr>
        <p:spPr>
          <a:xfrm>
            <a:off x="0" y="3476884"/>
            <a:ext cx="1173706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Temas: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5703838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NI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Aplica operaciones con matrices y el cálculo de determinantes para la resolución de problemas en contextos matemáticos e ingenieriles.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61959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dice que la matriz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 si hay una matriz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tal que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𝑪𝑨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y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𝑨𝑪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donde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La matriz de identidad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1959"/>
                <a:ext cx="12192000" cy="646331"/>
              </a:xfrm>
              <a:prstGeom prst="rect">
                <a:avLst/>
              </a:prstGeom>
              <a:blipFill>
                <a:blip r:embed="rId2"/>
                <a:stretch>
                  <a:fillRect l="-500" t="-8491" b="-1698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3425781" y="1165317"/>
            <a:ext cx="373487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Inversa de una matriz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8CD61C3D-0682-4A7C-B385-9602E53F0778}"/>
              </a:ext>
            </a:extLst>
          </p:cNvPr>
          <p:cNvSpPr/>
          <p:nvPr/>
        </p:nvSpPr>
        <p:spPr>
          <a:xfrm>
            <a:off x="18756" y="254995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3F3F3F"/>
              </a:buClr>
              <a:buSzPts val="2800"/>
            </a:pPr>
            <a:r>
              <a:rPr lang="es-ES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matriz que no es singular se denomina matriz singular, y una matriz invertible se llama matriz no singular.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xmlns="" id="{56BF278E-B1B4-4590-B0A9-43E263C714D9}"/>
              </a:ext>
            </a:extLst>
          </p:cNvPr>
          <p:cNvSpPr txBox="1">
            <a:spLocks/>
          </p:cNvSpPr>
          <p:nvPr/>
        </p:nvSpPr>
        <p:spPr>
          <a:xfrm>
            <a:off x="18756" y="3337957"/>
            <a:ext cx="1416149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="" id="{8E5E717A-B3C9-4987-B376-2C26679B68AC}"/>
                  </a:ext>
                </a:extLst>
              </p:cNvPr>
              <p:cNvSpPr/>
              <p:nvPr/>
            </p:nvSpPr>
            <p:spPr>
              <a:xfrm>
                <a:off x="-18756" y="3828555"/>
                <a:ext cx="4098387" cy="589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8E5E717A-B3C9-4987-B376-2C26679B6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756" y="3828555"/>
                <a:ext cx="4098387" cy="589649"/>
              </a:xfrm>
              <a:prstGeom prst="rect">
                <a:avLst/>
              </a:prstGeom>
              <a:blipFill>
                <a:blip r:embed="rId3"/>
                <a:stretch>
                  <a:fillRect l="-163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xmlns="" id="{2D72C1A3-732B-4A48-B2E0-0F8A47864FA5}"/>
              </a:ext>
            </a:extLst>
          </p:cNvPr>
          <p:cNvSpPr txBox="1">
            <a:spLocks/>
          </p:cNvSpPr>
          <p:nvPr/>
        </p:nvSpPr>
        <p:spPr>
          <a:xfrm>
            <a:off x="-18756" y="4570401"/>
            <a:ext cx="145366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xmlns="" id="{5D8F1701-5108-4EF8-874F-52AE78F082FE}"/>
                  </a:ext>
                </a:extLst>
              </p:cNvPr>
              <p:cNvSpPr/>
              <p:nvPr/>
            </p:nvSpPr>
            <p:spPr>
              <a:xfrm>
                <a:off x="406200" y="5177572"/>
                <a:ext cx="3425781" cy="589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𝑨𝑪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D8F1701-5108-4EF8-874F-52AE78F082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00" y="5177572"/>
                <a:ext cx="3425781" cy="5896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ACD64E8B-FBC5-421D-B7A5-9D4F1A63346D}"/>
                  </a:ext>
                </a:extLst>
              </p:cNvPr>
              <p:cNvSpPr/>
              <p:nvPr/>
            </p:nvSpPr>
            <p:spPr>
              <a:xfrm>
                <a:off x="3831095" y="5174283"/>
                <a:ext cx="1054057" cy="554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ACD64E8B-FBC5-421D-B7A5-9D4F1A6334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095" y="5174283"/>
                <a:ext cx="1054057" cy="554254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C2A3B08F-21D7-453F-A26D-AFB1E33A51D2}"/>
                  </a:ext>
                </a:extLst>
              </p:cNvPr>
              <p:cNvSpPr/>
              <p:nvPr/>
            </p:nvSpPr>
            <p:spPr>
              <a:xfrm>
                <a:off x="5246325" y="5138888"/>
                <a:ext cx="3425781" cy="589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𝑪𝑨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  <m:e>
                              <m:r>
                                <a:rPr lang="es-ES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C2A3B08F-21D7-453F-A26D-AFB1E33A5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25" y="5138888"/>
                <a:ext cx="3425781" cy="5896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xmlns="" id="{2C7ADE57-B7FE-49AF-A16E-12763A0EE01D}"/>
                  </a:ext>
                </a:extLst>
              </p:cNvPr>
              <p:cNvSpPr/>
              <p:nvPr/>
            </p:nvSpPr>
            <p:spPr>
              <a:xfrm>
                <a:off x="8515017" y="5138888"/>
                <a:ext cx="1054057" cy="5542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2C7ADE57-B7FE-49AF-A16E-12763A0EE0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017" y="5138888"/>
                <a:ext cx="1054057" cy="554254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xmlns="" id="{9CE6B2B6-725C-4A0D-8ABC-3043D760FBEB}"/>
              </a:ext>
            </a:extLst>
          </p:cNvPr>
          <p:cNvSpPr txBox="1">
            <a:spLocks/>
          </p:cNvSpPr>
          <p:nvPr/>
        </p:nvSpPr>
        <p:spPr>
          <a:xfrm>
            <a:off x="4788098" y="5223923"/>
            <a:ext cx="48636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Marcador de contenido 2">
                <a:extLst>
                  <a:ext uri="{FF2B5EF4-FFF2-40B4-BE49-F238E27FC236}">
                    <a16:creationId xmlns:a16="http://schemas.microsoft.com/office/drawing/2014/main" xmlns="" id="{7D91024E-3509-4538-A5A4-4BBB77A555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6973" y="6061086"/>
                <a:ext cx="2428148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Entonces,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es-ES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Marcador de contenido 2">
                <a:extLst>
                  <a:ext uri="{FF2B5EF4-FFF2-40B4-BE49-F238E27FC236}">
                    <a16:creationId xmlns:a16="http://schemas.microsoft.com/office/drawing/2014/main" id="{7D91024E-3509-4538-A5A4-4BBB77A5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73" y="6061086"/>
                <a:ext cx="2428148" cy="454974"/>
              </a:xfrm>
              <a:prstGeom prst="rect">
                <a:avLst/>
              </a:prstGeom>
              <a:blipFill>
                <a:blip r:embed="rId8"/>
                <a:stretch>
                  <a:fillRect l="-2764" t="-10667" b="-6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29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6" grpId="0"/>
      <p:bldP spid="9" grpId="0"/>
      <p:bldP spid="10" grpId="0"/>
      <p:bldP spid="11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0A55D1A9-7D3B-40BD-8358-70C0F3873B23}"/>
              </a:ext>
            </a:extLst>
          </p:cNvPr>
          <p:cNvSpPr/>
          <p:nvPr/>
        </p:nvSpPr>
        <p:spPr>
          <a:xfrm>
            <a:off x="2607972" y="1174392"/>
            <a:ext cx="52159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600" b="1" dirty="0">
                <a:solidFill>
                  <a:srgbClr val="FF0000"/>
                </a:solidFill>
                <a:latin typeface="Calibri" panose="020F0502020204030204"/>
              </a:rPr>
              <a:t>Inversa de una matriz de orden 2X2</a:t>
            </a:r>
            <a:endParaRPr lang="es-MX" sz="2600" b="1" dirty="0">
              <a:solidFill>
                <a:srgbClr val="FF0000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="" id="{EACD487C-FBD2-4250-A62B-12ED0CC54810}"/>
                  </a:ext>
                </a:extLst>
              </p:cNvPr>
              <p:cNvSpPr/>
              <p:nvPr/>
            </p:nvSpPr>
            <p:spPr>
              <a:xfrm>
                <a:off x="0" y="1765694"/>
                <a:ext cx="12190816" cy="1113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:r>
                  <a:rPr lang="es-ES" sz="2400" b="1" dirty="0">
                    <a:solidFill>
                      <a:srgbClr val="7030A0"/>
                    </a:solidFill>
                    <a:latin typeface="Calibri" panose="020F0502020204030204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MX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MX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s-MX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MX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s-MX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s-MX" sz="24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MX" sz="2400" b="1" dirty="0">
                    <a:solidFill>
                      <a:srgbClr val="7030A0"/>
                    </a:solidFill>
                    <a:latin typeface="Calibri" panose="020F0502020204030204"/>
                  </a:rPr>
                  <a:t>, una matriz </a:t>
                </a:r>
                <a14:m>
                  <m:oMath xmlns:m="http://schemas.openxmlformats.org/officeDocument/2006/math">
                    <m:r>
                      <a:rPr lang="es-MX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MX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MX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s-MX" sz="2400" b="1" dirty="0">
                    <a:solidFill>
                      <a:srgbClr val="7030A0"/>
                    </a:solidFill>
                    <a:latin typeface="Calibri" panose="020F0502020204030204"/>
                  </a:rPr>
                  <a:t> para la cual el determinante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s-MX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MX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s-MX" sz="2400" b="1" dirty="0">
                    <a:solidFill>
                      <a:srgbClr val="7030A0"/>
                    </a:solidFill>
                    <a:latin typeface="Calibri" panose="020F0502020204030204"/>
                  </a:rPr>
                  <a:t>, entonces la inversa de </a:t>
                </a:r>
                <a:r>
                  <a:rPr lang="es-MX" sz="2400" b="1" dirty="0">
                    <a:solidFill>
                      <a:srgbClr val="FF0000"/>
                    </a:solidFill>
                    <a:latin typeface="Calibri" panose="020F0502020204030204"/>
                  </a:rPr>
                  <a:t>A</a:t>
                </a:r>
                <a:r>
                  <a:rPr lang="es-MX" sz="2400" b="1" dirty="0">
                    <a:solidFill>
                      <a:srgbClr val="7030A0"/>
                    </a:solidFill>
                    <a:latin typeface="Calibri" panose="020F0502020204030204"/>
                  </a:rPr>
                  <a:t> denotada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s-MX" sz="2400" b="1" dirty="0">
                    <a:solidFill>
                      <a:srgbClr val="7030A0"/>
                    </a:solidFill>
                    <a:latin typeface="Calibri" panose="020F0502020204030204"/>
                  </a:rPr>
                  <a:t> estará dada por:   </a:t>
                </a:r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EACD487C-FBD2-4250-A62B-12ED0CC548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5694"/>
                <a:ext cx="12190816" cy="1113510"/>
              </a:xfrm>
              <a:prstGeom prst="rect">
                <a:avLst/>
              </a:prstGeom>
              <a:blipFill>
                <a:blip r:embed="rId2"/>
                <a:stretch>
                  <a:fillRect l="-750" r="-750" b="-989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47D50CD0-C199-4CB1-A545-4C09BDB64B48}"/>
              </a:ext>
            </a:extLst>
          </p:cNvPr>
          <p:cNvSpPr/>
          <p:nvPr/>
        </p:nvSpPr>
        <p:spPr>
          <a:xfrm>
            <a:off x="0" y="3944055"/>
            <a:ext cx="6745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  <a:latin typeface="Calibri" panose="020F0502020204030204"/>
              </a:rPr>
              <a:t>Lo cual podemos resumir en los siguientes 4 pasos:</a:t>
            </a:r>
            <a:endParaRPr lang="es-MX" sz="2400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xmlns="" id="{8A6C7CCA-8BC8-4AF5-845B-FDE414E31BD1}"/>
              </a:ext>
            </a:extLst>
          </p:cNvPr>
          <p:cNvSpPr/>
          <p:nvPr/>
        </p:nvSpPr>
        <p:spPr>
          <a:xfrm>
            <a:off x="1184" y="4538507"/>
            <a:ext cx="110231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s-MX" sz="2400" b="1" dirty="0">
                <a:solidFill>
                  <a:srgbClr val="0070C0"/>
                </a:solidFill>
                <a:latin typeface="Calibri" panose="020F0502020204030204"/>
              </a:rPr>
              <a:t> </a:t>
            </a:r>
            <a:r>
              <a:rPr lang="es-ES" sz="2400" b="1" dirty="0">
                <a:solidFill>
                  <a:srgbClr val="0070C0"/>
                </a:solidFill>
                <a:latin typeface="Calibri" panose="020F0502020204030204"/>
              </a:rPr>
              <a:t>Calculamos el determinante de la matriz para determinar si tiene inversa, si es así.</a:t>
            </a:r>
            <a:endParaRPr lang="es-MX" sz="2400" b="1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xmlns="" id="{E6984A95-EAD0-44B7-B908-449CB2C9F39E}"/>
              </a:ext>
            </a:extLst>
          </p:cNvPr>
          <p:cNvSpPr/>
          <p:nvPr/>
        </p:nvSpPr>
        <p:spPr>
          <a:xfrm>
            <a:off x="0" y="5095882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s-MX" sz="2400" b="1" dirty="0">
                <a:solidFill>
                  <a:srgbClr val="7030A0"/>
                </a:solidFill>
                <a:latin typeface="Calibri" panose="020F0502020204030204"/>
              </a:rPr>
              <a:t> </a:t>
            </a:r>
            <a:r>
              <a:rPr lang="es-ES" sz="2400" b="1" dirty="0">
                <a:solidFill>
                  <a:srgbClr val="7030A0"/>
                </a:solidFill>
                <a:latin typeface="Calibri" panose="020F0502020204030204"/>
              </a:rPr>
              <a:t>Intercambiamos de posición los elementos en la diagonal principal.</a:t>
            </a:r>
            <a:endParaRPr lang="es-MX" sz="2400" b="1" dirty="0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5F4D7086-69E4-4923-9B8F-5219AA7A0C1D}"/>
              </a:ext>
            </a:extLst>
          </p:cNvPr>
          <p:cNvSpPr/>
          <p:nvPr/>
        </p:nvSpPr>
        <p:spPr>
          <a:xfrm>
            <a:off x="1184" y="5653258"/>
            <a:ext cx="86920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s-MX" sz="2400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</a:rPr>
              <a:t> </a:t>
            </a:r>
            <a:r>
              <a:rPr lang="es-ES" sz="2400" b="1" dirty="0">
                <a:solidFill>
                  <a:srgbClr val="ED7D31">
                    <a:lumMod val="75000"/>
                  </a:srgbClr>
                </a:solidFill>
                <a:latin typeface="Calibri" panose="020F0502020204030204"/>
              </a:rPr>
              <a:t>Cambiamos el signo de los elementos en la diagonal secundaria.</a:t>
            </a:r>
            <a:endParaRPr lang="es-MX" sz="2400" b="1" dirty="0">
              <a:solidFill>
                <a:srgbClr val="ED7D31">
                  <a:lumMod val="75000"/>
                </a:srgbClr>
              </a:solidFill>
              <a:latin typeface="Calibri" panose="020F0502020204030204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4F74097A-12B7-44AB-B248-3EA3AEBA681D}"/>
              </a:ext>
            </a:extLst>
          </p:cNvPr>
          <p:cNvSpPr/>
          <p:nvPr/>
        </p:nvSpPr>
        <p:spPr>
          <a:xfrm>
            <a:off x="1184" y="6145482"/>
            <a:ext cx="12190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s-MX" sz="2400" b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 </a:t>
            </a:r>
            <a:r>
              <a:rPr lang="es-ES" sz="2400" b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Dividimos todos los elementos de la matriz entre el valor del determinante.</a:t>
            </a:r>
            <a:endParaRPr lang="es-MX" sz="2400" b="1" dirty="0">
              <a:solidFill>
                <a:srgbClr val="70AD47">
                  <a:lumMod val="75000"/>
                </a:srgbClr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9B5B3264-4FEF-4628-AD08-0A0E46E1715D}"/>
                  </a:ext>
                </a:extLst>
              </p:cNvPr>
              <p:cNvSpPr/>
              <p:nvPr/>
            </p:nvSpPr>
            <p:spPr>
              <a:xfrm>
                <a:off x="5215944" y="2611352"/>
                <a:ext cx="5615141" cy="15200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MX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MX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𝟐𝟐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𝟏𝟐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𝟐𝟏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𝟏𝟏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2400" b="1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4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5B3264-4FEF-4628-AD08-0A0E46E171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944" y="2611352"/>
                <a:ext cx="5615141" cy="15200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55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18867877-AD98-4AAA-9F09-B67C818173E3}"/>
              </a:ext>
            </a:extLst>
          </p:cNvPr>
          <p:cNvSpPr/>
          <p:nvPr/>
        </p:nvSpPr>
        <p:spPr>
          <a:xfrm>
            <a:off x="-1" y="1146622"/>
            <a:ext cx="13522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  <a:latin typeface="Calibri" panose="020F0502020204030204"/>
              </a:rPr>
              <a:t>Ejemplo </a:t>
            </a:r>
            <a:endParaRPr lang="es-MX" sz="2400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4BC6AEA4-8B43-46BA-A616-E7FF9A2B4732}"/>
              </a:ext>
            </a:extLst>
          </p:cNvPr>
          <p:cNvSpPr/>
          <p:nvPr/>
        </p:nvSpPr>
        <p:spPr>
          <a:xfrm>
            <a:off x="0" y="1616955"/>
            <a:ext cx="57310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/>
              </a:rPr>
              <a:t>Determine la inversa de la matriz, si existe.</a:t>
            </a:r>
            <a:endParaRPr lang="es-MX" sz="2400" b="1" dirty="0">
              <a:solidFill>
                <a:schemeClr val="accent3">
                  <a:lumMod val="50000"/>
                </a:schemeClr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id="{F896C7E6-3533-49F9-A188-3F88BB3E2728}"/>
                  </a:ext>
                </a:extLst>
              </p:cNvPr>
              <p:cNvSpPr/>
              <p:nvPr/>
            </p:nvSpPr>
            <p:spPr>
              <a:xfrm>
                <a:off x="-1" y="2177037"/>
                <a:ext cx="1841679" cy="708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4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896C7E6-3533-49F9-A188-3F88BB3E27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77037"/>
                <a:ext cx="1841679" cy="7081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>
            <a:extLst>
              <a:ext uri="{FF2B5EF4-FFF2-40B4-BE49-F238E27FC236}">
                <a16:creationId xmlns:a16="http://schemas.microsoft.com/office/drawing/2014/main" xmlns="" id="{1DB17202-55D5-4C28-96FC-1B0D393D5E27}"/>
              </a:ext>
            </a:extLst>
          </p:cNvPr>
          <p:cNvSpPr/>
          <p:nvPr/>
        </p:nvSpPr>
        <p:spPr>
          <a:xfrm>
            <a:off x="0" y="3168290"/>
            <a:ext cx="1352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Solución</a:t>
            </a:r>
            <a:endParaRPr lang="es-MX" sz="2400" b="1" dirty="0">
              <a:solidFill>
                <a:srgbClr val="70AD47">
                  <a:lumMod val="75000"/>
                </a:srgbClr>
              </a:solidFill>
              <a:latin typeface="Calibri" panose="020F0502020204030204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598B7E4C-7345-4652-B0A8-CE982EC7E3A2}"/>
              </a:ext>
            </a:extLst>
          </p:cNvPr>
          <p:cNvSpPr/>
          <p:nvPr/>
        </p:nvSpPr>
        <p:spPr>
          <a:xfrm>
            <a:off x="-1" y="3714889"/>
            <a:ext cx="3013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/>
              </a:rPr>
              <a:t>El determinante de  </a:t>
            </a:r>
            <a:r>
              <a:rPr lang="es-ES" sz="2400" b="1" dirty="0">
                <a:solidFill>
                  <a:srgbClr val="FF0000"/>
                </a:solidFill>
                <a:latin typeface="Calibri" panose="020F0502020204030204"/>
              </a:rPr>
              <a:t>A</a:t>
            </a:r>
            <a:r>
              <a:rPr lang="es-E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/>
              </a:rPr>
              <a:t> </a:t>
            </a:r>
            <a:endParaRPr lang="es-MX" sz="2400" b="1" dirty="0">
              <a:solidFill>
                <a:schemeClr val="accent3">
                  <a:lumMod val="50000"/>
                </a:schemeClr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A6D4945B-0048-4CCD-864A-8D7028433C7C}"/>
                  </a:ext>
                </a:extLst>
              </p:cNvPr>
              <p:cNvSpPr/>
              <p:nvPr/>
            </p:nvSpPr>
            <p:spPr>
              <a:xfrm>
                <a:off x="-2" y="4290616"/>
                <a:ext cx="325835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D4945B-0048-4CCD-864A-8D7028433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4290616"/>
                <a:ext cx="3258357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1D56ACEC-7EFA-4130-8582-6B589CE0E2AF}"/>
                  </a:ext>
                </a:extLst>
              </p:cNvPr>
              <p:cNvSpPr/>
              <p:nvPr/>
            </p:nvSpPr>
            <p:spPr>
              <a:xfrm>
                <a:off x="3181082" y="4290614"/>
                <a:ext cx="181592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s-MX" sz="24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56ACEC-7EFA-4130-8582-6B589CE0E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082" y="4290614"/>
                <a:ext cx="1815921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CBC394FE-C280-4DF6-BD2C-0E7AC39DBE77}"/>
                  </a:ext>
                </a:extLst>
              </p:cNvPr>
              <p:cNvSpPr/>
              <p:nvPr/>
            </p:nvSpPr>
            <p:spPr>
              <a:xfrm>
                <a:off x="4997003" y="4290615"/>
                <a:ext cx="13844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s-MX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MX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BC394FE-C280-4DF6-BD2C-0E7AC39DBE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003" y="4290615"/>
                <a:ext cx="1384481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>
            <a:extLst>
              <a:ext uri="{FF2B5EF4-FFF2-40B4-BE49-F238E27FC236}">
                <a16:creationId xmlns:a16="http://schemas.microsoft.com/office/drawing/2014/main" xmlns="" id="{2E4D9321-069A-428F-83A5-1902605A0BFB}"/>
              </a:ext>
            </a:extLst>
          </p:cNvPr>
          <p:cNvSpPr/>
          <p:nvPr/>
        </p:nvSpPr>
        <p:spPr>
          <a:xfrm>
            <a:off x="0" y="5060070"/>
            <a:ext cx="61303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chemeClr val="accent3">
                    <a:lumMod val="50000"/>
                  </a:schemeClr>
                </a:solidFill>
                <a:latin typeface="Calibri" panose="020F0502020204030204"/>
              </a:rPr>
              <a:t>Lo que nos indica que la matriz posee inversa</a:t>
            </a:r>
            <a:endParaRPr lang="es-MX" sz="2400" b="1" dirty="0">
              <a:solidFill>
                <a:schemeClr val="accent3">
                  <a:lumMod val="50000"/>
                </a:schemeClr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xmlns="" id="{7C76DF05-E542-49DC-867D-5CC729175F75}"/>
                  </a:ext>
                </a:extLst>
              </p:cNvPr>
              <p:cNvSpPr/>
              <p:nvPr/>
            </p:nvSpPr>
            <p:spPr>
              <a:xfrm>
                <a:off x="5930723" y="4881332"/>
                <a:ext cx="3013656" cy="783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MX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MX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MX" sz="2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400" b="1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C76DF05-E542-49DC-867D-5CC729175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723" y="4881332"/>
                <a:ext cx="3013656" cy="7838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7A01CCC0-D32C-4C76-A0E9-54F3A0923D6B}"/>
                  </a:ext>
                </a:extLst>
              </p:cNvPr>
              <p:cNvSpPr/>
              <p:nvPr/>
            </p:nvSpPr>
            <p:spPr>
              <a:xfrm>
                <a:off x="8693239" y="4557034"/>
                <a:ext cx="3013656" cy="1560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s-MX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MX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MX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MX" sz="2400" b="1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400" b="1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A01CCC0-D32C-4C76-A0E9-54F3A0923D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239" y="4557034"/>
                <a:ext cx="3013656" cy="156017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07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649225"/>
                <a:ext cx="7301132" cy="589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𝒃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𝒂𝒅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𝒃𝒄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 y </a:t>
                </a: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49225"/>
                <a:ext cx="7301132" cy="589649"/>
              </a:xfrm>
              <a:prstGeom prst="rect">
                <a:avLst/>
              </a:prstGeom>
              <a:blipFill>
                <a:blip r:embed="rId2"/>
                <a:stretch>
                  <a:fillRect l="-835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-18756" y="1194251"/>
            <a:ext cx="143959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xmlns="" id="{076E7B58-5B17-4678-8DED-F53CDB306870}"/>
                  </a:ext>
                </a:extLst>
              </p:cNvPr>
              <p:cNvSpPr/>
              <p:nvPr/>
            </p:nvSpPr>
            <p:spPr>
              <a:xfrm>
                <a:off x="4956517" y="2376453"/>
                <a:ext cx="3259015" cy="6347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𝒂𝒅</m:t>
                          </m:r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𝒃𝒄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𝒅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𝒃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𝒄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076E7B58-5B17-4678-8DED-F53CDB3068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517" y="2376453"/>
                <a:ext cx="3259015" cy="634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xmlns="" id="{B3AF2586-DE41-43DB-B072-ED6E7E4B27E7}"/>
                  </a:ext>
                </a:extLst>
              </p:cNvPr>
              <p:cNvSpPr/>
              <p:nvPr/>
            </p:nvSpPr>
            <p:spPr>
              <a:xfrm>
                <a:off x="0" y="3148821"/>
                <a:ext cx="571148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𝒂𝒅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𝒃𝒄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es invertible. </a:t>
                </a:r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B3AF2586-DE41-43DB-B072-ED6E7E4B27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48821"/>
                <a:ext cx="5711483" cy="369332"/>
              </a:xfrm>
              <a:prstGeom prst="rect">
                <a:avLst/>
              </a:prstGeom>
              <a:blipFill>
                <a:blip r:embed="rId4"/>
                <a:stretch>
                  <a:fillRect l="-1067" t="-16667" b="-3166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xmlns="" id="{4527BD51-FF3D-4B5D-9DBC-EBB6D0D4DA8F}"/>
              </a:ext>
            </a:extLst>
          </p:cNvPr>
          <p:cNvSpPr txBox="1">
            <a:spLocks/>
          </p:cNvSpPr>
          <p:nvPr/>
        </p:nvSpPr>
        <p:spPr>
          <a:xfrm>
            <a:off x="37512" y="3750689"/>
            <a:ext cx="1416149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xmlns="" id="{11F10A5A-F871-4229-A0EB-78835D39CB77}"/>
                  </a:ext>
                </a:extLst>
              </p:cNvPr>
              <p:cNvSpPr/>
              <p:nvPr/>
            </p:nvSpPr>
            <p:spPr>
              <a:xfrm>
                <a:off x="1" y="4241287"/>
                <a:ext cx="4652888" cy="5670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Encuentre la inversa de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11F10A5A-F871-4229-A0EB-78835D39C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241287"/>
                <a:ext cx="4652888" cy="567078"/>
              </a:xfrm>
              <a:prstGeom prst="rect">
                <a:avLst/>
              </a:prstGeom>
              <a:blipFill>
                <a:blip r:embed="rId5"/>
                <a:stretch>
                  <a:fillRect l="-131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xmlns="" id="{AAB444FC-6E7A-42FA-959F-D74E2298D55B}"/>
              </a:ext>
            </a:extLst>
          </p:cNvPr>
          <p:cNvSpPr txBox="1">
            <a:spLocks/>
          </p:cNvSpPr>
          <p:nvPr/>
        </p:nvSpPr>
        <p:spPr>
          <a:xfrm>
            <a:off x="0" y="4883109"/>
            <a:ext cx="145366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xmlns="" id="{14B31604-62E6-49ED-AA23-E43891B8DC85}"/>
                  </a:ext>
                </a:extLst>
              </p:cNvPr>
              <p:cNvSpPr/>
              <p:nvPr/>
            </p:nvSpPr>
            <p:spPr>
              <a:xfrm>
                <a:off x="1" y="5338083"/>
                <a:ext cx="775129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Dado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det</m:t>
                    </m:r>
                    <m:r>
                      <a:rPr lang="es-NI" sz="2000" b="1" i="0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𝟏𝟖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𝟐𝟎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s-ES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ES" sz="2000" b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lang="es-ES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</a:t>
                </a:r>
              </a:p>
            </p:txBody>
          </p:sp>
        </mc:Choice>
        <mc:Fallback xmlns="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4B31604-62E6-49ED-AA23-E43891B8DC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338083"/>
                <a:ext cx="775129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786" t="-16667" b="-31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xmlns="" id="{97B44268-F931-4378-8FC5-3191F7C5A953}"/>
                  </a:ext>
                </a:extLst>
              </p:cNvPr>
              <p:cNvSpPr/>
              <p:nvPr/>
            </p:nvSpPr>
            <p:spPr>
              <a:xfrm>
                <a:off x="5130018" y="5919738"/>
                <a:ext cx="2912012" cy="6347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97B44268-F931-4378-8FC5-3191F7C5A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018" y="5919738"/>
                <a:ext cx="2912012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xmlns="" id="{1D24E006-7530-4F11-BDE0-44FF719412F1}"/>
                  </a:ext>
                </a:extLst>
              </p:cNvPr>
              <p:cNvSpPr/>
              <p:nvPr/>
            </p:nvSpPr>
            <p:spPr>
              <a:xfrm>
                <a:off x="7751299" y="5664276"/>
                <a:ext cx="1887417" cy="11931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𝟔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1D24E006-7530-4F11-BDE0-44FF719412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299" y="5664276"/>
                <a:ext cx="1887417" cy="1193147"/>
              </a:xfrm>
              <a:prstGeom prst="rect">
                <a:avLst/>
              </a:prstGeom>
              <a:blipFill>
                <a:blip r:embed="rId8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xmlns="" id="{D22FB63A-0F0A-4BF9-B3E6-E344FFB16B49}"/>
                  </a:ext>
                </a:extLst>
              </p:cNvPr>
              <p:cNvSpPr/>
              <p:nvPr/>
            </p:nvSpPr>
            <p:spPr>
              <a:xfrm>
                <a:off x="9188545" y="5813330"/>
                <a:ext cx="1596686" cy="847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D22FB63A-0F0A-4BF9-B3E6-E344FFB16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545" y="5813330"/>
                <a:ext cx="1596686" cy="8476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17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>
            <a:extLst>
              <a:ext uri="{FF2B5EF4-FFF2-40B4-BE49-F238E27FC236}">
                <a16:creationId xmlns:a16="http://schemas.microsoft.com/office/drawing/2014/main" xmlns="" id="{2D595971-7321-49E8-BE5A-618329B72B00}"/>
              </a:ext>
            </a:extLst>
          </p:cNvPr>
          <p:cNvSpPr txBox="1"/>
          <p:nvPr/>
        </p:nvSpPr>
        <p:spPr>
          <a:xfrm>
            <a:off x="0" y="1148979"/>
            <a:ext cx="28592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E2D37"/>
                </a:solidFill>
                <a:latin typeface="Arial"/>
              </a:rPr>
              <a:t>Gauss</a:t>
            </a:r>
            <a:r>
              <a:rPr lang="es-ES" sz="2600" b="1" dirty="0">
                <a:solidFill>
                  <a:srgbClr val="1E2D37"/>
                </a:solidFill>
                <a:latin typeface="Arial"/>
              </a:rPr>
              <a:t> </a:t>
            </a:r>
            <a:r>
              <a:rPr sz="2600" b="1" dirty="0">
                <a:solidFill>
                  <a:srgbClr val="1E2D37"/>
                </a:solidFill>
                <a:latin typeface="Arial"/>
              </a:rPr>
              <a:t>-</a:t>
            </a:r>
            <a:r>
              <a:rPr lang="es-ES" sz="2600" b="1" dirty="0">
                <a:solidFill>
                  <a:srgbClr val="1E2D37"/>
                </a:solidFill>
                <a:latin typeface="Arial"/>
              </a:rPr>
              <a:t> </a:t>
            </a:r>
            <a:r>
              <a:rPr sz="2600" b="1" dirty="0">
                <a:solidFill>
                  <a:srgbClr val="1E2D37"/>
                </a:solidFill>
                <a:latin typeface="Arial"/>
              </a:rPr>
              <a:t>Jordan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xmlns="" id="{C76C27D1-5954-4C30-85DA-8B46C066B00A}"/>
                  </a:ext>
                </a:extLst>
              </p:cNvPr>
              <p:cNvSpPr txBox="1"/>
              <p:nvPr/>
            </p:nvSpPr>
            <p:spPr>
              <a:xfrm>
                <a:off x="3517" y="1757597"/>
                <a:ext cx="310122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Ruta</a:t>
                </a:r>
                <a:r>
                  <a:rPr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 </a:t>
                </a:r>
                <a:r>
                  <a:rPr sz="2200" b="1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obtener</a:t>
                </a:r>
                <a:r>
                  <a:rPr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NI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⁻¹</m:t>
                    </m:r>
                  </m:oMath>
                </a14:m>
                <a:endParaRPr sz="2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C76C27D1-5954-4C30-85DA-8B46C066B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" y="1757597"/>
                <a:ext cx="3101224" cy="430887"/>
              </a:xfrm>
              <a:prstGeom prst="rect">
                <a:avLst/>
              </a:prstGeom>
              <a:blipFill>
                <a:blip r:embed="rId2"/>
                <a:stretch>
                  <a:fillRect l="-2559" t="-7042" b="-2957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3">
                <a:extLst>
                  <a:ext uri="{FF2B5EF4-FFF2-40B4-BE49-F238E27FC236}">
                    <a16:creationId xmlns:a16="http://schemas.microsoft.com/office/drawing/2014/main" xmlns="" id="{0232EE16-18D5-45AC-A67F-37FE15F8433D}"/>
                  </a:ext>
                </a:extLst>
              </p:cNvPr>
              <p:cNvSpPr/>
              <p:nvPr/>
            </p:nvSpPr>
            <p:spPr>
              <a:xfrm>
                <a:off x="801858" y="2903220"/>
                <a:ext cx="2057400" cy="1051560"/>
              </a:xfrm>
              <a:prstGeom prst="roundRect">
                <a:avLst/>
              </a:prstGeom>
              <a:solidFill>
                <a:srgbClr val="EBF8F8"/>
              </a:solidFill>
              <a:ln>
                <a:solidFill>
                  <a:srgbClr val="00A6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700" b="1">
                    <a:solidFill>
                      <a:srgbClr val="1E2D37"/>
                    </a:solidFill>
                    <a:latin typeface="Arial"/>
                  </a:defRPr>
                </a:pPr>
                <a:r>
                  <a:rPr sz="1700" b="1" dirty="0" err="1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Construir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s-NI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NI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NI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NI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NI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0" name="Rounded Rectangle 3">
                <a:extLst>
                  <a:ext uri="{FF2B5EF4-FFF2-40B4-BE49-F238E27FC236}">
                    <a16:creationId xmlns:a16="http://schemas.microsoft.com/office/drawing/2014/main" id="{0232EE16-18D5-45AC-A67F-37FE15F843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58" y="2903220"/>
                <a:ext cx="2057400" cy="105156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A6A6"/>
                </a:solidFill>
              </a:ln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 4">
            <a:extLst>
              <a:ext uri="{FF2B5EF4-FFF2-40B4-BE49-F238E27FC236}">
                <a16:creationId xmlns:a16="http://schemas.microsoft.com/office/drawing/2014/main" xmlns="" id="{3A569889-40EC-4151-BF27-44354AFB61A3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59258" y="3429000"/>
            <a:ext cx="685800" cy="4572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5">
            <a:extLst>
              <a:ext uri="{FF2B5EF4-FFF2-40B4-BE49-F238E27FC236}">
                <a16:creationId xmlns:a16="http://schemas.microsoft.com/office/drawing/2014/main" xmlns="" id="{6DB1A271-B5A2-4485-BF9D-050FC9C1D2F0}"/>
              </a:ext>
            </a:extLst>
          </p:cNvPr>
          <p:cNvSpPr/>
          <p:nvPr/>
        </p:nvSpPr>
        <p:spPr>
          <a:xfrm>
            <a:off x="3545058" y="2903220"/>
            <a:ext cx="2057400" cy="1051560"/>
          </a:xfrm>
          <a:prstGeom prst="roundRect">
            <a:avLst/>
          </a:prstGeom>
          <a:solidFill>
            <a:srgbClr val="EBF8F8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D37"/>
                </a:solidFill>
                <a:latin typeface="Arial"/>
              </a:defRPr>
            </a:pPr>
            <a:r>
              <a:rPr sz="17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Pivotes</a:t>
            </a:r>
            <a:endParaRPr sz="17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 6">
            <a:extLst>
              <a:ext uri="{FF2B5EF4-FFF2-40B4-BE49-F238E27FC236}">
                <a16:creationId xmlns:a16="http://schemas.microsoft.com/office/drawing/2014/main" xmlns="" id="{D79B3301-9C55-4B3F-B5F6-C1817CC61C86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5602458" y="3429000"/>
            <a:ext cx="685800" cy="4572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7">
            <a:extLst>
              <a:ext uri="{FF2B5EF4-FFF2-40B4-BE49-F238E27FC236}">
                <a16:creationId xmlns:a16="http://schemas.microsoft.com/office/drawing/2014/main" xmlns="" id="{9FCB46BE-948E-49B5-96AA-711525A13EE9}"/>
              </a:ext>
            </a:extLst>
          </p:cNvPr>
          <p:cNvSpPr/>
          <p:nvPr/>
        </p:nvSpPr>
        <p:spPr>
          <a:xfrm>
            <a:off x="6288258" y="2903220"/>
            <a:ext cx="2057400" cy="1051560"/>
          </a:xfrm>
          <a:prstGeom prst="roundRect">
            <a:avLst/>
          </a:prstGeom>
          <a:solidFill>
            <a:srgbClr val="EBF8F8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D37"/>
                </a:solidFill>
                <a:latin typeface="Arial"/>
              </a:defRPr>
            </a:pPr>
            <a:r>
              <a:rPr sz="17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Ceros</a:t>
            </a:r>
            <a:r>
              <a:rPr lang="es-MX" sz="17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7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fila/columna</a:t>
            </a:r>
          </a:p>
        </p:txBody>
      </p:sp>
      <p:cxnSp>
        <p:nvCxnSpPr>
          <p:cNvPr id="15" name="Connector 8">
            <a:extLst>
              <a:ext uri="{FF2B5EF4-FFF2-40B4-BE49-F238E27FC236}">
                <a16:creationId xmlns:a16="http://schemas.microsoft.com/office/drawing/2014/main" xmlns="" id="{95AB6BC3-B087-451B-84B0-52012BB67836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8345658" y="3429000"/>
            <a:ext cx="685800" cy="4572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9">
                <a:extLst>
                  <a:ext uri="{FF2B5EF4-FFF2-40B4-BE49-F238E27FC236}">
                    <a16:creationId xmlns:a16="http://schemas.microsoft.com/office/drawing/2014/main" xmlns="" id="{F1499884-8FF3-4CAC-AAEE-501670B043BD}"/>
                  </a:ext>
                </a:extLst>
              </p:cNvPr>
              <p:cNvSpPr/>
              <p:nvPr/>
            </p:nvSpPr>
            <p:spPr>
              <a:xfrm>
                <a:off x="9031458" y="2903220"/>
                <a:ext cx="2057400" cy="1051560"/>
              </a:xfrm>
              <a:prstGeom prst="roundRect">
                <a:avLst/>
              </a:prstGeom>
              <a:solidFill>
                <a:srgbClr val="EBF8F8"/>
              </a:solidFill>
              <a:ln>
                <a:solidFill>
                  <a:srgbClr val="00A6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700" b="1">
                    <a:solidFill>
                      <a:srgbClr val="1E2D37"/>
                    </a:solidFill>
                    <a:latin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NI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NI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NI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NI" i="1" dirty="0" smtClean="0">
                          <a:latin typeface="Cambria Math" panose="02040503050406030204" pitchFamily="18" charset="0"/>
                        </a:rPr>
                        <m:t>⁻¹]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Rounded Rectangle 9">
                <a:extLst>
                  <a:ext uri="{FF2B5EF4-FFF2-40B4-BE49-F238E27FC236}">
                    <a16:creationId xmlns:a16="http://schemas.microsoft.com/office/drawing/2014/main" id="{F1499884-8FF3-4CAC-AAEE-501670B043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458" y="2903220"/>
                <a:ext cx="2057400" cy="105156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A6A6"/>
                </a:solidFill>
              </a:ln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">
            <a:extLst>
              <a:ext uri="{FF2B5EF4-FFF2-40B4-BE49-F238E27FC236}">
                <a16:creationId xmlns:a16="http://schemas.microsoft.com/office/drawing/2014/main" xmlns="" id="{4CDD0651-8FB7-429A-B419-F701D7573D87}"/>
              </a:ext>
            </a:extLst>
          </p:cNvPr>
          <p:cNvSpPr txBox="1"/>
          <p:nvPr/>
        </p:nvSpPr>
        <p:spPr>
          <a:xfrm>
            <a:off x="0" y="4455540"/>
            <a:ext cx="24161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600" b="1" dirty="0">
                <a:solidFill>
                  <a:srgbClr val="1E2D37"/>
                </a:solidFill>
                <a:latin typeface="Arial"/>
              </a:rPr>
              <a:t>Verificación</a:t>
            </a:r>
            <a:endParaRPr sz="2600" b="1" dirty="0">
              <a:solidFill>
                <a:srgbClr val="1E2D37"/>
              </a:solidFill>
              <a:latin typeface="Aria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xmlns="" id="{CD115460-3CEE-4B7C-A7DF-5F8BA212C592}"/>
              </a:ext>
            </a:extLst>
          </p:cNvPr>
          <p:cNvSpPr/>
          <p:nvPr/>
        </p:nvSpPr>
        <p:spPr>
          <a:xfrm>
            <a:off x="0" y="5009574"/>
            <a:ext cx="4357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3F3F3F"/>
              </a:buClr>
              <a:buSzPts val="2800"/>
            </a:pPr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basta con obtener una matriz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E390D85E-A874-4B5C-A3FD-F51CCB3B44F6}"/>
                  </a:ext>
                </a:extLst>
              </p:cNvPr>
              <p:cNvSpPr/>
              <p:nvPr/>
            </p:nvSpPr>
            <p:spPr>
              <a:xfrm>
                <a:off x="0" y="5495045"/>
                <a:ext cx="6513342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Calcular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·</m:t>
                    </m:r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⁻¹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 resultado debe ser la identidad.</a:t>
                </a: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Comprobar también </a:t>
                </a:r>
                <a14:m>
                  <m:oMath xmlns:m="http://schemas.openxmlformats.org/officeDocument/2006/math"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⁻¹·</m:t>
                    </m:r>
                    <m:r>
                      <a:rPr lang="es-ES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cuando corresponda.</a:t>
                </a: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Revisar signos, pivotes y operaciones por filas.</a:t>
                </a: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E390D85E-A874-4B5C-A3FD-F51CCB3B4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95045"/>
                <a:ext cx="6513342" cy="1323439"/>
              </a:xfrm>
              <a:prstGeom prst="rect">
                <a:avLst/>
              </a:prstGeom>
              <a:blipFill>
                <a:blip r:embed="rId5"/>
                <a:stretch>
                  <a:fillRect l="-843" t="-1835" b="-7339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19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2" grpId="0" animBg="1"/>
      <p:bldP spid="14" grpId="0" animBg="1"/>
      <p:bldP spid="16" grpId="0" animBg="1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13ACBCB8-8929-4180-9C5D-85BD254EFB72}"/>
              </a:ext>
            </a:extLst>
          </p:cNvPr>
          <p:cNvSpPr/>
          <p:nvPr/>
        </p:nvSpPr>
        <p:spPr>
          <a:xfrm>
            <a:off x="0" y="1791302"/>
            <a:ext cx="4304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Encuentre la inversa de la matriz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0" y="1231544"/>
            <a:ext cx="159698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kumimoji="0" lang="es-E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Ejemplo 1. 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="" id="{E4D9841D-E6E9-4664-937D-0245AAC19EBF}"/>
                  </a:ext>
                </a:extLst>
              </p:cNvPr>
              <p:cNvSpPr/>
              <p:nvPr/>
            </p:nvSpPr>
            <p:spPr>
              <a:xfrm>
                <a:off x="4153587" y="1697866"/>
                <a:ext cx="1617785" cy="6034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𝑨</m:t>
                      </m:r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s-ES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ES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ES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0" lang="es-ES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ES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kumimoji="0" lang="es-ES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kumimoji="0" lang="es-E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D9841D-E6E9-4664-937D-0245AAC19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587" y="1697866"/>
                <a:ext cx="1617785" cy="6034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15E3888E-652D-4336-A012-EE3E2E62547D}"/>
              </a:ext>
            </a:extLst>
          </p:cNvPr>
          <p:cNvSpPr/>
          <p:nvPr/>
        </p:nvSpPr>
        <p:spPr>
          <a:xfrm>
            <a:off x="5632641" y="1791302"/>
            <a:ext cx="212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 acaso existe.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xmlns="" id="{1583FF87-6263-46E6-8DA9-412DD827DF9E}"/>
              </a:ext>
            </a:extLst>
          </p:cNvPr>
          <p:cNvSpPr txBox="1">
            <a:spLocks/>
          </p:cNvSpPr>
          <p:nvPr/>
        </p:nvSpPr>
        <p:spPr>
          <a:xfrm>
            <a:off x="0" y="2394512"/>
            <a:ext cx="146304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Solución.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E8FCAE8B-24AB-4211-ADEB-378EC24287DF}"/>
                  </a:ext>
                </a:extLst>
              </p:cNvPr>
              <p:cNvSpPr/>
              <p:nvPr/>
            </p:nvSpPr>
            <p:spPr>
              <a:xfrm>
                <a:off x="240887" y="3192335"/>
                <a:ext cx="98126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</m:d>
                          <m: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  <m:t>𝑰</m:t>
                          </m:r>
                        </m:e>
                      </m:d>
                      <m:r>
                        <a:rPr kumimoji="0" lang="es-E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8FCAE8B-24AB-4211-ADEB-378EC24287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87" y="3192335"/>
                <a:ext cx="981266" cy="338554"/>
              </a:xfrm>
              <a:prstGeom prst="rect">
                <a:avLst/>
              </a:prstGeom>
              <a:blipFill>
                <a:blip r:embed="rId3"/>
                <a:stretch>
                  <a:fillRect l="-7500" t="-109091" b="-174545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A60A5754-2CDF-47C8-A4A0-FE09C2E9CA61}"/>
                  </a:ext>
                </a:extLst>
              </p:cNvPr>
              <p:cNvSpPr/>
              <p:nvPr/>
            </p:nvSpPr>
            <p:spPr>
              <a:xfrm>
                <a:off x="1037719" y="3076341"/>
                <a:ext cx="1463040" cy="522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s-E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𝟒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A60A5754-2CDF-47C8-A4A0-FE09C2E9C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719" y="3076341"/>
                <a:ext cx="1463040" cy="522579"/>
              </a:xfrm>
              <a:prstGeom prst="rect">
                <a:avLst/>
              </a:prstGeom>
              <a:blipFill>
                <a:blip r:embed="rId4"/>
                <a:stretch>
                  <a:fillRect l="-3750" t="-142353" b="-211765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n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929" y="3279835"/>
            <a:ext cx="677529" cy="24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/>
              <p:cNvSpPr/>
              <p:nvPr/>
            </p:nvSpPr>
            <p:spPr>
              <a:xfrm>
                <a:off x="2272509" y="3060631"/>
                <a:ext cx="130837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MX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kumimoji="0" lang="es-NI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→−</m:t>
                      </m:r>
                      <m:r>
                        <a:rPr kumimoji="0" lang="es-ES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kumimoji="0" lang="es-NI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Book"/>
                </a:endParaRPr>
              </a:p>
            </p:txBody>
          </p:sp>
        </mc:Choice>
        <mc:Fallback xmlns="">
          <p:sp>
            <p:nvSpPr>
              <p:cNvPr id="38" name="Rectángulo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509" y="3060631"/>
                <a:ext cx="1308370" cy="276999"/>
              </a:xfrm>
              <a:prstGeom prst="rect">
                <a:avLst/>
              </a:prstGeom>
              <a:blipFill>
                <a:blip r:embed="rId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xmlns="" id="{F81ABACA-A214-4D58-ABFA-27DEE5E85942}"/>
                  </a:ext>
                </a:extLst>
              </p:cNvPr>
              <p:cNvSpPr/>
              <p:nvPr/>
            </p:nvSpPr>
            <p:spPr>
              <a:xfrm>
                <a:off x="3396445" y="3076341"/>
                <a:ext cx="1752330" cy="522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s-E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F81ABACA-A214-4D58-ABFA-27DEE5E859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445" y="3076341"/>
                <a:ext cx="1752330" cy="522579"/>
              </a:xfrm>
              <a:prstGeom prst="rect">
                <a:avLst/>
              </a:prstGeom>
              <a:blipFill>
                <a:blip r:embed="rId7"/>
                <a:stretch>
                  <a:fillRect t="-142353" b="-211765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Imagen 46">
            <a:extLst>
              <a:ext uri="{FF2B5EF4-FFF2-40B4-BE49-F238E27FC236}">
                <a16:creationId xmlns:a16="http://schemas.microsoft.com/office/drawing/2014/main" xmlns="" id="{8BF63159-7CC8-41B5-B3F6-8F8F60778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843" y="3295545"/>
            <a:ext cx="677529" cy="24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xmlns="" id="{97B41864-75FF-4A7D-9D0A-F83D115C0FF9}"/>
                  </a:ext>
                </a:extLst>
              </p:cNvPr>
              <p:cNvSpPr/>
              <p:nvPr/>
            </p:nvSpPr>
            <p:spPr>
              <a:xfrm>
                <a:off x="4886760" y="2990995"/>
                <a:ext cx="1015599" cy="4380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MX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kumimoji="0" lang="es-NI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→−</m:t>
                      </m:r>
                      <m:f>
                        <m:fPr>
                          <m:ctrlP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Book"/>
                </a:endParaRPr>
              </a:p>
            </p:txBody>
          </p:sp>
        </mc:Choice>
        <mc:Fallback xmlns=""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97B41864-75FF-4A7D-9D0A-F83D115C0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760" y="2990995"/>
                <a:ext cx="1015599" cy="4380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xmlns="" id="{833BB14E-45BB-4BAF-922E-009ED723B16D}"/>
                  </a:ext>
                </a:extLst>
              </p:cNvPr>
              <p:cNvSpPr/>
              <p:nvPr/>
            </p:nvSpPr>
            <p:spPr>
              <a:xfrm>
                <a:off x="5787595" y="3060631"/>
                <a:ext cx="1967059" cy="544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s-E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Rectángulo 48">
                <a:extLst>
                  <a:ext uri="{FF2B5EF4-FFF2-40B4-BE49-F238E27FC236}">
                    <a16:creationId xmlns:a16="http://schemas.microsoft.com/office/drawing/2014/main" id="{833BB14E-45BB-4BAF-922E-009ED723B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595" y="3060631"/>
                <a:ext cx="1967059" cy="544444"/>
              </a:xfrm>
              <a:prstGeom prst="rect">
                <a:avLst/>
              </a:prstGeom>
              <a:blipFill>
                <a:blip r:embed="rId9"/>
                <a:stretch>
                  <a:fillRect l="-2786" t="-132584" r="-16718" b="-20112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ángulo 49">
                <a:extLst>
                  <a:ext uri="{FF2B5EF4-FFF2-40B4-BE49-F238E27FC236}">
                    <a16:creationId xmlns:a16="http://schemas.microsoft.com/office/drawing/2014/main" xmlns="" id="{925D2655-95CD-412C-BD08-3FC9D2A55D92}"/>
                  </a:ext>
                </a:extLst>
              </p:cNvPr>
              <p:cNvSpPr/>
              <p:nvPr/>
            </p:nvSpPr>
            <p:spPr>
              <a:xfrm>
                <a:off x="1037719" y="4310602"/>
                <a:ext cx="1967059" cy="544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s-E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Rectángulo 49">
                <a:extLst>
                  <a:ext uri="{FF2B5EF4-FFF2-40B4-BE49-F238E27FC236}">
                    <a16:creationId xmlns:a16="http://schemas.microsoft.com/office/drawing/2014/main" id="{925D2655-95CD-412C-BD08-3FC9D2A55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719" y="4310602"/>
                <a:ext cx="1967059" cy="544444"/>
              </a:xfrm>
              <a:prstGeom prst="rect">
                <a:avLst/>
              </a:prstGeom>
              <a:blipFill>
                <a:blip r:embed="rId10"/>
                <a:stretch>
                  <a:fillRect l="-2786" t="-132584" r="-16718" b="-20112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Imagen 50">
            <a:extLst>
              <a:ext uri="{FF2B5EF4-FFF2-40B4-BE49-F238E27FC236}">
                <a16:creationId xmlns:a16="http://schemas.microsoft.com/office/drawing/2014/main" xmlns="" id="{51963005-7906-4649-8ABD-030CF6171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2318" y="4572698"/>
            <a:ext cx="677529" cy="24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xmlns="" id="{4B1ECFEB-321E-44D3-995C-AA0A19A9E033}"/>
                  </a:ext>
                </a:extLst>
              </p:cNvPr>
              <p:cNvSpPr/>
              <p:nvPr/>
            </p:nvSpPr>
            <p:spPr>
              <a:xfrm>
                <a:off x="2916898" y="4353494"/>
                <a:ext cx="134363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MX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kumimoji="0" lang="es-NI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→−</m:t>
                      </m:r>
                      <m:r>
                        <a:rPr kumimoji="0" lang="es-ES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kumimoji="0" lang="es-NI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NI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kumimoji="0" lang="es-ES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Book"/>
                </a:endParaRPr>
              </a:p>
            </p:txBody>
          </p:sp>
        </mc:Choice>
        <mc:Fallback xmlns=""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4B1ECFEB-321E-44D3-995C-AA0A19A9E0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898" y="4353494"/>
                <a:ext cx="1343638" cy="276999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xmlns="" id="{188C332B-5B77-4D3A-9880-D5D48AB55F09}"/>
                  </a:ext>
                </a:extLst>
              </p:cNvPr>
              <p:cNvSpPr/>
              <p:nvPr/>
            </p:nvSpPr>
            <p:spPr>
              <a:xfrm>
                <a:off x="4169810" y="4300476"/>
                <a:ext cx="1967059" cy="5572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s-E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s-E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d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E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kumimoji="0" lang="es-E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kumimoji="0" lang="es-E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E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188C332B-5B77-4D3A-9880-D5D48AB55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810" y="4300476"/>
                <a:ext cx="1967059" cy="557204"/>
              </a:xfrm>
              <a:prstGeom prst="rect">
                <a:avLst/>
              </a:prstGeom>
              <a:blipFill>
                <a:blip r:embed="rId12"/>
                <a:stretch>
                  <a:fillRect l="-2786" t="-128261" r="-18576" b="-191304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Marcador de contenido 2">
            <a:extLst>
              <a:ext uri="{FF2B5EF4-FFF2-40B4-BE49-F238E27FC236}">
                <a16:creationId xmlns:a16="http://schemas.microsoft.com/office/drawing/2014/main" xmlns="" id="{134507A9-BCD2-4D4F-94F9-BA2D15BD448F}"/>
              </a:ext>
            </a:extLst>
          </p:cNvPr>
          <p:cNvSpPr txBox="1">
            <a:spLocks/>
          </p:cNvSpPr>
          <p:nvPr/>
        </p:nvSpPr>
        <p:spPr>
          <a:xfrm>
            <a:off x="404521" y="5232808"/>
            <a:ext cx="409548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tanto, matriz inversa es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xmlns="" id="{B1878CE9-8D97-48FA-A972-0BFED5BA8732}"/>
                  </a:ext>
                </a:extLst>
              </p:cNvPr>
              <p:cNvSpPr/>
              <p:nvPr/>
            </p:nvSpPr>
            <p:spPr>
              <a:xfrm>
                <a:off x="3850909" y="5687782"/>
                <a:ext cx="2493619" cy="646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s-ES" sz="20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Rectángulo 54">
                <a:extLst>
                  <a:ext uri="{FF2B5EF4-FFF2-40B4-BE49-F238E27FC236}">
                    <a16:creationId xmlns:a16="http://schemas.microsoft.com/office/drawing/2014/main" id="{B1878CE9-8D97-48FA-A972-0BFED5BA8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09" y="5687782"/>
                <a:ext cx="2493619" cy="6467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10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3" grpId="0"/>
      <p:bldP spid="15" grpId="0"/>
      <p:bldP spid="16" grpId="0"/>
      <p:bldP spid="38" grpId="0"/>
      <p:bldP spid="43" grpId="0"/>
      <p:bldP spid="48" grpId="0"/>
      <p:bldP spid="49" grpId="0"/>
      <p:bldP spid="50" grpId="0"/>
      <p:bldP spid="52" grpId="0"/>
      <p:bldP spid="53" grpId="0"/>
      <p:bldP spid="54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xmlns="" id="{13ACBCB8-8929-4180-9C5D-85BD254EFB72}"/>
              </a:ext>
            </a:extLst>
          </p:cNvPr>
          <p:cNvSpPr/>
          <p:nvPr/>
        </p:nvSpPr>
        <p:spPr>
          <a:xfrm>
            <a:off x="0" y="1800639"/>
            <a:ext cx="4304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Encuentre la inversa de la matriz 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0" y="1231544"/>
            <a:ext cx="1609859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kumimoji="0" lang="es-E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Ejemplo 2. 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="" id="{E4D9841D-E6E9-4664-937D-0245AAC19EBF}"/>
                  </a:ext>
                </a:extLst>
              </p:cNvPr>
              <p:cNvSpPr/>
              <p:nvPr/>
            </p:nvSpPr>
            <p:spPr>
              <a:xfrm>
                <a:off x="4169810" y="1696464"/>
                <a:ext cx="1805987" cy="6034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𝑨</m:t>
                      </m:r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kumimoji="0" lang="es-E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D9841D-E6E9-4664-937D-0245AAC19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810" y="1696464"/>
                <a:ext cx="1805987" cy="6034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xmlns="" id="{15E3888E-652D-4336-A012-EE3E2E62547D}"/>
              </a:ext>
            </a:extLst>
          </p:cNvPr>
          <p:cNvSpPr/>
          <p:nvPr/>
        </p:nvSpPr>
        <p:spPr>
          <a:xfrm>
            <a:off x="5975797" y="1793260"/>
            <a:ext cx="212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 acaso existe.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xmlns="" id="{1583FF87-6263-46E6-8DA9-412DD827DF9E}"/>
              </a:ext>
            </a:extLst>
          </p:cNvPr>
          <p:cNvSpPr txBox="1">
            <a:spLocks/>
          </p:cNvSpPr>
          <p:nvPr/>
        </p:nvSpPr>
        <p:spPr>
          <a:xfrm>
            <a:off x="0" y="2394512"/>
            <a:ext cx="146304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Solución.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1106509" y="2849486"/>
                <a:ext cx="3246550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𝟑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509" y="2849486"/>
                <a:ext cx="3246550" cy="9188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13"/>
          <p:cNvCxnSpPr/>
          <p:nvPr/>
        </p:nvCxnSpPr>
        <p:spPr>
          <a:xfrm>
            <a:off x="3000777" y="3000048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itle 1"/>
              <p:cNvSpPr txBox="1">
                <a:spLocks/>
              </p:cNvSpPr>
              <p:nvPr/>
            </p:nvSpPr>
            <p:spPr>
              <a:xfrm>
                <a:off x="3704867" y="2926588"/>
                <a:ext cx="1148368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↔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867" y="2926588"/>
                <a:ext cx="1148368" cy="4022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4588760" y="2849486"/>
                <a:ext cx="2286001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760" y="2849486"/>
                <a:ext cx="2286001" cy="91880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17"/>
          <p:cNvCxnSpPr/>
          <p:nvPr/>
        </p:nvCxnSpPr>
        <p:spPr>
          <a:xfrm>
            <a:off x="5731760" y="3009069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6621191" y="2932708"/>
                <a:ext cx="978542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→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191" y="2932708"/>
                <a:ext cx="978542" cy="402238"/>
              </a:xfrm>
              <a:prstGeom prst="rect">
                <a:avLst/>
              </a:prstGeom>
              <a:blipFill rotWithShape="0">
                <a:blip r:embed="rId6"/>
                <a:stretch>
                  <a:fillRect r="-37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itle 1"/>
              <p:cNvSpPr txBox="1">
                <a:spLocks/>
              </p:cNvSpPr>
              <p:nvPr/>
            </p:nvSpPr>
            <p:spPr>
              <a:xfrm>
                <a:off x="7569957" y="2849486"/>
                <a:ext cx="2286001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57" y="2849486"/>
                <a:ext cx="2286001" cy="91880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21"/>
          <p:cNvCxnSpPr/>
          <p:nvPr/>
        </p:nvCxnSpPr>
        <p:spPr>
          <a:xfrm>
            <a:off x="8712957" y="3019414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itle 1"/>
              <p:cNvSpPr txBox="1">
                <a:spLocks/>
              </p:cNvSpPr>
              <p:nvPr/>
            </p:nvSpPr>
            <p:spPr>
              <a:xfrm>
                <a:off x="1138395" y="4147781"/>
                <a:ext cx="2286001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395" y="4147781"/>
                <a:ext cx="2286001" cy="91880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recto 23"/>
          <p:cNvCxnSpPr/>
          <p:nvPr/>
        </p:nvCxnSpPr>
        <p:spPr>
          <a:xfrm>
            <a:off x="2272809" y="4291652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itle 1"/>
              <p:cNvSpPr txBox="1">
                <a:spLocks/>
              </p:cNvSpPr>
              <p:nvPr/>
            </p:nvSpPr>
            <p:spPr>
              <a:xfrm>
                <a:off x="3121736" y="4225660"/>
                <a:ext cx="1711945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→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736" y="4225660"/>
                <a:ext cx="1711945" cy="40223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itle 1"/>
              <p:cNvSpPr txBox="1">
                <a:spLocks/>
              </p:cNvSpPr>
              <p:nvPr/>
            </p:nvSpPr>
            <p:spPr>
              <a:xfrm>
                <a:off x="4576050" y="4147781"/>
                <a:ext cx="2286001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𝟓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050" y="4147781"/>
                <a:ext cx="2286001" cy="91880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27"/>
          <p:cNvCxnSpPr/>
          <p:nvPr/>
        </p:nvCxnSpPr>
        <p:spPr>
          <a:xfrm>
            <a:off x="5717510" y="4291652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itle 1"/>
              <p:cNvSpPr txBox="1">
                <a:spLocks/>
              </p:cNvSpPr>
              <p:nvPr/>
            </p:nvSpPr>
            <p:spPr>
              <a:xfrm>
                <a:off x="6823329" y="4150927"/>
                <a:ext cx="857247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den>
                          </m:f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329" y="4150927"/>
                <a:ext cx="857247" cy="402238"/>
              </a:xfrm>
              <a:prstGeom prst="rect">
                <a:avLst/>
              </a:prstGeom>
              <a:blipFill rotWithShape="0">
                <a:blip r:embed="rId11"/>
                <a:stretch>
                  <a:fillRect r="-7092" b="-1515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itle 1"/>
              <p:cNvSpPr txBox="1">
                <a:spLocks/>
              </p:cNvSpPr>
              <p:nvPr/>
            </p:nvSpPr>
            <p:spPr>
              <a:xfrm>
                <a:off x="7714332" y="4147781"/>
                <a:ext cx="2783432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332" y="4147781"/>
                <a:ext cx="2783432" cy="91880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recto 31"/>
          <p:cNvCxnSpPr/>
          <p:nvPr/>
        </p:nvCxnSpPr>
        <p:spPr>
          <a:xfrm>
            <a:off x="8874858" y="4241626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itle 1"/>
              <p:cNvSpPr txBox="1">
                <a:spLocks/>
              </p:cNvSpPr>
              <p:nvPr/>
            </p:nvSpPr>
            <p:spPr>
              <a:xfrm>
                <a:off x="1255676" y="5429583"/>
                <a:ext cx="2847826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76" y="5429583"/>
                <a:ext cx="2847826" cy="91880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33"/>
          <p:cNvCxnSpPr/>
          <p:nvPr/>
        </p:nvCxnSpPr>
        <p:spPr>
          <a:xfrm>
            <a:off x="2390090" y="5573453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itle 1"/>
              <p:cNvSpPr txBox="1">
                <a:spLocks/>
              </p:cNvSpPr>
              <p:nvPr/>
            </p:nvSpPr>
            <p:spPr>
              <a:xfrm>
                <a:off x="3730120" y="5503980"/>
                <a:ext cx="1507795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MX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s-NI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→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MX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120" y="5503980"/>
                <a:ext cx="1507795" cy="40223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itle 1"/>
              <p:cNvSpPr txBox="1">
                <a:spLocks/>
              </p:cNvSpPr>
              <p:nvPr/>
            </p:nvSpPr>
            <p:spPr>
              <a:xfrm>
                <a:off x="5019723" y="5429582"/>
                <a:ext cx="2847826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21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21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𝟏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MX" sz="21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MX" sz="2100" b="1" i="1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𝟓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723" y="5429582"/>
                <a:ext cx="2847826" cy="91880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37"/>
          <p:cNvCxnSpPr/>
          <p:nvPr/>
        </p:nvCxnSpPr>
        <p:spPr>
          <a:xfrm>
            <a:off x="6004023" y="5573453"/>
            <a:ext cx="0" cy="631064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pic>
        <p:nvPicPr>
          <p:cNvPr id="39" name="Imagen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16226" y="3250231"/>
            <a:ext cx="677529" cy="240536"/>
          </a:xfrm>
          <a:prstGeom prst="rect">
            <a:avLst/>
          </a:prstGeom>
        </p:spPr>
      </p:pic>
      <p:pic>
        <p:nvPicPr>
          <p:cNvPr id="40" name="Imagen 3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84780" y="3262049"/>
            <a:ext cx="677529" cy="240536"/>
          </a:xfrm>
          <a:prstGeom prst="rect">
            <a:avLst/>
          </a:prstGeom>
        </p:spPr>
      </p:pic>
      <p:pic>
        <p:nvPicPr>
          <p:cNvPr id="41" name="Imagen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77462" y="4537356"/>
            <a:ext cx="677529" cy="240536"/>
          </a:xfrm>
          <a:prstGeom prst="rect">
            <a:avLst/>
          </a:prstGeom>
        </p:spPr>
      </p:pic>
      <p:pic>
        <p:nvPicPr>
          <p:cNvPr id="42" name="Imagen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9427" y="4533544"/>
            <a:ext cx="677529" cy="240536"/>
          </a:xfrm>
          <a:prstGeom prst="rect">
            <a:avLst/>
          </a:prstGeom>
        </p:spPr>
      </p:pic>
      <p:pic>
        <p:nvPicPr>
          <p:cNvPr id="43" name="Imagen 4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5252" y="5822400"/>
            <a:ext cx="677529" cy="2405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xmlns="" id="{B1878CE9-8D97-48FA-A972-0BFED5BA8732}"/>
                  </a:ext>
                </a:extLst>
              </p:cNvPr>
              <p:cNvSpPr/>
              <p:nvPr/>
            </p:nvSpPr>
            <p:spPr>
              <a:xfrm>
                <a:off x="7867549" y="5557737"/>
                <a:ext cx="2630215" cy="687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4" name="Rectángulo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878CE9-8D97-48FA-A972-0BFED5BA8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549" y="5557737"/>
                <a:ext cx="2630215" cy="687496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14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20" grpId="0"/>
      <p:bldP spid="21" grpId="0"/>
      <p:bldP spid="23" grpId="0"/>
      <p:bldP spid="26" grpId="0"/>
      <p:bldP spid="27" grpId="0"/>
      <p:bldP spid="30" grpId="0"/>
      <p:bldP spid="31" grpId="0"/>
      <p:bldP spid="33" grpId="0"/>
      <p:bldP spid="36" grpId="0"/>
      <p:bldP spid="37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-12895" y="1121291"/>
                <a:ext cx="12166210" cy="10420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Una matriz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 si y solo 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equivalente por filas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y, en este caso, cualquier secuencia de operaciones elementales de fila que reduzca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también transforma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95" y="1121291"/>
                <a:ext cx="12166210" cy="1042017"/>
              </a:xfrm>
              <a:prstGeom prst="rect">
                <a:avLst/>
              </a:prstGeom>
              <a:blipFill>
                <a:blip r:embed="rId2"/>
                <a:stretch>
                  <a:fillRect l="-551" t="-2924" r="-501" b="-818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25790" y="2921534"/>
                <a:ext cx="12166210" cy="747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Reduzca por filas la matriz aumentada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 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</m:d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equivalente por filas 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entonces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ES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  <m:r>
                          <a:rPr lang="es-ES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 </m:t>
                        </m:r>
                        <m:r>
                          <a:rPr lang="es-ES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</m:d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equivalente por filas a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  </m:t>
                        </m:r>
                        <m:sSup>
                          <m:sSupPr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p>
                        </m:sSup>
                      </m:e>
                    </m:d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De otra manera,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tiene inversa. </a:t>
                </a: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" y="2921534"/>
                <a:ext cx="12166210" cy="747512"/>
              </a:xfrm>
              <a:prstGeom prst="rect">
                <a:avLst/>
              </a:prstGeom>
              <a:blipFill>
                <a:blip r:embed="rId3"/>
                <a:stretch>
                  <a:fillRect l="-501" t="-3252" r="-551" b="-10569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xmlns="" id="{CDCB832B-140C-4A5E-8EF7-A7E18D1FB0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3304" y="2314934"/>
                <a:ext cx="4445392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ES" sz="22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Algoritmo para determinar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</m:oMath>
                </a14:m>
                <a:endParaRPr lang="es-MX" sz="22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2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200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2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CDCB832B-140C-4A5E-8EF7-A7E18D1FB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304" y="2314934"/>
                <a:ext cx="4445392" cy="454974"/>
              </a:xfrm>
              <a:prstGeom prst="rect">
                <a:avLst/>
              </a:prstGeom>
              <a:blipFill>
                <a:blip r:embed="rId4"/>
                <a:stretch>
                  <a:fillRect l="-1781" t="-14865" b="-16216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48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13ACBCB8-8929-4180-9C5D-85BD254EFB72}"/>
              </a:ext>
            </a:extLst>
          </p:cNvPr>
          <p:cNvSpPr/>
          <p:nvPr/>
        </p:nvSpPr>
        <p:spPr>
          <a:xfrm>
            <a:off x="0" y="1686518"/>
            <a:ext cx="4304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Encuentre la inversa de la matriz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0" y="1231544"/>
            <a:ext cx="170001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1.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="" id="{E4D9841D-E6E9-4664-937D-0245AAC19EBF}"/>
                  </a:ext>
                </a:extLst>
              </p:cNvPr>
              <p:cNvSpPr/>
              <p:nvPr/>
            </p:nvSpPr>
            <p:spPr>
              <a:xfrm>
                <a:off x="4118230" y="1459031"/>
                <a:ext cx="2321169" cy="9307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D9841D-E6E9-4664-937D-0245AAC19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30" y="1459031"/>
                <a:ext cx="2321169" cy="9307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15E3888E-652D-4336-A012-EE3E2E62547D}"/>
              </a:ext>
            </a:extLst>
          </p:cNvPr>
          <p:cNvSpPr/>
          <p:nvPr/>
        </p:nvSpPr>
        <p:spPr>
          <a:xfrm>
            <a:off x="6217449" y="1724328"/>
            <a:ext cx="212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acaso existe.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xmlns="" id="{1583FF87-6263-46E6-8DA9-412DD827DF9E}"/>
              </a:ext>
            </a:extLst>
          </p:cNvPr>
          <p:cNvSpPr txBox="1">
            <a:spLocks/>
          </p:cNvSpPr>
          <p:nvPr/>
        </p:nvSpPr>
        <p:spPr>
          <a:xfrm>
            <a:off x="0" y="2316088"/>
            <a:ext cx="146304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Solución.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E8FCAE8B-24AB-4211-ADEB-378EC24287DF}"/>
                  </a:ext>
                </a:extLst>
              </p:cNvPr>
              <p:cNvSpPr/>
              <p:nvPr/>
            </p:nvSpPr>
            <p:spPr>
              <a:xfrm>
                <a:off x="150741" y="3176110"/>
                <a:ext cx="98126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ES" sz="16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ES" sz="16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s-ES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𝑰</m:t>
                          </m:r>
                        </m:e>
                      </m:d>
                      <m:r>
                        <a:rPr lang="es-ES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ES" sz="16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8FCAE8B-24AB-4211-ADEB-378EC24287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41" y="3176110"/>
                <a:ext cx="981266" cy="338554"/>
              </a:xfrm>
              <a:prstGeom prst="rect">
                <a:avLst/>
              </a:prstGeom>
              <a:blipFill>
                <a:blip r:embed="rId3"/>
                <a:stretch>
                  <a:fillRect l="-7453" t="-107143" b="-169643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A60A5754-2CDF-47C8-A4A0-FE09C2E9CA61}"/>
                  </a:ext>
                </a:extLst>
              </p:cNvPr>
              <p:cNvSpPr/>
              <p:nvPr/>
            </p:nvSpPr>
            <p:spPr>
              <a:xfrm>
                <a:off x="1066801" y="2973619"/>
                <a:ext cx="2320343" cy="743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𝟖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0A5754-2CDF-47C8-A4A0-FE09C2E9CA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1" y="2973619"/>
                <a:ext cx="2320343" cy="74360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n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493" y="3312651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3"/>
              <p:cNvSpPr/>
              <p:nvPr/>
            </p:nvSpPr>
            <p:spPr>
              <a:xfrm>
                <a:off x="3203263" y="3059668"/>
                <a:ext cx="96654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↔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24" name="Rectá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263" y="3059668"/>
                <a:ext cx="966547" cy="338554"/>
              </a:xfrm>
              <a:prstGeom prst="rect">
                <a:avLst/>
              </a:prstGeom>
              <a:blipFill rotWithShape="0"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xmlns="" id="{7106875A-A9BA-4574-B191-DED75988928C}"/>
                  </a:ext>
                </a:extLst>
              </p:cNvPr>
              <p:cNvSpPr/>
              <p:nvPr/>
            </p:nvSpPr>
            <p:spPr>
              <a:xfrm>
                <a:off x="4149969" y="2973619"/>
                <a:ext cx="2401398" cy="743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𝟖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106875A-A9BA-4574-B191-DED759889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969" y="2973619"/>
                <a:ext cx="2401398" cy="74360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Imagen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556" y="3309850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/>
              <p:cNvSpPr/>
              <p:nvPr/>
            </p:nvSpPr>
            <p:spPr>
              <a:xfrm>
                <a:off x="6325891" y="3059668"/>
                <a:ext cx="168501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→−</m:t>
                      </m:r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27" name="Rectá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891" y="3059668"/>
                <a:ext cx="1685012" cy="338554"/>
              </a:xfrm>
              <a:prstGeom prst="rect">
                <a:avLst/>
              </a:prstGeom>
              <a:blipFill rotWithShape="0">
                <a:blip r:embed="rId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xmlns="" id="{F40574B7-2154-4276-8283-AADCEA708B4C}"/>
                  </a:ext>
                </a:extLst>
              </p:cNvPr>
              <p:cNvSpPr/>
              <p:nvPr/>
            </p:nvSpPr>
            <p:spPr>
              <a:xfrm>
                <a:off x="7994611" y="2973619"/>
                <a:ext cx="2681976" cy="74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𝟒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𝟒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40574B7-2154-4276-8283-AADCEA708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611" y="2973619"/>
                <a:ext cx="2681976" cy="74353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xmlns="" id="{F40574B7-2154-4276-8283-AADCEA708B4C}"/>
                  </a:ext>
                </a:extLst>
              </p:cNvPr>
              <p:cNvSpPr/>
              <p:nvPr/>
            </p:nvSpPr>
            <p:spPr>
              <a:xfrm>
                <a:off x="1008240" y="4185744"/>
                <a:ext cx="2639145" cy="74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𝟒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𝟒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40574B7-2154-4276-8283-AADCEA708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40" y="4185744"/>
                <a:ext cx="2639145" cy="74353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Imagen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774" y="4541740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ángulo 30"/>
              <p:cNvSpPr/>
              <p:nvPr/>
            </p:nvSpPr>
            <p:spPr>
              <a:xfrm>
                <a:off x="3387144" y="4281153"/>
                <a:ext cx="157921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31" name="Rectángulo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144" y="4281153"/>
                <a:ext cx="1579215" cy="338554"/>
              </a:xfrm>
              <a:prstGeom prst="rect">
                <a:avLst/>
              </a:prstGeom>
              <a:blipFill rotWithShape="0"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xmlns="" id="{95E2466B-381D-49EA-AC8C-E7CA51659505}"/>
                  </a:ext>
                </a:extLst>
              </p:cNvPr>
              <p:cNvSpPr/>
              <p:nvPr/>
            </p:nvSpPr>
            <p:spPr>
              <a:xfrm>
                <a:off x="4810342" y="4185744"/>
                <a:ext cx="2358055" cy="743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𝟑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𝟒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5E2466B-381D-49EA-AC8C-E7CA51659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342" y="4185744"/>
                <a:ext cx="2358055" cy="74353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Imagen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563" y="4587370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 33"/>
              <p:cNvSpPr/>
              <p:nvPr/>
            </p:nvSpPr>
            <p:spPr>
              <a:xfrm>
                <a:off x="6917926" y="4166190"/>
                <a:ext cx="1106520" cy="5533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f>
                        <m:f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34" name="Rectángulo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926" y="4166190"/>
                <a:ext cx="1106520" cy="55335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xmlns="" id="{56F47865-CC7A-43D6-8620-450160D2C466}"/>
                  </a:ext>
                </a:extLst>
              </p:cNvPr>
              <p:cNvSpPr/>
              <p:nvPr/>
            </p:nvSpPr>
            <p:spPr>
              <a:xfrm>
                <a:off x="7899475" y="4153460"/>
                <a:ext cx="2777112" cy="776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NI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𝟏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F47865-CC7A-43D6-8620-450160D2C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475" y="4153460"/>
                <a:ext cx="2777112" cy="77655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xmlns="" id="{56F47865-CC7A-43D6-8620-450160D2C466}"/>
                  </a:ext>
                </a:extLst>
              </p:cNvPr>
              <p:cNvSpPr/>
              <p:nvPr/>
            </p:nvSpPr>
            <p:spPr>
              <a:xfrm>
                <a:off x="690032" y="5366077"/>
                <a:ext cx="2821607" cy="776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NI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𝟏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F47865-CC7A-43D6-8620-450160D2C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32" y="5366077"/>
                <a:ext cx="2821607" cy="77655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Imagen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707" y="5733067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ángulo 37"/>
              <p:cNvSpPr/>
              <p:nvPr/>
            </p:nvSpPr>
            <p:spPr>
              <a:xfrm>
                <a:off x="3257270" y="5495721"/>
                <a:ext cx="16850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→−</m:t>
                      </m:r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38" name="Rectángulo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270" y="5495721"/>
                <a:ext cx="1685013" cy="338554"/>
              </a:xfrm>
              <a:prstGeom prst="rect">
                <a:avLst/>
              </a:prstGeom>
              <a:blipFill rotWithShape="0">
                <a:blip r:embed="rId1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xmlns="" id="{56F47865-CC7A-43D6-8620-450160D2C466}"/>
                  </a:ext>
                </a:extLst>
              </p:cNvPr>
              <p:cNvSpPr/>
              <p:nvPr/>
            </p:nvSpPr>
            <p:spPr>
              <a:xfrm>
                <a:off x="4795510" y="5366077"/>
                <a:ext cx="2843879" cy="776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𝟑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𝟒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NI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𝟏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F47865-CC7A-43D6-8620-450160D2C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510" y="5366077"/>
                <a:ext cx="2843879" cy="77655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Imagen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74" y="5749143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ángulo 40"/>
              <p:cNvSpPr/>
              <p:nvPr/>
            </p:nvSpPr>
            <p:spPr>
              <a:xfrm>
                <a:off x="7377812" y="5495721"/>
                <a:ext cx="16850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→−</m:t>
                      </m:r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41" name="Rectángulo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812" y="5495721"/>
                <a:ext cx="1685013" cy="338554"/>
              </a:xfrm>
              <a:prstGeom prst="rect">
                <a:avLst/>
              </a:prstGeom>
              <a:blipFill rotWithShape="0">
                <a:blip r:embed="rId1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xmlns="" id="{313CEE65-D5AC-4A3A-B9C1-4D9983817852}"/>
                  </a:ext>
                </a:extLst>
              </p:cNvPr>
              <p:cNvSpPr/>
              <p:nvPr/>
            </p:nvSpPr>
            <p:spPr>
              <a:xfrm>
                <a:off x="8946719" y="5352612"/>
                <a:ext cx="3245281" cy="7900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16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16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ES" sz="16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  <m:e>
                                          <m: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</m:eqAr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ES" sz="16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ES" sz="1600" b="1" i="1" smtClean="0">
                                                    <a:solidFill>
                                                      <a:schemeClr val="accent3">
                                                        <a:lumMod val="50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6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𝟗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ES" sz="1600" b="1" i="1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𝟐</m:t>
                                                      </m:r>
                                                    </m:e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NI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ES" sz="1600" b="1" i="1" smtClean="0">
                                                              <a:solidFill>
                                                                <a:schemeClr val="accent3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ES" sz="1600" b="1" i="1" smtClean="0">
                                                          <a:solidFill>
                                                            <a:schemeClr val="accent3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𝟕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𝟒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NI" sz="1600" b="1" i="1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ES" sz="1600" b="1" i="1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ES" sz="1600" b="1" i="1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ES" sz="1600" b="1" i="1" smtClean="0">
                                                                <a:solidFill>
                                                                  <a:schemeClr val="accent3">
                                                                    <a:lumMod val="50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NI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𝟏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ES" sz="1600" b="1" i="1" smtClean="0">
                                                                    <a:solidFill>
                                                                      <a:schemeClr val="accent3">
                                                                        <a:lumMod val="50000"/>
                                                                      </a:scheme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16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3CEE65-D5AC-4A3A-B9C1-4D9983817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719" y="5352612"/>
                <a:ext cx="3245281" cy="790024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97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3" grpId="0"/>
      <p:bldP spid="15" grpId="0"/>
      <p:bldP spid="16" grpId="0"/>
      <p:bldP spid="24" grpId="0"/>
      <p:bldP spid="25" grpId="0"/>
      <p:bldP spid="27" grpId="0"/>
      <p:bldP spid="28" grpId="0"/>
      <p:bldP spid="29" grpId="0"/>
      <p:bldP spid="31" grpId="0"/>
      <p:bldP spid="32" grpId="0"/>
      <p:bldP spid="34" grpId="0"/>
      <p:bldP spid="35" grpId="0"/>
      <p:bldP spid="36" grpId="0"/>
      <p:bldP spid="38" grpId="0"/>
      <p:bldP spid="39" grpId="0"/>
      <p:bldP spid="41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-2" y="1231544"/>
            <a:ext cx="409548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tanto, matriz inversa es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xmlns="" id="{C9E92DFC-B435-4F61-BE08-0904382C6517}"/>
                  </a:ext>
                </a:extLst>
              </p:cNvPr>
              <p:cNvSpPr/>
              <p:nvPr/>
            </p:nvSpPr>
            <p:spPr>
              <a:xfrm>
                <a:off x="3446387" y="1686518"/>
                <a:ext cx="3515702" cy="9643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NI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ES" sz="2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NI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lin"/>
                                    <m:ctrlPr>
                                      <a:rPr lang="es-NI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NI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s-E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9E92DFC-B435-4F61-BE08-0904382C65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387" y="1686518"/>
                <a:ext cx="3515702" cy="96430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28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13ACBCB8-8929-4180-9C5D-85BD254EFB72}"/>
              </a:ext>
            </a:extLst>
          </p:cNvPr>
          <p:cNvSpPr/>
          <p:nvPr/>
        </p:nvSpPr>
        <p:spPr>
          <a:xfrm>
            <a:off x="0" y="1686518"/>
            <a:ext cx="43047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Encuentre la inversa de la matriz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0" y="1231544"/>
            <a:ext cx="1622738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kumimoji="0" lang="es-E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Ejemplo 2. 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xmlns="" id="{E4D9841D-E6E9-4664-937D-0245AAC19EBF}"/>
                  </a:ext>
                </a:extLst>
              </p:cNvPr>
              <p:cNvSpPr/>
              <p:nvPr/>
            </p:nvSpPr>
            <p:spPr>
              <a:xfrm>
                <a:off x="4169810" y="1433468"/>
                <a:ext cx="2346900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𝑨</m:t>
                      </m:r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s-E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kumimoji="0" lang="es-E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5A5A5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D9841D-E6E9-4664-937D-0245AAC19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810" y="1433468"/>
                <a:ext cx="2346900" cy="9062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15E3888E-652D-4336-A012-EE3E2E62547D}"/>
              </a:ext>
            </a:extLst>
          </p:cNvPr>
          <p:cNvSpPr/>
          <p:nvPr/>
        </p:nvSpPr>
        <p:spPr>
          <a:xfrm>
            <a:off x="6352511" y="1686518"/>
            <a:ext cx="21220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 acaso existe.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xmlns="" id="{1583FF87-6263-46E6-8DA9-412DD827DF9E}"/>
              </a:ext>
            </a:extLst>
          </p:cNvPr>
          <p:cNvSpPr txBox="1">
            <a:spLocks/>
          </p:cNvSpPr>
          <p:nvPr/>
        </p:nvSpPr>
        <p:spPr>
          <a:xfrm>
            <a:off x="0" y="2339678"/>
            <a:ext cx="146304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Solución.</a:t>
            </a: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1622738" y="2494380"/>
                <a:ext cx="3348507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18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NI" sz="18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𝟒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𝟓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m:rPr>
                                                                <m:brk m:alnAt="7"/>
                                                              </m:rP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𝟑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𝟕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s-NI" sz="1800" b="1" i="1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sz="18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8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8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8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8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1800" b="1" dirty="0">
                  <a:solidFill>
                    <a:srgbClr val="A5A5A5">
                      <a:lumMod val="50000"/>
                    </a:srgb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738" y="2494380"/>
                <a:ext cx="3348507" cy="9188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4857854" y="2517155"/>
                <a:ext cx="1194607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MX" sz="14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14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854" y="2517155"/>
                <a:ext cx="1194607" cy="402238"/>
              </a:xfrm>
              <a:prstGeom prst="rect">
                <a:avLst/>
              </a:prstGeom>
              <a:blipFill rotWithShape="0"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8"/>
          <p:cNvCxnSpPr/>
          <p:nvPr/>
        </p:nvCxnSpPr>
        <p:spPr>
          <a:xfrm flipH="1">
            <a:off x="3630301" y="2543408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/>
              <p:cNvSpPr/>
              <p:nvPr/>
            </p:nvSpPr>
            <p:spPr>
              <a:xfrm>
                <a:off x="5814740" y="2540743"/>
                <a:ext cx="3031536" cy="8399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𝟓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𝟕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740" y="2540743"/>
                <a:ext cx="3031536" cy="8399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10"/>
          <p:cNvCxnSpPr/>
          <p:nvPr/>
        </p:nvCxnSpPr>
        <p:spPr>
          <a:xfrm flipH="1">
            <a:off x="7356554" y="2513541"/>
            <a:ext cx="6127" cy="91880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/>
              <p:cNvSpPr/>
              <p:nvPr/>
            </p:nvSpPr>
            <p:spPr>
              <a:xfrm>
                <a:off x="2311724" y="3686616"/>
                <a:ext cx="3031536" cy="8399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𝟓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𝟕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724" y="3686616"/>
                <a:ext cx="3031536" cy="8399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12"/>
          <p:cNvCxnSpPr>
            <a:endCxn id="12" idx="2"/>
          </p:cNvCxnSpPr>
          <p:nvPr/>
        </p:nvCxnSpPr>
        <p:spPr>
          <a:xfrm flipH="1">
            <a:off x="3827492" y="3721005"/>
            <a:ext cx="6128" cy="80558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itle 1"/>
              <p:cNvSpPr txBox="1">
                <a:spLocks/>
              </p:cNvSpPr>
              <p:nvPr/>
            </p:nvSpPr>
            <p:spPr>
              <a:xfrm>
                <a:off x="4870609" y="3788469"/>
                <a:ext cx="2044251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MX" sz="14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609" y="3788469"/>
                <a:ext cx="2044251" cy="40223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/>
              <p:cNvSpPr/>
              <p:nvPr/>
            </p:nvSpPr>
            <p:spPr>
              <a:xfrm>
                <a:off x="6532018" y="3654106"/>
                <a:ext cx="3416255" cy="877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𝟓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018" y="3654106"/>
                <a:ext cx="3416255" cy="8771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15"/>
          <p:cNvCxnSpPr>
            <a:endCxn id="15" idx="2"/>
          </p:cNvCxnSpPr>
          <p:nvPr/>
        </p:nvCxnSpPr>
        <p:spPr>
          <a:xfrm flipH="1">
            <a:off x="8240146" y="3721970"/>
            <a:ext cx="9231" cy="80929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ángulo 16"/>
              <p:cNvSpPr/>
              <p:nvPr/>
            </p:nvSpPr>
            <p:spPr>
              <a:xfrm>
                <a:off x="2311724" y="4857022"/>
                <a:ext cx="3416255" cy="877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𝟓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724" y="4857022"/>
                <a:ext cx="3416255" cy="8771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17"/>
          <p:cNvCxnSpPr>
            <a:endCxn id="17" idx="2"/>
          </p:cNvCxnSpPr>
          <p:nvPr/>
        </p:nvCxnSpPr>
        <p:spPr>
          <a:xfrm flipH="1">
            <a:off x="4019852" y="4935302"/>
            <a:ext cx="6127" cy="798883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itle 1"/>
              <p:cNvSpPr txBox="1">
                <a:spLocks/>
              </p:cNvSpPr>
              <p:nvPr/>
            </p:nvSpPr>
            <p:spPr>
              <a:xfrm>
                <a:off x="5455157" y="4935302"/>
                <a:ext cx="1588915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4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MX" sz="14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57" y="4935302"/>
                <a:ext cx="1588915" cy="40223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ángulo 19"/>
              <p:cNvSpPr/>
              <p:nvPr/>
            </p:nvSpPr>
            <p:spPr>
              <a:xfrm>
                <a:off x="6752013" y="4847933"/>
                <a:ext cx="3243131" cy="877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013" y="4847933"/>
                <a:ext cx="3243131" cy="877163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ángulo 21"/>
              <p:cNvSpPr/>
              <p:nvPr/>
            </p:nvSpPr>
            <p:spPr>
              <a:xfrm>
                <a:off x="2313367" y="5914109"/>
                <a:ext cx="3243132" cy="8771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𝟑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367" y="5914109"/>
                <a:ext cx="3243132" cy="87716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/>
          <p:cNvCxnSpPr/>
          <p:nvPr/>
        </p:nvCxnSpPr>
        <p:spPr>
          <a:xfrm flipH="1">
            <a:off x="3827492" y="6025201"/>
            <a:ext cx="12727" cy="766071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itle 1"/>
              <p:cNvSpPr txBox="1">
                <a:spLocks/>
              </p:cNvSpPr>
              <p:nvPr/>
            </p:nvSpPr>
            <p:spPr>
              <a:xfrm>
                <a:off x="5325945" y="5957918"/>
                <a:ext cx="1588915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MX" sz="14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s-NI" sz="14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s-MX" sz="14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MX" sz="14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4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4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4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NI" sz="14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945" y="5957918"/>
                <a:ext cx="1588915" cy="402238"/>
              </a:xfrm>
              <a:prstGeom prst="rect">
                <a:avLst/>
              </a:prstGeom>
              <a:blipFill rotWithShape="0">
                <a:blip r:embed="rId1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ángulo 24"/>
              <p:cNvSpPr/>
              <p:nvPr/>
            </p:nvSpPr>
            <p:spPr>
              <a:xfrm>
                <a:off x="6619169" y="5977188"/>
                <a:ext cx="3562834" cy="862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5" name="Rectá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169" y="5977188"/>
                <a:ext cx="3562834" cy="86209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n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5823" y="2928150"/>
            <a:ext cx="906912" cy="321972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0428" y="4110198"/>
            <a:ext cx="906912" cy="321972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7979" y="5242476"/>
            <a:ext cx="906912" cy="321972"/>
          </a:xfrm>
          <a:prstGeom prst="rect">
            <a:avLst/>
          </a:prstGeom>
        </p:spPr>
      </p:pic>
      <p:pic>
        <p:nvPicPr>
          <p:cNvPr id="39" name="Imagen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55694" y="6390345"/>
            <a:ext cx="906912" cy="321972"/>
          </a:xfrm>
          <a:prstGeom prst="rect">
            <a:avLst/>
          </a:prstGeom>
        </p:spPr>
      </p:pic>
      <p:cxnSp>
        <p:nvCxnSpPr>
          <p:cNvPr id="42" name="Conector recto 41"/>
          <p:cNvCxnSpPr/>
          <p:nvPr/>
        </p:nvCxnSpPr>
        <p:spPr>
          <a:xfrm flipH="1">
            <a:off x="8249377" y="4930093"/>
            <a:ext cx="9231" cy="80929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43" name="Conector recto 42"/>
          <p:cNvCxnSpPr/>
          <p:nvPr/>
        </p:nvCxnSpPr>
        <p:spPr>
          <a:xfrm flipH="1">
            <a:off x="8158282" y="6049254"/>
            <a:ext cx="9231" cy="80929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3742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2" grpId="0"/>
      <p:bldP spid="14" grpId="0"/>
      <p:bldP spid="15" grpId="0"/>
      <p:bldP spid="17" grpId="0"/>
      <p:bldP spid="19" grpId="0"/>
      <p:bldP spid="20" grpId="0"/>
      <p:bldP spid="22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ángulo 1"/>
              <p:cNvSpPr/>
              <p:nvPr/>
            </p:nvSpPr>
            <p:spPr>
              <a:xfrm>
                <a:off x="103032" y="1375164"/>
                <a:ext cx="3562835" cy="8620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800" b="1" i="1" kern="120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𝟎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es-NI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r>
                                            <a:rPr lang="es-NI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800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2" y="1375164"/>
                <a:ext cx="3562835" cy="86209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3333186" y="1306673"/>
                <a:ext cx="1393421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2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MX" sz="12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NI" sz="12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186" y="1306673"/>
                <a:ext cx="1393421" cy="4022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/>
              <p:cNvSpPr/>
              <p:nvPr/>
            </p:nvSpPr>
            <p:spPr>
              <a:xfrm>
                <a:off x="4366962" y="1368814"/>
                <a:ext cx="3562835" cy="8747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800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sz="1800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sz="1800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sz="1800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800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800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962" y="1368814"/>
                <a:ext cx="3562835" cy="87479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/>
              <p:cNvSpPr/>
              <p:nvPr/>
            </p:nvSpPr>
            <p:spPr>
              <a:xfrm>
                <a:off x="103031" y="2703167"/>
                <a:ext cx="3562835" cy="8747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800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𝟐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𝟏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s-NI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𝟎</m:t>
                                                </m:r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𝟎</m:t>
                                          </m:r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800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1" y="2703167"/>
                <a:ext cx="3562835" cy="87479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3369037" y="2701247"/>
                <a:ext cx="1393422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2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12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NI" sz="12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037" y="2701247"/>
                <a:ext cx="1393422" cy="40223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/>
              <p:cNvSpPr/>
              <p:nvPr/>
            </p:nvSpPr>
            <p:spPr>
              <a:xfrm>
                <a:off x="4540753" y="2604491"/>
                <a:ext cx="4157228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800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sz="1800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sz="1800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sz="1800" b="1" i="1" kern="1200" smtClean="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800" b="1" i="1" kern="1200" smtClean="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800" b="1" i="1" kern="1200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𝟏𝟎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kern="1200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𝟒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800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753" y="2604491"/>
                <a:ext cx="4157228" cy="98405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/>
              <p:cNvSpPr/>
              <p:nvPr/>
            </p:nvSpPr>
            <p:spPr>
              <a:xfrm>
                <a:off x="103031" y="4037841"/>
                <a:ext cx="4157228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800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f>
                                                              <m:fPr>
                                                                <m:type m:val="lin"/>
                                                                <m:ctrlPr>
                                                                  <a:rPr lang="es-MX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</m:ctrlPr>
                                                              </m:fPr>
                                                              <m:num>
                                                                <m:r>
                                                                  <a:rPr lang="es-NI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𝟑</m:t>
                                                                </m:r>
                                                              </m:num>
                                                              <m:den>
                                                                <m:r>
                                                                  <a:rPr lang="es-NI" sz="1800" b="1" i="1" kern="1200">
                                                                    <a:solidFill>
                                                                      <a:srgbClr val="A5A5A5">
                                                                        <a:lumMod val="50000"/>
                                                                      </a:srgbClr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  <a:cs typeface="Arial" panose="020B0604020202020204" pitchFamily="34" charset="0"/>
                                                                  </a:rPr>
                                                                  <m:t>𝟐</m:t>
                                                                </m:r>
                                                              </m:den>
                                                            </m:f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f>
                                                        <m:fPr>
                                                          <m:type m:val="lin"/>
                                                          <m:ctrlPr>
                                                            <a:rPr lang="es-MX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</m:ctrlPr>
                                                        </m:fPr>
                                                        <m:num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𝟓</m:t>
                                                          </m:r>
                                                        </m:num>
                                                        <m:den>
                                                          <m:r>
                                                            <a:rPr lang="es-NI" sz="1800" b="1" i="1" kern="1200">
                                                              <a:solidFill>
                                                                <a:srgbClr val="A5A5A5">
                                                                  <a:lumMod val="50000"/>
                                                                </a:srgb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  <a:cs typeface="Arial" panose="020B0604020202020204" pitchFamily="34" charset="0"/>
                                                            </a:rPr>
                                                            <m:t>𝟐</m:t>
                                                          </m:r>
                                                        </m:den>
                                                      </m:f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𝟏𝟎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𝟒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800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1" y="4037841"/>
                <a:ext cx="4157228" cy="98405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itle 1"/>
              <p:cNvSpPr txBox="1">
                <a:spLocks/>
              </p:cNvSpPr>
              <p:nvPr/>
            </p:nvSpPr>
            <p:spPr>
              <a:xfrm>
                <a:off x="4056182" y="4065427"/>
                <a:ext cx="1393422" cy="40223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buClr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sz="14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NI" sz="14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s-NI" sz="14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2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12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MX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2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s-NI" sz="12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NI" sz="1200" b="1" dirty="0">
                  <a:solidFill>
                    <a:schemeClr val="accent3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182" y="4065427"/>
                <a:ext cx="1393422" cy="402238"/>
              </a:xfrm>
              <a:prstGeom prst="rect">
                <a:avLst/>
              </a:prstGeom>
              <a:blipFill rotWithShape="0"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/>
              <p:cNvSpPr/>
              <p:nvPr/>
            </p:nvSpPr>
            <p:spPr>
              <a:xfrm>
                <a:off x="5289008" y="4037841"/>
                <a:ext cx="3799053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>
                  <a:buClr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800" b="1" i="1" kern="1200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800" b="1" i="1" kern="120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1800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NI" sz="1800" b="1" i="1" kern="1200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eqAr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MX" sz="1800" b="1" i="1" kern="120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2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  <m:e>
                                                        <m:eqArr>
                                                          <m:eqArrPr>
                                                            <m:ctrlPr>
                                                              <a:rPr lang="es-MX" sz="1800" b="1" i="1" kern="120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</m:ctrlPr>
                                                          </m:eqArrPr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𝟎</m:t>
                                                            </m:r>
                                                          </m:e>
                                                          <m:e>
                                                            <m:r>
                                                              <a:rPr lang="es-NI" sz="1800" b="1" i="1" kern="1200" smtClean="0">
                                                                <a:solidFill>
                                                                  <a:srgbClr val="A5A5A5">
                                                                    <a:lumMod val="50000"/>
                                                                  </a:srgb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  <a:cs typeface="Arial" panose="020B0604020202020204" pitchFamily="34" charset="0"/>
                                                              </a:rPr>
                                                              <m:t>𝟏</m:t>
                                                            </m:r>
                                                          </m:e>
                                                        </m:eqAr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  <m:e>
                                                  <m:eqArr>
                                                    <m:eqArrPr>
                                                      <m:ctrlPr>
                                                        <a:rPr lang="es-MX" sz="1800" b="1" i="1" kern="120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</m:ctrlPr>
                                                    </m:eqArrPr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𝟒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  <m:e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s-NI" sz="1800" b="1" i="1" kern="1200" smtClean="0">
                                                          <a:solidFill>
                                                            <a:srgbClr val="A5A5A5">
                                                              <a:lumMod val="50000"/>
                                                            </a:srgb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cs typeface="Arial" panose="020B0604020202020204" pitchFamily="34" charset="0"/>
                                                        </a:rPr>
                                                        <m:t>𝟏</m:t>
                                                      </m:r>
                                                    </m:e>
                                                  </m:eqAr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s-MX" sz="1800" b="1" i="1" kern="120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s-NI" sz="1800" b="1" i="1" kern="1200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−</m:t>
                                                </m:r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𝟏𝟑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𝟓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  <m:e>
                                                <m:f>
                                                  <m:fPr>
                                                    <m:type m:val="lin"/>
                                                    <m:ctrlPr>
                                                      <a:rPr lang="es-MX" sz="1800" b="1" i="1" kern="120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s-NI" sz="1800" b="1" i="1" kern="1200" smtClean="0">
                                                        <a:solidFill>
                                                          <a:srgbClr val="A5A5A5">
                                                            <a:lumMod val="50000"/>
                                                          </a:srgb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𝟑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eqArr>
                                          </m:e>
                                        </m:mr>
                                      </m:m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s-MX" sz="1800" b="1" i="1" kern="120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s-NI" sz="1800" b="1" i="1" kern="1200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𝟕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s-MX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𝟐</m:t>
                                              </m:r>
                                            </m:num>
                                            <m:den>
                                              <m:r>
                                                <a:rPr lang="es-NI" sz="1800" b="1" i="1" kern="120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𝟑</m:t>
                                              </m:r>
                                            </m:den>
                                          </m:f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1800" kern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008" y="4037841"/>
                <a:ext cx="3799053" cy="98405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3004820" y="5374123"/>
                <a:ext cx="3355671" cy="9188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1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𝟏𝟑</m:t>
                                    </m:r>
                                  </m:num>
                                  <m:den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NI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NI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NI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1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1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lin"/>
                                    <m:ctrlPr>
                                      <a:rPr lang="es-MX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NI" sz="1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18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820" y="5374123"/>
                <a:ext cx="3355671" cy="9188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6441" y="1645224"/>
            <a:ext cx="906912" cy="321972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2292" y="3015956"/>
            <a:ext cx="906912" cy="321972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2722" y="4459491"/>
            <a:ext cx="906912" cy="321972"/>
          </a:xfrm>
          <a:prstGeom prst="rect">
            <a:avLst/>
          </a:prstGeom>
        </p:spPr>
      </p:pic>
      <p:cxnSp>
        <p:nvCxnSpPr>
          <p:cNvPr id="23" name="Conector recto 22"/>
          <p:cNvCxnSpPr/>
          <p:nvPr/>
        </p:nvCxnSpPr>
        <p:spPr>
          <a:xfrm flipH="1">
            <a:off x="1621196" y="1401526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4" name="Conector recto 23"/>
          <p:cNvCxnSpPr/>
          <p:nvPr/>
        </p:nvCxnSpPr>
        <p:spPr>
          <a:xfrm flipH="1">
            <a:off x="5858215" y="1409176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5" name="Conector recto 24"/>
          <p:cNvCxnSpPr/>
          <p:nvPr/>
        </p:nvCxnSpPr>
        <p:spPr>
          <a:xfrm flipH="1">
            <a:off x="1611710" y="2749879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6" name="Conector recto 25"/>
          <p:cNvCxnSpPr/>
          <p:nvPr/>
        </p:nvCxnSpPr>
        <p:spPr>
          <a:xfrm flipH="1">
            <a:off x="6118547" y="2737559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7" name="Conector recto 26"/>
          <p:cNvCxnSpPr/>
          <p:nvPr/>
        </p:nvCxnSpPr>
        <p:spPr>
          <a:xfrm flipH="1">
            <a:off x="1621196" y="4184584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8" name="Conector recto 27"/>
          <p:cNvCxnSpPr/>
          <p:nvPr/>
        </p:nvCxnSpPr>
        <p:spPr>
          <a:xfrm flipH="1">
            <a:off x="6610776" y="4178943"/>
            <a:ext cx="6128" cy="837309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32436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9" grpId="0"/>
      <p:bldP spid="10" grpId="0"/>
      <p:bldP spid="12" grpId="0"/>
      <p:bldP spid="14" grpId="0"/>
      <p:bldP spid="15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-1" y="1596932"/>
                <a:ext cx="12192000" cy="67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invertible de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entonces, para cada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  <m:r>
                      <a:rPr lang="es-ES" sz="2000" b="1" i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 ecuación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la solución única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596932"/>
                <a:ext cx="12192000" cy="670055"/>
              </a:xfrm>
              <a:prstGeom prst="rect">
                <a:avLst/>
              </a:prstGeom>
              <a:blipFill>
                <a:blip r:embed="rId2"/>
                <a:stretch>
                  <a:fillRect l="-500" t="-9091" r="-500" b="-13636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1" y="1141958"/>
            <a:ext cx="174439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xmlns="" id="{D3E4BB0A-697E-4311-B298-60CF26A58CAA}"/>
              </a:ext>
            </a:extLst>
          </p:cNvPr>
          <p:cNvSpPr txBox="1">
            <a:spLocks/>
          </p:cNvSpPr>
          <p:nvPr/>
        </p:nvSpPr>
        <p:spPr>
          <a:xfrm>
            <a:off x="37512" y="2494474"/>
            <a:ext cx="1416149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xmlns="" id="{AA694761-B82B-4D86-9AB1-587F39BDD6A0}"/>
              </a:ext>
            </a:extLst>
          </p:cNvPr>
          <p:cNvSpPr/>
          <p:nvPr/>
        </p:nvSpPr>
        <p:spPr>
          <a:xfrm>
            <a:off x="1" y="2985072"/>
            <a:ext cx="26728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3F3F3F"/>
              </a:buClr>
              <a:buSzPts val="2800"/>
            </a:pPr>
            <a:r>
              <a:rPr lang="es-ES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Resuelva el sistema 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xmlns="" id="{936323F1-310F-4BA3-AFE8-F61C75448627}"/>
              </a:ext>
            </a:extLst>
          </p:cNvPr>
          <p:cNvSpPr txBox="1">
            <a:spLocks/>
          </p:cNvSpPr>
          <p:nvPr/>
        </p:nvSpPr>
        <p:spPr>
          <a:xfrm>
            <a:off x="-1" y="4136040"/>
            <a:ext cx="145366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Solución.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xmlns="" id="{BB957F82-99C7-4AFF-A3D3-50159001C1C7}"/>
                  </a:ext>
                </a:extLst>
              </p:cNvPr>
              <p:cNvSpPr/>
              <p:nvPr/>
            </p:nvSpPr>
            <p:spPr>
              <a:xfrm>
                <a:off x="2916334" y="3244334"/>
                <a:ext cx="206362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BB957F82-99C7-4AFF-A3D3-50159001C1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334" y="3244334"/>
                <a:ext cx="2063629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xmlns="" id="{16E6D67C-03F7-40F0-A045-9F60AA27B547}"/>
                  </a:ext>
                </a:extLst>
              </p:cNvPr>
              <p:cNvSpPr/>
              <p:nvPr/>
            </p:nvSpPr>
            <p:spPr>
              <a:xfrm>
                <a:off x="2916334" y="3729723"/>
                <a:ext cx="206362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sSub>
                        <m:sSub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𝟕</m:t>
                      </m:r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16E6D67C-03F7-40F0-A045-9F60AA27B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334" y="3729723"/>
                <a:ext cx="2063629" cy="369332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xmlns="" id="{179321D3-1700-4EBD-B914-F6667AA14095}"/>
                  </a:ext>
                </a:extLst>
              </p:cNvPr>
              <p:cNvSpPr/>
              <p:nvPr/>
            </p:nvSpPr>
            <p:spPr>
              <a:xfrm>
                <a:off x="0" y="4591013"/>
                <a:ext cx="609599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Este sistema es equivalente 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por lo que</a:t>
                </a:r>
              </a:p>
            </p:txBody>
          </p:sp>
        </mc:Choice>
        <mc:Fallback xmlns=""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179321D3-1700-4EBD-B914-F6667AA14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91013"/>
                <a:ext cx="6095999" cy="369332"/>
              </a:xfrm>
              <a:prstGeom prst="rect">
                <a:avLst/>
              </a:prstGeom>
              <a:blipFill>
                <a:blip r:embed="rId5"/>
                <a:stretch>
                  <a:fillRect l="-1000" t="-14754" b="-29508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xmlns="" id="{64294A5E-AD96-4191-9265-26971F704061}"/>
                  </a:ext>
                </a:extLst>
              </p:cNvPr>
              <p:cNvSpPr/>
              <p:nvPr/>
            </p:nvSpPr>
            <p:spPr>
              <a:xfrm>
                <a:off x="5840435" y="5273632"/>
                <a:ext cx="1559171" cy="375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r>
                        <a:rPr lang="es-ES" sz="2000" b="1" i="0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64294A5E-AD96-4191-9265-26971F7040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435" y="5273632"/>
                <a:ext cx="1559171" cy="3756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xmlns="" id="{62BF125D-02BC-43E3-8920-BBE6B7D724CF}"/>
                  </a:ext>
                </a:extLst>
              </p:cNvPr>
              <p:cNvSpPr/>
              <p:nvPr/>
            </p:nvSpPr>
            <p:spPr>
              <a:xfrm>
                <a:off x="7219068" y="5028501"/>
                <a:ext cx="2216833" cy="8476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s-ES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ES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62BF125D-02BC-43E3-8920-BBE6B7D72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068" y="5028501"/>
                <a:ext cx="2216833" cy="847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id="{706C103D-D5D6-4671-AC8D-C505261A3226}"/>
                  </a:ext>
                </a:extLst>
              </p:cNvPr>
              <p:cNvSpPr/>
              <p:nvPr/>
            </p:nvSpPr>
            <p:spPr>
              <a:xfrm>
                <a:off x="9138134" y="5175945"/>
                <a:ext cx="779590" cy="576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ES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706C103D-D5D6-4671-AC8D-C505261A32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134" y="5175945"/>
                <a:ext cx="779590" cy="576633"/>
              </a:xfrm>
              <a:prstGeom prst="rect">
                <a:avLst/>
              </a:prstGeom>
              <a:blipFill>
                <a:blip r:embed="rId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52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-1" y="1632350"/>
                <a:ext cx="8975189" cy="4667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a)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invertible, entonces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 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32350"/>
                <a:ext cx="8975189" cy="466794"/>
              </a:xfrm>
              <a:prstGeom prst="rect">
                <a:avLst/>
              </a:prstGeom>
              <a:blipFill>
                <a:blip r:embed="rId2"/>
                <a:stretch>
                  <a:fillRect l="-679" b="-1973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0" y="1141958"/>
            <a:ext cx="486821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 (</a:t>
            </a:r>
            <a:r>
              <a:rPr lang="es-ES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Incluir a su Calculadora</a:t>
            </a:r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B1B3FA0B-FC52-4BFC-8397-5BBD2C06B93F}"/>
                  </a:ext>
                </a:extLst>
              </p:cNvPr>
              <p:cNvSpPr/>
              <p:nvPr/>
            </p:nvSpPr>
            <p:spPr>
              <a:xfrm>
                <a:off x="12895" y="2303012"/>
                <a:ext cx="12166210" cy="67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b)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matrices invertibles de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entonces también lo es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la inversa de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el producto de las inversas de </a:t>
                </a:r>
                <a14:m>
                  <m:oMath xmlns:m="http://schemas.openxmlformats.org/officeDocument/2006/math">
                    <m:r>
                      <a:rPr lang="es-ES" sz="20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ES" sz="20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 el orden opuesto. Es decir,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𝑨𝑩</m:t>
                            </m:r>
                          </m:e>
                        </m:d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B1B3FA0B-FC52-4BFC-8397-5BBD2C06B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5" y="2303012"/>
                <a:ext cx="12166210" cy="670055"/>
              </a:xfrm>
              <a:prstGeom prst="rect">
                <a:avLst/>
              </a:prstGeom>
              <a:blipFill>
                <a:blip r:embed="rId3"/>
                <a:stretch>
                  <a:fillRect l="-501" t="-9091" r="-551" b="-13636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86C28FCF-9496-4FC3-BC4C-7EFEE36DB809}"/>
                  </a:ext>
                </a:extLst>
              </p:cNvPr>
              <p:cNvSpPr/>
              <p:nvPr/>
            </p:nvSpPr>
            <p:spPr>
              <a:xfrm>
                <a:off x="25790" y="3176935"/>
                <a:ext cx="12166210" cy="758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c)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una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invertible, también lo 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 la inversa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la transpuesta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decir,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MX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ES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ES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s-ES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86C28FCF-9496-4FC3-BC4C-7EFEE36DB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" y="3176935"/>
                <a:ext cx="12166210" cy="758990"/>
              </a:xfrm>
              <a:prstGeom prst="rect">
                <a:avLst/>
              </a:prstGeom>
              <a:blipFill>
                <a:blip r:embed="rId4"/>
                <a:stretch>
                  <a:fillRect l="-501" t="-6400" r="-551" b="-96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42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13ACBCB8-8929-4180-9C5D-85BD254EFB72}"/>
              </a:ext>
            </a:extLst>
          </p:cNvPr>
          <p:cNvSpPr/>
          <p:nvPr/>
        </p:nvSpPr>
        <p:spPr>
          <a:xfrm>
            <a:off x="25790" y="1843122"/>
            <a:ext cx="103030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teorema de la matriz </a:t>
            </a:r>
            <a:r>
              <a:rPr lang="es-E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invertible (</a:t>
            </a:r>
            <a:r>
              <a:rPr lang="es-ES" sz="20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Incluir a su Calculadora las que tienen asterisco</a:t>
            </a:r>
            <a:r>
              <a:rPr lang="es-E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E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2912012" y="1203587"/>
            <a:ext cx="571148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Caracterizaciones de matrices invertibles</a:t>
            </a:r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="" id="{F33E8E85-A6BB-4F31-A9BA-82BF18F66FEB}"/>
                  </a:ext>
                </a:extLst>
              </p:cNvPr>
              <p:cNvSpPr/>
              <p:nvPr/>
            </p:nvSpPr>
            <p:spPr>
              <a:xfrm>
                <a:off x="25790" y="2275555"/>
                <a:ext cx="1216621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una matriz cuadrada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Entonces los siguientes enunciados son equivalentes. Es decir, para una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dada, los enunciados son todos ciertos o todos falsos.  </a:t>
                </a:r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xmlns="" id="{F33E8E85-A6BB-4F31-A9BA-82BF18F66F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" y="2275555"/>
                <a:ext cx="12166210" cy="707886"/>
              </a:xfrm>
              <a:prstGeom prst="rect">
                <a:avLst/>
              </a:prstGeom>
              <a:blipFill rotWithShape="0">
                <a:blip r:embed="rId2"/>
                <a:stretch>
                  <a:fillRect l="-501" t="-3448" r="-551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3120185"/>
                <a:ext cx="378638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invertible.</a:t>
                </a: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20185"/>
                <a:ext cx="3786389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1610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25790" y="3657039"/>
                <a:ext cx="70833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equivalente por filas a la matriz identidad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" y="3657039"/>
                <a:ext cx="7083348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861" t="-7576" r="-172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25790" y="4197193"/>
                <a:ext cx="406969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*c</a:t>
                </a:r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tiene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posiciones pivote.</a:t>
                </a:r>
              </a:p>
            </p:txBody>
          </p:sp>
        </mc:Choice>
        <mc:Fallback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" y="4197193"/>
                <a:ext cx="4069692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1497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25790" y="4730747"/>
                <a:ext cx="70833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ecuación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solamente la solución trivial.</a:t>
                </a:r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" y="4730747"/>
                <a:ext cx="7083348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861" t="-6061" r="-344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-1" y="5270901"/>
                <a:ext cx="895081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*e</a:t>
                </a:r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columnas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forman un conjunto linealmente independientes.</a:t>
                </a:r>
              </a:p>
            </p:txBody>
          </p:sp>
        </mc:Choice>
        <mc:Fallback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270901"/>
                <a:ext cx="8950818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681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-1" y="5811055"/>
                <a:ext cx="605307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transformación lineal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↦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uno a uno.</a:t>
                </a: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811055"/>
                <a:ext cx="6053071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1007" t="-6061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-1" y="6351209"/>
                <a:ext cx="877051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ecuación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al menos una solución para toda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endParaRPr lang="es-E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351209"/>
                <a:ext cx="8770513" cy="400110"/>
              </a:xfrm>
              <a:prstGeom prst="rect">
                <a:avLst/>
              </a:prstGeom>
              <a:blipFill rotWithShape="0">
                <a:blip r:embed="rId9"/>
                <a:stretch>
                  <a:fillRect l="-695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29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2912012" y="1203587"/>
            <a:ext cx="8176698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Caracterizaciones de matrices invertibles (</a:t>
            </a:r>
            <a:r>
              <a:rPr lang="es-ES" sz="22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Continuación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2200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1835365"/>
                <a:ext cx="452048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*h</a:t>
                </a:r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columnas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generan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NI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endParaRPr lang="es-E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35365"/>
                <a:ext cx="4520485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1348" t="-6061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-1" y="2420036"/>
                <a:ext cx="708334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transformación lineal </a:t>
                </a:r>
                <a14:m>
                  <m:oMath xmlns:m="http://schemas.openxmlformats.org/officeDocument/2006/math">
                    <m:r>
                      <a:rPr lang="es-NI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↦</m:t>
                    </m:r>
                    <m:r>
                      <a:rPr lang="es-NI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mapea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NI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sobre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ES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NI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420036"/>
                <a:ext cx="7083348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861" t="-7576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-1" y="3004707"/>
                <a:ext cx="544776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j) </a:t>
                </a:r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Existe una matriz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tal que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endParaRPr lang="es-E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004707"/>
                <a:ext cx="5447764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1119" t="-7576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3594823"/>
                <a:ext cx="55636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k) </a:t>
                </a:r>
                <a:r>
                  <a:rPr lang="es-NI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Existe una matriz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𝑫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tal que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𝑨𝑫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</m:oMath>
                </a14:m>
                <a:endParaRPr lang="es-ES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94823"/>
                <a:ext cx="5563673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1095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-1" y="4174049"/>
                <a:ext cx="3837905" cy="405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invertible.</a:t>
                </a: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174049"/>
                <a:ext cx="3837905" cy="405624"/>
              </a:xfrm>
              <a:prstGeom prst="rect">
                <a:avLst/>
              </a:prstGeom>
              <a:blipFill rotWithShape="0">
                <a:blip r:embed="rId6"/>
                <a:stretch>
                  <a:fillRect l="-1587" t="-7576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29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1610810"/>
                <a:ext cx="892505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el teorema de la matriz invertible para determinar si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invertible:</a:t>
                </a: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10810"/>
                <a:ext cx="8925059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683" t="-6061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0" y="1155836"/>
            <a:ext cx="1429555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Ejemplo.</a:t>
            </a:r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3044780" y="2252960"/>
                <a:ext cx="2887014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780" y="2252960"/>
                <a:ext cx="2887014" cy="9062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xmlns="" id="{CDCB832B-140C-4A5E-8EF7-A7E18D1FB048}"/>
              </a:ext>
            </a:extLst>
          </p:cNvPr>
          <p:cNvSpPr txBox="1">
            <a:spLocks/>
          </p:cNvSpPr>
          <p:nvPr/>
        </p:nvSpPr>
        <p:spPr>
          <a:xfrm>
            <a:off x="0" y="3227174"/>
            <a:ext cx="1545465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Solución.</a:t>
            </a:r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134906" y="3872066"/>
                <a:ext cx="2049887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06" y="3872066"/>
                <a:ext cx="2049887" cy="9062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793" y="4224411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6554676" y="3872066"/>
                <a:ext cx="2049887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676" y="3872066"/>
                <a:ext cx="2049887" cy="9062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226" y="4164185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9405687" y="3872066"/>
                <a:ext cx="1718232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687" y="3872066"/>
                <a:ext cx="1718232" cy="9062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25757" y="5081434"/>
                <a:ext cx="1216624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lo que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tres posiciones pivote y, por tanto, es invertible, de acuerdo con el enunciado </a:t>
                </a:r>
                <a:r>
                  <a:rPr lang="es-ES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de teorema de la matriz invertible.</a:t>
                </a: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7" y="5081434"/>
                <a:ext cx="12166243" cy="707886"/>
              </a:xfrm>
              <a:prstGeom prst="rect">
                <a:avLst/>
              </a:prstGeom>
              <a:blipFill rotWithShape="0">
                <a:blip r:embed="rId8"/>
                <a:stretch>
                  <a:fillRect l="-501" t="-4310" r="-551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1893499" y="3951025"/>
                <a:ext cx="173310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499" y="3951025"/>
                <a:ext cx="1733103" cy="338554"/>
              </a:xfrm>
              <a:prstGeom prst="rect">
                <a:avLst/>
              </a:prstGeom>
              <a:blipFill rotWithShape="0">
                <a:blip r:embed="rId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3437585" y="3872066"/>
                <a:ext cx="2049887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585" y="3872066"/>
                <a:ext cx="2049887" cy="9062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/>
              <p:cNvSpPr/>
              <p:nvPr/>
            </p:nvSpPr>
            <p:spPr>
              <a:xfrm>
                <a:off x="5141592" y="3885857"/>
                <a:ext cx="157921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592" y="3885857"/>
                <a:ext cx="1579215" cy="338554"/>
              </a:xfrm>
              <a:prstGeom prst="rect">
                <a:avLst/>
              </a:prstGeom>
              <a:blipFill rotWithShape="0"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1582" y="4164185"/>
            <a:ext cx="906912" cy="321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8135451" y="3883901"/>
                <a:ext cx="145578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6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s-NI" sz="16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sz="1600" dirty="0">
                  <a:effectLst/>
                </a:endParaRPr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451" y="3883901"/>
                <a:ext cx="1455783" cy="338554"/>
              </a:xfrm>
              <a:prstGeom prst="rect">
                <a:avLst/>
              </a:prstGeom>
              <a:blipFill rotWithShape="0">
                <a:blip r:embed="rId1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37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4" grpId="0"/>
      <p:bldP spid="16" grpId="0"/>
      <p:bldP spid="17" grpId="0"/>
      <p:bldP spid="18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2984321" y="1334339"/>
            <a:ext cx="50856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Problema de practica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xmlns="" id="{13ACBCB8-8929-4180-9C5D-85BD254EFB72}"/>
              </a:ext>
            </a:extLst>
          </p:cNvPr>
          <p:cNvSpPr/>
          <p:nvPr/>
        </p:nvSpPr>
        <p:spPr>
          <a:xfrm>
            <a:off x="0" y="1892695"/>
            <a:ext cx="7959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NI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Escriba un programa para encontrar la inversa de la matriz</a:t>
            </a:r>
            <a:endParaRPr lang="es-ES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7509455" y="1639677"/>
                <a:ext cx="4682545" cy="9061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si acaso existe</a:t>
                </a:r>
              </a:p>
            </p:txBody>
          </p:sp>
        </mc:Choice>
        <mc:Fallback xmlns=""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455" y="1639677"/>
                <a:ext cx="4682545" cy="90614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2952417"/>
                <a:ext cx="5422006" cy="906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s-NI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Determine si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invertible </a:t>
                </a:r>
              </a:p>
            </p:txBody>
          </p:sp>
        </mc:Choice>
        <mc:Fallback xmlns=""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52417"/>
                <a:ext cx="5422006" cy="906210"/>
              </a:xfrm>
              <a:prstGeom prst="rect">
                <a:avLst/>
              </a:prstGeom>
              <a:blipFill rotWithShape="0">
                <a:blip r:embed="rId3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4210612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es-NI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Suponga que para cierta matriz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 enunciado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del teorema de la matriz invertible no es verdadero. ¿Qué puede decirse acerca de las ecuaciones de la forma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𝑨𝒙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10612"/>
                <a:ext cx="12192000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500" t="-4310" r="-500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xmlns="" id="{13ACBCB8-8929-4180-9C5D-85BD254EFB72}"/>
                  </a:ext>
                </a:extLst>
              </p:cNvPr>
              <p:cNvSpPr/>
              <p:nvPr/>
            </p:nvSpPr>
            <p:spPr>
              <a:xfrm>
                <a:off x="0" y="5148739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NI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4. </a:t>
                </a:r>
                <a:r>
                  <a:rPr lang="es-NI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Suponga que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matrices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𝒏𝒙𝒏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que la ecuación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𝑨𝑩𝒙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una solución no trivial. ¿Qué puede decirse acerca de la matriz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ES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ACBCB8-8929-4180-9C5D-85BD254E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48739"/>
                <a:ext cx="12192000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500" t="-4310" r="-500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2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955</Words>
  <Application>Microsoft Office PowerPoint</Application>
  <PresentationFormat>Panorámica</PresentationFormat>
  <Paragraphs>236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Arial</vt:lpstr>
      <vt:lpstr>Calibri</vt:lpstr>
      <vt:lpstr>Cambria</vt:lpstr>
      <vt:lpstr>Cambria Math</vt:lpstr>
      <vt:lpstr>Franklin Gothic Book</vt:lpstr>
      <vt:lpstr>Franklin Gothic Medium</vt:lpstr>
      <vt:lpstr>Franklin Gothic Std No. 2 Roman</vt:lpstr>
      <vt:lpstr>Times New Roman</vt:lpstr>
      <vt:lpstr>Wingdings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Cuenta Microsoft</cp:lastModifiedBy>
  <cp:revision>374</cp:revision>
  <dcterms:created xsi:type="dcterms:W3CDTF">2019-03-11T22:56:00Z</dcterms:created>
  <dcterms:modified xsi:type="dcterms:W3CDTF">2026-09-30T03:20:07Z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DAF54AE3DF304A368D573207D0A3D9DC_12</vt:lpwstr>
  </property>
  <property fmtid="{D5CDD505-2E9C-101B-9397-08002B2CF9AE}" pid="3" name="KSOProductBuildVer">
    <vt:lpwstr>3082-12.2.0.22549</vt:lpwstr>
  </property>
</Properties>
</file>