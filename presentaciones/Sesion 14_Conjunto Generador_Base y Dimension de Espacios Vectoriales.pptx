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34"/>
  </p:notesMasterIdLst>
  <p:handoutMasterIdLst>
    <p:handoutMasterId r:id="rId35"/>
  </p:handoutMasterIdLst>
  <p:sldIdLst>
    <p:sldId id="371" r:id="rId3"/>
    <p:sldId id="380" r:id="rId4"/>
    <p:sldId id="547" r:id="rId5"/>
    <p:sldId id="555" r:id="rId6"/>
    <p:sldId id="554" r:id="rId7"/>
    <p:sldId id="576" r:id="rId8"/>
    <p:sldId id="579" r:id="rId9"/>
    <p:sldId id="578" r:id="rId10"/>
    <p:sldId id="577" r:id="rId11"/>
    <p:sldId id="550" r:id="rId12"/>
    <p:sldId id="580" r:id="rId13"/>
    <p:sldId id="582" r:id="rId14"/>
    <p:sldId id="563" r:id="rId15"/>
    <p:sldId id="560" r:id="rId16"/>
    <p:sldId id="564" r:id="rId17"/>
    <p:sldId id="559" r:id="rId18"/>
    <p:sldId id="583" r:id="rId19"/>
    <p:sldId id="565" r:id="rId20"/>
    <p:sldId id="568" r:id="rId21"/>
    <p:sldId id="584" r:id="rId22"/>
    <p:sldId id="569" r:id="rId23"/>
    <p:sldId id="570" r:id="rId24"/>
    <p:sldId id="581" r:id="rId25"/>
    <p:sldId id="566" r:id="rId26"/>
    <p:sldId id="585" r:id="rId27"/>
    <p:sldId id="572" r:id="rId28"/>
    <p:sldId id="586" r:id="rId29"/>
    <p:sldId id="557" r:id="rId30"/>
    <p:sldId id="575" r:id="rId31"/>
    <p:sldId id="379" r:id="rId32"/>
    <p:sldId id="372" r:id="rId33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C20"/>
    <a:srgbClr val="D71920"/>
    <a:srgbClr val="C8B160"/>
    <a:srgbClr val="009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2475" autoAdjust="0"/>
  </p:normalViewPr>
  <p:slideViewPr>
    <p:cSldViewPr snapToGrid="0" showGuides="1">
      <p:cViewPr varScale="1">
        <p:scale>
          <a:sx n="74" d="100"/>
          <a:sy n="74" d="100"/>
        </p:scale>
        <p:origin x="456" y="72"/>
      </p:cViewPr>
      <p:guideLst>
        <p:guide orient="horz" pos="21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7612F-F4F6-49E7-9E06-3D5220FEBB27}" type="datetimeFigureOut">
              <a:rPr lang="es-NI" smtClean="0"/>
              <a:t>14/10/2026</a:t>
            </a:fld>
            <a:endParaRPr lang="es-NI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84567-83D8-42DA-AC87-6626250FF12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722447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08A3-3CCC-49E6-964C-E1738A6D992D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2CB49-322C-48BB-A333-B208C96D6B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0992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910"/>
            <a:ext cx="5306096" cy="14167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533" y="-36372"/>
            <a:ext cx="2139467" cy="1195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455" y="2253803"/>
            <a:ext cx="7187089" cy="191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rgbClr val="ED7D31"/>
                </a:solidFill>
              </a:rPr>
              <a:t>i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06" y="164707"/>
            <a:ext cx="5145908" cy="15180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490" y="-36372"/>
            <a:ext cx="2139467" cy="1195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841" y="2276388"/>
            <a:ext cx="7814318" cy="23052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208.png"/><Relationship Id="rId3" Type="http://schemas.openxmlformats.org/officeDocument/2006/relationships/image" Target="../media/image10.png"/><Relationship Id="rId7" Type="http://schemas.openxmlformats.org/officeDocument/2006/relationships/image" Target="../media/image202.png"/><Relationship Id="rId12" Type="http://schemas.openxmlformats.org/officeDocument/2006/relationships/image" Target="../media/image14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06.png"/><Relationship Id="rId5" Type="http://schemas.openxmlformats.org/officeDocument/2006/relationships/image" Target="../media/image200.png"/><Relationship Id="rId10" Type="http://schemas.openxmlformats.org/officeDocument/2006/relationships/image" Target="../media/image205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13" Type="http://schemas.openxmlformats.org/officeDocument/2006/relationships/image" Target="../media/image238.png"/><Relationship Id="rId3" Type="http://schemas.openxmlformats.org/officeDocument/2006/relationships/image" Target="../media/image228.png"/><Relationship Id="rId7" Type="http://schemas.openxmlformats.org/officeDocument/2006/relationships/image" Target="../media/image232.png"/><Relationship Id="rId12" Type="http://schemas.openxmlformats.org/officeDocument/2006/relationships/image" Target="../media/image237.png"/><Relationship Id="rId2" Type="http://schemas.openxmlformats.org/officeDocument/2006/relationships/image" Target="../media/image2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11" Type="http://schemas.openxmlformats.org/officeDocument/2006/relationships/image" Target="../media/image236.png"/><Relationship Id="rId5" Type="http://schemas.openxmlformats.org/officeDocument/2006/relationships/image" Target="../media/image230.png"/><Relationship Id="rId15" Type="http://schemas.openxmlformats.org/officeDocument/2006/relationships/image" Target="../media/image240.png"/><Relationship Id="rId10" Type="http://schemas.openxmlformats.org/officeDocument/2006/relationships/image" Target="../media/image235.png"/><Relationship Id="rId4" Type="http://schemas.openxmlformats.org/officeDocument/2006/relationships/image" Target="../media/image229.png"/><Relationship Id="rId9" Type="http://schemas.openxmlformats.org/officeDocument/2006/relationships/image" Target="../media/image234.png"/><Relationship Id="rId14" Type="http://schemas.openxmlformats.org/officeDocument/2006/relationships/image" Target="../media/image2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png"/><Relationship Id="rId3" Type="http://schemas.openxmlformats.org/officeDocument/2006/relationships/image" Target="../media/image55.png"/><Relationship Id="rId7" Type="http://schemas.openxmlformats.org/officeDocument/2006/relationships/image" Target="../media/image261.pn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550.png"/><Relationship Id="rId4" Type="http://schemas.openxmlformats.org/officeDocument/2006/relationships/image" Target="../media/image56.png"/><Relationship Id="rId9" Type="http://schemas.openxmlformats.org/officeDocument/2006/relationships/image" Target="../media/image26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png"/><Relationship Id="rId13" Type="http://schemas.openxmlformats.org/officeDocument/2006/relationships/image" Target="../media/image283.png"/><Relationship Id="rId3" Type="http://schemas.openxmlformats.org/officeDocument/2006/relationships/image" Target="../media/image273.png"/><Relationship Id="rId7" Type="http://schemas.openxmlformats.org/officeDocument/2006/relationships/image" Target="../media/image277.png"/><Relationship Id="rId12" Type="http://schemas.openxmlformats.org/officeDocument/2006/relationships/image" Target="../media/image282.png"/><Relationship Id="rId2" Type="http://schemas.openxmlformats.org/officeDocument/2006/relationships/image" Target="../media/image272.png"/><Relationship Id="rId16" Type="http://schemas.openxmlformats.org/officeDocument/2006/relationships/image" Target="../media/image2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6.png"/><Relationship Id="rId11" Type="http://schemas.openxmlformats.org/officeDocument/2006/relationships/image" Target="../media/image281.png"/><Relationship Id="rId5" Type="http://schemas.openxmlformats.org/officeDocument/2006/relationships/image" Target="../media/image275.png"/><Relationship Id="rId15" Type="http://schemas.openxmlformats.org/officeDocument/2006/relationships/image" Target="../media/image59.png"/><Relationship Id="rId10" Type="http://schemas.openxmlformats.org/officeDocument/2006/relationships/image" Target="../media/image280.png"/><Relationship Id="rId4" Type="http://schemas.openxmlformats.org/officeDocument/2006/relationships/image" Target="../media/image274.png"/><Relationship Id="rId9" Type="http://schemas.openxmlformats.org/officeDocument/2006/relationships/image" Target="../media/image279.png"/><Relationship Id="rId14" Type="http://schemas.openxmlformats.org/officeDocument/2006/relationships/image" Target="../media/image580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5.png"/><Relationship Id="rId12" Type="http://schemas.openxmlformats.org/officeDocument/2006/relationships/image" Target="../media/image62.png"/><Relationship Id="rId25" Type="http://schemas.openxmlformats.org/officeDocument/2006/relationships/image" Target="../media/image9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1.png"/><Relationship Id="rId24" Type="http://schemas.openxmlformats.org/officeDocument/2006/relationships/image" Target="../media/image93.png"/><Relationship Id="rId23" Type="http://schemas.openxmlformats.org/officeDocument/2006/relationships/image" Target="../media/image92.png"/><Relationship Id="rId28" Type="http://schemas.openxmlformats.org/officeDocument/2006/relationships/image" Target="../media/image60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Relationship Id="rId30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10" Type="http://schemas.openxmlformats.org/officeDocument/2006/relationships/image" Target="../media/image100.png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7" Type="http://schemas.openxmlformats.org/officeDocument/2006/relationships/image" Target="../media/image82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9.png"/><Relationship Id="rId5" Type="http://schemas.openxmlformats.org/officeDocument/2006/relationships/image" Target="../media/image298.png"/></Relationships>
</file>

<file path=ppt/slides/_rels/slide2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4.png"/><Relationship Id="rId8" Type="http://schemas.openxmlformats.org/officeDocument/2006/relationships/image" Target="../media/image390.png"/><Relationship Id="rId13" Type="http://schemas.openxmlformats.org/officeDocument/2006/relationships/image" Target="../media/image441.png"/><Relationship Id="rId7" Type="http://schemas.openxmlformats.org/officeDocument/2006/relationships/image" Target="../media/image380.png"/><Relationship Id="rId12" Type="http://schemas.openxmlformats.org/officeDocument/2006/relationships/image" Target="../media/image431.png"/><Relationship Id="rId17" Type="http://schemas.openxmlformats.org/officeDocument/2006/relationships/image" Target="../media/image481.png"/><Relationship Id="rId16" Type="http://schemas.openxmlformats.org/officeDocument/2006/relationships/image" Target="../media/image47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21.png"/><Relationship Id="rId5" Type="http://schemas.openxmlformats.org/officeDocument/2006/relationships/image" Target="../media/image361.png"/><Relationship Id="rId15" Type="http://schemas.openxmlformats.org/officeDocument/2006/relationships/image" Target="../media/image461.png"/><Relationship Id="rId10" Type="http://schemas.openxmlformats.org/officeDocument/2006/relationships/image" Target="../media/image411.png"/><Relationship Id="rId4" Type="http://schemas.openxmlformats.org/officeDocument/2006/relationships/image" Target="../media/image351.png"/><Relationship Id="rId9" Type="http://schemas.openxmlformats.org/officeDocument/2006/relationships/image" Target="../media/image401.png"/><Relationship Id="rId14" Type="http://schemas.openxmlformats.org/officeDocument/2006/relationships/image" Target="../media/image45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17" Type="http://schemas.openxmlformats.org/officeDocument/2006/relationships/image" Target="../media/image106.png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104.png"/><Relationship Id="rId19" Type="http://schemas.openxmlformats.org/officeDocument/2006/relationships/image" Target="../media/image108.png"/><Relationship Id="rId14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631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2" Type="http://schemas.openxmlformats.org/officeDocument/2006/relationships/image" Target="../media/image109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600.png"/><Relationship Id="rId15" Type="http://schemas.openxmlformats.org/officeDocument/2006/relationships/image" Target="../media/image65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6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7" Type="http://schemas.openxmlformats.org/officeDocument/2006/relationships/image" Target="../media/image70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26" Type="http://schemas.openxmlformats.org/officeDocument/2006/relationships/image" Target="../media/image135.png"/><Relationship Id="rId3" Type="http://schemas.openxmlformats.org/officeDocument/2006/relationships/image" Target="../media/image72.png"/><Relationship Id="rId21" Type="http://schemas.openxmlformats.org/officeDocument/2006/relationships/image" Target="../media/image130.png"/><Relationship Id="rId7" Type="http://schemas.openxmlformats.org/officeDocument/2006/relationships/image" Target="../media/image97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5" Type="http://schemas.openxmlformats.org/officeDocument/2006/relationships/image" Target="../media/image134.png"/><Relationship Id="rId2" Type="http://schemas.openxmlformats.org/officeDocument/2006/relationships/image" Target="../media/image71.png"/><Relationship Id="rId16" Type="http://schemas.openxmlformats.org/officeDocument/2006/relationships/image" Target="../media/image125.png"/><Relationship Id="rId20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120.png"/><Relationship Id="rId24" Type="http://schemas.openxmlformats.org/officeDocument/2006/relationships/image" Target="../media/image133.png"/><Relationship Id="rId5" Type="http://schemas.openxmlformats.org/officeDocument/2006/relationships/image" Target="../media/image81.png"/><Relationship Id="rId15" Type="http://schemas.openxmlformats.org/officeDocument/2006/relationships/image" Target="../media/image124.png"/><Relationship Id="rId23" Type="http://schemas.openxmlformats.org/officeDocument/2006/relationships/image" Target="../media/image132.png"/><Relationship Id="rId10" Type="http://schemas.openxmlformats.org/officeDocument/2006/relationships/image" Target="../media/image112.png"/><Relationship Id="rId19" Type="http://schemas.openxmlformats.org/officeDocument/2006/relationships/image" Target="../media/image128.png"/><Relationship Id="rId4" Type="http://schemas.openxmlformats.org/officeDocument/2006/relationships/image" Target="../media/image80.png"/><Relationship Id="rId9" Type="http://schemas.openxmlformats.org/officeDocument/2006/relationships/image" Target="../media/image99.png"/><Relationship Id="rId14" Type="http://schemas.openxmlformats.org/officeDocument/2006/relationships/image" Target="../media/image123.png"/><Relationship Id="rId22" Type="http://schemas.openxmlformats.org/officeDocument/2006/relationships/image" Target="../media/image131.png"/><Relationship Id="rId27" Type="http://schemas.openxmlformats.org/officeDocument/2006/relationships/image" Target="../media/image1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png"/><Relationship Id="rId2" Type="http://schemas.openxmlformats.org/officeDocument/2006/relationships/image" Target="../media/image3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2.png"/><Relationship Id="rId4" Type="http://schemas.openxmlformats.org/officeDocument/2006/relationships/image" Target="../media/image33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14473" y="4346647"/>
            <a:ext cx="6390291" cy="769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NI" altLang="es-NI" sz="3000" b="1" dirty="0">
                <a:solidFill>
                  <a:prstClr val="white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José Andrés Munguía Cortez </a:t>
            </a:r>
            <a:endParaRPr lang="es-MX" altLang="es-NI" sz="3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/>
          <p:cNvSpPr txBox="1"/>
          <p:nvPr/>
        </p:nvSpPr>
        <p:spPr>
          <a:xfrm>
            <a:off x="3701737" y="2985575"/>
            <a:ext cx="6815762" cy="1569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NI" sz="4800" dirty="0">
                <a:solidFill>
                  <a:prstClr val="white">
                    <a:lumMod val="95000"/>
                  </a:prstClr>
                </a:solidFill>
              </a:rPr>
              <a:t>ALGEBRA LINEAL</a:t>
            </a:r>
            <a:endParaRPr lang="es-ES_tradnl" sz="4800" b="1" dirty="0">
              <a:ln w="12700">
                <a:solidFill>
                  <a:srgbClr val="5B9BD5"/>
                </a:solidFill>
                <a:prstDash val="solid"/>
              </a:ln>
              <a:solidFill>
                <a:prstClr val="white">
                  <a:lumMod val="9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Franklin Gothic Std No. 2 Roman" charset="0"/>
              <a:cs typeface="Franklin Gothic Std No. 2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1" y="0"/>
            <a:ext cx="12191999" cy="10673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b="1" dirty="0">
                <a:solidFill>
                  <a:schemeClr val="bg1"/>
                </a:solidFill>
              </a:rPr>
              <a:t>UNIDAD </a:t>
            </a:r>
            <a:r>
              <a:rPr lang="es-ES" sz="2800" b="1" dirty="0" smtClean="0">
                <a:solidFill>
                  <a:schemeClr val="bg1"/>
                </a:solidFill>
              </a:rPr>
              <a:t>III  </a:t>
            </a:r>
            <a:r>
              <a:rPr lang="es-NI" sz="2800" b="1" dirty="0" smtClean="0">
                <a:solidFill>
                  <a:schemeClr val="bg1"/>
                </a:solidFill>
              </a:rPr>
              <a:t>ESPACIOS VECTORIALES</a:t>
            </a:r>
            <a:endParaRPr lang="es-ES" sz="2800" b="1" dirty="0">
              <a:solidFill>
                <a:schemeClr val="bg1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0" y="4642009"/>
            <a:ext cx="654246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Conjunto </a:t>
            </a:r>
            <a:r>
              <a:rPr lang="es-MX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generador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generado por un conjunto de </a:t>
            </a: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</a:t>
            </a:r>
            <a:r>
              <a:rPr lang="es-MX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dimensión</a:t>
            </a:r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0" y="4226511"/>
            <a:ext cx="1173706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1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Temas: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5703838"/>
            <a:ext cx="3670479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1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Resultado de aprendizaje: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" y="6119336"/>
            <a:ext cx="12192000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Analiza </a:t>
            </a:r>
            <a:r>
              <a:rPr lang="es-MX" sz="21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las propiedades y estructuras de los espacios vectoriales, relacionándolas con su aplicación en la representación de soluciones matemáticas.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778159"/>
                <a:ext cx="12192000" cy="112897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 dice que los vectores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……, </m:t>
                    </m:r>
                    <m:sSub>
                      <m:sSub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un espacio vectorial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generan a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 todo vector en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se puede escribir como una combinación lineal de los mismos. Es decir, para todo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existen escalares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……,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tales que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78159"/>
                <a:ext cx="12192000" cy="1128971"/>
              </a:xfrm>
              <a:prstGeom prst="rect">
                <a:avLst/>
              </a:prstGeom>
              <a:blipFill rotWithShape="0">
                <a:blip r:embed="rId2"/>
                <a:stretch>
                  <a:fillRect l="-600" r="-600" b="-756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>
            <a:spLocks/>
          </p:cNvSpPr>
          <p:nvPr/>
        </p:nvSpPr>
        <p:spPr>
          <a:xfrm>
            <a:off x="0" y="1288339"/>
            <a:ext cx="3116687" cy="430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Conjunto generador</a:t>
            </a:r>
            <a:endParaRPr lang="es-NI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5333690" y="2907130"/>
            <a:ext cx="3714029" cy="60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5333690" y="3001538"/>
                <a:ext cx="3714029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s-NI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⋯+</m:t>
                      </m:r>
                      <m:sSub>
                        <m:sSubPr>
                          <m:ctrlP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690" y="3001538"/>
                <a:ext cx="3714029" cy="415498"/>
              </a:xfrm>
              <a:prstGeom prst="rect">
                <a:avLst/>
              </a:prstGeom>
              <a:blipFill rotWithShape="0">
                <a:blip r:embed="rId3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0" y="4431595"/>
                <a:ext cx="12192000" cy="112897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……, </m:t>
                    </m:r>
                    <m:sSub>
                      <m:sSub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vectores de un espacio vectorial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El </a:t>
                </a:r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espacio g</a:t>
                </a:r>
                <a:r>
                  <a:rPr lang="es-NI" sz="2100" b="1" dirty="0" err="1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enerado</a:t>
                </a:r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por</a:t>
                </a:r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NI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……,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el conjunto de combinaciones lineales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……,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𝒌</m:t>
                        </m:r>
                      </m:sub>
                    </m:sSub>
                    <m:r>
                      <a:rPr lang="es-MX" sz="21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decir, 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31595"/>
                <a:ext cx="12192000" cy="1128971"/>
              </a:xfrm>
              <a:prstGeom prst="rect">
                <a:avLst/>
              </a:prstGeom>
              <a:blipFill rotWithShape="0">
                <a:blip r:embed="rId4"/>
                <a:stretch>
                  <a:fillRect l="-600" r="-6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/>
          <p:cNvSpPr txBox="1">
            <a:spLocks/>
          </p:cNvSpPr>
          <p:nvPr/>
        </p:nvSpPr>
        <p:spPr>
          <a:xfrm>
            <a:off x="0" y="3826288"/>
            <a:ext cx="6297769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generado por un conjunto de vectores</a:t>
            </a:r>
            <a:endParaRPr lang="es-NI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2665929" y="5440025"/>
                <a:ext cx="7263684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𝒈𝒆𝒏</m:t>
                      </m:r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MX" sz="21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s-MX" sz="21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……., </m:t>
                          </m:r>
                          <m:sSub>
                            <m:sSubPr>
                              <m:ctrlP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s-MX" sz="21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1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s-MX" sz="21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s-MX" sz="21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s-MX" sz="21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MX" sz="21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s-MX" sz="21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+……+</m:t>
                          </m:r>
                          <m:sSub>
                            <m:sSubPr>
                              <m:ctrlP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s-MX" sz="21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MX" sz="21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929" y="5440025"/>
                <a:ext cx="7263684" cy="415498"/>
              </a:xfrm>
              <a:prstGeom prst="rect">
                <a:avLst/>
              </a:prstGeom>
              <a:blipFill rotWithShape="0">
                <a:blip r:embed="rId5"/>
                <a:stretch>
                  <a:fillRect l="-84" b="-1014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/>
          <p:cNvSpPr/>
          <p:nvPr/>
        </p:nvSpPr>
        <p:spPr>
          <a:xfrm>
            <a:off x="2665929" y="5440025"/>
            <a:ext cx="7160652" cy="5202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/>
              <p:cNvSpPr txBox="1">
                <a:spLocks/>
              </p:cNvSpPr>
              <p:nvPr/>
            </p:nvSpPr>
            <p:spPr>
              <a:xfrm>
                <a:off x="0" y="6135275"/>
                <a:ext cx="6297769" cy="40444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onde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……,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son escalares arbitrarios. 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135275"/>
                <a:ext cx="6297769" cy="404448"/>
              </a:xfrm>
              <a:prstGeom prst="rect">
                <a:avLst/>
              </a:prstGeom>
              <a:blipFill rotWithShape="0">
                <a:blip r:embed="rId6"/>
                <a:stretch>
                  <a:fillRect l="-1162" t="-8955" b="-2985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33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8" grpId="0"/>
      <p:bldP spid="9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791038"/>
                <a:ext cx="12192000" cy="112897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 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conjunto de vectores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⋯, </m:t>
                        </m:r>
                        <m:sSub>
                          <m:sSubPr>
                            <m:ctrlP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de un espacio vectorial </a:t>
                </a:r>
                <a14:m>
                  <m:oMath xmlns:m="http://schemas.openxmlformats.org/officeDocument/2006/math">
                    <m:r>
                      <a:rPr lang="es-NI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𝑬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se llama un conjunto generador de </a:t>
                </a:r>
                <a14:m>
                  <m:oMath xmlns:m="http://schemas.openxmlformats.org/officeDocument/2006/math">
                    <m:r>
                      <a:rPr lang="es-NI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𝑬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 todo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𝑬</m:t>
                    </m:r>
                  </m:oMath>
                </a14:m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 puede expresar como combinación lineal de los vectores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⋯,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91038"/>
                <a:ext cx="12192000" cy="1128971"/>
              </a:xfrm>
              <a:prstGeom prst="rect">
                <a:avLst/>
              </a:prstGeom>
              <a:blipFill rotWithShape="0">
                <a:blip r:embed="rId2"/>
                <a:stretch>
                  <a:fillRect l="-600" r="-600" b="-756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>
            <a:spLocks/>
          </p:cNvSpPr>
          <p:nvPr/>
        </p:nvSpPr>
        <p:spPr>
          <a:xfrm>
            <a:off x="1" y="1185731"/>
            <a:ext cx="4404574" cy="501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Definición (Conjunto generador)</a:t>
            </a:r>
            <a:endParaRPr lang="es-NI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0" y="3153209"/>
                <a:ext cx="7340958" cy="46279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Observe que cuando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⋯, </m:t>
                        </m:r>
                        <m:sSub>
                          <m:sSubPr>
                            <m:ctrlP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genera a </a:t>
                </a:r>
                <a14:m>
                  <m:oMath xmlns:m="http://schemas.openxmlformats.org/officeDocument/2006/math">
                    <m:r>
                      <a:rPr lang="es-NI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𝑬</m:t>
                    </m:r>
                  </m:oMath>
                </a14:m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entonces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53209"/>
                <a:ext cx="7340958" cy="462797"/>
              </a:xfrm>
              <a:prstGeom prst="rect">
                <a:avLst/>
              </a:prstGeom>
              <a:blipFill rotWithShape="0">
                <a:blip r:embed="rId3"/>
                <a:stretch>
                  <a:fillRect l="-997" t="-2632" r="-166" b="-2105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0" y="3849206"/>
                <a:ext cx="12192000" cy="7624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Porque siempre se tiene que  </a:t>
                </a:r>
                <a14:m>
                  <m:oMath xmlns:m="http://schemas.openxmlformats.org/officeDocument/2006/math"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𝑪𝑳</m:t>
                    </m:r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⋯,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𝑬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y cuando ocurre que todo </a:t>
                </a:r>
                <a14:m>
                  <m:oMath xmlns:m="http://schemas.openxmlformats.org/officeDocument/2006/math"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𝑬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s-MX" sz="2100" b="1" dirty="0" smtClean="0">
                  <a:solidFill>
                    <a:srgbClr val="FF0000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defRPr/>
                </a:pP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 puede expresar como combinación lineal de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⋯,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entonces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𝑬</m:t>
                    </m:r>
                    <m:r>
                      <a:rPr lang="es-MX" sz="21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r>
                      <a:rPr lang="es-MX" sz="21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𝑪𝑳</m:t>
                    </m:r>
                    <m:r>
                      <a:rPr lang="es-MX" sz="21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s-MX" sz="21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⋯,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49206"/>
                <a:ext cx="12192000" cy="762475"/>
              </a:xfrm>
              <a:prstGeom prst="rect">
                <a:avLst/>
              </a:prstGeom>
              <a:blipFill rotWithShape="0">
                <a:blip r:embed="rId4"/>
                <a:stretch>
                  <a:fillRect l="-600" t="-2381" b="-1269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7189853" y="3200508"/>
                <a:ext cx="2809295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𝑬</m:t>
                      </m:r>
                      <m:r>
                        <a:rPr lang="es-MX" sz="2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𝑪𝑳</m:t>
                      </m:r>
                      <m:r>
                        <a:rPr lang="es-MX" sz="2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1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MX" sz="21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s-MX" sz="21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s-MX" sz="21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MX" sz="21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MX" sz="21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s-MX" sz="21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s-MX" sz="21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⋯, </m:t>
                          </m:r>
                          <m:sSub>
                            <m:sSubPr>
                              <m:ctrlPr>
                                <a:rPr lang="es-MX" sz="21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MX" sz="21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s-MX" sz="21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MX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853" y="3200508"/>
                <a:ext cx="2809295" cy="415498"/>
              </a:xfrm>
              <a:prstGeom prst="rect">
                <a:avLst/>
              </a:prstGeom>
              <a:blipFill rotWithShape="0">
                <a:blip r:embed="rId5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730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"/>
          <p:cNvSpPr txBox="1">
            <a:spLocks/>
          </p:cNvSpPr>
          <p:nvPr/>
        </p:nvSpPr>
        <p:spPr>
          <a:xfrm>
            <a:off x="0" y="1195804"/>
            <a:ext cx="7401431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200" b="1" kern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Conjunto generador: qué hay que probar y cómo se decide</a:t>
            </a:r>
            <a:endParaRPr kumimoji="0" lang="es-MX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itchFamily="34" charset="0"/>
              <a:cs typeface="Arial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"/>
              <p:cNvSpPr txBox="1"/>
              <p:nvPr/>
            </p:nvSpPr>
            <p:spPr>
              <a:xfrm>
                <a:off x="0" y="1718686"/>
                <a:ext cx="10328856" cy="393449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Definición: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₁, …, 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s-ES" sz="2000" b="1" i="1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𝒗</m:t>
                        </m:r>
                      </m:e>
                      <m:sub>
                        <m:r>
                          <a:rPr lang="es-ES" sz="2000" b="1" i="1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𝒌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} 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genera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𝑬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si todo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∈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𝑬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se escribe como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… + 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s-ES" sz="2000" b="1" i="1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𝒂</m:t>
                        </m:r>
                      </m:e>
                      <m:sub>
                        <m:r>
                          <a:rPr lang="es-ES" sz="2000" b="1" i="1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sz="2000" b="1" i="1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s-ES" sz="2000" b="1" i="1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𝒗</m:t>
                        </m:r>
                      </m:e>
                      <m:sub>
                        <m:r>
                          <a:rPr lang="es-ES" sz="2000" b="1" i="1" dirty="0" smtClean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𝒌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18686"/>
                <a:ext cx="10328856" cy="393449"/>
              </a:xfrm>
              <a:prstGeom prst="rect">
                <a:avLst/>
              </a:prstGeom>
              <a:blipFill rotWithShape="0">
                <a:blip r:embed="rId2"/>
                <a:stretch>
                  <a:fillRect l="-1476" t="-18750" b="-2031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/>
              <p:cNvSpPr/>
              <p:nvPr/>
            </p:nvSpPr>
            <p:spPr>
              <a:xfrm>
                <a:off x="0" y="2223537"/>
                <a:ext cx="121920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Método: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tomo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genérico (con </a:t>
                </a:r>
                <a:r>
                  <a:rPr lang="en-US" sz="2000" b="1" dirty="0" err="1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letras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NI" sz="2000" b="1" i="1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NI" sz="2000" b="1" i="1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s-NI" sz="2000" b="1" i="1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NI" sz="2000" b="1" i="1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</m:oMath>
                </a14:m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), 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planteo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+ … +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s-ES" sz="2000" b="1" i="1" dirty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𝒂</m:t>
                        </m:r>
                      </m:e>
                      <m:sub>
                        <m:r>
                          <a:rPr lang="es-ES" sz="2000" b="1" i="1" dirty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sz="2000" b="1" i="1" dirty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s-ES" sz="2000" b="1" i="1" dirty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𝒗</m:t>
                        </m:r>
                      </m:e>
                      <m:sub>
                        <m:r>
                          <a:rPr lang="es-ES" sz="2000" b="1" i="1" dirty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𝒌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=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y reduzco </a:t>
                </a:r>
                <a:r>
                  <a:rPr lang="en-US" sz="2000" b="1" dirty="0" err="1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por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Gauss - Jordan la matriz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[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…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s-ES" sz="2000" b="1" i="1" dirty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𝒗</m:t>
                        </m:r>
                      </m:e>
                      <m:sub>
                        <m:r>
                          <a:rPr lang="es-ES" sz="2000" b="1" i="1" dirty="0">
                            <a:solidFill>
                              <a:srgbClr val="525252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  <m:t>𝒌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|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].</m:t>
                    </m:r>
                  </m:oMath>
                </a14:m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Rectá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23537"/>
                <a:ext cx="12192000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500" t="-4310" r="-500" b="-155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"/>
          <p:cNvSpPr/>
          <p:nvPr/>
        </p:nvSpPr>
        <p:spPr>
          <a:xfrm>
            <a:off x="470079" y="3251076"/>
            <a:ext cx="5532120" cy="2593886"/>
          </a:xfrm>
          <a:prstGeom prst="roundRect">
            <a:avLst>
              <a:gd name="adj" fmla="val 4615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3"/>
              <p:cNvSpPr txBox="1"/>
              <p:nvPr/>
            </p:nvSpPr>
            <p:spPr>
              <a:xfrm>
                <a:off x="579807" y="3305940"/>
                <a:ext cx="5312664" cy="226771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Genera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𝑬</m:t>
                    </m:r>
                  </m:oMath>
                </a14:m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El sistema es consistente para </a:t>
                </a:r>
                <a:r>
                  <a:rPr lang="en-US" sz="2000" b="1" dirty="0" err="1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todo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No queda ninguna fila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…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| 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Cambria Math" pitchFamily="34" charset="-122"/>
                    <a:cs typeface="Arial" panose="020B0604020202020204" pitchFamily="34" charset="0"/>
                  </a:rPr>
                  <a:t>expresión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≠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Hay un pivote en cada fila de la parte de </a:t>
                </a:r>
                <a:r>
                  <a:rPr lang="en-US" sz="2000" b="1" dirty="0" err="1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coeficientes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𝒓𝒂𝒏𝒈𝒐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𝒅𝒊𝒎</m:t>
                    </m:r>
                    <m:r>
                      <a:rPr lang="en-US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⁡</m:t>
                    </m:r>
                    <m:r>
                      <a:rPr lang="en-US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𝑬</m:t>
                    </m:r>
                  </m:oMath>
                </a14:m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).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07" y="3305940"/>
                <a:ext cx="5312664" cy="2267712"/>
              </a:xfrm>
              <a:prstGeom prst="rect">
                <a:avLst/>
              </a:prstGeom>
              <a:blipFill rotWithShape="0">
                <a:blip r:embed="rId4"/>
                <a:stretch>
                  <a:fillRect l="-2867" t="-3226" r="-2867" b="-1344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hape 4"/>
          <p:cNvSpPr/>
          <p:nvPr/>
        </p:nvSpPr>
        <p:spPr>
          <a:xfrm>
            <a:off x="6212511" y="3251076"/>
            <a:ext cx="5532120" cy="2593886"/>
          </a:xfrm>
          <a:prstGeom prst="roundRect">
            <a:avLst>
              <a:gd name="adj" fmla="val 4615"/>
            </a:avLst>
          </a:prstGeom>
          <a:solidFill>
            <a:srgbClr val="F47C20">
              <a:alpha val="12000"/>
            </a:srgbClr>
          </a:solidFill>
          <a:ln w="12700">
            <a:solidFill>
              <a:srgbClr val="F47C20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5"/>
              <p:cNvSpPr txBox="1"/>
              <p:nvPr/>
            </p:nvSpPr>
            <p:spPr>
              <a:xfrm>
                <a:off x="6322239" y="3305939"/>
                <a:ext cx="5312664" cy="2539023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 genera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𝑬</m:t>
                    </m:r>
                  </m:oMath>
                </a14:m>
                <a:endParaRPr lang="en-US" sz="2000" dirty="0">
                  <a:solidFill>
                    <a:srgbClr val="262626"/>
                  </a:solidFill>
                  <a:latin typeface="Arial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Queda una fila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…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| </m:t>
                    </m:r>
                  </m:oMath>
                </a14:m>
                <a:r>
                  <a:rPr lang="en-US" sz="2000" b="1" dirty="0" err="1">
                    <a:solidFill>
                      <a:srgbClr val="525252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expresión</a:t>
                </a:r>
                <a:r>
                  <a:rPr lang="en-US" sz="2000" b="1" dirty="0">
                    <a:solidFill>
                      <a:srgbClr val="525252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en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NI" sz="2000" b="1" i="1">
                        <a:solidFill>
                          <a:srgbClr val="52525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NI" sz="2000" b="1" i="1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s-NI" sz="2000" b="1" i="1">
                        <a:solidFill>
                          <a:srgbClr val="52525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NI" sz="2000" b="1" i="1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].</m:t>
                    </m:r>
                  </m:oMath>
                </a14:m>
                <a:endParaRPr lang="en-US" sz="2000" dirty="0">
                  <a:solidFill>
                    <a:srgbClr val="262626"/>
                  </a:solidFill>
                  <a:latin typeface="Arial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El sistema solo es consistente si esa </a:t>
                </a:r>
                <a:r>
                  <a:rPr lang="en-US" sz="2000" b="1" dirty="0" err="1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expresión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vale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</m:oMath>
                </a14:m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se alcanza solo un subespacio más pequeño.</a:t>
                </a:r>
                <a:endParaRPr lang="en-US" sz="2000" dirty="0">
                  <a:solidFill>
                    <a:srgbClr val="262626"/>
                  </a:solidFill>
                  <a:latin typeface="Arial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Un vector con expresión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≠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es el contraejemplo.</a:t>
                </a:r>
                <a:endParaRPr lang="en-US" sz="20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8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239" y="3305939"/>
                <a:ext cx="5312664" cy="2539023"/>
              </a:xfrm>
              <a:prstGeom prst="rect">
                <a:avLst/>
              </a:prstGeom>
              <a:blipFill rotWithShape="0">
                <a:blip r:embed="rId5"/>
                <a:stretch>
                  <a:fillRect l="-2867" t="-2878" r="-2867" b="-239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94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6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1161049"/>
            <a:ext cx="10303100" cy="551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Determine si el conjunto dado de vectores genera el espacio vectorial dado. </a:t>
            </a:r>
            <a:endParaRPr lang="es-NI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2304932"/>
            <a:ext cx="1558345" cy="4769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431774" y="1789070"/>
                <a:ext cx="3393252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</m:e>
                    </m:d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𝟖</m:t>
                        </m:r>
                      </m:e>
                    </m:d>
                  </m:oMath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74" y="1789070"/>
                <a:ext cx="3393252" cy="415498"/>
              </a:xfrm>
              <a:prstGeom prst="rect">
                <a:avLst/>
              </a:prstGeom>
              <a:blipFill rotWithShape="0">
                <a:blip r:embed="rId2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0" y="2949750"/>
                <a:ext cx="6838682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Hay que mostrar que para todo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NI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r>
                          <a:rPr lang="es-NI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NI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e>
                    </m:d>
                    <m:r>
                      <a:rPr lang="es-NI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sSup>
                      <m:sSup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</m:e>
                      <m:sup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49750"/>
                <a:ext cx="6838682" cy="424129"/>
              </a:xfrm>
              <a:prstGeom prst="rect">
                <a:avLst/>
              </a:prstGeom>
              <a:blipFill rotWithShape="0">
                <a:blip r:embed="rId3"/>
                <a:stretch>
                  <a:fillRect l="-1070" t="-7246" b="-2898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6426560" y="2949721"/>
                <a:ext cx="4456091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NI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xisten escalares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tales que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560" y="2949721"/>
                <a:ext cx="4456091" cy="424129"/>
              </a:xfrm>
              <a:prstGeom prst="rect">
                <a:avLst/>
              </a:prstGeom>
              <a:blipFill rotWithShape="0">
                <a:blip r:embed="rId4"/>
                <a:stretch>
                  <a:fillRect l="-1642" t="-7246" b="-275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2018931" y="3615576"/>
                <a:ext cx="2501556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</m:e>
                    </m:d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b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𝟖</m:t>
                        </m:r>
                      </m:e>
                    </m:d>
                  </m:oMath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931" y="3615576"/>
                <a:ext cx="2501556" cy="4154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950253" y="3581856"/>
                <a:ext cx="890692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53" y="3581856"/>
                <a:ext cx="890692" cy="415498"/>
              </a:xfrm>
              <a:prstGeom prst="rect">
                <a:avLst/>
              </a:prstGeom>
              <a:blipFill rotWithShape="0">
                <a:blip r:embed="rId6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1662958" y="3615576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958" y="3615576"/>
                <a:ext cx="447558" cy="4154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2018931" y="4232662"/>
                <a:ext cx="2810648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b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𝟖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</m:e>
                    </m:d>
                  </m:oMath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931" y="4232662"/>
                <a:ext cx="2810648" cy="41549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/>
              <p:cNvSpPr/>
              <p:nvPr/>
            </p:nvSpPr>
            <p:spPr>
              <a:xfrm>
                <a:off x="950251" y="4223863"/>
                <a:ext cx="890693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s-NI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1" name="Rectá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51" y="4223863"/>
                <a:ext cx="890693" cy="415498"/>
              </a:xfrm>
              <a:prstGeom prst="rect">
                <a:avLst/>
              </a:prstGeom>
              <a:blipFill rotWithShape="0">
                <a:blip r:embed="rId9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1662958" y="4232662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958" y="4232662"/>
                <a:ext cx="447558" cy="41549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2018932" y="4849748"/>
                <a:ext cx="2810648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𝟏𝟎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𝟖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932" y="4849748"/>
                <a:ext cx="2810648" cy="41549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/>
              <p:cNvSpPr/>
              <p:nvPr/>
            </p:nvSpPr>
            <p:spPr>
              <a:xfrm>
                <a:off x="950250" y="4832150"/>
                <a:ext cx="890693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s-NI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50" y="4832150"/>
                <a:ext cx="890693" cy="415498"/>
              </a:xfrm>
              <a:prstGeom prst="rect">
                <a:avLst/>
              </a:prstGeom>
              <a:blipFill rotWithShape="0">
                <a:blip r:embed="rId12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1662958" y="4849748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958" y="4849748"/>
                <a:ext cx="447558" cy="415498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/>
              <p:cNvSpPr/>
              <p:nvPr/>
            </p:nvSpPr>
            <p:spPr>
              <a:xfrm>
                <a:off x="0" y="5458940"/>
                <a:ext cx="12192000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spcAft>
                    <a:spcPts val="800"/>
                  </a:spcAft>
                </a:pPr>
                <a:r>
                  <a:rPr lang="en-US" sz="21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Sistema: </a:t>
                </a:r>
                <a14:m>
                  <m:oMath xmlns:m="http://schemas.openxmlformats.org/officeDocument/2006/math"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</m:t>
                    </m:r>
                    <m:r>
                      <a:rPr lang="es-NI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</m:t>
                    </m:r>
                    <m:r>
                      <a:rPr lang="es-NI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n-US" sz="21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 Matriz aumentada </a:t>
                </a:r>
                <a14:m>
                  <m:oMath xmlns:m="http://schemas.openxmlformats.org/officeDocument/2006/math"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[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| (</m:t>
                    </m:r>
                    <m:r>
                      <a:rPr lang="es-NI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NI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NI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)] </m:t>
                    </m:r>
                  </m:oMath>
                </a14:m>
                <a:r>
                  <a:rPr lang="en-US" sz="21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y </a:t>
                </a:r>
                <a:r>
                  <a:rPr lang="en-US" sz="21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Gauss - Jordan.</a:t>
                </a:r>
                <a:endParaRPr lang="en-US" sz="21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458940"/>
                <a:ext cx="12192000" cy="415498"/>
              </a:xfrm>
              <a:prstGeom prst="rect">
                <a:avLst/>
              </a:prstGeom>
              <a:blipFill rotWithShape="0">
                <a:blip r:embed="rId14"/>
                <a:stretch>
                  <a:fillRect l="-600" t="-8696" b="-275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52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219952" y="1312503"/>
                <a:ext cx="198163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𝒂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+ 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𝟏𝟎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𝒃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52" y="1312503"/>
                <a:ext cx="1981633" cy="400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/>
              <p:cNvSpPr/>
              <p:nvPr/>
            </p:nvSpPr>
            <p:spPr>
              <a:xfrm>
                <a:off x="219952" y="1712613"/>
                <a:ext cx="198804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𝟏𝟎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𝒂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+ 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𝟖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𝒃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𝒚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1" name="Rectá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52" y="1712613"/>
                <a:ext cx="1988045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2590659" y="1512558"/>
                <a:ext cx="402975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Matriz aumentada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[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| (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NI" sz="20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)] </m:t>
                    </m:r>
                  </m:oMath>
                </a14:m>
                <a:endParaRPr lang="es-MX" sz="2000" dirty="0"/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659" y="1512558"/>
                <a:ext cx="4029758" cy="400110"/>
              </a:xfrm>
              <a:prstGeom prst="rect">
                <a:avLst/>
              </a:prstGeom>
              <a:blipFill rotWithShape="0">
                <a:blip r:embed="rId4"/>
                <a:stretch>
                  <a:fillRect l="-1664" t="-7576" b="-2575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8608337"/>
                  </p:ext>
                </p:extLst>
              </p:nvPr>
            </p:nvGraphicFramePr>
            <p:xfrm>
              <a:off x="219952" y="2430571"/>
              <a:ext cx="2468880" cy="731520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9436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2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8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8608337"/>
                  </p:ext>
                </p:extLst>
              </p:nvPr>
            </p:nvGraphicFramePr>
            <p:xfrm>
              <a:off x="219952" y="2430571"/>
              <a:ext cx="2468880" cy="731520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5943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2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5"/>
                          <a:stretch>
                            <a:fillRect l="-80531" t="-1639" r="-442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8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5"/>
                          <a:stretch>
                            <a:fillRect l="-80531" t="-103333" r="-442" b="-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Shape 1"/>
          <p:cNvSpPr/>
          <p:nvPr/>
        </p:nvSpPr>
        <p:spPr>
          <a:xfrm>
            <a:off x="2798560" y="2796331"/>
            <a:ext cx="15179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2"/>
              <p:cNvSpPr txBox="1"/>
              <p:nvPr/>
            </p:nvSpPr>
            <p:spPr>
              <a:xfrm>
                <a:off x="2707120" y="2430571"/>
                <a:ext cx="1700784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½</m:t>
                      </m:r>
                      <m:r>
                        <a:rPr lang="en-US" b="1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b="1" i="1" dirty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₁</m:t>
                      </m:r>
                    </m:oMath>
                  </m:oMathPara>
                </a14:m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120" y="2430571"/>
                <a:ext cx="1700784" cy="320040"/>
              </a:xfrm>
              <a:prstGeom prst="rect">
                <a:avLst/>
              </a:prstGeom>
              <a:blipFill rotWithShape="0">
                <a:blip r:embed="rId6"/>
                <a:stretch>
                  <a:fillRect b="-2692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9062510"/>
                  </p:ext>
                </p:extLst>
              </p:nvPr>
            </p:nvGraphicFramePr>
            <p:xfrm>
              <a:off x="4426192" y="2430571"/>
              <a:ext cx="2468880" cy="731520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9436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5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/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8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9062510"/>
                  </p:ext>
                </p:extLst>
              </p:nvPr>
            </p:nvGraphicFramePr>
            <p:xfrm>
              <a:off x="4426192" y="2430571"/>
              <a:ext cx="2468880" cy="731520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5943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5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7"/>
                          <a:stretch>
                            <a:fillRect l="-80531" t="-1639" r="-442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8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7"/>
                          <a:stretch>
                            <a:fillRect l="-80531" t="-103333" r="-442" b="-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Shape 3"/>
          <p:cNvSpPr/>
          <p:nvPr/>
        </p:nvSpPr>
        <p:spPr>
          <a:xfrm>
            <a:off x="7004800" y="2796331"/>
            <a:ext cx="15179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4"/>
              <p:cNvSpPr txBox="1"/>
              <p:nvPr/>
            </p:nvSpPr>
            <p:spPr>
              <a:xfrm>
                <a:off x="6913360" y="2390639"/>
                <a:ext cx="1700784" cy="3599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₂−</m:t>
                      </m:r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𝟏𝟎</m:t>
                      </m:r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₁</m:t>
                      </m:r>
                    </m:oMath>
                  </m:oMathPara>
                </a14:m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360" y="2390639"/>
                <a:ext cx="1700784" cy="359972"/>
              </a:xfrm>
              <a:prstGeom prst="rect">
                <a:avLst/>
              </a:prstGeom>
              <a:blipFill rotWithShape="0">
                <a:blip r:embed="rId8"/>
                <a:stretch>
                  <a:fillRect b="-23729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457721"/>
                  </p:ext>
                </p:extLst>
              </p:nvPr>
            </p:nvGraphicFramePr>
            <p:xfrm>
              <a:off x="8632432" y="2430571"/>
              <a:ext cx="2468880" cy="731520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9436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5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/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-42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𝒚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 − 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𝟓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457721"/>
                  </p:ext>
                </p:extLst>
              </p:nvPr>
            </p:nvGraphicFramePr>
            <p:xfrm>
              <a:off x="8632432" y="2430571"/>
              <a:ext cx="2468880" cy="731520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5943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5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9"/>
                          <a:stretch>
                            <a:fillRect l="-80531" t="-1639" r="-442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-42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9"/>
                          <a:stretch>
                            <a:fillRect l="-80531" t="-103333" r="-442" b="-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2950984"/>
                  </p:ext>
                </p:extLst>
              </p:nvPr>
            </p:nvGraphicFramePr>
            <p:xfrm>
              <a:off x="234966" y="3657600"/>
              <a:ext cx="2468880" cy="731520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9436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5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/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-42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𝒚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 − 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𝟓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2950984"/>
                  </p:ext>
                </p:extLst>
              </p:nvPr>
            </p:nvGraphicFramePr>
            <p:xfrm>
              <a:off x="234966" y="3657600"/>
              <a:ext cx="2468880" cy="731520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5943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5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10"/>
                          <a:stretch>
                            <a:fillRect l="-80531" t="-1667" r="-885" b="-1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-42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10"/>
                          <a:stretch>
                            <a:fillRect l="-80531" t="-101667" r="-885" b="-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Shape 5"/>
          <p:cNvSpPr/>
          <p:nvPr/>
        </p:nvSpPr>
        <p:spPr>
          <a:xfrm>
            <a:off x="2813574" y="4023360"/>
            <a:ext cx="15179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6"/>
              <p:cNvSpPr txBox="1"/>
              <p:nvPr/>
            </p:nvSpPr>
            <p:spPr>
              <a:xfrm>
                <a:off x="2722134" y="3611880"/>
                <a:ext cx="1700784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₂/</m:t>
                      </m:r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𝟒𝟐</m:t>
                      </m:r>
                    </m:oMath>
                  </m:oMathPara>
                </a14:m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134" y="3611880"/>
                <a:ext cx="1700784" cy="365760"/>
              </a:xfrm>
              <a:prstGeom prst="rect">
                <a:avLst/>
              </a:prstGeom>
              <a:blipFill rotWithShape="0">
                <a:blip r:embed="rId11"/>
                <a:stretch>
                  <a:fillRect b="-26667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0047106"/>
                  </p:ext>
                </p:extLst>
              </p:nvPr>
            </p:nvGraphicFramePr>
            <p:xfrm>
              <a:off x="4441205" y="3657600"/>
              <a:ext cx="3139441" cy="731520"/>
            </p:xfrm>
            <a:graphic>
              <a:graphicData uri="http://schemas.openxmlformats.org/drawingml/2006/table">
                <a:tbl>
                  <a:tblPr/>
                  <a:tblGrid>
                    <a:gridCol w="639516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755791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744134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5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/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(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𝟓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 − 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𝒚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)/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𝟒𝟐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0047106"/>
                  </p:ext>
                </p:extLst>
              </p:nvPr>
            </p:nvGraphicFramePr>
            <p:xfrm>
              <a:off x="4441205" y="3657600"/>
              <a:ext cx="3139441" cy="731520"/>
            </p:xfrm>
            <a:graphic>
              <a:graphicData uri="http://schemas.openxmlformats.org/drawingml/2006/table">
                <a:tbl>
                  <a:tblPr/>
                  <a:tblGrid>
                    <a:gridCol w="63951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75579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74413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5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12"/>
                          <a:stretch>
                            <a:fillRect l="-80488" t="-1667" r="-697" b="-1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12"/>
                          <a:stretch>
                            <a:fillRect l="-80488" t="-101667" r="-697" b="-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Shape 7"/>
          <p:cNvSpPr/>
          <p:nvPr/>
        </p:nvSpPr>
        <p:spPr>
          <a:xfrm flipV="1">
            <a:off x="7580646" y="3977640"/>
            <a:ext cx="1215624" cy="30094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8"/>
              <p:cNvSpPr txBox="1"/>
              <p:nvPr/>
            </p:nvSpPr>
            <p:spPr>
              <a:xfrm>
                <a:off x="7507108" y="3596254"/>
                <a:ext cx="1394981" cy="3599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₁−</m:t>
                      </m:r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𝑭</m:t>
                      </m:r>
                      <m:r>
                        <a:rPr lang="en-US" b="1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Arial" panose="020B0604020202020204" pitchFamily="34" charset="0"/>
                        </a:rPr>
                        <m:t>₂</m:t>
                      </m:r>
                    </m:oMath>
                  </m:oMathPara>
                </a14:m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108" y="3596254"/>
                <a:ext cx="1394981" cy="359972"/>
              </a:xfrm>
              <a:prstGeom prst="rect">
                <a:avLst/>
              </a:prstGeom>
              <a:blipFill rotWithShape="0">
                <a:blip r:embed="rId13"/>
                <a:stretch>
                  <a:fillRect b="-23729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6700376"/>
                  </p:ext>
                </p:extLst>
              </p:nvPr>
            </p:nvGraphicFramePr>
            <p:xfrm>
              <a:off x="8814556" y="3641974"/>
              <a:ext cx="3139442" cy="731520"/>
            </p:xfrm>
            <a:graphic>
              <a:graphicData uri="http://schemas.openxmlformats.org/drawingml/2006/table">
                <a:tbl>
                  <a:tblPr/>
                  <a:tblGrid>
                    <a:gridCol w="639516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755792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744134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(−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𝟒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 + 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𝟓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𝒚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)/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𝟒𝟐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(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𝟓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 − 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𝒚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)/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𝟒𝟐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6700376"/>
                  </p:ext>
                </p:extLst>
              </p:nvPr>
            </p:nvGraphicFramePr>
            <p:xfrm>
              <a:off x="8814556" y="3641974"/>
              <a:ext cx="3139442" cy="731520"/>
            </p:xfrm>
            <a:graphic>
              <a:graphicData uri="http://schemas.openxmlformats.org/drawingml/2006/table">
                <a:tbl>
                  <a:tblPr/>
                  <a:tblGrid>
                    <a:gridCol w="63951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7557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74413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14"/>
                          <a:stretch>
                            <a:fillRect l="-80139" t="-1639" r="-697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14"/>
                          <a:stretch>
                            <a:fillRect l="-80139" t="-103333" r="-697" b="-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4396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5" grpId="0" animBg="1"/>
      <p:bldP spid="18" grpId="0" animBg="1"/>
      <p:bldP spid="22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>
            <a:spLocks/>
          </p:cNvSpPr>
          <p:nvPr/>
        </p:nvSpPr>
        <p:spPr>
          <a:xfrm>
            <a:off x="45720" y="1242396"/>
            <a:ext cx="3350292" cy="32814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200" b="1" kern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Arial" panose="020B0604020202020204" pitchFamily="34" charset="0"/>
              </a:rPr>
              <a:t>Conclusión y verificación</a:t>
            </a:r>
            <a:endParaRPr kumimoji="0" lang="es-MX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45720" y="1758512"/>
            <a:ext cx="1306562" cy="3606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>
              <a:spcAft>
                <a:spcPts val="800"/>
              </a:spcAft>
            </a:pP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anose="020B0604020202020204" pitchFamily="34" charset="0"/>
              </a:rPr>
              <a:t>Solución</a:t>
            </a:r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anose="020B0604020202020204" pitchFamily="34" charset="0"/>
              </a:rPr>
              <a:t>:</a:t>
            </a:r>
            <a:endParaRPr lang="en-US" sz="20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0" y="5535826"/>
                <a:ext cx="121920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Comprobación rápida: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𝒅𝒆𝒕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⁡=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·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−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·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−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𝟖𝟒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≠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, así que los vectores son linealmente independientes y, 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𝑹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²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, dos de ellos generan.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535826"/>
                <a:ext cx="12192000" cy="707886"/>
              </a:xfrm>
              <a:prstGeom prst="rect">
                <a:avLst/>
              </a:prstGeom>
              <a:blipFill rotWithShape="0">
                <a:blip r:embed="rId2"/>
                <a:stretch>
                  <a:fillRect l="-500" t="-3448" r="-500" b="-155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/>
          <p:cNvSpPr/>
          <p:nvPr/>
        </p:nvSpPr>
        <p:spPr>
          <a:xfrm>
            <a:off x="0" y="3136021"/>
            <a:ext cx="29106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anose="020B0604020202020204" pitchFamily="34" charset="0"/>
              </a:rPr>
              <a:t>Verificación con (1, 0</a:t>
            </a:r>
            <a:r>
              <a:rPr lang="en-US" sz="2000" b="1" dirty="0" smtClean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anose="020B0604020202020204" pitchFamily="34" charset="0"/>
              </a:rPr>
              <a:t>):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ángulo 7"/>
              <p:cNvSpPr/>
              <p:nvPr/>
            </p:nvSpPr>
            <p:spPr>
              <a:xfrm>
                <a:off x="1219200" y="2169988"/>
                <a:ext cx="2131092" cy="7773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𝒂</m:t>
                      </m:r>
                      <m:r>
                        <a:rPr lang="en-US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</m:t>
                      </m:r>
                      <m:f>
                        <m:fPr>
                          <m:ctrlPr>
                            <a:rPr lang="en-US" sz="20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fPr>
                        <m:num>
                          <m:r>
                            <a:rPr lang="en-US" sz="20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−</m:t>
                          </m:r>
                          <m:r>
                            <a:rPr lang="en-US" sz="20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𝟒</m:t>
                          </m:r>
                          <m:r>
                            <a:rPr lang="en-US" sz="20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𝒙</m:t>
                          </m:r>
                          <m:r>
                            <a:rPr lang="en-US" sz="20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 + </m:t>
                          </m:r>
                          <m:r>
                            <a:rPr lang="en-US" sz="20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𝟓</m:t>
                          </m:r>
                          <m:r>
                            <a:rPr lang="en-US" sz="20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𝒚</m:t>
                          </m:r>
                        </m:num>
                        <m:den>
                          <m:r>
                            <a:rPr lang="en-US" sz="20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𝟒𝟐</m:t>
                          </m:r>
                        </m:den>
                      </m:f>
                      <m:r>
                        <a:rPr lang="en-US" sz="2000" b="1" i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, </m:t>
                      </m:r>
                    </m:oMath>
                  </m:oMathPara>
                </a14:m>
                <a:endParaRPr lang="es-NI" sz="2000" b="1" i="1" dirty="0" smtClean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ea typeface="Cambria Math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169988"/>
                <a:ext cx="2131092" cy="77739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ángulo 8"/>
              <p:cNvSpPr/>
              <p:nvPr/>
            </p:nvSpPr>
            <p:spPr>
              <a:xfrm>
                <a:off x="3294951" y="2358629"/>
                <a:ext cx="24465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(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− 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)/</m:t>
                    </m:r>
                    <m:r>
                      <a:rPr lang="en-US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𝟒𝟐</m:t>
                    </m:r>
                  </m:oMath>
                </a14:m>
                <a:r>
                  <a:rPr lang="en-US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, </a:t>
                </a:r>
                <a:endParaRPr lang="en-US" sz="20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951" y="2358629"/>
                <a:ext cx="2446504" cy="400110"/>
              </a:xfrm>
              <a:prstGeom prst="rect">
                <a:avLst/>
              </a:prstGeom>
              <a:blipFill rotWithShape="0">
                <a:blip r:embed="rId4"/>
                <a:stretch>
                  <a:fillRect l="-249" t="-7576" r="-1746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5625409" y="2358629"/>
                <a:ext cx="31384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anose="020B0604020202020204" pitchFamily="34" charset="0"/>
                  </a:rPr>
                  <a:t>definida para todo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).</m:t>
                    </m:r>
                  </m:oMath>
                </a14:m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409" y="2358629"/>
                <a:ext cx="3138488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2136" t="-7576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/>
              <p:cNvSpPr/>
              <p:nvPr/>
            </p:nvSpPr>
            <p:spPr>
              <a:xfrm>
                <a:off x="1219200" y="3767303"/>
                <a:ext cx="2728351" cy="7773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𝒂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−</m:t>
                      </m:r>
                      <m:f>
                        <m:f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fPr>
                        <m:num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𝟐</m:t>
                          </m:r>
                        </m:num>
                        <m:den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𝟐𝟏</m:t>
                          </m:r>
                        </m:den>
                      </m:f>
                      <m:r>
                        <a:rPr lang="en-US" sz="20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, 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𝒃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</m:t>
                      </m:r>
                      <m:f>
                        <m:f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fPr>
                        <m:num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𝟓</m:t>
                          </m:r>
                        </m:num>
                        <m:den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𝟒𝟐</m:t>
                          </m:r>
                        </m:den>
                      </m:f>
                      <m:r>
                        <a:rPr lang="en-US" sz="20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⟹</m:t>
                      </m:r>
                    </m:oMath>
                  </m:oMathPara>
                </a14:m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Rectá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3767303"/>
                <a:ext cx="2728351" cy="77739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3812146" y="3733465"/>
                <a:ext cx="4726547" cy="8864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</m:t>
                      </m:r>
                      <m:d>
                        <m:dPr>
                          <m:ctrlP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𝟏</m:t>
                          </m:r>
                          <m: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, </m:t>
                          </m:r>
                          <m: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𝟎</m:t>
                          </m:r>
                        </m:e>
                      </m:d>
                      <m:r>
                        <a:rPr lang="es-NI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−</m:t>
                      </m:r>
                      <m:d>
                        <m:dPr>
                          <m:ctrlP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fPr>
                            <m:num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𝟐𝟏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𝟐</m:t>
                          </m:r>
                          <m: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,</m:t>
                          </m:r>
                          <m: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𝟏𝟎</m:t>
                          </m:r>
                        </m:e>
                      </m:d>
                      <m:r>
                        <a:rPr lang="en-US" sz="20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+ </m:t>
                      </m:r>
                      <m:d>
                        <m:dPr>
                          <m:ctrlP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fPr>
                            <m:num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𝟒𝟐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𝟏𝟎</m:t>
                          </m:r>
                          <m: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,</m:t>
                          </m:r>
                          <m:r>
                            <a:rPr lang="en-US" sz="2000" b="1" i="1" dirty="0">
                              <a:solidFill>
                                <a:srgbClr val="525252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𝟖</m:t>
                          </m:r>
                        </m:e>
                      </m:d>
                    </m:oMath>
                  </m:oMathPara>
                </a14:m>
                <a:endParaRPr lang="es-ES" sz="2000" b="1" i="1" dirty="0" smtClean="0">
                  <a:solidFill>
                    <a:srgbClr val="525252"/>
                  </a:solidFill>
                  <a:latin typeface="Arial" panose="020B0604020202020204" pitchFamily="34" charset="0"/>
                  <a:ea typeface="Cambria Math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146" y="3733465"/>
                <a:ext cx="4726547" cy="88646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3947551" y="4826525"/>
                <a:ext cx="6096000" cy="50270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𝟏</m:t>
                      </m:r>
                      <m:r>
                        <a:rPr lang="en-US" sz="20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, </m:t>
                      </m:r>
                      <m:r>
                        <a:rPr lang="en-US" sz="20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𝟎</m:t>
                      </m:r>
                      <m:r>
                        <a:rPr lang="en-US" sz="20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)= (−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𝟒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/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𝟐𝟏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+ 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𝟐𝟓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/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𝟐𝟏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, −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𝟐𝟎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/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𝟐𝟏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+ 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𝟐𝟎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/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𝟐𝟏</m:t>
                      </m:r>
                      <m:r>
                        <a:rPr lang="en-US" sz="20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) 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✓</m:t>
                      </m:r>
                    </m:oMath>
                  </m:oMathPara>
                </a14:m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551" y="4826525"/>
                <a:ext cx="6096000" cy="50270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2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7596" y="1214931"/>
            <a:ext cx="1581952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Verificar si </a:t>
            </a:r>
            <a:endParaRPr lang="es-NI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2654178" y="1572694"/>
                <a:ext cx="4751175" cy="575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𝟐𝟏</m:t>
                            </m:r>
                          </m:den>
                        </m:f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𝟒𝟐</m:t>
                            </m:r>
                          </m:den>
                        </m:f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</m:e>
                    </m:d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b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d>
                      <m:d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num>
                          <m:den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𝟒𝟐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𝟏𝟎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𝟖</m:t>
                        </m:r>
                      </m:e>
                    </m:d>
                  </m:oMath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178" y="1572694"/>
                <a:ext cx="4751175" cy="57599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1562333" y="1684756"/>
                <a:ext cx="884281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333" y="1684756"/>
                <a:ext cx="884281" cy="415498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2306870" y="1684756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870" y="1684756"/>
                <a:ext cx="447558" cy="4154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107596" y="2557992"/>
            <a:ext cx="1803042" cy="4241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Conclusión:</a:t>
            </a:r>
            <a:endParaRPr lang="es-NI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1747026" y="2570079"/>
                <a:ext cx="3221869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1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ℝ</m:t>
                          </m:r>
                        </m:e>
                        <m:sup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p>
                      </m:sSup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𝑪𝑳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s-MX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  <m:r>
                                <a:rPr lang="es-MX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s-MX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𝟏𝟎</m:t>
                              </m:r>
                            </m:e>
                          </m:d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s-MX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s-MX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𝟏𝟎</m:t>
                              </m:r>
                              <m:r>
                                <a:rPr lang="es-MX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s-MX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026" y="2570079"/>
                <a:ext cx="3221869" cy="424129"/>
              </a:xfrm>
              <a:prstGeom prst="rect">
                <a:avLst/>
              </a:prstGeom>
              <a:blipFill rotWithShape="0">
                <a:blip r:embed="rId5"/>
                <a:stretch>
                  <a:fillRect l="-18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4738857" y="2567191"/>
                <a:ext cx="7044743" cy="42990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 conjunto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es un conjunto generador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100" b="1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ℝ</m:t>
                        </m:r>
                      </m:e>
                      <m:sup>
                        <m:r>
                          <a:rPr lang="es-MX" sz="21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857" y="2567191"/>
                <a:ext cx="7044743" cy="429904"/>
              </a:xfrm>
              <a:prstGeom prst="rect">
                <a:avLst/>
              </a:prstGeom>
              <a:blipFill rotWithShape="0">
                <a:blip r:embed="rId6"/>
                <a:stretch>
                  <a:fillRect l="-1038" t="-5634" b="-2676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55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/>
              <p:cNvSpPr txBox="1">
                <a:spLocks/>
              </p:cNvSpPr>
              <p:nvPr/>
            </p:nvSpPr>
            <p:spPr>
              <a:xfrm>
                <a:off x="0" y="1135291"/>
                <a:ext cx="4443212" cy="4718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MX" sz="21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Considere los vectores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</m:e>
                      <m:sup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 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35291"/>
                <a:ext cx="4443212" cy="471829"/>
              </a:xfrm>
              <a:prstGeom prst="rect">
                <a:avLst/>
              </a:prstGeom>
              <a:blipFill rotWithShape="0">
                <a:blip r:embed="rId2"/>
                <a:stretch>
                  <a:fillRect l="-1646" t="-1282" r="-549" b="-1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0" y="2279174"/>
            <a:ext cx="1558345" cy="4769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NI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4308314" y="1163456"/>
                <a:ext cx="6381152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s-NI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,</a:t>
                </a: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314" y="1163456"/>
                <a:ext cx="6381152" cy="415498"/>
              </a:xfrm>
              <a:prstGeom prst="rect">
                <a:avLst/>
              </a:prstGeom>
              <a:blipFill rotWithShape="0">
                <a:blip r:embed="rId3"/>
                <a:stretch>
                  <a:fillRect t="-8824" b="-2794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-1" y="2923992"/>
                <a:ext cx="7262157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Hay que mostrar que para todo vector </a:t>
                </a:r>
                <a14:m>
                  <m:oMath xmlns:m="http://schemas.openxmlformats.org/officeDocument/2006/math">
                    <m:r>
                      <a:rPr lang="es-MX" sz="21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𝐯</m:t>
                    </m:r>
                    <m:r>
                      <a:rPr lang="es-MX" sz="21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NI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𝒛</m:t>
                        </m:r>
                      </m:e>
                    </m:d>
                    <m:r>
                      <a:rPr lang="es-NI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sSup>
                      <m:sSup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</m:e>
                      <m:sup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923992"/>
                <a:ext cx="7262157" cy="424129"/>
              </a:xfrm>
              <a:prstGeom prst="rect">
                <a:avLst/>
              </a:prstGeom>
              <a:blipFill rotWithShape="0">
                <a:blip r:embed="rId4"/>
                <a:stretch>
                  <a:fillRect l="-1008" t="-7246" b="-2898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7236397" y="2923992"/>
                <a:ext cx="4456091" cy="42412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NI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xisten escalares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tales que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397" y="2923992"/>
                <a:ext cx="4456091" cy="424129"/>
              </a:xfrm>
              <a:prstGeom prst="rect">
                <a:avLst/>
              </a:prstGeom>
              <a:blipFill rotWithShape="0">
                <a:blip r:embed="rId5"/>
                <a:stretch>
                  <a:fillRect l="-1642" t="-8696" b="-275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2374901" y="3587468"/>
                <a:ext cx="5352423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b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s-MX" sz="21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e>
                    </m:d>
                    <m:r>
                      <a:rPr lang="es-MX" sz="2100" b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</m:t>
                    </m:r>
                    <m:r>
                      <a:rPr lang="es-MX" sz="21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901" y="3587468"/>
                <a:ext cx="5352423" cy="4154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982972" y="3585871"/>
                <a:ext cx="112312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𝒛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72" y="3585871"/>
                <a:ext cx="1123128" cy="415498"/>
              </a:xfrm>
              <a:prstGeom prst="rect">
                <a:avLst/>
              </a:prstGeom>
              <a:blipFill rotWithShape="0">
                <a:blip r:embed="rId7"/>
                <a:stretch>
                  <a:fillRect b="-1029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2018930" y="3587468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930" y="3587468"/>
                <a:ext cx="447558" cy="41549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/>
              <p:cNvSpPr/>
              <p:nvPr/>
            </p:nvSpPr>
            <p:spPr>
              <a:xfrm>
                <a:off x="2374902" y="4239119"/>
                <a:ext cx="4887255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</m:e>
                    </m:d>
                    <m:r>
                      <a:rPr lang="es-MX" sz="21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</m:d>
                  </m:oMath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Rectá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902" y="4239119"/>
                <a:ext cx="4887255" cy="41549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982972" y="4202957"/>
                <a:ext cx="112312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𝒛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72" y="4202957"/>
                <a:ext cx="1123128" cy="415498"/>
              </a:xfrm>
              <a:prstGeom prst="rect">
                <a:avLst/>
              </a:prstGeom>
              <a:blipFill rotWithShape="0">
                <a:blip r:embed="rId10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2018930" y="4239119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930" y="4239119"/>
                <a:ext cx="447558" cy="41549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/>
              <p:cNvSpPr/>
              <p:nvPr/>
            </p:nvSpPr>
            <p:spPr>
              <a:xfrm>
                <a:off x="2374902" y="4820043"/>
                <a:ext cx="4682722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 −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902" y="4820043"/>
                <a:ext cx="4682722" cy="415498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982972" y="4820043"/>
                <a:ext cx="112312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𝒛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972" y="4820043"/>
                <a:ext cx="1123128" cy="415498"/>
              </a:xfrm>
              <a:prstGeom prst="rect">
                <a:avLst/>
              </a:prstGeom>
              <a:blipFill rotWithShape="0">
                <a:blip r:embed="rId13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/>
              <p:cNvSpPr/>
              <p:nvPr/>
            </p:nvSpPr>
            <p:spPr>
              <a:xfrm>
                <a:off x="2018929" y="4820043"/>
                <a:ext cx="447558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MX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929" y="4820043"/>
                <a:ext cx="447558" cy="415498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/>
              <p:cNvSpPr txBox="1">
                <a:spLocks/>
              </p:cNvSpPr>
              <p:nvPr/>
            </p:nvSpPr>
            <p:spPr>
              <a:xfrm>
                <a:off x="384839" y="1702679"/>
                <a:ext cx="6877318" cy="4859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Muestre que el conjunto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s-MX" sz="21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no genera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𝓡</m:t>
                        </m:r>
                      </m:e>
                      <m:sup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39" y="1702679"/>
                <a:ext cx="6877318" cy="485939"/>
              </a:xfrm>
              <a:prstGeom prst="rect">
                <a:avLst/>
              </a:prstGeom>
              <a:blipFill rotWithShape="0">
                <a:blip r:embed="rId15"/>
                <a:stretch>
                  <a:fillRect l="-1064" b="-175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-1" y="5437129"/>
                <a:ext cx="12192001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Aft>
                    <a:spcPts val="800"/>
                  </a:spcAft>
                </a:pPr>
                <a:r>
                  <a:rPr lang="en-US" sz="21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Sistema: </a:t>
                </a:r>
                <a14:m>
                  <m:oMath xmlns:m="http://schemas.openxmlformats.org/officeDocument/2006/math"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−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−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−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. </m:t>
                    </m:r>
                  </m:oMath>
                </a14:m>
                <a:r>
                  <a:rPr lang="en-US" sz="21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Matriz </a:t>
                </a:r>
                <a:r>
                  <a:rPr lang="en-US" sz="21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aumentada </a:t>
                </a:r>
                <a14:m>
                  <m:oMath xmlns:m="http://schemas.openxmlformats.org/officeDocument/2006/math"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[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₃ | (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)].</m:t>
                    </m:r>
                  </m:oMath>
                </a14:m>
                <a:endParaRPr lang="en-US" sz="21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437129"/>
                <a:ext cx="12192001" cy="415498"/>
              </a:xfrm>
              <a:prstGeom prst="rect">
                <a:avLst/>
              </a:prstGeom>
              <a:blipFill rotWithShape="0">
                <a:blip r:embed="rId16"/>
                <a:stretch>
                  <a:fillRect l="-600" t="-8824" b="-2794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89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250464" y="1338261"/>
                <a:ext cx="2797536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𝒂</m:t>
                      </m:r>
                      <m:r>
                        <a:rPr lang="en-US" sz="21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           − 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𝒄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𝒙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</m:t>
                      </m:r>
                    </m:oMath>
                  </m:oMathPara>
                </a14:m>
                <a:endParaRPr lang="es-MX" sz="2100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64" y="1338261"/>
                <a:ext cx="2797536" cy="41549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442901" y="1753759"/>
                <a:ext cx="2359940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𝒂</m:t>
                      </m:r>
                      <m:r>
                        <a:rPr lang="en-US" sz="21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+ </m:t>
                      </m:r>
                      <m:r>
                        <a:rPr lang="en-US" sz="21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𝒃</m:t>
                      </m:r>
                      <m:r>
                        <a:rPr lang="en-US" sz="2100" b="1" i="1" dirty="0" smtClean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          = 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𝒚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</m:t>
                      </m:r>
                    </m:oMath>
                  </m:oMathPara>
                </a14:m>
                <a:endParaRPr lang="es-MX" sz="2100" dirty="0"/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01" y="1753759"/>
                <a:ext cx="2359940" cy="415498"/>
              </a:xfrm>
              <a:prstGeom prst="rect">
                <a:avLst/>
              </a:prstGeom>
              <a:blipFill rotWithShape="0">
                <a:blip r:embed="rId3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250464" y="2169257"/>
                <a:ext cx="2570960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−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𝒂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− 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𝒃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− 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𝒄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r>
                        <a:rPr lang="en-US" sz="2100" b="1" i="1" dirty="0">
                          <a:solidFill>
                            <a:srgbClr val="52525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𝒛</m:t>
                      </m:r>
                    </m:oMath>
                  </m:oMathPara>
                </a14:m>
                <a:endParaRPr lang="es-MX" sz="2100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64" y="2169257"/>
                <a:ext cx="2570960" cy="4154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3048000" y="1753759"/>
                <a:ext cx="4790094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Aft>
                    <a:spcPts val="800"/>
                  </a:spcAft>
                </a:pPr>
                <a:r>
                  <a:rPr lang="en-US" sz="21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Matriz aumentada </a:t>
                </a:r>
                <a14:m>
                  <m:oMath xmlns:m="http://schemas.openxmlformats.org/officeDocument/2006/math"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[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₃ | (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sz="21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)].</m:t>
                    </m:r>
                  </m:oMath>
                </a14:m>
                <a:endParaRPr lang="en-US" sz="21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753759"/>
                <a:ext cx="4790094" cy="415498"/>
              </a:xfrm>
              <a:prstGeom prst="rect">
                <a:avLst/>
              </a:prstGeom>
              <a:blipFill rotWithShape="0">
                <a:blip r:embed="rId5"/>
                <a:stretch>
                  <a:fillRect l="-1527" t="-10294" b="-2794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1245189"/>
                  </p:ext>
                </p:extLst>
              </p:nvPr>
            </p:nvGraphicFramePr>
            <p:xfrm>
              <a:off x="304401" y="2941535"/>
              <a:ext cx="2697480" cy="1234440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-2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1245189"/>
                  </p:ext>
                </p:extLst>
              </p:nvPr>
            </p:nvGraphicFramePr>
            <p:xfrm>
              <a:off x="304401" y="2941535"/>
              <a:ext cx="2697480" cy="1234440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6"/>
                          <a:stretch>
                            <a:fillRect l="-127041" r="-510" b="-20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6"/>
                          <a:stretch>
                            <a:fillRect l="-127041" t="-100000" r="-510" b="-10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-2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6"/>
                          <a:stretch>
                            <a:fillRect l="-127041" t="-200000" r="-510" b="-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Shape 1"/>
          <p:cNvSpPr/>
          <p:nvPr/>
        </p:nvSpPr>
        <p:spPr>
          <a:xfrm>
            <a:off x="3111609" y="3558755"/>
            <a:ext cx="10607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9" name="Text 2"/>
          <p:cNvSpPr txBox="1"/>
          <p:nvPr/>
        </p:nvSpPr>
        <p:spPr>
          <a:xfrm>
            <a:off x="3020169" y="2781515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F₂−F₁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F₃+F₁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3749911"/>
                  </p:ext>
                </p:extLst>
              </p:nvPr>
            </p:nvGraphicFramePr>
            <p:xfrm>
              <a:off x="4282041" y="2941535"/>
              <a:ext cx="2697480" cy="1234440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−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 + 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-2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-2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 + 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3749911"/>
                  </p:ext>
                </p:extLst>
              </p:nvPr>
            </p:nvGraphicFramePr>
            <p:xfrm>
              <a:off x="4282041" y="2941535"/>
              <a:ext cx="2697480" cy="1234440"/>
            </p:xfrm>
            <a:graphic>
              <a:graphicData uri="http://schemas.openxmlformats.org/drawingml/2006/table">
                <a:tbl>
                  <a:tblPr/>
                  <a:tblGrid>
                    <a:gridCol w="502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502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1887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7"/>
                          <a:stretch>
                            <a:fillRect l="-128205" r="-1026" b="-20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7"/>
                          <a:stretch>
                            <a:fillRect l="-128205" t="-100000" r="-1026" b="-10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-2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-2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7"/>
                          <a:stretch>
                            <a:fillRect l="-128205" t="-200000" r="-1026" b="-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Shape 3"/>
          <p:cNvSpPr/>
          <p:nvPr/>
        </p:nvSpPr>
        <p:spPr>
          <a:xfrm>
            <a:off x="7089249" y="3558755"/>
            <a:ext cx="10607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p:sp>
        <p:nvSpPr>
          <p:cNvPr id="12" name="Text 4"/>
          <p:cNvSpPr txBox="1"/>
          <p:nvPr/>
        </p:nvSpPr>
        <p:spPr>
          <a:xfrm>
            <a:off x="6997809" y="2781515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F₃+2F₂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0264336"/>
                  </p:ext>
                </p:extLst>
              </p:nvPr>
            </p:nvGraphicFramePr>
            <p:xfrm>
              <a:off x="8259681" y="2941535"/>
              <a:ext cx="3532594" cy="1234440"/>
            </p:xfrm>
            <a:graphic>
              <a:graphicData uri="http://schemas.openxmlformats.org/drawingml/2006/table">
                <a:tbl>
                  <a:tblPr/>
                  <a:tblGrid>
                    <a:gridCol w="658619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658619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658619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556737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−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 + 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−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 + 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𝒚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 + </m:t>
                                </m:r>
                                <m:r>
                                  <a:rPr lang="en-US" sz="1600" b="1" i="1" dirty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0264336"/>
                  </p:ext>
                </p:extLst>
              </p:nvPr>
            </p:nvGraphicFramePr>
            <p:xfrm>
              <a:off x="8259681" y="2941535"/>
              <a:ext cx="3532594" cy="1234440"/>
            </p:xfrm>
            <a:graphic>
              <a:graphicData uri="http://schemas.openxmlformats.org/drawingml/2006/table">
                <a:tbl>
                  <a:tblPr/>
                  <a:tblGrid>
                    <a:gridCol w="65861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65861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65861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55673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-1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8"/>
                          <a:stretch>
                            <a:fillRect l="-127344" r="-391" b="-20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1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8"/>
                          <a:stretch>
                            <a:fillRect l="-127344" t="-100000" r="-391" b="-10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2"/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a:t>0</a:t>
                          </a:r>
                          <a:endParaRPr lang="en-US" sz="1600" dirty="0"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anchor="ctr">
                        <a:lnL w="0" cap="flat" cmpd="sng" algn="ctr">
                          <a:noFill/>
                        </a:lnL>
                        <a:lnR w="0" cap="flat" cmpd="sng" algn="ctr">
                          <a:noFill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anchor="ctr">
                        <a:lnL w="254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40404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0" cap="flat" cmpd="sng" algn="ctr">
                          <a:noFill/>
                        </a:lnT>
                        <a:lnB w="0" cap="flat" cmpd="sng" algn="ctr">
                          <a:noFill/>
                        </a:lnB>
                        <a:blipFill rotWithShape="0">
                          <a:blip r:embed="rId8"/>
                          <a:stretch>
                            <a:fillRect l="-127344" t="-200000" r="-391" b="-7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 5"/>
          <p:cNvSpPr txBox="1"/>
          <p:nvPr/>
        </p:nvSpPr>
        <p:spPr>
          <a:xfrm>
            <a:off x="96665" y="4540791"/>
            <a:ext cx="5183673" cy="44333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Solo hay dos pivotes (columnas de a y b).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96665" y="4984124"/>
                <a:ext cx="12219831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La columna de c no tiene pivote y la fila 3 queda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[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| −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sz="2000" b="1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]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 el sistema solo tiene solución si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5" y="4984124"/>
                <a:ext cx="12219831" cy="707886"/>
              </a:xfrm>
              <a:prstGeom prst="rect">
                <a:avLst/>
              </a:prstGeom>
              <a:blipFill rotWithShape="0">
                <a:blip r:embed="rId9"/>
                <a:stretch>
                  <a:fillRect l="-549" t="-4310" r="-499" b="-155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55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9" grpId="0" animBg="1"/>
      <p:bldP spid="12" grpId="0" animBg="1"/>
      <p:bldP spid="14" grpId="0" animBg="1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>
            <a:spLocks/>
          </p:cNvSpPr>
          <p:nvPr/>
        </p:nvSpPr>
        <p:spPr>
          <a:xfrm>
            <a:off x="103031" y="1184856"/>
            <a:ext cx="5009882" cy="362541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200" b="1" kern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¿Por qué no es un conjunto generador?</a:t>
            </a:r>
            <a:endParaRPr kumimoji="0" lang="es-MX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itchFamily="34" charset="0"/>
              <a:cs typeface="Arial" pitchFamily="34" charset="-12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103031" y="1750866"/>
            <a:ext cx="2047741" cy="37348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just">
              <a:spcAft>
                <a:spcPts val="800"/>
              </a:spcAft>
            </a:pP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Contraejemplo</a:t>
            </a: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0" y="3421028"/>
                <a:ext cx="121920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Qué subespacio sí generan: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los vectores con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, un plano por el origen. Los tres vectores lo cumplen: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₁: −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+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Cambria Math" pitchFamily="34" charset="-122"/>
                    <a:cs typeface="Arial" panose="020B060402020202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₂: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+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Cambria Math" pitchFamily="34" charset="-122"/>
                    <a:cs typeface="Arial" panose="020B060402020202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₃: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+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421028"/>
                <a:ext cx="12192000" cy="707886"/>
              </a:xfrm>
              <a:prstGeom prst="rect">
                <a:avLst/>
              </a:prstGeom>
              <a:blipFill rotWithShape="0">
                <a:blip r:embed="rId2"/>
                <a:stretch>
                  <a:fillRect l="-500" t="-3448" r="-500" b="-155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1725770" y="2213870"/>
                <a:ext cx="821672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): −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−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≠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, la fila 3 dice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−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, imposible. 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770" y="2213870"/>
                <a:ext cx="8216721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371" t="-6061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1725770" y="2817449"/>
                <a:ext cx="385009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Luego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 ∉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𝑪𝑳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{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₁,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₂,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₃}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770" y="2817449"/>
                <a:ext cx="3850093" cy="400110"/>
              </a:xfrm>
              <a:prstGeom prst="rect">
                <a:avLst/>
              </a:prstGeom>
              <a:blipFill rotWithShape="0">
                <a:blip r:embed="rId4"/>
                <a:stretch>
                  <a:fillRect l="-1582" t="-6061" r="-791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ángulo 8"/>
              <p:cNvSpPr/>
              <p:nvPr/>
            </p:nvSpPr>
            <p:spPr>
              <a:xfrm>
                <a:off x="-1" y="4289631"/>
                <a:ext cx="1077961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Razón: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₃ = −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₁ +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₂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(la columna 3 reducida es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Cambria Math" pitchFamily="34" charset="-122"/>
                    <a:cs typeface="Arial" panose="020B0604020202020204" pitchFamily="34" charset="0"/>
                  </a:rPr>
                  <a:t>(col 1)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+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Cambria Math" pitchFamily="34" charset="-122"/>
                    <a:cs typeface="Arial" panose="020B0604020202020204" pitchFamily="34" charset="0"/>
                  </a:rPr>
                  <a:t> (col 2)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); el rango es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𝟐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 &lt;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𝟑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289631"/>
                <a:ext cx="10779618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566" t="-7692" b="-2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2"/>
          <p:cNvSpPr/>
          <p:nvPr/>
        </p:nvSpPr>
        <p:spPr>
          <a:xfrm>
            <a:off x="418563" y="5016416"/>
            <a:ext cx="11274552" cy="731520"/>
          </a:xfrm>
          <a:prstGeom prst="roundRect">
            <a:avLst>
              <a:gd name="adj" fmla="val 12500"/>
            </a:avLst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3"/>
              <p:cNvSpPr txBox="1"/>
              <p:nvPr/>
            </p:nvSpPr>
            <p:spPr>
              <a:xfrm>
                <a:off x="555723" y="5062136"/>
                <a:ext cx="10972800" cy="64008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Conclusión: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𝑪𝑳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₁,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₂,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₃ ≠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ℝ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³}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 El conjunto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₁,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₂,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₃} 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no es un conjunto generador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ℝ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³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23" y="5062136"/>
                <a:ext cx="10972800" cy="640080"/>
              </a:xfrm>
              <a:prstGeom prst="rect">
                <a:avLst/>
              </a:prstGeom>
              <a:blipFill rotWithShape="0">
                <a:blip r:embed="rId6"/>
                <a:stretch>
                  <a:fillRect l="-1389" r="-77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19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742034"/>
                <a:ext cx="11492733" cy="43121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 conjunto finito de vectores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……,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es una base para un espacio vectorial </a:t>
                </a: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sí 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42034"/>
                <a:ext cx="11492733" cy="431214"/>
              </a:xfrm>
              <a:prstGeom prst="rect">
                <a:avLst/>
              </a:prstGeom>
              <a:blipFill rotWithShape="0">
                <a:blip r:embed="rId2"/>
                <a:stretch>
                  <a:fillRect l="-637" t="-7042" b="-2535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>
            <a:spLocks/>
          </p:cNvSpPr>
          <p:nvPr/>
        </p:nvSpPr>
        <p:spPr>
          <a:xfrm>
            <a:off x="0" y="1280223"/>
            <a:ext cx="4456923" cy="4016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de un espacio vectorial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ángulo 3"/>
              <p:cNvSpPr/>
              <p:nvPr/>
            </p:nvSpPr>
            <p:spPr>
              <a:xfrm>
                <a:off x="0" y="2404693"/>
                <a:ext cx="6516710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defRPr/>
                </a:pP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21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……,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es linealmente independiente. 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04693"/>
                <a:ext cx="6516710" cy="415498"/>
              </a:xfrm>
              <a:prstGeom prst="rect">
                <a:avLst/>
              </a:prstGeom>
              <a:blipFill rotWithShape="0">
                <a:blip r:embed="rId3"/>
                <a:stretch>
                  <a:fillRect l="-1123" t="-8696" b="-275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ángulo 4"/>
              <p:cNvSpPr/>
              <p:nvPr/>
            </p:nvSpPr>
            <p:spPr>
              <a:xfrm>
                <a:off x="0" y="3051636"/>
                <a:ext cx="4043966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defRPr/>
                </a:pP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s-NI" sz="21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21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……,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genera a </a:t>
                </a:r>
                <a14:m>
                  <m:oMath xmlns:m="http://schemas.openxmlformats.org/officeDocument/2006/math">
                    <m:r>
                      <a:rPr lang="es-NI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51636"/>
                <a:ext cx="4043966" cy="415498"/>
              </a:xfrm>
              <a:prstGeom prst="rect">
                <a:avLst/>
              </a:prstGeom>
              <a:blipFill rotWithShape="0">
                <a:blip r:embed="rId4"/>
                <a:stretch>
                  <a:fillRect l="-1810" t="-10294" r="-905" b="-2794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0" y="3728097"/>
            <a:ext cx="5396248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3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canónica de un espacio vectorial</a:t>
            </a:r>
            <a:endParaRPr kumimoji="0" lang="es-NI" sz="23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0" y="4333404"/>
                <a:ext cx="6297769" cy="43121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base canónica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MX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consiste en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vectores 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333404"/>
                <a:ext cx="6297769" cy="431214"/>
              </a:xfrm>
              <a:prstGeom prst="rect">
                <a:avLst/>
              </a:prstGeom>
              <a:blipFill rotWithShape="0">
                <a:blip r:embed="rId5"/>
                <a:stretch>
                  <a:fillRect l="-1162" t="-4225" b="-2816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4456923" y="4831068"/>
                <a:ext cx="1481070" cy="166094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s-NI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es-MX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</m:t>
                          </m:r>
                        </m:e>
                        <m:sub>
                          <m:r>
                            <a:rPr kumimoji="0" lang="es-MX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kumimoji="0" lang="es-MX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kumimoji="0" lang="es-MX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MX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kumimoji="0" lang="es-MX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es-MX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0" lang="es-MX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es-MX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0" lang="es-MX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</m:oMath>
                  </m:oMathPara>
                </a14:m>
                <a:endParaRPr kumimoji="0" lang="es-NI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923" y="4831068"/>
                <a:ext cx="1481070" cy="166094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/>
              <p:cNvSpPr txBox="1">
                <a:spLocks/>
              </p:cNvSpPr>
              <p:nvPr/>
            </p:nvSpPr>
            <p:spPr>
              <a:xfrm>
                <a:off x="5648218" y="4831068"/>
                <a:ext cx="1332963" cy="166094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s-NI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es-MX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</m:t>
                          </m:r>
                        </m:e>
                        <m:sub>
                          <m:r>
                            <a:rPr kumimoji="0" lang="es-MX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kumimoji="0" lang="es-MX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kumimoji="0" lang="es-MX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MX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kumimoji="0" lang="es-MX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es-MX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0" lang="es-MX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es-MX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kumimoji="0" lang="es-MX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</m:oMath>
                  </m:oMathPara>
                </a14:m>
                <a:endParaRPr kumimoji="0" lang="es-NI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218" y="4831068"/>
                <a:ext cx="1332963" cy="166094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/>
              <p:cNvSpPr txBox="1">
                <a:spLocks/>
              </p:cNvSpPr>
              <p:nvPr/>
            </p:nvSpPr>
            <p:spPr>
              <a:xfrm>
                <a:off x="6981180" y="4831068"/>
                <a:ext cx="1635617" cy="166094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s-NI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s-MX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𝒆</m:t>
                        </m:r>
                      </m:e>
                      <m:sub>
                        <m:r>
                          <a:rPr kumimoji="0" lang="es-MX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kumimoji="0" lang="es-MX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kumimoji="0" lang="es-MX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s-MX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kumimoji="0" lang="es-MX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es-MX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kumimoji="0" lang="es-MX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kumimoji="0" lang="es-MX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  <m:r>
                      <a:rPr kumimoji="0" lang="es-MX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,…</m:t>
                    </m:r>
                  </m:oMath>
                </a14:m>
                <a:r>
                  <a:rPr kumimoji="0" lang="es-NI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endParaRPr kumimoji="0" lang="es-NI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180" y="4831068"/>
                <a:ext cx="1635617" cy="166094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8513767" y="4831068"/>
                <a:ext cx="1332963" cy="166094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s-NI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es-MX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</m:t>
                          </m:r>
                        </m:e>
                        <m:sub>
                          <m:r>
                            <a:rPr kumimoji="0" lang="es-MX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sub>
                      </m:sSub>
                      <m:r>
                        <a:rPr kumimoji="0" lang="es-MX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kumimoji="0" lang="es-MX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MX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kumimoji="0" lang="es-MX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es-MX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kumimoji="0" lang="es-MX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kumimoji="0" lang="es-MX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NI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767" y="4831068"/>
                <a:ext cx="1332963" cy="166094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83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726643"/>
                <a:ext cx="12192000" cy="76450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……,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es una base para </a:t>
                </a: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y si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kumimoji="0" lang="es-MX" sz="2100" b="1" i="0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kumimoji="0" lang="es-NI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entonces existe un conjunto único de escalares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……,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 tales que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26643"/>
                <a:ext cx="12192000" cy="764508"/>
              </a:xfrm>
              <a:prstGeom prst="rect">
                <a:avLst/>
              </a:prstGeom>
              <a:blipFill rotWithShape="0">
                <a:blip r:embed="rId2"/>
                <a:stretch>
                  <a:fillRect l="-600" t="-2381" r="-600" b="-1269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>
            <a:spLocks/>
          </p:cNvSpPr>
          <p:nvPr/>
        </p:nvSpPr>
        <p:spPr>
          <a:xfrm>
            <a:off x="0" y="1121336"/>
            <a:ext cx="1468192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4471916" y="2491151"/>
                <a:ext cx="3453420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𝒗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⋯</m:t>
                      </m:r>
                      <m:sSub>
                        <m:sSubPr>
                          <m:ctrlP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916" y="2491151"/>
                <a:ext cx="3453420" cy="415498"/>
              </a:xfrm>
              <a:prstGeom prst="rect">
                <a:avLst/>
              </a:prstGeom>
              <a:blipFill rotWithShape="0">
                <a:blip r:embed="rId3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/>
          <p:cNvSpPr/>
          <p:nvPr/>
        </p:nvSpPr>
        <p:spPr>
          <a:xfrm>
            <a:off x="4428450" y="2491151"/>
            <a:ext cx="3569330" cy="4154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0" y="3362082"/>
                <a:ext cx="12192000" cy="774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……,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𝒎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21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……, </m:t>
                        </m:r>
                        <m:sSub>
                          <m:sSubPr>
                            <m:ctrlPr>
                              <a:rPr lang="es-MX" sz="21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s-MX" sz="21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son bases en un espacio vectorial </a:t>
                </a: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entonces</a:t>
                </a:r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kumimoji="0" lang="es-MX" sz="2100" b="1" i="0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kumimoji="0" lang="es-NI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es decir, cualesquiera dos bases en un espacio vectorial </a:t>
                </a: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tienen el mismo número de vectores.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62082"/>
                <a:ext cx="12192000" cy="774000"/>
              </a:xfrm>
              <a:prstGeom prst="rect">
                <a:avLst/>
              </a:prstGeom>
              <a:blipFill rotWithShape="0">
                <a:blip r:embed="rId4"/>
                <a:stretch>
                  <a:fillRect l="-600" t="-2381" r="-600" b="-1349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/>
          <p:cNvSpPr txBox="1">
            <a:spLocks/>
          </p:cNvSpPr>
          <p:nvPr/>
        </p:nvSpPr>
        <p:spPr>
          <a:xfrm>
            <a:off x="0" y="2822043"/>
            <a:ext cx="1468192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691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699143"/>
                <a:ext cx="12192000" cy="120718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el espacio vectorial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tiene una base con un número finito de elementos, entonces la dimensión de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el número de vectores en todas las bases y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se denomina </a:t>
                </a:r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espacio vectorial de dimensión finita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99143"/>
                <a:ext cx="12192000" cy="1207180"/>
              </a:xfrm>
              <a:prstGeom prst="rect">
                <a:avLst/>
              </a:prstGeom>
              <a:blipFill rotWithShape="0">
                <a:blip r:embed="rId2"/>
                <a:stretch>
                  <a:fillRect l="-600" r="-600" b="-353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>
            <a:spLocks/>
          </p:cNvSpPr>
          <p:nvPr/>
        </p:nvSpPr>
        <p:spPr>
          <a:xfrm>
            <a:off x="0" y="1272778"/>
            <a:ext cx="1815921" cy="3827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Dimensión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0" y="3063598"/>
                <a:ext cx="12192000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otra manera,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se denomina </a:t>
                </a:r>
                <a:r>
                  <a:rPr lang="es-MX" sz="21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espacio vectorial de </a:t>
                </a:r>
                <a:r>
                  <a:rPr lang="es-MX" sz="21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dimensión infinita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Si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s-MX" sz="21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2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entonces se dice que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tiene 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dimensión 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cero. 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63598"/>
                <a:ext cx="12192000" cy="738664"/>
              </a:xfrm>
              <a:prstGeom prst="rect">
                <a:avLst/>
              </a:prstGeom>
              <a:blipFill rotWithShape="0">
                <a:blip r:embed="rId3"/>
                <a:stretch>
                  <a:fillRect l="-600" t="-5785" r="-600" b="-1487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0" y="4480095"/>
                <a:ext cx="4926349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dimensión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se denota por </a:t>
                </a:r>
                <a14:m>
                  <m:oMath xmlns:m="http://schemas.openxmlformats.org/officeDocument/2006/math"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𝒅𝒊𝒎</m:t>
                    </m:r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80095"/>
                <a:ext cx="4926349" cy="415498"/>
              </a:xfrm>
              <a:prstGeom prst="rect">
                <a:avLst/>
              </a:prstGeom>
              <a:blipFill rotWithShape="0">
                <a:blip r:embed="rId4"/>
                <a:stretch>
                  <a:fillRect l="-1485" t="-8824" r="-371" b="-2794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0" y="4016775"/>
            <a:ext cx="1558344" cy="4308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Notación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15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3360625"/>
                <a:ext cx="12192000" cy="86415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un </a:t>
                </a:r>
                <a:r>
                  <a:rPr lang="es-MX" sz="2100" b="1" dirty="0" err="1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un espacio vectorial de dimensión finita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Entonces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tiene dimensión finita y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𝒅𝒊𝒎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𝒅𝒊𝒎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60625"/>
                <a:ext cx="12192000" cy="864152"/>
              </a:xfrm>
              <a:prstGeom prst="rect">
                <a:avLst/>
              </a:prstGeom>
              <a:blipFill rotWithShape="0">
                <a:blip r:embed="rId2"/>
                <a:stretch>
                  <a:fillRect l="-600" r="-600" b="-633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/>
          <p:cNvSpPr txBox="1">
            <a:spLocks/>
          </p:cNvSpPr>
          <p:nvPr/>
        </p:nvSpPr>
        <p:spPr>
          <a:xfrm>
            <a:off x="0" y="2756630"/>
            <a:ext cx="1468192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0" y="1622459"/>
                <a:ext cx="12192000" cy="86415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Suponga que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𝒅𝒊𝒎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MX" sz="21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Si</a:t>
                </a:r>
                <a:r>
                  <a:rPr kumimoji="0" lang="es-NI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……, </m:t>
                    </m:r>
                    <m:sSub>
                      <m:sSubPr>
                        <m:ctrlP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𝒖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</m:t>
                        </m:r>
                      </m:sub>
                    </m:sSub>
                    <m:r>
                      <a:rPr lang="es-MX" sz="21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es un conjunto de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vectores linealmente independientes en </a:t>
                </a:r>
                <a14:m>
                  <m:oMath xmlns:m="http://schemas.openxmlformats.org/officeDocument/2006/math">
                    <m:r>
                      <a:rPr kumimoji="0" lang="es-NI" sz="21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𝑽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kumimoji="0" lang="es-NI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entonces </a:t>
                </a:r>
                <a14:m>
                  <m:oMath xmlns:m="http://schemas.openxmlformats.org/officeDocument/2006/math"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kumimoji="0" lang="es-MX" sz="21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22459"/>
                <a:ext cx="12192000" cy="864152"/>
              </a:xfrm>
              <a:prstGeom prst="rect">
                <a:avLst/>
              </a:prstGeom>
              <a:blipFill rotWithShape="0">
                <a:blip r:embed="rId3"/>
                <a:stretch>
                  <a:fillRect l="-600" r="-600" b="-633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0" y="1082420"/>
            <a:ext cx="1468192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15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>
            <a:spLocks/>
          </p:cNvSpPr>
          <p:nvPr/>
        </p:nvSpPr>
        <p:spPr>
          <a:xfrm>
            <a:off x="1049628" y="1265113"/>
            <a:ext cx="8732520" cy="31656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200" b="1" kern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Base y dimensión: método para </a:t>
            </a:r>
            <a:r>
              <a:rPr kumimoji="0" lang="es-MX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subespacios</a:t>
            </a:r>
            <a:r>
              <a:rPr kumimoji="0" lang="es-MX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 definidos por ecuaciones</a:t>
            </a:r>
            <a:endParaRPr kumimoji="0" lang="es-MX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itchFamily="34" charset="0"/>
              <a:cs typeface="Arial" pitchFamily="34" charset="-12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122350" y="1828799"/>
            <a:ext cx="8184523" cy="38636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Base</a:t>
            </a:r>
            <a:r>
              <a:rPr lang="en-US" sz="2000" b="1" dirty="0">
                <a:solidFill>
                  <a:srgbClr val="5252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= conjunto linealmente independiente que genera el espacio. </a:t>
            </a:r>
          </a:p>
        </p:txBody>
      </p:sp>
      <p:sp>
        <p:nvSpPr>
          <p:cNvPr id="6" name="Rectángulo 5"/>
          <p:cNvSpPr/>
          <p:nvPr/>
        </p:nvSpPr>
        <p:spPr>
          <a:xfrm>
            <a:off x="0" y="237213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Dimensión</a:t>
            </a:r>
            <a:r>
              <a:rPr lang="en-US" sz="2000" b="1" dirty="0">
                <a:solidFill>
                  <a:srgbClr val="5252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= número de vectores de una base</a:t>
            </a:r>
            <a:r>
              <a:rPr lang="en-US" sz="2000" b="1" dirty="0" smtClean="0">
                <a:solidFill>
                  <a:srgbClr val="5252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</a:t>
            </a:r>
            <a:endParaRPr lang="en-US" sz="20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-1" y="2929208"/>
            <a:ext cx="82167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1.</a:t>
            </a:r>
            <a:r>
              <a:rPr lang="en-US" sz="2000" b="1" dirty="0">
                <a:solidFill>
                  <a:srgbClr val="5252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Escribir el sistema homogéneo y reducirlo por Gauss-Jordan</a:t>
            </a:r>
            <a:r>
              <a:rPr lang="en-US" sz="2000" b="1" dirty="0" smtClean="0">
                <a:solidFill>
                  <a:srgbClr val="5252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</a:t>
            </a:r>
            <a:endParaRPr lang="en-US" sz="20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-1" y="3486284"/>
            <a:ext cx="80492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2.</a:t>
            </a:r>
            <a:r>
              <a:rPr lang="en-US" sz="2000" b="1" dirty="0">
                <a:solidFill>
                  <a:srgbClr val="5252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Las columnas sin pivote son las variables libres (</a:t>
            </a:r>
            <a:r>
              <a:rPr lang="en-US" sz="2000" b="1" dirty="0" err="1">
                <a:solidFill>
                  <a:srgbClr val="5252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parámetros</a:t>
            </a:r>
            <a:r>
              <a:rPr lang="en-US" sz="2000" b="1" dirty="0" smtClean="0">
                <a:solidFill>
                  <a:srgbClr val="5252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).</a:t>
            </a:r>
            <a:endParaRPr lang="en-US" sz="20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0" y="4043360"/>
            <a:ext cx="115265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3.</a:t>
            </a:r>
            <a:r>
              <a:rPr lang="en-US" sz="2000" b="1" dirty="0">
                <a:solidFill>
                  <a:srgbClr val="5252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Escribir la solución como combinación lineal con los parámetros: esos vectores </a:t>
            </a:r>
            <a:r>
              <a:rPr lang="en-US" sz="2000" b="1" dirty="0" err="1">
                <a:solidFill>
                  <a:srgbClr val="5252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generan</a:t>
            </a:r>
            <a:r>
              <a:rPr lang="en-US" sz="2000" b="1" dirty="0" smtClean="0">
                <a:solidFill>
                  <a:srgbClr val="52525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</a:t>
            </a:r>
            <a:endParaRPr lang="en-US" sz="2000" dirty="0">
              <a:solidFill>
                <a:srgbClr val="26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-1" y="4600436"/>
                <a:ext cx="12192001" cy="715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4.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Independencia: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s-NI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s-NI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s-NI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s-MX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⋯+</m:t>
                    </m:r>
                    <m:sSub>
                      <m:sSubPr>
                        <m:ctrlP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  <m:r>
                      <a:rPr lang="es-NI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por Gauss-Jordan; si solo hay solución trivial, son </a:t>
                </a:r>
                <a:r>
                  <a:rPr lang="en-US" sz="2000" b="1" dirty="0" err="1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independientes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600436"/>
                <a:ext cx="12192001" cy="715837"/>
              </a:xfrm>
              <a:prstGeom prst="rect">
                <a:avLst/>
              </a:prstGeom>
              <a:blipFill rotWithShape="0">
                <a:blip r:embed="rId2"/>
                <a:stretch>
                  <a:fillRect l="-500" t="-4274" r="-500" b="-1453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/>
              <p:cNvSpPr/>
              <p:nvPr/>
            </p:nvSpPr>
            <p:spPr>
              <a:xfrm>
                <a:off x="-1" y="5465288"/>
                <a:ext cx="534312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5.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Cambria Math" pitchFamily="34" charset="-122"/>
                    <a:cs typeface="Arial" panose="020B0604020202020204" pitchFamily="34" charset="0"/>
                  </a:rPr>
                  <a:t>dim = nº de variables libres =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Cambria Math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Cambria Math" pitchFamily="34" charset="-122"/>
                    <a:cs typeface="Arial" panose="020B0604020202020204" pitchFamily="34" charset="0"/>
                  </a:rPr>
                  <a:t> rango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Rectá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465288"/>
                <a:ext cx="5343129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1142" t="-7692" r="-342" b="-2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40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" y="1145826"/>
            <a:ext cx="1545464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1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1697809"/>
            <a:ext cx="10238704" cy="505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Encuentre una </a:t>
            </a:r>
            <a:r>
              <a:rPr lang="es-MX" sz="2200" b="1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lang="es-MX" sz="22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el conjunto de vectores que se encuentra en el plano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3887272" y="2156164"/>
                <a:ext cx="3543838" cy="103014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NI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𝝅</m:t>
                      </m:r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s-NI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0" lang="es-NI" sz="21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s-NI" sz="21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s-MX" sz="21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𝒙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s-MX" sz="21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𝒚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s-MX" sz="21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FF0000"/>
                                        </a:solidFill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𝒛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kumimoji="0" lang="es-MX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:</m:t>
                          </m:r>
                          <m:r>
                            <a:rPr kumimoji="0" lang="es-MX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kumimoji="0" lang="es-MX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kumimoji="0" lang="es-MX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kumimoji="0" lang="es-MX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  <m:r>
                            <a:rPr kumimoji="0" lang="es-MX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kumimoji="0" lang="es-MX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kumimoji="0" lang="es-MX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𝒛</m:t>
                          </m:r>
                          <m:r>
                            <a:rPr kumimoji="0" lang="es-MX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kumimoji="0" lang="es-MX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272" y="2156164"/>
                <a:ext cx="3543838" cy="103014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0" y="2588213"/>
            <a:ext cx="1352282" cy="505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3424707" y="5343403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707" y="5343403"/>
                <a:ext cx="414269" cy="109560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2921359" y="5326127"/>
                <a:ext cx="618186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s-NI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NI" sz="21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𝒚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359" y="5326127"/>
                <a:ext cx="618186" cy="109560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3683356" y="5326126"/>
                <a:ext cx="1481072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s-NI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NI" sz="21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356" y="5326126"/>
                <a:ext cx="1481072" cy="109560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/>
              <p:cNvSpPr txBox="1">
                <a:spLocks/>
              </p:cNvSpPr>
              <p:nvPr/>
            </p:nvSpPr>
            <p:spPr>
              <a:xfrm>
                <a:off x="4957293" y="5328441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293" y="5328441"/>
                <a:ext cx="414269" cy="109560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/>
              <p:cNvSpPr txBox="1">
                <a:spLocks/>
              </p:cNvSpPr>
              <p:nvPr/>
            </p:nvSpPr>
            <p:spPr>
              <a:xfrm>
                <a:off x="5175161" y="5343403"/>
                <a:ext cx="618186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s-NI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NI" sz="21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161" y="5343403"/>
                <a:ext cx="618186" cy="1095607"/>
              </a:xfrm>
              <a:prstGeom prst="rect">
                <a:avLst/>
              </a:prstGeom>
              <a:blipFill rotWithShape="0">
                <a:blip r:embed="rId7"/>
                <a:stretch>
                  <a:fillRect r="-118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6011215" y="5343403"/>
                <a:ext cx="788830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s-NI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NI" sz="21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215" y="5343403"/>
                <a:ext cx="788830" cy="109560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/>
              <p:cNvSpPr txBox="1">
                <a:spLocks/>
              </p:cNvSpPr>
              <p:nvPr/>
            </p:nvSpPr>
            <p:spPr>
              <a:xfrm>
                <a:off x="5793347" y="5328441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347" y="5328441"/>
                <a:ext cx="414269" cy="109560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/>
              <p:cNvSpPr txBox="1">
                <a:spLocks/>
              </p:cNvSpPr>
              <p:nvPr/>
            </p:nvSpPr>
            <p:spPr>
              <a:xfrm>
                <a:off x="6674477" y="5358365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477" y="5358365"/>
                <a:ext cx="414269" cy="109560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/>
              <p:cNvSpPr txBox="1">
                <a:spLocks/>
              </p:cNvSpPr>
              <p:nvPr/>
            </p:nvSpPr>
            <p:spPr>
              <a:xfrm>
                <a:off x="6963181" y="5356587"/>
                <a:ext cx="906890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d>
                        <m:dPr>
                          <m:ctrlPr>
                            <a:rPr kumimoji="0" lang="es-NI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NI" sz="21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181" y="5356587"/>
                <a:ext cx="906890" cy="109560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le 1"/>
              <p:cNvSpPr txBox="1">
                <a:spLocks/>
              </p:cNvSpPr>
              <p:nvPr/>
            </p:nvSpPr>
            <p:spPr>
              <a:xfrm>
                <a:off x="8033207" y="5343403"/>
                <a:ext cx="955178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𝒛</m:t>
                      </m:r>
                      <m:d>
                        <m:dPr>
                          <m:ctrlPr>
                            <a:rPr kumimoji="0" lang="es-NI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NI" sz="21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207" y="5343403"/>
                <a:ext cx="955178" cy="109560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/>
              <p:cNvSpPr txBox="1">
                <a:spLocks/>
              </p:cNvSpPr>
              <p:nvPr/>
            </p:nvSpPr>
            <p:spPr>
              <a:xfrm>
                <a:off x="7762741" y="5354809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741" y="5354809"/>
                <a:ext cx="414269" cy="109560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/>
              <p:cNvSpPr txBox="1">
                <a:spLocks/>
              </p:cNvSpPr>
              <p:nvPr/>
            </p:nvSpPr>
            <p:spPr>
              <a:xfrm>
                <a:off x="-1" y="3173159"/>
                <a:ext cx="12192001" cy="75489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 xmlns:m="http://schemas.openxmlformats.org/officeDocument/2006/math">
                    <m:r>
                      <a:rPr lang="es-NI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𝝅</m:t>
                    </m:r>
                  </m:oMath>
                </a14:m>
                <a:r>
                  <a:rPr kumimoji="0" lang="es-NI" sz="21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es un espacio vectorial.</a:t>
                </a:r>
                <a:r>
                  <a:rPr kumimoji="0" lang="es-NI" sz="2100" b="1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accent3">
                        <a:lumMod val="50000"/>
                      </a:schemeClr>
                    </a:solidFill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Para encontrar una base, primero se escoge</a:t>
                </a:r>
                <a:r>
                  <a:rPr lang="es-MX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lang="es-NI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</m:oMath>
                </a14:m>
                <a:r>
                  <a:rPr lang="es-NI" sz="21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arbitrar ariamente (libres) y si</a:t>
                </a:r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173159"/>
                <a:ext cx="12192001" cy="754891"/>
              </a:xfrm>
              <a:prstGeom prst="rect">
                <a:avLst/>
              </a:prstGeom>
              <a:blipFill rotWithShape="0">
                <a:blip r:embed="rId14"/>
                <a:stretch>
                  <a:fillRect l="-600" t="-4065" r="-600" b="-1463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itle 1"/>
              <p:cNvSpPr txBox="1">
                <a:spLocks/>
              </p:cNvSpPr>
              <p:nvPr/>
            </p:nvSpPr>
            <p:spPr>
              <a:xfrm>
                <a:off x="2918139" y="3784951"/>
                <a:ext cx="1242811" cy="101193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s-NI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NI" sz="21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𝒚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s-NI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r>
                        <a:rPr kumimoji="0" lang="es-NI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𝝅</m:t>
                      </m:r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139" y="3784951"/>
                <a:ext cx="1242811" cy="1011934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/>
              <p:cNvSpPr/>
              <p:nvPr/>
            </p:nvSpPr>
            <p:spPr>
              <a:xfrm>
                <a:off x="-2146" y="4886196"/>
                <a:ext cx="7866446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Entonces,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  <m:r>
                      <a:rPr lang="es-MX" sz="21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Así los vectores en </a:t>
                </a:r>
                <a14:m>
                  <m:oMath xmlns:m="http://schemas.openxmlformats.org/officeDocument/2006/math">
                    <m:r>
                      <a:rPr lang="es-NI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𝝅</m:t>
                    </m:r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tienen la forma</a:t>
                </a:r>
                <a14:m>
                  <m:oMath xmlns:m="http://schemas.openxmlformats.org/officeDocument/2006/math">
                    <m:r>
                      <a:rPr lang="es-MX" sz="2100" b="1" i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NI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NI" sz="21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Rectángulo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46" y="4886196"/>
                <a:ext cx="7866446" cy="415498"/>
              </a:xfrm>
              <a:prstGeom prst="rect">
                <a:avLst/>
              </a:prstGeom>
              <a:blipFill rotWithShape="0">
                <a:blip r:embed="rId16"/>
                <a:stretch>
                  <a:fillRect l="-930" t="-10294" b="-2794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928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1407681"/>
            <a:ext cx="2923504" cy="505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>
              <a:defRPr/>
            </a:pPr>
            <a:r>
              <a:rPr lang="es-MX" sz="22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 cual muestra que </a:t>
            </a:r>
            <a:endParaRPr kumimoji="0" lang="es-NI" sz="22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/>
              <p:cNvSpPr txBox="1">
                <a:spLocks/>
              </p:cNvSpPr>
              <p:nvPr/>
            </p:nvSpPr>
            <p:spPr>
              <a:xfrm>
                <a:off x="2668082" y="1115420"/>
                <a:ext cx="789901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s-NI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NI" sz="21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s-MX" sz="21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3">
                              <a:lumMod val="50000"/>
                            </a:schemeClr>
                          </a:solidFill>
                          <a:uLnTx/>
                          <a:uFillTx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082" y="1115420"/>
                <a:ext cx="789901" cy="109560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3457983" y="1115420"/>
                <a:ext cx="75340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s-NI" sz="21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NI" sz="21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1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NI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983" y="1115420"/>
                <a:ext cx="753409" cy="109560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4020617" y="1424092"/>
                <a:ext cx="1675556" cy="46707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eneran a </a:t>
                </a:r>
                <a14:m>
                  <m:oMath xmlns:m="http://schemas.openxmlformats.org/officeDocument/2006/math">
                    <m:r>
                      <a:rPr lang="es-MX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𝝅</m:t>
                    </m:r>
                  </m:oMath>
                </a14:m>
                <a:endParaRPr kumimoji="0" lang="es-NI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617" y="1424092"/>
                <a:ext cx="1675556" cy="467070"/>
              </a:xfrm>
              <a:prstGeom prst="rect">
                <a:avLst/>
              </a:prstGeom>
              <a:blipFill rotWithShape="0">
                <a:blip r:embed="rId22"/>
                <a:stretch>
                  <a:fillRect l="-4015" b="-1710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0" y="2503288"/>
                <a:ext cx="6181859" cy="92334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Falta la independencia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NI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NI" sz="2100" b="1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</m:mr>
                          <m:mr>
                            <m:e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  <m:r>
                      <a:rPr lang="es-MX" sz="21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</m:t>
                    </m:r>
                    <m:r>
                      <a:rPr lang="es-MX" sz="21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s-MX" sz="21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s-MX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 </m:t>
                        </m:r>
                        <m:r>
                          <a:rPr lang="es-MX" sz="21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NI" sz="21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NI" sz="2100" b="1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</m:mr>
                          <m:mr>
                            <m:e>
                              <m:r>
                                <a:rPr lang="es-MX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1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s-NI" sz="21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03288"/>
                <a:ext cx="6181859" cy="923340"/>
              </a:xfrm>
              <a:prstGeom prst="rect">
                <a:avLst/>
              </a:prstGeom>
              <a:blipFill rotWithShape="0">
                <a:blip r:embed="rId23"/>
                <a:stretch>
                  <a:fillRect l="-118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/>
          <p:cNvSpPr/>
          <p:nvPr/>
        </p:nvSpPr>
        <p:spPr>
          <a:xfrm>
            <a:off x="6092444" y="2682623"/>
            <a:ext cx="1999488" cy="60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6096000" y="2740406"/>
                <a:ext cx="1995931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</m:t>
                      </m:r>
                      <m:sSub>
                        <m:sSubPr>
                          <m:ctrlPr>
                            <a:rPr lang="es-NI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sSub>
                        <m:sSubPr>
                          <m:ctrlP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40406"/>
                <a:ext cx="1995931" cy="415498"/>
              </a:xfrm>
              <a:prstGeom prst="rect">
                <a:avLst/>
              </a:prstGeom>
              <a:blipFill rotWithShape="0">
                <a:blip r:embed="rId24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2642578" y="3831242"/>
                <a:ext cx="2756078" cy="9469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es-NI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d>
                        <m:dPr>
                          <m:ctrlPr>
                            <a:rPr lang="es-NI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NI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1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578" y="3831242"/>
                <a:ext cx="2756078" cy="946926"/>
              </a:xfrm>
              <a:prstGeom prst="rect">
                <a:avLst/>
              </a:prstGeom>
              <a:blipFill rotWithShape="0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/>
          <p:cNvSpPr/>
          <p:nvPr/>
        </p:nvSpPr>
        <p:spPr>
          <a:xfrm>
            <a:off x="0" y="4975033"/>
            <a:ext cx="12621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aquí</a:t>
            </a:r>
            <a:endParaRPr lang="es-MX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5854457" y="3817295"/>
                <a:ext cx="2756078" cy="9748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𝒂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𝒂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NI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𝒃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𝒃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NI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1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457" y="3817295"/>
                <a:ext cx="2756078" cy="974819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8891286" y="3721212"/>
                <a:ext cx="2377676" cy="9748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𝒂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𝒂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𝒃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𝒃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NI" sz="21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1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286" y="3721212"/>
                <a:ext cx="2377676" cy="974819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lecha derecha 13"/>
          <p:cNvSpPr/>
          <p:nvPr/>
        </p:nvSpPr>
        <p:spPr>
          <a:xfrm>
            <a:off x="5398656" y="4054369"/>
            <a:ext cx="455801" cy="4121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Flecha derecha 14"/>
          <p:cNvSpPr/>
          <p:nvPr/>
        </p:nvSpPr>
        <p:spPr>
          <a:xfrm>
            <a:off x="8435485" y="4023597"/>
            <a:ext cx="455801" cy="4121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/>
              <p:cNvSpPr/>
              <p:nvPr/>
            </p:nvSpPr>
            <p:spPr>
              <a:xfrm>
                <a:off x="1675556" y="5190476"/>
                <a:ext cx="168167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556" y="5190476"/>
                <a:ext cx="1681679" cy="400110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ángulo 17"/>
              <p:cNvSpPr/>
              <p:nvPr/>
            </p:nvSpPr>
            <p:spPr>
              <a:xfrm>
                <a:off x="1675556" y="5590586"/>
                <a:ext cx="166584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8" name="Rectángulo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556" y="5590586"/>
                <a:ext cx="1665841" cy="400110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/>
              <p:cNvSpPr/>
              <p:nvPr/>
            </p:nvSpPr>
            <p:spPr>
              <a:xfrm>
                <a:off x="2448397" y="5990696"/>
                <a:ext cx="89300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9" name="Rectángulo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397" y="5990696"/>
                <a:ext cx="893000" cy="400110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20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 animBg="1"/>
      <p:bldP spid="9" grpId="0"/>
      <p:bldP spid="10" grpId="0"/>
      <p:bldP spid="11" grpId="0"/>
      <p:bldP spid="12" grpId="0"/>
      <p:bldP spid="13" grpId="0"/>
      <p:bldP spid="14" grpId="0" animBg="1"/>
      <p:bldP spid="15" grpId="0" animBg="1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339440"/>
              </p:ext>
            </p:extLst>
          </p:nvPr>
        </p:nvGraphicFramePr>
        <p:xfrm>
          <a:off x="962462" y="2694261"/>
          <a:ext cx="1371600" cy="1005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3" name="Shape 2"/>
          <p:cNvSpPr/>
          <p:nvPr/>
        </p:nvSpPr>
        <p:spPr>
          <a:xfrm>
            <a:off x="2443790" y="3188037"/>
            <a:ext cx="10607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3"/>
              <p:cNvSpPr txBox="1"/>
              <p:nvPr/>
            </p:nvSpPr>
            <p:spPr>
              <a:xfrm>
                <a:off x="2352350" y="2785701"/>
                <a:ext cx="1243584" cy="3566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₂−</m:t>
                    </m:r>
                    <m:r>
                      <a:rPr lang="en-US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sz="1600" b="1" dirty="0">
                    <a:solidFill>
                      <a:srgbClr val="FF0000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₁</a:t>
                </a:r>
                <a:endParaRPr lang="en-US" sz="16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4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350" y="2785701"/>
                <a:ext cx="1243584" cy="356616"/>
              </a:xfrm>
              <a:prstGeom prst="rect">
                <a:avLst/>
              </a:prstGeom>
              <a:blipFill rotWithShape="0">
                <a:blip r:embed="rId2"/>
                <a:stretch>
                  <a:fillRect b="-3448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99242"/>
              </p:ext>
            </p:extLst>
          </p:nvPr>
        </p:nvGraphicFramePr>
        <p:xfrm>
          <a:off x="3614222" y="2694261"/>
          <a:ext cx="1252855" cy="1005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84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095550" y="3188037"/>
            <a:ext cx="10607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 txBox="1"/>
              <p:nvPr/>
            </p:nvSpPr>
            <p:spPr>
              <a:xfrm>
                <a:off x="5004110" y="2881771"/>
                <a:ext cx="1243584" cy="2605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⅓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</m:t>
                      </m:r>
                    </m:oMath>
                  </m:oMathPara>
                </a14:m>
                <a:endParaRPr lang="en-US" sz="16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7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110" y="2881771"/>
                <a:ext cx="1243584" cy="260545"/>
              </a:xfrm>
              <a:prstGeom prst="rect">
                <a:avLst/>
              </a:prstGeom>
              <a:blipFill rotWithShape="0">
                <a:blip r:embed="rId3"/>
                <a:stretch>
                  <a:fillRect b="-28571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699782"/>
              </p:ext>
            </p:extLst>
          </p:nvPr>
        </p:nvGraphicFramePr>
        <p:xfrm>
          <a:off x="6265982" y="2694261"/>
          <a:ext cx="1371600" cy="1005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47310" y="3188037"/>
            <a:ext cx="106070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7"/>
              <p:cNvSpPr txBox="1"/>
              <p:nvPr/>
            </p:nvSpPr>
            <p:spPr>
              <a:xfrm>
                <a:off x="7655870" y="2881771"/>
                <a:ext cx="1243584" cy="26054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₃−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</m:t>
                      </m:r>
                    </m:oMath>
                  </m:oMathPara>
                </a14:m>
                <a:endParaRPr lang="en-US" sz="16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0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870" y="2881771"/>
                <a:ext cx="1243584" cy="260546"/>
              </a:xfrm>
              <a:prstGeom prst="rect">
                <a:avLst/>
              </a:prstGeom>
              <a:blipFill rotWithShape="0">
                <a:blip r:embed="rId4"/>
                <a:stretch>
                  <a:fillRect b="-2619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22151"/>
              </p:ext>
            </p:extLst>
          </p:nvPr>
        </p:nvGraphicFramePr>
        <p:xfrm>
          <a:off x="8917742" y="2694261"/>
          <a:ext cx="1371600" cy="1005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189621" y="1298073"/>
                <a:ext cx="168167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21" y="1298073"/>
                <a:ext cx="1681679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189621" y="1698183"/>
                <a:ext cx="166584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21" y="1698183"/>
                <a:ext cx="1665841" cy="4001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/>
              <p:cNvSpPr/>
              <p:nvPr/>
            </p:nvSpPr>
            <p:spPr>
              <a:xfrm>
                <a:off x="962462" y="2098293"/>
                <a:ext cx="89300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MX" sz="2000" dirty="0"/>
              </a:p>
            </p:txBody>
          </p:sp>
        </mc:Choice>
        <mc:Fallback xmlns=""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62" y="2098293"/>
                <a:ext cx="893000" cy="4001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1938528" y="1698183"/>
                <a:ext cx="4285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Matriz aumentada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[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₁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₂ | (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s-NI" sz="20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)] </m:t>
                    </m:r>
                  </m:oMath>
                </a14:m>
                <a:endParaRPr lang="es-MX" sz="2000" dirty="0"/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528" y="1698183"/>
                <a:ext cx="4285725" cy="400110"/>
              </a:xfrm>
              <a:prstGeom prst="rect">
                <a:avLst/>
              </a:prstGeom>
              <a:blipFill rotWithShape="0">
                <a:blip r:embed="rId8"/>
                <a:stretch>
                  <a:fillRect l="-1422" t="-9231" b="-2769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8"/>
          <p:cNvSpPr/>
          <p:nvPr/>
        </p:nvSpPr>
        <p:spPr>
          <a:xfrm>
            <a:off x="289775" y="4174043"/>
            <a:ext cx="11274552" cy="731520"/>
          </a:xfrm>
          <a:prstGeom prst="roundRect">
            <a:avLst>
              <a:gd name="adj" fmla="val 12500"/>
            </a:avLst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9"/>
              <p:cNvSpPr txBox="1"/>
              <p:nvPr/>
            </p:nvSpPr>
            <p:spPr>
              <a:xfrm>
                <a:off x="426935" y="4219763"/>
                <a:ext cx="10972800" cy="64008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/>
              <a:lstStyle/>
              <a:p>
                <a:pPr algn="just"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Pivotes en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 solo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los </a:t>
                </a:r>
                <a:r>
                  <a:rPr lang="en-US" sz="2000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vectores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son </a:t>
                </a:r>
                <a:r>
                  <a:rPr lang="en-US" sz="2000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linealmente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2000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independientes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</a:t>
                </a:r>
                <a:r>
                  <a:rPr lang="en-US" sz="2000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Por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2000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tanto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2000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constituyen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2000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una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base para </a:t>
                </a:r>
                <a:r>
                  <a:rPr lang="en-US" sz="2000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dicho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2000" b="1" dirty="0" err="1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espacio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-120"/>
                      </a:rPr>
                      <m:t>𝝅</m:t>
                    </m:r>
                  </m:oMath>
                </a14:m>
                <a:r>
                  <a:rPr lang="en-US" sz="2000" b="1" dirty="0" smtClean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 </a:t>
                </a:r>
                <a:r>
                  <a:rPr lang="en-US" sz="2000" b="1" dirty="0" smtClean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Base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{(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), (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)},  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dim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𝝅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= 2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0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1" name="Tex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35" y="4219763"/>
                <a:ext cx="10972800" cy="640080"/>
              </a:xfrm>
              <a:prstGeom prst="rect">
                <a:avLst/>
              </a:prstGeom>
              <a:blipFill rotWithShape="0">
                <a:blip r:embed="rId10"/>
                <a:stretch>
                  <a:fillRect l="-1389" t="-8571" r="-1444" b="-22857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219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2" grpId="0"/>
      <p:bldP spid="13" grpId="0"/>
      <p:bldP spid="14" grpId="0"/>
      <p:bldP spid="15" grpId="0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" y="1120069"/>
            <a:ext cx="1545464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2</a:t>
            </a:r>
            <a:endParaRPr lang="es-NI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1672052"/>
            <a:ext cx="10238704" cy="505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2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Encuentre una </a:t>
            </a:r>
            <a:r>
              <a:rPr lang="es-MX" sz="2200" b="1" i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lang="es-MX" sz="22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el conjunto de vectores que se encuentra en el plano</a:t>
            </a:r>
            <a:endParaRPr lang="es-NI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3887271" y="2130407"/>
                <a:ext cx="4145935" cy="103014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𝑯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NI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NI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NI" sz="21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MX" sz="21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𝒙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𝒚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MX" sz="21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𝒛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: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𝟏𝟏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𝟏𝟕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𝒛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271" y="2130407"/>
                <a:ext cx="4145935" cy="103014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0" y="2562456"/>
            <a:ext cx="1352282" cy="505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NI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-1" y="3147402"/>
                <a:ext cx="12192001" cy="75489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 espacio vectorial. Para encontrar una base, primero se escoge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lang="es-NI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1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</m:oMath>
                </a14:m>
                <a:r>
                  <a:rPr lang="es-NI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arbitrar ariamente (libres) y si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147402"/>
                <a:ext cx="12192001" cy="754891"/>
              </a:xfrm>
              <a:prstGeom prst="rect">
                <a:avLst/>
              </a:prstGeom>
              <a:blipFill rotWithShape="0">
                <a:blip r:embed="rId7"/>
                <a:stretch>
                  <a:fillRect l="-600" t="-3226" r="-600" b="-1451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2920284" y="3859917"/>
                <a:ext cx="1242811" cy="101193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𝒚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NI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𝑯</m:t>
                      </m:r>
                    </m:oMath>
                  </m:oMathPara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284" y="3859917"/>
                <a:ext cx="1242811" cy="101193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-1" y="5013443"/>
                <a:ext cx="3541691" cy="5575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Entonces,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=−</m:t>
                    </m:r>
                    <m:f>
                      <m:f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num>
                      <m:den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𝟏𝟏</m:t>
                        </m:r>
                      </m:den>
                    </m:f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𝟏𝟕</m:t>
                        </m:r>
                      </m:num>
                      <m:den>
                        <m:r>
                          <a:rPr lang="es-MX" sz="21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𝟏𝟏</m:t>
                        </m:r>
                      </m:den>
                    </m:f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</m:oMath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013443"/>
                <a:ext cx="3541691" cy="557525"/>
              </a:xfrm>
              <a:prstGeom prst="rect">
                <a:avLst/>
              </a:prstGeom>
              <a:blipFill rotWithShape="0">
                <a:blip r:embed="rId5"/>
                <a:stretch>
                  <a:fillRect l="-2065" b="-7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3518444" y="5105744"/>
                <a:ext cx="4887877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Así los vectores en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tienen la forma</a:t>
                </a:r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444" y="5105744"/>
                <a:ext cx="4887877" cy="415498"/>
              </a:xfrm>
              <a:prstGeom prst="rect">
                <a:avLst/>
              </a:prstGeom>
              <a:blipFill rotWithShape="0">
                <a:blip r:embed="rId6"/>
                <a:stretch>
                  <a:fillRect l="-1496" t="-11765" r="-1247" b="-264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17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3256461"/>
            <a:ext cx="2796601" cy="505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2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 cual muestra que </a:t>
            </a:r>
            <a:endParaRPr lang="es-NI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/>
              <p:cNvSpPr txBox="1">
                <a:spLocks/>
              </p:cNvSpPr>
              <p:nvPr/>
            </p:nvSpPr>
            <p:spPr>
              <a:xfrm>
                <a:off x="2796601" y="2910410"/>
                <a:ext cx="1148898" cy="127844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</m:oMath>
                  </m:oMathPara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601" y="2910410"/>
                <a:ext cx="1148898" cy="12784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3945499" y="2991505"/>
                <a:ext cx="979333" cy="119735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𝟏𝟕</m:t>
                                    </m:r>
                                  </m:num>
                                  <m:den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499" y="2991505"/>
                <a:ext cx="979333" cy="1197353"/>
              </a:xfrm>
              <a:prstGeom prst="rect">
                <a:avLst/>
              </a:prstGeom>
              <a:blipFill rotWithShape="0">
                <a:blip r:embed="rId5"/>
                <a:stretch>
                  <a:fillRect b="-51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4828780" y="3311974"/>
                <a:ext cx="2059550" cy="39476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generan a </a:t>
                </a:r>
                <a14:m>
                  <m:oMath xmlns:m="http://schemas.openxmlformats.org/officeDocument/2006/math">
                    <m:r>
                      <a:rPr lang="es-MX" sz="2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780" y="3311974"/>
                <a:ext cx="2059550" cy="394765"/>
              </a:xfrm>
              <a:prstGeom prst="rect">
                <a:avLst/>
              </a:prstGeom>
              <a:blipFill rotWithShape="0">
                <a:blip r:embed="rId18"/>
                <a:stretch>
                  <a:fillRect l="-3550" t="-10769" b="-3230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638945" y="1284015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45" y="1284015"/>
                <a:ext cx="414269" cy="109560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135597" y="1266739"/>
                <a:ext cx="618186" cy="11524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𝒚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97" y="1266739"/>
                <a:ext cx="618186" cy="115243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/>
              <p:cNvSpPr txBox="1">
                <a:spLocks/>
              </p:cNvSpPr>
              <p:nvPr/>
            </p:nvSpPr>
            <p:spPr>
              <a:xfrm>
                <a:off x="860028" y="1280446"/>
                <a:ext cx="2025910" cy="112376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  <m: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𝟏𝟕</m:t>
                                    </m:r>
                                  </m:num>
                                  <m:den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  <m:r>
                                  <m:rPr>
                                    <m:nor/>
                                  </m:rPr>
                                  <a:rPr lang="es-NI" sz="2100" b="1" dirty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28" y="1280446"/>
                <a:ext cx="2025910" cy="1123766"/>
              </a:xfrm>
              <a:prstGeom prst="rect">
                <a:avLst/>
              </a:prstGeom>
              <a:blipFill rotWithShape="0">
                <a:blip r:embed="rId9"/>
                <a:stretch>
                  <a:fillRect r="-331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/>
              <p:cNvSpPr txBox="1">
                <a:spLocks/>
              </p:cNvSpPr>
              <p:nvPr/>
            </p:nvSpPr>
            <p:spPr>
              <a:xfrm>
                <a:off x="3250309" y="1290368"/>
                <a:ext cx="1239587" cy="112880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309" y="1290368"/>
                <a:ext cx="1239587" cy="1128806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4691949" y="1263695"/>
                <a:ext cx="995961" cy="122396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𝟏𝟕</m:t>
                                    </m:r>
                                  </m:num>
                                  <m:den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949" y="1263695"/>
                <a:ext cx="995961" cy="122396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/>
              <p:cNvSpPr txBox="1">
                <a:spLocks/>
              </p:cNvSpPr>
              <p:nvPr/>
            </p:nvSpPr>
            <p:spPr>
              <a:xfrm>
                <a:off x="4435166" y="1298207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166" y="1298207"/>
                <a:ext cx="414269" cy="109560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/>
              <p:cNvSpPr txBox="1">
                <a:spLocks/>
              </p:cNvSpPr>
              <p:nvPr/>
            </p:nvSpPr>
            <p:spPr>
              <a:xfrm>
                <a:off x="5560994" y="1323567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994" y="1323567"/>
                <a:ext cx="414269" cy="109560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/>
              <p:cNvSpPr txBox="1">
                <a:spLocks/>
              </p:cNvSpPr>
              <p:nvPr/>
            </p:nvSpPr>
            <p:spPr>
              <a:xfrm>
                <a:off x="5858555" y="1263695"/>
                <a:ext cx="1349592" cy="114051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d>
                        <m:dPr>
                          <m:ctrlP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555" y="1263695"/>
                <a:ext cx="1349592" cy="1140517"/>
              </a:xfrm>
              <a:prstGeom prst="rect">
                <a:avLst/>
              </a:prstGeom>
              <a:blipFill rotWithShape="0">
                <a:blip r:embed="rId14"/>
                <a:stretch>
                  <a:fillRect b="-32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le 1"/>
              <p:cNvSpPr txBox="1">
                <a:spLocks/>
              </p:cNvSpPr>
              <p:nvPr/>
            </p:nvSpPr>
            <p:spPr>
              <a:xfrm>
                <a:off x="7468674" y="1235305"/>
                <a:ext cx="1010446" cy="123893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𝒛</m:t>
                      </m:r>
                      <m:d>
                        <m:dPr>
                          <m:ctrlPr>
                            <a:rPr lang="es-NI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𝟏𝟕</m:t>
                                    </m:r>
                                  </m:num>
                                  <m:den>
                                    <m:r>
                                      <a:rPr lang="es-MX" sz="21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𝟏𝟏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674" y="1235305"/>
                <a:ext cx="1010446" cy="1238931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/>
              <p:cNvSpPr txBox="1">
                <a:spLocks/>
              </p:cNvSpPr>
              <p:nvPr/>
            </p:nvSpPr>
            <p:spPr>
              <a:xfrm>
                <a:off x="7129528" y="1309613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NI" sz="2100" b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528" y="1309613"/>
                <a:ext cx="414269" cy="109560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/>
              <p:cNvSpPr txBox="1">
                <a:spLocks/>
              </p:cNvSpPr>
              <p:nvPr/>
            </p:nvSpPr>
            <p:spPr>
              <a:xfrm>
                <a:off x="2909021" y="1308605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021" y="1308605"/>
                <a:ext cx="414269" cy="1095607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616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 txBox="1">
                <a:spLocks/>
              </p:cNvSpPr>
              <p:nvPr/>
            </p:nvSpPr>
            <p:spPr>
              <a:xfrm>
                <a:off x="0" y="1169447"/>
                <a:ext cx="6324262" cy="123890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Falta la independencia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s-MX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MX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s-MX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𝟏𝟏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s-MX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  <m:r>
                      <a:rPr lang="es-MX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 </m:t>
                    </m:r>
                    <m:r>
                      <a:rPr lang="es-MX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s-MX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 </m:t>
                        </m:r>
                        <m:r>
                          <a:rPr lang="es-MX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000" b="1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MX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s-MX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𝟏𝟕</m:t>
                                  </m:r>
                                </m:num>
                                <m:den>
                                  <m:r>
                                    <a:rPr lang="es-MX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𝟏𝟏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s-MX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s-NI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69447"/>
                <a:ext cx="6324262" cy="1238902"/>
              </a:xfrm>
              <a:prstGeom prst="rect">
                <a:avLst/>
              </a:prstGeom>
              <a:blipFill rotWithShape="0">
                <a:blip r:embed="rId2"/>
                <a:stretch>
                  <a:fillRect l="-96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/>
          <p:cNvSpPr/>
          <p:nvPr/>
        </p:nvSpPr>
        <p:spPr>
          <a:xfrm>
            <a:off x="6324263" y="1529086"/>
            <a:ext cx="1999488" cy="60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6327819" y="1586869"/>
                <a:ext cx="1995931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</m:t>
                      </m:r>
                      <m:sSub>
                        <m:sSubPr>
                          <m:ctrlPr>
                            <a:rPr lang="es-NI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MX" sz="21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</m:t>
                      </m:r>
                      <m:sSub>
                        <m:sSubPr>
                          <m:ctrlP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s-MX" sz="21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s-MX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819" y="1586869"/>
                <a:ext cx="1995931" cy="415498"/>
              </a:xfrm>
              <a:prstGeom prst="rect">
                <a:avLst/>
              </a:prstGeom>
              <a:blipFill rotWithShape="0">
                <a:blip r:embed="rId3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069334"/>
              </p:ext>
            </p:extLst>
          </p:nvPr>
        </p:nvGraphicFramePr>
        <p:xfrm>
          <a:off x="244699" y="2691813"/>
          <a:ext cx="2224181" cy="1005840"/>
        </p:xfrm>
        <a:graphic>
          <a:graphicData uri="http://schemas.openxmlformats.org/drawingml/2006/table">
            <a:tbl>
              <a:tblPr/>
              <a:tblGrid>
                <a:gridCol w="84730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730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956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</a:t>
                      </a:r>
                      <a:r>
                        <a:rPr lang="en-US" sz="1600" b="1" dirty="0" smtClean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2/11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17/11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578608" y="3185589"/>
            <a:ext cx="133502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3"/>
              <p:cNvSpPr txBox="1"/>
              <p:nvPr/>
            </p:nvSpPr>
            <p:spPr>
              <a:xfrm>
                <a:off x="2487168" y="2408349"/>
                <a:ext cx="1517904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₂+(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/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𝟏𝟏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)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</m:t>
                      </m:r>
                    </m:oMath>
                  </m:oMathPara>
                </a14:m>
                <a:endParaRPr lang="en-US" sz="16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7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168" y="2408349"/>
                <a:ext cx="1517904" cy="731520"/>
              </a:xfrm>
              <a:prstGeom prst="rect">
                <a:avLst/>
              </a:prstGeom>
              <a:blipFill rotWithShape="0">
                <a:blip r:embed="rId4"/>
                <a:stretch>
                  <a:fillRect l="-402" b="-1250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99414"/>
              </p:ext>
            </p:extLst>
          </p:nvPr>
        </p:nvGraphicFramePr>
        <p:xfrm>
          <a:off x="4023360" y="2691813"/>
          <a:ext cx="1920240" cy="1005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17/11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053328" y="3185589"/>
            <a:ext cx="133502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5"/>
              <p:cNvSpPr txBox="1"/>
              <p:nvPr/>
            </p:nvSpPr>
            <p:spPr>
              <a:xfrm>
                <a:off x="5961888" y="2408349"/>
                <a:ext cx="1517904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𝟏𝟏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/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𝟏𝟕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)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</m:t>
                      </m:r>
                    </m:oMath>
                  </m:oMathPara>
                </a14:m>
                <a:endParaRPr lang="en-US" sz="16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0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888" y="2408349"/>
                <a:ext cx="1517904" cy="731520"/>
              </a:xfrm>
              <a:prstGeom prst="rect">
                <a:avLst/>
              </a:prstGeom>
              <a:blipFill rotWithShape="0">
                <a:blip r:embed="rId5"/>
                <a:stretch>
                  <a:fillRect b="-1250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401016"/>
              </p:ext>
            </p:extLst>
          </p:nvPr>
        </p:nvGraphicFramePr>
        <p:xfrm>
          <a:off x="7498080" y="2691813"/>
          <a:ext cx="1920240" cy="1005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2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096506"/>
              </p:ext>
            </p:extLst>
          </p:nvPr>
        </p:nvGraphicFramePr>
        <p:xfrm>
          <a:off x="566928" y="4108361"/>
          <a:ext cx="1920240" cy="1005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3" name="Shape 6"/>
          <p:cNvSpPr/>
          <p:nvPr/>
        </p:nvSpPr>
        <p:spPr>
          <a:xfrm>
            <a:off x="2596896" y="4602137"/>
            <a:ext cx="133502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7"/>
              <p:cNvSpPr txBox="1"/>
              <p:nvPr/>
            </p:nvSpPr>
            <p:spPr>
              <a:xfrm>
                <a:off x="2505456" y="3824897"/>
                <a:ext cx="1517904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₃−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</m:t>
                      </m:r>
                    </m:oMath>
                  </m:oMathPara>
                </a14:m>
                <a:endParaRPr lang="en-US" sz="16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4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456" y="3824897"/>
                <a:ext cx="1517904" cy="731520"/>
              </a:xfrm>
              <a:prstGeom prst="rect">
                <a:avLst/>
              </a:prstGeom>
              <a:blipFill rotWithShape="0">
                <a:blip r:embed="rId6"/>
                <a:stretch>
                  <a:fillRect b="-9167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107975"/>
              </p:ext>
            </p:extLst>
          </p:nvPr>
        </p:nvGraphicFramePr>
        <p:xfrm>
          <a:off x="4041648" y="4108361"/>
          <a:ext cx="1920240" cy="1005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91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8"/>
              <p:cNvSpPr txBox="1"/>
              <p:nvPr/>
            </p:nvSpPr>
            <p:spPr>
              <a:xfrm>
                <a:off x="0" y="5412259"/>
                <a:ext cx="12191999" cy="730964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 marL="0" indent="0" algn="just">
                  <a:spcAft>
                    <a:spcPts val="800"/>
                  </a:spcAft>
                  <a:buNone/>
                </a:pPr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Solo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𝒂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𝒃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 </a:t>
                </a:r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los </a:t>
                </a:r>
                <a:r>
                  <a:rPr lang="en-US" sz="2000" b="1" dirty="0" err="1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vectores</a:t>
                </a:r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son </a:t>
                </a:r>
                <a:r>
                  <a:rPr lang="en-US" sz="2000" b="1" dirty="0" err="1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linealmente</a:t>
                </a:r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 err="1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independientes</a:t>
                </a:r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 </a:t>
                </a:r>
                <a:r>
                  <a:rPr lang="en-US" sz="2000" b="1" dirty="0" err="1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Por</a:t>
                </a:r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 err="1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tanto</a:t>
                </a:r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, </a:t>
                </a:r>
                <a:r>
                  <a:rPr lang="en-US" sz="2000" b="1" dirty="0" err="1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constituyen</a:t>
                </a:r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 err="1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una</a:t>
                </a:r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base para </a:t>
                </a:r>
                <a:r>
                  <a:rPr lang="en-US" sz="2000" b="1" dirty="0" err="1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dicho</a:t>
                </a:r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 err="1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espacio</a:t>
                </a:r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𝑯</m:t>
                    </m:r>
                  </m:oMath>
                </a14:m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 </a:t>
                </a: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Base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{(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,−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𝟏𝟏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), (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𝟏𝟕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𝟏𝟏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},  </a:t>
                </a: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dim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𝑯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=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𝟐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 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412259"/>
                <a:ext cx="12191999" cy="730964"/>
              </a:xfrm>
              <a:prstGeom prst="rect">
                <a:avLst/>
              </a:prstGeom>
              <a:blipFill rotWithShape="0">
                <a:blip r:embed="rId8"/>
                <a:stretch>
                  <a:fillRect l="-1250" t="-10000" r="-1300" b="-500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40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7" grpId="0" animBg="1"/>
      <p:bldP spid="10" grpId="0" animBg="1"/>
      <p:bldP spid="14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" y="1107190"/>
            <a:ext cx="1455312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3</a:t>
            </a:r>
            <a:endParaRPr lang="es-NI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/>
              <p:cNvSpPr txBox="1">
                <a:spLocks/>
              </p:cNvSpPr>
              <p:nvPr/>
            </p:nvSpPr>
            <p:spPr>
              <a:xfrm>
                <a:off x="0" y="1659173"/>
                <a:ext cx="11269014" cy="41263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Encuentre una </a:t>
                </a:r>
                <a:r>
                  <a:rPr lang="es-MX" sz="2000" b="1" i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base</a:t>
                </a: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(y la </a:t>
                </a:r>
                <a:r>
                  <a:rPr lang="es-MX" sz="2000" b="1" i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dimensión</a:t>
                </a: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para el espacio de solución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del sistema homogéneo</a:t>
                </a:r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59173"/>
                <a:ext cx="11269014" cy="412634"/>
              </a:xfrm>
              <a:prstGeom prst="rect">
                <a:avLst/>
              </a:prstGeom>
              <a:blipFill rotWithShape="0">
                <a:blip r:embed="rId13"/>
                <a:stretch>
                  <a:fillRect l="-541" t="-4412" b="-264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3887272" y="2117528"/>
                <a:ext cx="2320344" cy="87397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NI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NI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s-MX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NI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272" y="2117528"/>
                <a:ext cx="2320344" cy="873976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0" y="2549577"/>
            <a:ext cx="1352282" cy="441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NI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27367" y="3130937"/>
            <a:ext cx="927280" cy="4715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NI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Aquí</a:t>
            </a:r>
            <a:endParaRPr lang="es-NI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727657" y="2988963"/>
                <a:ext cx="2400836" cy="73718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s-MX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MX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MX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s-MX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s-MX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s-MX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MX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s-MX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MX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000" b="1" dirty="0" smtClean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57" y="2988963"/>
                <a:ext cx="2400836" cy="73718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0" y="3769325"/>
                <a:ext cx="12192000" cy="73804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Como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una matriz de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</m:oMath>
                </a14:m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</m:oMath>
                </a14:m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 </a:t>
                </a:r>
                <a:r>
                  <a:rPr lang="es-NI" sz="2000" b="1" dirty="0" err="1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Reduciendo por renglones, se encuentra, sucesivamente </a:t>
                </a:r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69325"/>
                <a:ext cx="12192000" cy="738041"/>
              </a:xfrm>
              <a:prstGeom prst="rect">
                <a:avLst/>
              </a:prstGeom>
              <a:blipFill rotWithShape="0">
                <a:blip r:embed="rId16"/>
                <a:stretch>
                  <a:fillRect l="-500" t="-826" r="-500" b="-140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193176"/>
              </p:ext>
            </p:extLst>
          </p:nvPr>
        </p:nvGraphicFramePr>
        <p:xfrm>
          <a:off x="772776" y="4649551"/>
          <a:ext cx="1965960" cy="82296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4" name="Shape 1"/>
          <p:cNvSpPr/>
          <p:nvPr/>
        </p:nvSpPr>
        <p:spPr>
          <a:xfrm>
            <a:off x="2848464" y="5061031"/>
            <a:ext cx="115214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2"/>
              <p:cNvSpPr txBox="1"/>
              <p:nvPr/>
            </p:nvSpPr>
            <p:spPr>
              <a:xfrm>
                <a:off x="2757024" y="4695271"/>
                <a:ext cx="1335024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₂−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</m:t>
                      </m:r>
                    </m:oMath>
                  </m:oMathPara>
                </a14:m>
                <a:endParaRPr lang="en-US" sz="16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5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024" y="4695271"/>
                <a:ext cx="1335024" cy="320040"/>
              </a:xfrm>
              <a:prstGeom prst="rect">
                <a:avLst/>
              </a:prstGeom>
              <a:blipFill rotWithShape="0">
                <a:blip r:embed="rId17"/>
                <a:stretch>
                  <a:fillRect b="-20755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917331"/>
              </p:ext>
            </p:extLst>
          </p:nvPr>
        </p:nvGraphicFramePr>
        <p:xfrm>
          <a:off x="4110336" y="4649551"/>
          <a:ext cx="1965960" cy="82296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-5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5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7" name="Shape 3"/>
          <p:cNvSpPr/>
          <p:nvPr/>
        </p:nvSpPr>
        <p:spPr>
          <a:xfrm>
            <a:off x="6186024" y="5061031"/>
            <a:ext cx="115214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4"/>
              <p:cNvSpPr txBox="1"/>
              <p:nvPr/>
            </p:nvSpPr>
            <p:spPr>
              <a:xfrm>
                <a:off x="6094584" y="4695271"/>
                <a:ext cx="1335024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−⅕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</m:t>
                      </m:r>
                    </m:oMath>
                  </m:oMathPara>
                </a14:m>
                <a:endParaRPr lang="en-US" sz="16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8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584" y="4695271"/>
                <a:ext cx="1335024" cy="320040"/>
              </a:xfrm>
              <a:prstGeom prst="rect">
                <a:avLst/>
              </a:prstGeom>
              <a:blipFill rotWithShape="0">
                <a:blip r:embed="rId18"/>
                <a:stretch>
                  <a:fillRect b="-20755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942503"/>
              </p:ext>
            </p:extLst>
          </p:nvPr>
        </p:nvGraphicFramePr>
        <p:xfrm>
          <a:off x="7447896" y="4649551"/>
          <a:ext cx="1965960" cy="82296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3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303378"/>
              </p:ext>
            </p:extLst>
          </p:nvPr>
        </p:nvGraphicFramePr>
        <p:xfrm>
          <a:off x="727657" y="5793404"/>
          <a:ext cx="1965960" cy="82296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31" name="Shape 5"/>
          <p:cNvSpPr/>
          <p:nvPr/>
        </p:nvSpPr>
        <p:spPr>
          <a:xfrm>
            <a:off x="2803345" y="6204884"/>
            <a:ext cx="115214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6"/>
              <p:cNvSpPr txBox="1"/>
              <p:nvPr/>
            </p:nvSpPr>
            <p:spPr>
              <a:xfrm>
                <a:off x="2711905" y="5931142"/>
                <a:ext cx="1335024" cy="22802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₁−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</m:t>
                      </m:r>
                    </m:oMath>
                  </m:oMathPara>
                </a14:m>
                <a:endParaRPr lang="en-US" sz="16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32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905" y="5931142"/>
                <a:ext cx="1335024" cy="228021"/>
              </a:xfrm>
              <a:prstGeom prst="rect">
                <a:avLst/>
              </a:prstGeom>
              <a:blipFill rotWithShape="0">
                <a:blip r:embed="rId19"/>
                <a:stretch>
                  <a:fillRect b="-2973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078922"/>
              </p:ext>
            </p:extLst>
          </p:nvPr>
        </p:nvGraphicFramePr>
        <p:xfrm>
          <a:off x="4065217" y="5793404"/>
          <a:ext cx="1965960" cy="82296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94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25" grpId="0" animBg="1"/>
      <p:bldP spid="28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7"/>
              <p:cNvSpPr txBox="1"/>
              <p:nvPr/>
            </p:nvSpPr>
            <p:spPr>
              <a:xfrm>
                <a:off x="2562895" y="1738647"/>
                <a:ext cx="3348508" cy="457198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Pivotes en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𝒛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es libre. 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895" y="1738647"/>
                <a:ext cx="3348508" cy="457198"/>
              </a:xfrm>
              <a:prstGeom prst="rect">
                <a:avLst/>
              </a:prstGeom>
              <a:blipFill rotWithShape="0">
                <a:blip r:embed="rId2"/>
                <a:stretch>
                  <a:fillRect l="-4545" t="-16000" r="-3273" b="-2667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367924"/>
              </p:ext>
            </p:extLst>
          </p:nvPr>
        </p:nvGraphicFramePr>
        <p:xfrm>
          <a:off x="368981" y="1504739"/>
          <a:ext cx="1965960" cy="82296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ángulo 24"/>
              <p:cNvSpPr/>
              <p:nvPr/>
            </p:nvSpPr>
            <p:spPr>
              <a:xfrm>
                <a:off x="193184" y="2595091"/>
                <a:ext cx="386366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Fila 1: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⟹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−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 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Rectá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84" y="2595091"/>
                <a:ext cx="3863662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1738" t="-7692" r="-1896" b="-2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ángulo 25"/>
              <p:cNvSpPr/>
              <p:nvPr/>
            </p:nvSpPr>
            <p:spPr>
              <a:xfrm>
                <a:off x="193184" y="3194392"/>
                <a:ext cx="366279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Fila 2: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−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⟹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Rectángulo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84" y="3194392"/>
                <a:ext cx="3662798" cy="400110"/>
              </a:xfrm>
              <a:prstGeom prst="rect">
                <a:avLst/>
              </a:prstGeom>
              <a:blipFill rotWithShape="0">
                <a:blip r:embed="rId4"/>
                <a:stretch>
                  <a:fillRect l="-1830" t="-6061" r="-832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"/>
              <p:cNvSpPr txBox="1"/>
              <p:nvPr/>
            </p:nvSpPr>
            <p:spPr>
              <a:xfrm>
                <a:off x="2933349" y="5082138"/>
                <a:ext cx="3395515" cy="34944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err="1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ec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1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−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✓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; </a:t>
                </a:r>
                <a:endParaRPr lang="en-US" sz="2000" b="1" dirty="0" smtClean="0">
                  <a:solidFill>
                    <a:srgbClr val="525252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349" y="5082138"/>
                <a:ext cx="3395515" cy="349442"/>
              </a:xfrm>
              <a:prstGeom prst="rect">
                <a:avLst/>
              </a:prstGeom>
              <a:blipFill rotWithShape="0">
                <a:blip r:embed="rId5"/>
                <a:stretch>
                  <a:fillRect l="-4488" t="-21053" b="-33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le 1"/>
          <p:cNvSpPr txBox="1">
            <a:spLocks/>
          </p:cNvSpPr>
          <p:nvPr/>
        </p:nvSpPr>
        <p:spPr>
          <a:xfrm>
            <a:off x="2856345" y="4084186"/>
            <a:ext cx="2796601" cy="505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 cual muestra que </a:t>
            </a:r>
            <a:endParaRPr lang="es-NI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le 1"/>
              <p:cNvSpPr txBox="1">
                <a:spLocks/>
              </p:cNvSpPr>
              <p:nvPr/>
            </p:nvSpPr>
            <p:spPr>
              <a:xfrm>
                <a:off x="5421736" y="3905853"/>
                <a:ext cx="979333" cy="85157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MX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736" y="3905853"/>
                <a:ext cx="979333" cy="85157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itle 1"/>
              <p:cNvSpPr txBox="1">
                <a:spLocks/>
              </p:cNvSpPr>
              <p:nvPr/>
            </p:nvSpPr>
            <p:spPr>
              <a:xfrm>
                <a:off x="6158787" y="4134256"/>
                <a:ext cx="2059550" cy="39476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generan a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</m:oMath>
                </a14:m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787" y="4134256"/>
                <a:ext cx="2059550" cy="394765"/>
              </a:xfrm>
              <a:prstGeom prst="rect">
                <a:avLst/>
              </a:prstGeom>
              <a:blipFill rotWithShape="0">
                <a:blip r:embed="rId7"/>
                <a:stretch>
                  <a:fillRect l="-2959" t="-6154" b="-2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le 1"/>
              <p:cNvSpPr txBox="1">
                <a:spLocks/>
              </p:cNvSpPr>
              <p:nvPr/>
            </p:nvSpPr>
            <p:spPr>
              <a:xfrm>
                <a:off x="638945" y="3787340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NI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45" y="3787340"/>
                <a:ext cx="414269" cy="109560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itle 1"/>
              <p:cNvSpPr txBox="1">
                <a:spLocks/>
              </p:cNvSpPr>
              <p:nvPr/>
            </p:nvSpPr>
            <p:spPr>
              <a:xfrm>
                <a:off x="135597" y="3770064"/>
                <a:ext cx="618186" cy="11524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𝒚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97" y="3770064"/>
                <a:ext cx="618186" cy="115243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le 1"/>
              <p:cNvSpPr txBox="1">
                <a:spLocks/>
              </p:cNvSpPr>
              <p:nvPr/>
            </p:nvSpPr>
            <p:spPr>
              <a:xfrm>
                <a:off x="860028" y="3783771"/>
                <a:ext cx="816109" cy="112376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  <m:r>
                                  <m:rPr>
                                    <m:nor/>
                                  </m:rPr>
                                  <a:rPr lang="es-NI" sz="2000" b="1" dirty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28" y="3783771"/>
                <a:ext cx="816109" cy="1123766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itle 1"/>
              <p:cNvSpPr txBox="1">
                <a:spLocks/>
              </p:cNvSpPr>
              <p:nvPr/>
            </p:nvSpPr>
            <p:spPr>
              <a:xfrm>
                <a:off x="1816095" y="3793693"/>
                <a:ext cx="1349592" cy="114051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𝒛</m:t>
                      </m:r>
                      <m:d>
                        <m:d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MX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095" y="3793693"/>
                <a:ext cx="1349592" cy="11405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le 1"/>
              <p:cNvSpPr txBox="1">
                <a:spLocks/>
              </p:cNvSpPr>
              <p:nvPr/>
            </p:nvSpPr>
            <p:spPr>
              <a:xfrm>
                <a:off x="1557638" y="3824274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NI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638" y="3824274"/>
                <a:ext cx="414269" cy="109560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ángulo 42"/>
              <p:cNvSpPr/>
              <p:nvPr/>
            </p:nvSpPr>
            <p:spPr>
              <a:xfrm>
                <a:off x="0" y="5708707"/>
                <a:ext cx="651671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Geométricamente,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𝑺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es la recta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−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 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Rectángulo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08707"/>
                <a:ext cx="6516710" cy="400110"/>
              </a:xfrm>
              <a:prstGeom prst="rect">
                <a:avLst/>
              </a:prstGeom>
              <a:blipFill rotWithShape="0">
                <a:blip r:embed="rId13"/>
                <a:stretch>
                  <a:fillRect l="-935" t="-6061" r="-1777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"/>
              <p:cNvSpPr txBox="1"/>
              <p:nvPr/>
            </p:nvSpPr>
            <p:spPr>
              <a:xfrm>
                <a:off x="188288" y="5082138"/>
                <a:ext cx="2668057" cy="34944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Verificación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(−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endParaRPr lang="en-US" sz="2000" b="1" dirty="0" smtClean="0">
                  <a:solidFill>
                    <a:srgbClr val="525252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88" y="5082138"/>
                <a:ext cx="2668057" cy="349442"/>
              </a:xfrm>
              <a:prstGeom prst="rect">
                <a:avLst/>
              </a:prstGeom>
              <a:blipFill rotWithShape="0">
                <a:blip r:embed="rId14"/>
                <a:stretch>
                  <a:fillRect l="-5936" t="-21053" r="-2740" b="-33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"/>
              <p:cNvSpPr txBox="1"/>
              <p:nvPr/>
            </p:nvSpPr>
            <p:spPr>
              <a:xfrm>
                <a:off x="6212988" y="5082138"/>
                <a:ext cx="3910178" cy="34944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en 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la 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ec. 2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−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✓</m:t>
                    </m:r>
                  </m:oMath>
                </a14:m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7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988" y="5082138"/>
                <a:ext cx="3910178" cy="349442"/>
              </a:xfrm>
              <a:prstGeom prst="rect">
                <a:avLst/>
              </a:prstGeom>
              <a:blipFill rotWithShape="0">
                <a:blip r:embed="rId15"/>
                <a:stretch>
                  <a:fillRect l="-3894" t="-21053" b="-33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2"/>
          <p:cNvSpPr/>
          <p:nvPr/>
        </p:nvSpPr>
        <p:spPr>
          <a:xfrm>
            <a:off x="6778281" y="5938977"/>
            <a:ext cx="4276846" cy="731520"/>
          </a:xfrm>
          <a:prstGeom prst="roundRect">
            <a:avLst>
              <a:gd name="adj" fmla="val 12500"/>
            </a:avLst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3"/>
              <p:cNvSpPr txBox="1"/>
              <p:nvPr/>
            </p:nvSpPr>
            <p:spPr>
              <a:xfrm>
                <a:off x="6915441" y="5984697"/>
                <a:ext cx="4139686" cy="640080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ctr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Base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𝑺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{(−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Arial" panose="020B0604020202020204" pitchFamily="34" charset="0"/>
                      </a:rPr>
                      <m:t>)},   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dim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anose="020B0604020202020204" pitchFamily="34" charset="0"/>
                      </a:rPr>
                      <m:t>𝑺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= 1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endParaRPr lang="en-US" sz="20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441" y="5984697"/>
                <a:ext cx="4139686" cy="640080"/>
              </a:xfrm>
              <a:prstGeom prst="rect">
                <a:avLst/>
              </a:prstGeom>
              <a:blipFill rotWithShape="0">
                <a:blip r:embed="rId16"/>
                <a:stretch>
                  <a:fillRect l="-3676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57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/>
      <p:bldP spid="28" grpId="0"/>
      <p:bldP spid="30" grpId="0"/>
      <p:bldP spid="31" grpId="0"/>
      <p:bldP spid="32" grpId="0"/>
      <p:bldP spid="33" grpId="0"/>
      <p:bldP spid="34" grpId="0"/>
      <p:bldP spid="39" grpId="0"/>
      <p:bldP spid="42" grpId="0"/>
      <p:bldP spid="16" grpId="0" animBg="1"/>
      <p:bldP spid="17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1145826"/>
            <a:ext cx="1455312" cy="540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4</a:t>
            </a:r>
            <a:endParaRPr lang="es-NI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/>
              <p:cNvSpPr txBox="1">
                <a:spLocks/>
              </p:cNvSpPr>
              <p:nvPr/>
            </p:nvSpPr>
            <p:spPr>
              <a:xfrm>
                <a:off x="-1" y="1697809"/>
                <a:ext cx="10238704" cy="50579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Encuentre una </a:t>
                </a:r>
                <a:r>
                  <a:rPr lang="es-MX" sz="2100" b="1" i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base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(y la </a:t>
                </a:r>
                <a:r>
                  <a:rPr lang="es-MX" sz="2100" b="1" i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dimensión</a:t>
                </a:r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para el espacio de solución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</m:oMath>
                </a14:m>
                <a:r>
                  <a:rPr lang="es-MX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del sistema</a:t>
                </a:r>
                <a:endParaRPr lang="es-NI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697809"/>
                <a:ext cx="10238704" cy="505792"/>
              </a:xfrm>
              <a:prstGeom prst="rect">
                <a:avLst/>
              </a:prstGeom>
              <a:blipFill rotWithShape="0">
                <a:blip r:embed="rId2"/>
                <a:stretch>
                  <a:fillRect l="-714" b="-158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 txBox="1">
                <a:spLocks/>
              </p:cNvSpPr>
              <p:nvPr/>
            </p:nvSpPr>
            <p:spPr>
              <a:xfrm>
                <a:off x="4642560" y="2418148"/>
                <a:ext cx="2634001" cy="103014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NI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NI" sz="2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MX" sz="2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560" y="2418148"/>
                <a:ext cx="2634001" cy="103014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-1" y="2883355"/>
            <a:ext cx="1352282" cy="505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NI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8586" y="3701469"/>
            <a:ext cx="927280" cy="4715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NI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Aquí</a:t>
            </a:r>
            <a:endParaRPr lang="es-NI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727656" y="3431428"/>
                <a:ext cx="2803028" cy="101193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s-MX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MX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000" b="1" dirty="0" smtClean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656" y="3431428"/>
                <a:ext cx="2803028" cy="10119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-8586" y="4546958"/>
                <a:ext cx="12192000" cy="73804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Como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una matriz de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</m:oMath>
                </a14:m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</m:oMath>
                </a14:m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 </a:t>
                </a:r>
                <a:r>
                  <a:rPr lang="es-NI" sz="2000" b="1" dirty="0" err="1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subespacio</a:t>
                </a:r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MX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s-NI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Reduciendo por renglones, se encuentra, sucesivamente </a:t>
                </a:r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586" y="4546958"/>
                <a:ext cx="12192000" cy="738041"/>
              </a:xfrm>
              <a:prstGeom prst="rect">
                <a:avLst/>
              </a:prstGeom>
              <a:blipFill rotWithShape="0">
                <a:blip r:embed="rId5"/>
                <a:stretch>
                  <a:fillRect l="-550" t="-826" r="-500" b="-1322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911393"/>
              </p:ext>
            </p:extLst>
          </p:nvPr>
        </p:nvGraphicFramePr>
        <p:xfrm>
          <a:off x="457200" y="5496703"/>
          <a:ext cx="2514600" cy="123444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4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6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-6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-9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Shape 1"/>
          <p:cNvSpPr/>
          <p:nvPr/>
        </p:nvSpPr>
        <p:spPr>
          <a:xfrm>
            <a:off x="3081528" y="6113923"/>
            <a:ext cx="96926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2"/>
              <p:cNvSpPr txBox="1"/>
              <p:nvPr/>
            </p:nvSpPr>
            <p:spPr>
              <a:xfrm>
                <a:off x="2990088" y="5795329"/>
                <a:ext cx="1152144" cy="27287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½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</m:t>
                      </m:r>
                    </m:oMath>
                  </m:oMathPara>
                </a14:m>
                <a:endParaRPr lang="en-US" sz="1600" dirty="0">
                  <a:solidFill>
                    <a:srgbClr val="26262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1" name="Tex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088" y="5795329"/>
                <a:ext cx="1152144" cy="272873"/>
              </a:xfrm>
              <a:prstGeom prst="rect">
                <a:avLst/>
              </a:prstGeom>
              <a:blipFill rotWithShape="0">
                <a:blip r:embed="rId6"/>
                <a:stretch>
                  <a:fillRect b="-2500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423330"/>
              </p:ext>
            </p:extLst>
          </p:nvPr>
        </p:nvGraphicFramePr>
        <p:xfrm>
          <a:off x="4160520" y="5496703"/>
          <a:ext cx="2514600" cy="123444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−1/2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3/2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4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6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-6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-9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Shape 3"/>
          <p:cNvSpPr/>
          <p:nvPr/>
        </p:nvSpPr>
        <p:spPr>
          <a:xfrm>
            <a:off x="6784848" y="6113923"/>
            <a:ext cx="96926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4"/>
              <p:cNvSpPr txBox="1"/>
              <p:nvPr/>
            </p:nvSpPr>
            <p:spPr>
              <a:xfrm>
                <a:off x="6693408" y="5496703"/>
                <a:ext cx="1152144" cy="571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₂−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𝟒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</m:t>
                      </m:r>
                    </m:oMath>
                  </m:oMathPara>
                </a14:m>
                <a:endParaRPr lang="en-US" sz="1600" dirty="0">
                  <a:solidFill>
                    <a:srgbClr val="262626"/>
                  </a:solidFill>
                  <a:latin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₃+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𝟔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</m:t>
                      </m:r>
                    </m:oMath>
                  </m:oMathPara>
                </a14:m>
                <a:endParaRPr lang="en-US" sz="16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24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408" y="5496703"/>
                <a:ext cx="1152144" cy="571500"/>
              </a:xfrm>
              <a:prstGeom prst="rect">
                <a:avLst/>
              </a:prstGeom>
              <a:blipFill rotWithShape="0">
                <a:blip r:embed="rId7"/>
                <a:stretch>
                  <a:fillRect b="-1182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458300"/>
              </p:ext>
            </p:extLst>
          </p:nvPr>
        </p:nvGraphicFramePr>
        <p:xfrm>
          <a:off x="7863840" y="5496703"/>
          <a:ext cx="2514600" cy="123444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−1/2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3/2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94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21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051888"/>
              </p:ext>
            </p:extLst>
          </p:nvPr>
        </p:nvGraphicFramePr>
        <p:xfrm>
          <a:off x="355457" y="1491374"/>
          <a:ext cx="2514600" cy="123444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−1/2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3/2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5"/>
              <p:cNvSpPr txBox="1"/>
              <p:nvPr/>
            </p:nvSpPr>
            <p:spPr>
              <a:xfrm>
                <a:off x="6641280" y="1816782"/>
                <a:ext cx="5525037" cy="371098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 marL="0" indent="0" algn="just">
                  <a:spcAft>
                    <a:spcPts val="800"/>
                  </a:spcAft>
                  <a:buNone/>
                </a:pPr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Un </a:t>
                </a:r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pivote (columna de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), así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𝒛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son libres.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280" y="1816782"/>
                <a:ext cx="5525037" cy="371098"/>
              </a:xfrm>
              <a:prstGeom prst="rect">
                <a:avLst/>
              </a:prstGeom>
              <a:blipFill rotWithShape="0">
                <a:blip r:embed="rId2"/>
                <a:stretch>
                  <a:fillRect l="-2756" t="-19672" r="-2315" b="-2623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ángulo 3"/>
              <p:cNvSpPr/>
              <p:nvPr/>
            </p:nvSpPr>
            <p:spPr>
              <a:xfrm>
                <a:off x="0" y="3595464"/>
                <a:ext cx="535761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Fila 1: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 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𝒚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𝟑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𝒛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⟹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𝒚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𝟐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𝒙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+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𝟑</m:t>
                    </m:r>
                    <m:r>
                      <a:rPr lang="es-NI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𝒛</m:t>
                    </m:r>
                  </m:oMath>
                </a14:m>
                <a:r>
                  <a:rPr lang="en-US" sz="2000" b="1" dirty="0" smtClean="0">
                    <a:solidFill>
                      <a:schemeClr val="tx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95464"/>
                <a:ext cx="5357611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1138" t="-7692" b="-2923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0" y="2936194"/>
            <a:ext cx="4687911" cy="4715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 que resulta una sola ecuación:</a:t>
            </a:r>
            <a:endParaRPr lang="es-NI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tle 1"/>
              <p:cNvSpPr txBox="1">
                <a:spLocks/>
              </p:cNvSpPr>
              <p:nvPr/>
            </p:nvSpPr>
            <p:spPr>
              <a:xfrm>
                <a:off x="4423502" y="2938318"/>
                <a:ext cx="2343956" cy="50278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𝒚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𝒛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MX" sz="2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</m:oMath>
                  </m:oMathPara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502" y="2938318"/>
                <a:ext cx="2343956" cy="502788"/>
              </a:xfrm>
              <a:prstGeom prst="rect">
                <a:avLst/>
              </a:prstGeom>
              <a:blipFill rotWithShape="0">
                <a:blip r:embed="rId4"/>
                <a:stretch>
                  <a:fillRect l="-260" b="-122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6641280" y="2961692"/>
                <a:ext cx="2237947" cy="47317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 xmlns:m="http://schemas.openxmlformats.org/officeDocument/2006/math">
                    <m:r>
                      <a:rPr lang="es-NI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 plano </a:t>
                </a:r>
                <a14:m>
                  <m:oMath xmlns:m="http://schemas.openxmlformats.org/officeDocument/2006/math">
                    <m:r>
                      <a:rPr lang="es-NI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endParaRPr lang="es-NI" sz="2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280" y="2961692"/>
                <a:ext cx="2237947" cy="473177"/>
              </a:xfrm>
              <a:prstGeom prst="rect">
                <a:avLst/>
              </a:prstGeom>
              <a:blipFill rotWithShape="0">
                <a:blip r:embed="rId5"/>
                <a:stretch>
                  <a:fillRect t="-1299" b="-194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/>
          <p:cNvSpPr txBox="1">
            <a:spLocks/>
          </p:cNvSpPr>
          <p:nvPr/>
        </p:nvSpPr>
        <p:spPr>
          <a:xfrm>
            <a:off x="6048641" y="4370048"/>
            <a:ext cx="2796601" cy="505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 cual muestra que </a:t>
            </a:r>
            <a:endParaRPr lang="es-NI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itle 1"/>
              <p:cNvSpPr txBox="1">
                <a:spLocks/>
              </p:cNvSpPr>
              <p:nvPr/>
            </p:nvSpPr>
            <p:spPr>
              <a:xfrm>
                <a:off x="848790" y="4104848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NI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90" y="4104848"/>
                <a:ext cx="414269" cy="109560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itle 1"/>
              <p:cNvSpPr txBox="1">
                <a:spLocks/>
              </p:cNvSpPr>
              <p:nvPr/>
            </p:nvSpPr>
            <p:spPr>
              <a:xfrm>
                <a:off x="345442" y="4087572"/>
                <a:ext cx="618186" cy="115243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𝒚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42" y="4087572"/>
                <a:ext cx="618186" cy="115243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itle 1"/>
              <p:cNvSpPr txBox="1">
                <a:spLocks/>
              </p:cNvSpPr>
              <p:nvPr/>
            </p:nvSpPr>
            <p:spPr>
              <a:xfrm>
                <a:off x="1069873" y="4101279"/>
                <a:ext cx="1598406" cy="112376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NI" sz="20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dirty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</a:rPr>
                                  <m:t>𝟐</m:t>
                                </m:r>
                                <m:r>
                                  <a:rPr lang="es-NI" sz="2000" b="1" i="1" dirty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</a:rPr>
                                  <m:t>𝒙</m:t>
                                </m:r>
                                <m:r>
                                  <a:rPr lang="es-NI" sz="2000" b="1" i="1" dirty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</a:rPr>
                                  <m:t>+</m:t>
                                </m:r>
                                <m:r>
                                  <a:rPr lang="es-NI" sz="2000" b="1" i="1" dirty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</a:rPr>
                                  <m:t>𝟑</m:t>
                                </m:r>
                                <m:r>
                                  <a:rPr lang="es-NI" sz="2000" b="1" i="1" dirty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</a:rPr>
                                  <m:t>𝒛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73" y="4101279"/>
                <a:ext cx="1598406" cy="112376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itle 1"/>
              <p:cNvSpPr txBox="1">
                <a:spLocks/>
              </p:cNvSpPr>
              <p:nvPr/>
            </p:nvSpPr>
            <p:spPr>
              <a:xfrm>
                <a:off x="2541289" y="4084528"/>
                <a:ext cx="1156406" cy="114051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NI" sz="20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𝒙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289" y="4084528"/>
                <a:ext cx="1156406" cy="114051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itle 1"/>
              <p:cNvSpPr txBox="1">
                <a:spLocks/>
              </p:cNvSpPr>
              <p:nvPr/>
            </p:nvSpPr>
            <p:spPr>
              <a:xfrm>
                <a:off x="2307867" y="4075141"/>
                <a:ext cx="41426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NI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867" y="4075141"/>
                <a:ext cx="414269" cy="109560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itle 1"/>
              <p:cNvSpPr txBox="1">
                <a:spLocks/>
              </p:cNvSpPr>
              <p:nvPr/>
            </p:nvSpPr>
            <p:spPr>
              <a:xfrm>
                <a:off x="3441216" y="4078822"/>
                <a:ext cx="1081957" cy="114051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𝒛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</m:oMath>
                  </m:oMathPara>
                </a14:m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216" y="4078822"/>
                <a:ext cx="1081957" cy="11405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itle 1"/>
              <p:cNvSpPr txBox="1">
                <a:spLocks/>
              </p:cNvSpPr>
              <p:nvPr/>
            </p:nvSpPr>
            <p:spPr>
              <a:xfrm>
                <a:off x="4342113" y="4063586"/>
                <a:ext cx="1248181" cy="114051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itchFamily="34" charset="-122"/>
                        </a:rPr>
                        <m:t>𝒙</m:t>
                      </m:r>
                      <m:d>
                        <m:d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NI" sz="20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</m:oMath>
                  </m:oMathPara>
                </a14:m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9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113" y="4063586"/>
                <a:ext cx="1248181" cy="114051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itle 1"/>
              <p:cNvSpPr txBox="1">
                <a:spLocks/>
              </p:cNvSpPr>
              <p:nvPr/>
            </p:nvSpPr>
            <p:spPr>
              <a:xfrm>
                <a:off x="5270067" y="4059176"/>
                <a:ext cx="873084" cy="114051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itchFamily="34" charset="-122"/>
                        </a:rPr>
                        <m:t>𝒛</m:t>
                      </m:r>
                      <m:d>
                        <m:d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067" y="4059176"/>
                <a:ext cx="873084" cy="114051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itle 1"/>
              <p:cNvSpPr txBox="1">
                <a:spLocks/>
              </p:cNvSpPr>
              <p:nvPr/>
            </p:nvSpPr>
            <p:spPr>
              <a:xfrm>
                <a:off x="8632954" y="4078822"/>
                <a:ext cx="1273253" cy="114051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NI" sz="20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d>
                        <m:dPr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dirty="0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itchFamily="34" charset="-122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NI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2954" y="4078822"/>
                <a:ext cx="1273253" cy="114051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3"/>
          <p:cNvSpPr/>
          <p:nvPr/>
        </p:nvSpPr>
        <p:spPr>
          <a:xfrm>
            <a:off x="2957537" y="2057078"/>
            <a:ext cx="969264" cy="0"/>
          </a:xfrm>
          <a:prstGeom prst="line">
            <a:avLst/>
          </a:prstGeom>
          <a:noFill/>
          <a:ln w="22225">
            <a:solidFill>
              <a:srgbClr val="2E75B6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4"/>
              <p:cNvSpPr txBox="1"/>
              <p:nvPr/>
            </p:nvSpPr>
            <p:spPr>
              <a:xfrm>
                <a:off x="2866097" y="1439858"/>
                <a:ext cx="1152144" cy="571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𝟐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𝑭</m:t>
                      </m:r>
                      <m:r>
                        <a:rPr lang="en-US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₁</m:t>
                      </m:r>
                    </m:oMath>
                  </m:oMathPara>
                </a14:m>
                <a:endParaRPr lang="en-US" sz="1600" dirty="0">
                  <a:solidFill>
                    <a:srgbClr val="262626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23" name="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097" y="1439858"/>
                <a:ext cx="1152144" cy="571500"/>
              </a:xfrm>
              <a:prstGeom prst="rect">
                <a:avLst/>
              </a:prstGeom>
              <a:blipFill rotWithShape="0">
                <a:blip r:embed="rId15"/>
                <a:stretch>
                  <a:fillRect b="-11702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723365"/>
              </p:ext>
            </p:extLst>
          </p:nvPr>
        </p:nvGraphicFramePr>
        <p:xfrm>
          <a:off x="4036529" y="1439858"/>
          <a:ext cx="2514600" cy="123444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charset="0"/>
                        </a:rPr>
                        <a:t>2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</a:t>
                      </a:r>
                      <a:r>
                        <a:rPr lang="en-US" sz="1600" b="1" dirty="0" smtClean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 smtClean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0</a:t>
                      </a:r>
                      <a:endParaRPr lang="en-US" sz="16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ángulo 24"/>
              <p:cNvSpPr/>
              <p:nvPr/>
            </p:nvSpPr>
            <p:spPr>
              <a:xfrm>
                <a:off x="9813803" y="4429379"/>
                <a:ext cx="175400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generan a </a:t>
                </a:r>
                <a14:m>
                  <m:oMath xmlns:m="http://schemas.openxmlformats.org/officeDocument/2006/math">
                    <m:r>
                      <a:rPr lang="es-NI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𝑺</m:t>
                    </m:r>
                  </m:oMath>
                </a14:m>
                <a:r>
                  <a:rPr lang="es-NI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es-NI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sz="2000" dirty="0"/>
              </a:p>
            </p:txBody>
          </p:sp>
        </mc:Choice>
        <mc:Fallback>
          <p:sp>
            <p:nvSpPr>
              <p:cNvPr id="25" name="Rectá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803" y="4429379"/>
                <a:ext cx="1754006" cy="400110"/>
              </a:xfrm>
              <a:prstGeom prst="rect">
                <a:avLst/>
              </a:prstGeom>
              <a:blipFill rotWithShape="0">
                <a:blip r:embed="rId16"/>
                <a:stretch>
                  <a:fillRect l="-3819" t="-9231" r="-2431" b="-2769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itle 1"/>
          <p:cNvSpPr txBox="1">
            <a:spLocks/>
          </p:cNvSpPr>
          <p:nvPr/>
        </p:nvSpPr>
        <p:spPr>
          <a:xfrm>
            <a:off x="6235984" y="5837104"/>
            <a:ext cx="3296994" cy="4715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NI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base está dada por </a:t>
            </a:r>
            <a:endParaRPr lang="es-NI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itle 1"/>
              <p:cNvSpPr txBox="1">
                <a:spLocks/>
              </p:cNvSpPr>
              <p:nvPr/>
            </p:nvSpPr>
            <p:spPr>
              <a:xfrm>
                <a:off x="9160738" y="5552224"/>
                <a:ext cx="770588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s-NI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NI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MX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NI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7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738" y="5552224"/>
                <a:ext cx="770588" cy="1095607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itle 1"/>
              <p:cNvSpPr txBox="1">
                <a:spLocks/>
              </p:cNvSpPr>
              <p:nvPr/>
            </p:nvSpPr>
            <p:spPr>
              <a:xfrm>
                <a:off x="9903854" y="5550218"/>
                <a:ext cx="753409" cy="109560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vl="0"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s-NI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uLnTx/>
                              <a:uFillTx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s-NI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uLnTx/>
                                  <a:uFillTx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s-MX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s-MX" sz="20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es-NI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8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854" y="5550218"/>
                <a:ext cx="753409" cy="109560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ángulo 28"/>
          <p:cNvSpPr/>
          <p:nvPr/>
        </p:nvSpPr>
        <p:spPr>
          <a:xfrm>
            <a:off x="9694101" y="5883572"/>
            <a:ext cx="33374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defRPr/>
            </a:pPr>
            <a:r>
              <a:rPr lang="es-NI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0" name="Rectángulo 29"/>
          <p:cNvSpPr/>
          <p:nvPr/>
        </p:nvSpPr>
        <p:spPr>
          <a:xfrm>
            <a:off x="10437184" y="5890272"/>
            <a:ext cx="33374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defRPr/>
            </a:pPr>
            <a:r>
              <a:rPr lang="es-NI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itle 1"/>
              <p:cNvSpPr txBox="1">
                <a:spLocks/>
              </p:cNvSpPr>
              <p:nvPr/>
            </p:nvSpPr>
            <p:spPr>
              <a:xfrm>
                <a:off x="10755314" y="5855570"/>
                <a:ext cx="1450474" cy="47150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𝒅𝒊𝒎</m:t>
                      </m:r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𝑺</m:t>
                      </m:r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MX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</m:oMath>
                  </m:oMathPara>
                </a14:m>
                <a:endParaRPr lang="es-NI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5314" y="5855570"/>
                <a:ext cx="1450474" cy="471502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1"/>
              <p:cNvSpPr txBox="1"/>
              <p:nvPr/>
            </p:nvSpPr>
            <p:spPr>
              <a:xfrm>
                <a:off x="185279" y="5621768"/>
                <a:ext cx="2873001" cy="34944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ec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1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✓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; </a:t>
                </a:r>
                <a:endParaRPr lang="en-US" sz="2000" b="1" dirty="0" smtClean="0">
                  <a:solidFill>
                    <a:srgbClr val="525252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2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79" y="5621768"/>
                <a:ext cx="2873001" cy="349442"/>
              </a:xfrm>
              <a:prstGeom prst="rect">
                <a:avLst/>
              </a:prstGeom>
              <a:blipFill rotWithShape="0">
                <a:blip r:embed="rId20"/>
                <a:stretch>
                  <a:fillRect l="-5297" t="-20690" r="-4025" b="-32759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 1"/>
              <p:cNvSpPr txBox="1"/>
              <p:nvPr/>
            </p:nvSpPr>
            <p:spPr>
              <a:xfrm>
                <a:off x="185279" y="5235294"/>
                <a:ext cx="2668057" cy="34944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Verificación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endParaRPr lang="en-US" sz="2000" b="1" dirty="0" smtClean="0">
                  <a:solidFill>
                    <a:srgbClr val="525252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3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79" y="5235294"/>
                <a:ext cx="2668057" cy="349442"/>
              </a:xfrm>
              <a:prstGeom prst="rect">
                <a:avLst/>
              </a:prstGeom>
              <a:blipFill rotWithShape="0">
                <a:blip r:embed="rId21"/>
                <a:stretch>
                  <a:fillRect l="-5708" t="-21053" b="-33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 1"/>
              <p:cNvSpPr txBox="1"/>
              <p:nvPr/>
            </p:nvSpPr>
            <p:spPr>
              <a:xfrm>
                <a:off x="185279" y="5971210"/>
                <a:ext cx="2890572" cy="34944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ec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2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✓</m:t>
                    </m:r>
                  </m:oMath>
                </a14:m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4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79" y="5971210"/>
                <a:ext cx="2890572" cy="349442"/>
              </a:xfrm>
              <a:prstGeom prst="rect">
                <a:avLst/>
              </a:prstGeom>
              <a:blipFill rotWithShape="0">
                <a:blip r:embed="rId22"/>
                <a:stretch>
                  <a:fillRect l="-5263" t="-21053" r="-632" b="-33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 1"/>
              <p:cNvSpPr txBox="1"/>
              <p:nvPr/>
            </p:nvSpPr>
            <p:spPr>
              <a:xfrm>
                <a:off x="185279" y="6296383"/>
                <a:ext cx="3107726" cy="34944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ec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3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✓</m:t>
                    </m:r>
                  </m:oMath>
                </a14:m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5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79" y="6296383"/>
                <a:ext cx="3107726" cy="349442"/>
              </a:xfrm>
              <a:prstGeom prst="rect">
                <a:avLst/>
              </a:prstGeom>
              <a:blipFill rotWithShape="0">
                <a:blip r:embed="rId23"/>
                <a:stretch>
                  <a:fillRect l="-4902" t="-21053" b="-33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 1"/>
              <p:cNvSpPr txBox="1"/>
              <p:nvPr/>
            </p:nvSpPr>
            <p:spPr>
              <a:xfrm>
                <a:off x="3275435" y="5620906"/>
                <a:ext cx="2773205" cy="34944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ec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1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✓</m:t>
                    </m:r>
                  </m:oMath>
                </a14:m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; </a:t>
                </a:r>
                <a:endParaRPr lang="en-US" sz="2000" b="1" dirty="0" smtClean="0">
                  <a:solidFill>
                    <a:srgbClr val="525252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6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435" y="5620906"/>
                <a:ext cx="2773205" cy="349442"/>
              </a:xfrm>
              <a:prstGeom prst="rect">
                <a:avLst/>
              </a:prstGeom>
              <a:blipFill rotWithShape="0">
                <a:blip r:embed="rId24"/>
                <a:stretch>
                  <a:fillRect l="-5495" t="-21053" r="-5934" b="-3508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 1"/>
              <p:cNvSpPr txBox="1"/>
              <p:nvPr/>
            </p:nvSpPr>
            <p:spPr>
              <a:xfrm>
                <a:off x="3275435" y="5234432"/>
                <a:ext cx="2668057" cy="34944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Verificación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endParaRPr lang="en-US" sz="2000" b="1" dirty="0" smtClean="0">
                  <a:solidFill>
                    <a:srgbClr val="525252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7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435" y="5234432"/>
                <a:ext cx="2668057" cy="349442"/>
              </a:xfrm>
              <a:prstGeom prst="rect">
                <a:avLst/>
              </a:prstGeom>
              <a:blipFill rotWithShape="0">
                <a:blip r:embed="rId25"/>
                <a:stretch>
                  <a:fillRect l="-5708" t="-21053" b="-33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 1"/>
              <p:cNvSpPr txBox="1"/>
              <p:nvPr/>
            </p:nvSpPr>
            <p:spPr>
              <a:xfrm>
                <a:off x="3275435" y="5970348"/>
                <a:ext cx="2890572" cy="34944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ec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2</a:t>
                </a:r>
                <a:r>
                  <a:rPr lang="en-US" sz="2000" b="1" dirty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+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✓</m:t>
                    </m:r>
                  </m:oMath>
                </a14:m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8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435" y="5970348"/>
                <a:ext cx="2890572" cy="349442"/>
              </a:xfrm>
              <a:prstGeom prst="rect">
                <a:avLst/>
              </a:prstGeom>
              <a:blipFill rotWithShape="0">
                <a:blip r:embed="rId26"/>
                <a:stretch>
                  <a:fillRect l="-5274" t="-20690" r="-844" b="-32759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 1"/>
              <p:cNvSpPr txBox="1"/>
              <p:nvPr/>
            </p:nvSpPr>
            <p:spPr>
              <a:xfrm>
                <a:off x="3275435" y="6295521"/>
                <a:ext cx="3107726" cy="349442"/>
              </a:xfrm>
              <a:prstGeom prst="rect">
                <a:avLst/>
              </a:prstGeom>
              <a:noFill/>
              <a:ln/>
            </p:spPr>
            <p:txBody>
              <a:bodyPr wrap="square" lIns="635" tIns="635" rIns="635" bIns="635" rtlCol="0" anchor="t"/>
              <a:lstStyle/>
              <a:p>
                <a:pPr>
                  <a:spcAft>
                    <a:spcPts val="800"/>
                  </a:spcAft>
                </a:pP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ec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  <a:r>
                  <a:rPr lang="en-US" sz="2000" b="1" dirty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3</a:t>
                </a:r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s-NI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sz="2000" b="1" i="1" dirty="0">
                        <a:solidFill>
                          <a:srgbClr val="52525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✓</m:t>
                    </m:r>
                  </m:oMath>
                </a14:m>
                <a:r>
                  <a:rPr lang="en-US" sz="2000" b="1" dirty="0" smtClean="0">
                    <a:solidFill>
                      <a:srgbClr val="525252"/>
                    </a:solidFill>
                    <a:latin typeface="Arial" panose="020B0604020202020204" pitchFamily="34" charset="0"/>
                    <a:ea typeface="Arial" pitchFamily="34" charset="-122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9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435" y="6295521"/>
                <a:ext cx="3107726" cy="349442"/>
              </a:xfrm>
              <a:prstGeom prst="rect">
                <a:avLst/>
              </a:prstGeom>
              <a:blipFill rotWithShape="0">
                <a:blip r:embed="rId27"/>
                <a:stretch>
                  <a:fillRect l="-4902" t="-21053" b="-33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70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1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4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5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8" grpId="0"/>
      <p:bldP spid="19" grpId="0"/>
      <p:bldP spid="20" grpId="0"/>
      <p:bldP spid="21" grpId="0"/>
      <p:bldP spid="23" grpId="0" animBg="1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474469" y="1260575"/>
            <a:ext cx="538420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  <a:defRPr/>
            </a:pPr>
            <a:r>
              <a:rPr lang="es-ES" sz="2100" b="1" kern="1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 #1: </a:t>
            </a:r>
            <a:r>
              <a:rPr lang="es-ES" sz="2100" b="1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para Asignación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1817871"/>
            <a:ext cx="9517488" cy="551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si el conjunto de vectores dado es un conjunto generador. </a:t>
            </a:r>
            <a:endParaRPr lang="es-NI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695459" y="2548461"/>
                <a:ext cx="4861444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𝟔</m:t>
                        </m:r>
                      </m:e>
                    </m:d>
                  </m:oMath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59" y="2548461"/>
                <a:ext cx="4861444" cy="415498"/>
              </a:xfrm>
              <a:prstGeom prst="rect">
                <a:avLst/>
              </a:prstGeom>
              <a:blipFill rotWithShape="0">
                <a:blip r:embed="rId2"/>
                <a:stretch>
                  <a:fillRect t="-10294" b="-2794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0" y="2480290"/>
            <a:ext cx="695459" cy="551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NI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695459" y="3211143"/>
                <a:ext cx="4655382" cy="415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1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s-MX" sz="2100" b="1" dirty="0">
                    <a:solidFill>
                      <a:srgbClr val="A5A5A5">
                        <a:lumMod val="50000"/>
                      </a:srgbClr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s-NI" sz="21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s-MX" sz="2100" b="1" i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  <m:r>
                          <a:rPr lang="es-MX" sz="21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a:rPr lang="es-MX" sz="21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e>
                    </m:d>
                  </m:oMath>
                </a14:m>
                <a:endParaRPr lang="es-MX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59" y="3211143"/>
                <a:ext cx="4655382" cy="415498"/>
              </a:xfrm>
              <a:prstGeom prst="rect">
                <a:avLst/>
              </a:prstGeom>
              <a:blipFill rotWithShape="0">
                <a:blip r:embed="rId3"/>
                <a:stretch>
                  <a:fillRect t="-10294" b="-264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/>
          <p:cNvSpPr txBox="1">
            <a:spLocks/>
          </p:cNvSpPr>
          <p:nvPr/>
        </p:nvSpPr>
        <p:spPr>
          <a:xfrm>
            <a:off x="0" y="3142708"/>
            <a:ext cx="695459" cy="551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NI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9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474469" y="1260575"/>
            <a:ext cx="538420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  <a:defRPr/>
            </a:pPr>
            <a:r>
              <a:rPr lang="es-ES" sz="2100" b="1" kern="12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 #2: </a:t>
            </a:r>
            <a:r>
              <a:rPr lang="es-ES" sz="2100" b="1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para Asignación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1944043"/>
            <a:ext cx="5834130" cy="4675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Seleccione una base y la dimensión de:</a:t>
            </a:r>
            <a:endParaRPr lang="es-NI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0" y="2497980"/>
            <a:ext cx="51328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476517" y="2497980"/>
                <a:ext cx="4572001" cy="4571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d>
                              <m: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𝓡</m:t>
                                  </m:r>
                                </m:e>
                                <m:sup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s-MX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17" y="2497980"/>
                <a:ext cx="4572001" cy="457113"/>
              </a:xfrm>
              <a:prstGeom prst="rect">
                <a:avLst/>
              </a:prstGeom>
              <a:blipFill rotWithShape="0">
                <a:blip r:embed="rId2"/>
                <a:stretch>
                  <a:fillRect t="-158667" b="-237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/>
          <p:cNvSpPr/>
          <p:nvPr/>
        </p:nvSpPr>
        <p:spPr>
          <a:xfrm>
            <a:off x="0" y="3114891"/>
            <a:ext cx="52931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3692803"/>
            <a:ext cx="51328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0" y="4285524"/>
            <a:ext cx="52931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513283" y="3090701"/>
                <a:ext cx="4239022" cy="4571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d>
                              <m: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𝓡</m:t>
                                  </m:r>
                                </m:e>
                                <m:sup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s-MX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83" y="3090701"/>
                <a:ext cx="4239022" cy="457113"/>
              </a:xfrm>
              <a:prstGeom prst="rect">
                <a:avLst/>
              </a:prstGeom>
              <a:blipFill rotWithShape="0">
                <a:blip r:embed="rId3"/>
                <a:stretch>
                  <a:fillRect t="-158667" b="-237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529313" y="3690187"/>
                <a:ext cx="5072998" cy="4571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  <m:r>
                                    <a:rPr lang="es-MX" sz="2100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sz="2100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</m:d>
                              <m: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𝓡</m:t>
                                  </m:r>
                                </m:e>
                                <m:sup>
                                  <m:r>
                                    <a:rPr lang="es-MX" sz="2100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𝟒</m:t>
                                  </m:r>
                                </m:sup>
                              </m:sSup>
                            </m:e>
                          </m:d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MX" sz="21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s-MX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13" y="3690187"/>
                <a:ext cx="5072998" cy="457113"/>
              </a:xfrm>
              <a:prstGeom prst="rect">
                <a:avLst/>
              </a:prstGeom>
              <a:blipFill rotWithShape="0">
                <a:blip r:embed="rId4"/>
                <a:stretch>
                  <a:fillRect l="-120" t="-158667" b="-237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/>
              <p:cNvSpPr/>
              <p:nvPr/>
            </p:nvSpPr>
            <p:spPr>
              <a:xfrm>
                <a:off x="529313" y="4282908"/>
                <a:ext cx="4841178" cy="4690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s-MX" sz="21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s-MX" sz="21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d>
                              <m:r>
                                <a:rPr lang="es-MX" sz="21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21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𝓡</m:t>
                                  </m:r>
                                </m:e>
                                <m:sup>
                                  <m:r>
                                    <a:rPr lang="es-MX" sz="2100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  <m:r>
                            <a:rPr lang="es-MX" sz="21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2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s-MX" sz="21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Rectá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13" y="4282908"/>
                <a:ext cx="4841178" cy="469039"/>
              </a:xfrm>
              <a:prstGeom prst="rect">
                <a:avLst/>
              </a:prstGeom>
              <a:blipFill rotWithShape="0">
                <a:blip r:embed="rId5"/>
                <a:stretch>
                  <a:fillRect l="-126" t="-154545" b="-2285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44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2688849" y="1354737"/>
            <a:ext cx="51887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REFERENCIAS </a:t>
            </a:r>
            <a:r>
              <a:rPr lang="es-NI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BIBLIOGRÁFICAS </a:t>
            </a:r>
            <a:endParaRPr lang="es-ES" sz="24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0" y="2127949"/>
            <a:ext cx="121920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Obligatorio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Grossman, S., &amp; Flores Godoy, J. (2019). </a:t>
            </a:r>
            <a:r>
              <a:rPr lang="en-US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Álgebra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lineal (8.ª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Lay, D. C. (2012). Álgebra lineal y sus aplicaciones (4.ª ed.). Pearson Educación.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Optativos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Chapra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S. C., &amp;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Canale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R. P. (2015). Métodos numéricos para ingenieros (7.ª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D. (2011). Álgebra lineal: Una introducción moderna (3.ª ed.).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Cengage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</TotalTime>
  <Words>2173</Words>
  <Application>Microsoft Office PowerPoint</Application>
  <PresentationFormat>Panorámica</PresentationFormat>
  <Paragraphs>557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31</vt:i4>
      </vt:variant>
    </vt:vector>
  </HeadingPairs>
  <TitlesOfParts>
    <vt:vector size="41" baseType="lpstr">
      <vt:lpstr>Arial</vt:lpstr>
      <vt:lpstr>Calibri</vt:lpstr>
      <vt:lpstr>Cambria</vt:lpstr>
      <vt:lpstr>Cambria Math</vt:lpstr>
      <vt:lpstr>Franklin Gothic Book</vt:lpstr>
      <vt:lpstr>Franklin Gothic Medium</vt:lpstr>
      <vt:lpstr>Franklin Gothic Std No. 2 Roman</vt:lpstr>
      <vt:lpstr>Times New Roman</vt:lpstr>
      <vt:lpstr>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Gloria Cordero</dc:creator>
  <cp:lastModifiedBy>Cuenta Microsoft</cp:lastModifiedBy>
  <cp:revision>589</cp:revision>
  <dcterms:created xsi:type="dcterms:W3CDTF">2019-03-11T22:56:00Z</dcterms:created>
  <dcterms:modified xsi:type="dcterms:W3CDTF">2026-10-14T16:03:02Z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DAF54AE3DF304A368D573207D0A3D9DC_12</vt:lpwstr>
  </property>
  <property fmtid="{D5CDD505-2E9C-101B-9397-08002B2CF9AE}" pid="3" name="KSOProductBuildVer">
    <vt:lpwstr>3082-12.2.0.22549</vt:lpwstr>
  </property>
</Properties>
</file>