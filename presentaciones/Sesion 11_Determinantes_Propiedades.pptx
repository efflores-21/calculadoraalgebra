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51"/>
  </p:notesMasterIdLst>
  <p:handoutMasterIdLst>
    <p:handoutMasterId r:id="rId52"/>
  </p:handoutMasterIdLst>
  <p:sldIdLst>
    <p:sldId id="371" r:id="rId3"/>
    <p:sldId id="380" r:id="rId4"/>
    <p:sldId id="460" r:id="rId5"/>
    <p:sldId id="467" r:id="rId6"/>
    <p:sldId id="469" r:id="rId7"/>
    <p:sldId id="470" r:id="rId8"/>
    <p:sldId id="527" r:id="rId9"/>
    <p:sldId id="528" r:id="rId10"/>
    <p:sldId id="493" r:id="rId11"/>
    <p:sldId id="496" r:id="rId12"/>
    <p:sldId id="501" r:id="rId13"/>
    <p:sldId id="503" r:id="rId14"/>
    <p:sldId id="497" r:id="rId15"/>
    <p:sldId id="498" r:id="rId16"/>
    <p:sldId id="499" r:id="rId17"/>
    <p:sldId id="500" r:id="rId18"/>
    <p:sldId id="504" r:id="rId19"/>
    <p:sldId id="506" r:id="rId20"/>
    <p:sldId id="505" r:id="rId21"/>
    <p:sldId id="494" r:id="rId22"/>
    <p:sldId id="495" r:id="rId23"/>
    <p:sldId id="507" r:id="rId24"/>
    <p:sldId id="466" r:id="rId25"/>
    <p:sldId id="508" r:id="rId26"/>
    <p:sldId id="511" r:id="rId27"/>
    <p:sldId id="512" r:id="rId28"/>
    <p:sldId id="513" r:id="rId29"/>
    <p:sldId id="514" r:id="rId30"/>
    <p:sldId id="515" r:id="rId31"/>
    <p:sldId id="516" r:id="rId32"/>
    <p:sldId id="522" r:id="rId33"/>
    <p:sldId id="517" r:id="rId34"/>
    <p:sldId id="518" r:id="rId35"/>
    <p:sldId id="519" r:id="rId36"/>
    <p:sldId id="520" r:id="rId37"/>
    <p:sldId id="521" r:id="rId38"/>
    <p:sldId id="509" r:id="rId39"/>
    <p:sldId id="529" r:id="rId40"/>
    <p:sldId id="530" r:id="rId41"/>
    <p:sldId id="531" r:id="rId42"/>
    <p:sldId id="533" r:id="rId43"/>
    <p:sldId id="532" r:id="rId44"/>
    <p:sldId id="484" r:id="rId45"/>
    <p:sldId id="510" r:id="rId46"/>
    <p:sldId id="480" r:id="rId47"/>
    <p:sldId id="534" r:id="rId48"/>
    <p:sldId id="379" r:id="rId49"/>
    <p:sldId id="372" r:id="rId50"/>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C20"/>
    <a:srgbClr val="D71920"/>
    <a:srgbClr val="C8B160"/>
    <a:srgbClr val="0099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3" autoAdjust="0"/>
    <p:restoredTop sz="92475" autoAdjust="0"/>
  </p:normalViewPr>
  <p:slideViewPr>
    <p:cSldViewPr snapToGrid="0" showGuides="1">
      <p:cViewPr varScale="1">
        <p:scale>
          <a:sx n="74" d="100"/>
          <a:sy n="74" d="100"/>
        </p:scale>
        <p:origin x="678" y="72"/>
      </p:cViewPr>
      <p:guideLst>
        <p:guide orient="horz" pos="2162"/>
        <p:guide pos="3840"/>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NI"/>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7612F-F4F6-49E7-9E06-3D5220FEBB27}" type="datetimeFigureOut">
              <a:rPr lang="es-NI" smtClean="0"/>
              <a:t>30/9/2026</a:t>
            </a:fld>
            <a:endParaRPr lang="es-NI"/>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NI"/>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084567-83D8-42DA-AC87-6626250FF122}" type="slidenum">
              <a:rPr lang="es-NI" smtClean="0"/>
              <a:t>‹Nº›</a:t>
            </a:fld>
            <a:endParaRPr lang="es-NI"/>
          </a:p>
        </p:txBody>
      </p:sp>
    </p:spTree>
    <p:extLst>
      <p:ext uri="{BB962C8B-B14F-4D97-AF65-F5344CB8AC3E}">
        <p14:creationId xmlns:p14="http://schemas.microsoft.com/office/powerpoint/2010/main" val="2872244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AA08A3-3CCC-49E6-964C-E1738A6D992D}" type="datetimeFigureOut">
              <a:rPr lang="es-ES" smtClean="0"/>
              <a:t>30/09/2026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B2CB49-322C-48BB-A333-B208C96D6BAF}" type="slidenum">
              <a:rPr lang="es-ES" smtClean="0"/>
              <a:t>‹Nº›</a:t>
            </a:fld>
            <a:endParaRPr lang="es-ES"/>
          </a:p>
        </p:txBody>
      </p:sp>
    </p:spTree>
    <p:extLst>
      <p:ext uri="{BB962C8B-B14F-4D97-AF65-F5344CB8AC3E}">
        <p14:creationId xmlns:p14="http://schemas.microsoft.com/office/powerpoint/2010/main" val="3920992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p:cNvSpPr/>
          <p:nvPr userDrawn="1"/>
        </p:nvSpPr>
        <p:spPr>
          <a:xfrm>
            <a:off x="0" y="1709738"/>
            <a:ext cx="12192000" cy="514826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
        <p:nvSpPr>
          <p:cNvPr id="2" name="Título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el estilo de texto del patrón</a:t>
            </a:r>
          </a:p>
        </p:txBody>
      </p:sp>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5910"/>
            <a:ext cx="5306096" cy="141672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solidFill>
                  <a:schemeClr val="tx1">
                    <a:lumMod val="75000"/>
                    <a:lumOff val="25000"/>
                  </a:schemeClr>
                </a:solidFill>
              </a:defRPr>
            </a:lvl1pPr>
          </a:lstStyle>
          <a:p>
            <a:r>
              <a:rPr lang="es-ES" dirty="0"/>
              <a:t>Haga clic para modificar el estilo de título del patrón</a:t>
            </a:r>
            <a:endParaRPr lang="es-NI"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NI" dirty="0"/>
          </a:p>
        </p:txBody>
      </p:sp>
      <p:sp>
        <p:nvSpPr>
          <p:cNvPr id="8" name="Rectángulo 7"/>
          <p:cNvSpPr/>
          <p:nvPr userDrawn="1"/>
        </p:nvSpPr>
        <p:spPr>
          <a:xfrm>
            <a:off x="0" y="-1"/>
            <a:ext cx="12192000" cy="1122364"/>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2533" y="-36372"/>
            <a:ext cx="2139467" cy="119510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
        <p:nvSpPr>
          <p:cNvPr id="8" name="Rectángulo 7"/>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sz="half" idx="1"/>
          </p:nvPr>
        </p:nvSpPr>
        <p:spPr>
          <a:xfrm>
            <a:off x="838200" y="1825625"/>
            <a:ext cx="5181600" cy="43513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4" name="Marcador de contenido 3"/>
          <p:cNvSpPr>
            <a:spLocks noGrp="1"/>
          </p:cNvSpPr>
          <p:nvPr>
            <p:ph sz="half" idx="2"/>
          </p:nvPr>
        </p:nvSpPr>
        <p:spPr>
          <a:xfrm>
            <a:off x="6172200" y="1825625"/>
            <a:ext cx="5181600" cy="4351338"/>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9" name="Rectángulo 8"/>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p:cNvSpPr/>
          <p:nvPr userDrawn="1"/>
        </p:nvSpPr>
        <p:spPr>
          <a:xfrm>
            <a:off x="0" y="6349284"/>
            <a:ext cx="12192000" cy="508715"/>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02455" y="2253803"/>
            <a:ext cx="7187089" cy="191895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p:cNvSpPr/>
          <p:nvPr userDrawn="1"/>
        </p:nvSpPr>
        <p:spPr>
          <a:xfrm>
            <a:off x="0" y="1709738"/>
            <a:ext cx="12192000"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NI" dirty="0">
                <a:solidFill>
                  <a:srgbClr val="ED7D31"/>
                </a:solidFill>
              </a:rPr>
              <a:t>i</a:t>
            </a:r>
          </a:p>
        </p:txBody>
      </p:sp>
      <p:sp>
        <p:nvSpPr>
          <p:cNvPr id="2" name="Título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el estilo de texto del patrón</a:t>
            </a:r>
          </a:p>
        </p:txBody>
      </p:sp>
      <p:pic>
        <p:nvPicPr>
          <p:cNvPr id="5" name="Imagen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1306" y="164707"/>
            <a:ext cx="5145908" cy="151804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solidFill>
                  <a:schemeClr val="tx1">
                    <a:lumMod val="75000"/>
                    <a:lumOff val="25000"/>
                  </a:schemeClr>
                </a:solidFill>
              </a:defRPr>
            </a:lvl1pPr>
          </a:lstStyle>
          <a:p>
            <a:r>
              <a:rPr lang="es-ES" dirty="0"/>
              <a:t>Haga clic para modificar el estilo de título del patrón</a:t>
            </a:r>
            <a:endParaRPr lang="es-NI"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NI" dirty="0"/>
          </a:p>
        </p:txBody>
      </p:sp>
      <p:sp>
        <p:nvSpPr>
          <p:cNvPr id="8" name="Rectángulo 7"/>
          <p:cNvSpPr/>
          <p:nvPr userDrawn="1"/>
        </p:nvSpPr>
        <p:spPr>
          <a:xfrm>
            <a:off x="0" y="-1"/>
            <a:ext cx="12192000" cy="11223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solidFill>
                <a:srgbClr val="FFFFFF"/>
              </a:solidFill>
            </a:endParaRPr>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42490" y="-36372"/>
            <a:ext cx="2139467" cy="119510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380"/>
            <a:ext cx="1040946" cy="581472"/>
          </a:xfrm>
          <a:prstGeom prst="rect">
            <a:avLst/>
          </a:prstGeom>
        </p:spPr>
      </p:pic>
      <p:sp>
        <p:nvSpPr>
          <p:cNvPr id="8" name="Rectángulo 7"/>
          <p:cNvSpPr/>
          <p:nvPr userDrawn="1"/>
        </p:nvSpPr>
        <p:spPr>
          <a:xfrm>
            <a:off x="0" y="6542468"/>
            <a:ext cx="12192000" cy="3155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solidFill>
                <a:srgbClr val="FFFFF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sz="half" idx="1"/>
          </p:nvPr>
        </p:nvSpPr>
        <p:spPr>
          <a:xfrm>
            <a:off x="838200" y="1825625"/>
            <a:ext cx="5181600" cy="43513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4" name="Marcador de contenido 3"/>
          <p:cNvSpPr>
            <a:spLocks noGrp="1"/>
          </p:cNvSpPr>
          <p:nvPr>
            <p:ph sz="half" idx="2"/>
          </p:nvPr>
        </p:nvSpPr>
        <p:spPr>
          <a:xfrm>
            <a:off x="6172200" y="1825625"/>
            <a:ext cx="5181600" cy="4351338"/>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9" name="Rectángulo 8"/>
          <p:cNvSpPr/>
          <p:nvPr userDrawn="1"/>
        </p:nvSpPr>
        <p:spPr>
          <a:xfrm>
            <a:off x="0" y="6542468"/>
            <a:ext cx="12192000" cy="3155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solidFill>
                <a:srgbClr val="FFFFFF"/>
              </a:solidFill>
            </a:endParaRPr>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380"/>
            <a:ext cx="1040946" cy="58147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p:cNvSpPr/>
          <p:nvPr userDrawn="1"/>
        </p:nvSpPr>
        <p:spPr>
          <a:xfrm>
            <a:off x="0" y="6349284"/>
            <a:ext cx="12192000" cy="508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solidFill>
                <a:srgbClr val="FFFFFF"/>
              </a:solidFill>
            </a:endParaRPr>
          </a:p>
        </p:txBody>
      </p:sp>
      <p:pic>
        <p:nvPicPr>
          <p:cNvPr id="6" name="Imagen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8841" y="2276388"/>
            <a:ext cx="7814318" cy="23052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1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70.png"/><Relationship Id="rId1" Type="http://schemas.openxmlformats.org/officeDocument/2006/relationships/slideLayout" Target="../slideLayouts/slideLayout7.xml"/><Relationship Id="rId4" Type="http://schemas.openxmlformats.org/officeDocument/2006/relationships/image" Target="../media/image390.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21.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8.png"/><Relationship Id="rId2" Type="http://schemas.openxmlformats.org/officeDocument/2006/relationships/image" Target="../media/image78.png"/><Relationship Id="rId1" Type="http://schemas.openxmlformats.org/officeDocument/2006/relationships/slideLayout" Target="../slideLayouts/slideLayout7.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22.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24.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128.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 Type="http://schemas.openxmlformats.org/officeDocument/2006/relationships/image" Target="../media/image112.png"/><Relationship Id="rId16" Type="http://schemas.openxmlformats.org/officeDocument/2006/relationships/image" Target="../media/image126.png"/><Relationship Id="rId1" Type="http://schemas.openxmlformats.org/officeDocument/2006/relationships/slideLayout" Target="../slideLayouts/slideLayout7.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25.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9.png"/><Relationship Id="rId2"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33.png"/><Relationship Id="rId11" Type="http://schemas.openxmlformats.org/officeDocument/2006/relationships/image" Target="../media/image138.png"/><Relationship Id="rId5" Type="http://schemas.openxmlformats.org/officeDocument/2006/relationships/image" Target="../media/image132.png"/><Relationship Id="rId15" Type="http://schemas.openxmlformats.org/officeDocument/2006/relationships/image" Target="../media/image142.png"/><Relationship Id="rId10" Type="http://schemas.openxmlformats.org/officeDocument/2006/relationships/image" Target="../media/image137.png"/><Relationship Id="rId4" Type="http://schemas.openxmlformats.org/officeDocument/2006/relationships/image" Target="../media/image131.png"/><Relationship Id="rId9" Type="http://schemas.openxmlformats.org/officeDocument/2006/relationships/image" Target="../media/image136.png"/><Relationship Id="rId14" Type="http://schemas.openxmlformats.org/officeDocument/2006/relationships/image" Target="../media/image141.png"/></Relationships>
</file>

<file path=ppt/slides/_rels/slide26.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2" Type="http://schemas.openxmlformats.org/officeDocument/2006/relationships/image" Target="../media/image143.png"/><Relationship Id="rId16" Type="http://schemas.openxmlformats.org/officeDocument/2006/relationships/image" Target="../media/image157.png"/><Relationship Id="rId1" Type="http://schemas.openxmlformats.org/officeDocument/2006/relationships/slideLayout" Target="../slideLayouts/slideLayout7.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27.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 Id="rId9" Type="http://schemas.openxmlformats.org/officeDocument/2006/relationships/image" Target="../media/image165.png"/></Relationships>
</file>

<file path=ppt/slides/_rels/slide2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s>
</file>

<file path=ppt/slides/_rels/slide29.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75.png"/><Relationship Id="rId5" Type="http://schemas.openxmlformats.org/officeDocument/2006/relationships/image" Target="../media/image17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s>
</file>

<file path=ppt/slides/_rels/slide30.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184.png"/><Relationship Id="rId5" Type="http://schemas.openxmlformats.org/officeDocument/2006/relationships/image" Target="../media/image183.png"/><Relationship Id="rId10" Type="http://schemas.openxmlformats.org/officeDocument/2006/relationships/image" Target="../media/image188.png"/><Relationship Id="rId4" Type="http://schemas.openxmlformats.org/officeDocument/2006/relationships/image" Target="../media/image182.png"/><Relationship Id="rId9" Type="http://schemas.openxmlformats.org/officeDocument/2006/relationships/image" Target="../media/image187.png"/></Relationships>
</file>

<file path=ppt/slides/_rels/slide31.xml.rels><?xml version="1.0" encoding="UTF-8" standalone="yes"?>
<Relationships xmlns="http://schemas.openxmlformats.org/package/2006/relationships"><Relationship Id="rId8" Type="http://schemas.openxmlformats.org/officeDocument/2006/relationships/image" Target="../media/image195.png"/><Relationship Id="rId3" Type="http://schemas.openxmlformats.org/officeDocument/2006/relationships/image" Target="../media/image190.png"/><Relationship Id="rId7" Type="http://schemas.openxmlformats.org/officeDocument/2006/relationships/image" Target="../media/image194.png"/><Relationship Id="rId12" Type="http://schemas.openxmlformats.org/officeDocument/2006/relationships/image" Target="../media/image199.png"/><Relationship Id="rId2" Type="http://schemas.openxmlformats.org/officeDocument/2006/relationships/image" Target="../media/image189.png"/><Relationship Id="rId1" Type="http://schemas.openxmlformats.org/officeDocument/2006/relationships/slideLayout" Target="../slideLayouts/slideLayout7.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0" Type="http://schemas.openxmlformats.org/officeDocument/2006/relationships/image" Target="../media/image197.png"/><Relationship Id="rId4" Type="http://schemas.openxmlformats.org/officeDocument/2006/relationships/image" Target="../media/image191.png"/><Relationship Id="rId9" Type="http://schemas.openxmlformats.org/officeDocument/2006/relationships/image" Target="../media/image196.png"/></Relationships>
</file>

<file path=ppt/slides/_rels/slide32.xml.rels><?xml version="1.0" encoding="UTF-8" standalone="yes"?>
<Relationships xmlns="http://schemas.openxmlformats.org/package/2006/relationships"><Relationship Id="rId8" Type="http://schemas.openxmlformats.org/officeDocument/2006/relationships/image" Target="../media/image206.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204.png"/><Relationship Id="rId5" Type="http://schemas.openxmlformats.org/officeDocument/2006/relationships/image" Target="../media/image203.png"/><Relationship Id="rId10" Type="http://schemas.openxmlformats.org/officeDocument/2006/relationships/image" Target="../media/image208.png"/><Relationship Id="rId4" Type="http://schemas.openxmlformats.org/officeDocument/2006/relationships/image" Target="../media/image202.png"/><Relationship Id="rId9" Type="http://schemas.openxmlformats.org/officeDocument/2006/relationships/image" Target="../media/image207.png"/></Relationships>
</file>

<file path=ppt/slides/_rels/slide33.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210.png"/><Relationship Id="rId7" Type="http://schemas.openxmlformats.org/officeDocument/2006/relationships/image" Target="../media/image214.png"/><Relationship Id="rId2" Type="http://schemas.openxmlformats.org/officeDocument/2006/relationships/image" Target="../media/image209.png"/><Relationship Id="rId1" Type="http://schemas.openxmlformats.org/officeDocument/2006/relationships/slideLayout" Target="../slideLayouts/slideLayout7.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211.png"/></Relationships>
</file>

<file path=ppt/slides/_rels/slide34.xml.rels><?xml version="1.0" encoding="UTF-8" standalone="yes"?>
<Relationships xmlns="http://schemas.openxmlformats.org/package/2006/relationships"><Relationship Id="rId8" Type="http://schemas.openxmlformats.org/officeDocument/2006/relationships/image" Target="../media/image222.png"/><Relationship Id="rId3" Type="http://schemas.openxmlformats.org/officeDocument/2006/relationships/image" Target="../media/image217.png"/><Relationship Id="rId7" Type="http://schemas.openxmlformats.org/officeDocument/2006/relationships/image" Target="../media/image221.png"/><Relationship Id="rId2" Type="http://schemas.openxmlformats.org/officeDocument/2006/relationships/image" Target="../media/image216.png"/><Relationship Id="rId1" Type="http://schemas.openxmlformats.org/officeDocument/2006/relationships/slideLayout" Target="../slideLayouts/slideLayout7.xml"/><Relationship Id="rId6" Type="http://schemas.openxmlformats.org/officeDocument/2006/relationships/image" Target="../media/image220.png"/><Relationship Id="rId5" Type="http://schemas.openxmlformats.org/officeDocument/2006/relationships/image" Target="../media/image219.png"/><Relationship Id="rId4" Type="http://schemas.openxmlformats.org/officeDocument/2006/relationships/image" Target="../media/image218.png"/></Relationships>
</file>

<file path=ppt/slides/_rels/slide35.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image" Target="../media/image224.png"/><Relationship Id="rId7" Type="http://schemas.openxmlformats.org/officeDocument/2006/relationships/image" Target="../media/image228.png"/><Relationship Id="rId2" Type="http://schemas.openxmlformats.org/officeDocument/2006/relationships/image" Target="../media/image223.png"/><Relationship Id="rId1" Type="http://schemas.openxmlformats.org/officeDocument/2006/relationships/slideLayout" Target="../slideLayouts/slideLayout7.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s>
</file>

<file path=ppt/slides/_rels/slide36.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7.xml"/><Relationship Id="rId5" Type="http://schemas.openxmlformats.org/officeDocument/2006/relationships/image" Target="../media/image233.png"/><Relationship Id="rId4" Type="http://schemas.openxmlformats.org/officeDocument/2006/relationships/image" Target="../media/image232.png"/></Relationships>
</file>

<file path=ppt/slides/_rels/slide37.xml.rels><?xml version="1.0" encoding="UTF-8" standalone="yes"?>
<Relationships xmlns="http://schemas.openxmlformats.org/package/2006/relationships"><Relationship Id="rId3" Type="http://schemas.openxmlformats.org/officeDocument/2006/relationships/image" Target="../media/image235.png"/><Relationship Id="rId7" Type="http://schemas.openxmlformats.org/officeDocument/2006/relationships/image" Target="../media/image239.png"/><Relationship Id="rId2" Type="http://schemas.openxmlformats.org/officeDocument/2006/relationships/image" Target="../media/image234.png"/><Relationship Id="rId1" Type="http://schemas.openxmlformats.org/officeDocument/2006/relationships/slideLayout" Target="../slideLayouts/slideLayout7.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s>
</file>

<file path=ppt/slides/_rels/slide38.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7.xml"/><Relationship Id="rId5" Type="http://schemas.openxmlformats.org/officeDocument/2006/relationships/image" Target="../media/image243.png"/><Relationship Id="rId4" Type="http://schemas.openxmlformats.org/officeDocument/2006/relationships/image" Target="../media/image242.png"/></Relationships>
</file>

<file path=ppt/slides/_rels/slide39.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7.xml"/><Relationship Id="rId6" Type="http://schemas.openxmlformats.org/officeDocument/2006/relationships/image" Target="../media/image248.png"/><Relationship Id="rId5" Type="http://schemas.openxmlformats.org/officeDocument/2006/relationships/image" Target="../media/image247.png"/><Relationship Id="rId4" Type="http://schemas.openxmlformats.org/officeDocument/2006/relationships/image" Target="../media/image246.png"/></Relationships>
</file>

<file path=ppt/slides/_rels/slide40.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254.png"/><Relationship Id="rId2" Type="http://schemas.openxmlformats.org/officeDocument/2006/relationships/image" Target="../media/image249.png"/><Relationship Id="rId1" Type="http://schemas.openxmlformats.org/officeDocument/2006/relationships/slideLayout" Target="../slideLayouts/slideLayout7.xml"/><Relationship Id="rId6" Type="http://schemas.openxmlformats.org/officeDocument/2006/relationships/image" Target="../media/image253.png"/><Relationship Id="rId5" Type="http://schemas.openxmlformats.org/officeDocument/2006/relationships/image" Target="../media/image252.png"/><Relationship Id="rId4" Type="http://schemas.openxmlformats.org/officeDocument/2006/relationships/image" Target="../media/image251.png"/></Relationships>
</file>

<file path=ppt/slides/_rels/slide41.xml.rels><?xml version="1.0" encoding="UTF-8" standalone="yes"?>
<Relationships xmlns="http://schemas.openxmlformats.org/package/2006/relationships"><Relationship Id="rId8" Type="http://schemas.openxmlformats.org/officeDocument/2006/relationships/image" Target="../media/image261.png"/><Relationship Id="rId3" Type="http://schemas.openxmlformats.org/officeDocument/2006/relationships/image" Target="../media/image256.png"/><Relationship Id="rId7" Type="http://schemas.openxmlformats.org/officeDocument/2006/relationships/image" Target="../media/image260.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10" Type="http://schemas.openxmlformats.org/officeDocument/2006/relationships/image" Target="../media/image263.png"/><Relationship Id="rId4" Type="http://schemas.openxmlformats.org/officeDocument/2006/relationships/image" Target="../media/image257.png"/><Relationship Id="rId9" Type="http://schemas.openxmlformats.org/officeDocument/2006/relationships/image" Target="../media/image262.png"/></Relationships>
</file>

<file path=ppt/slides/_rels/slide42.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65.png"/><Relationship Id="rId7" Type="http://schemas.openxmlformats.org/officeDocument/2006/relationships/image" Target="../media/image269.png"/><Relationship Id="rId2" Type="http://schemas.openxmlformats.org/officeDocument/2006/relationships/image" Target="../media/image264.png"/><Relationship Id="rId1" Type="http://schemas.openxmlformats.org/officeDocument/2006/relationships/slideLayout" Target="../slideLayouts/slideLayout7.xml"/><Relationship Id="rId6" Type="http://schemas.openxmlformats.org/officeDocument/2006/relationships/image" Target="../media/image268.png"/><Relationship Id="rId5" Type="http://schemas.openxmlformats.org/officeDocument/2006/relationships/image" Target="../media/image267.png"/><Relationship Id="rId4" Type="http://schemas.openxmlformats.org/officeDocument/2006/relationships/image" Target="../media/image2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60.png"/><Relationship Id="rId2" Type="http://schemas.openxmlformats.org/officeDocument/2006/relationships/image" Target="../media/image1650.png"/><Relationship Id="rId1" Type="http://schemas.openxmlformats.org/officeDocument/2006/relationships/slideLayout" Target="../slideLayouts/slideLayout7.xml"/><Relationship Id="rId6" Type="http://schemas.openxmlformats.org/officeDocument/2006/relationships/image" Target="../media/image1690.png"/><Relationship Id="rId5" Type="http://schemas.openxmlformats.org/officeDocument/2006/relationships/image" Target="../media/image1680.png"/><Relationship Id="rId4" Type="http://schemas.openxmlformats.org/officeDocument/2006/relationships/image" Target="../media/image1670.png"/></Relationships>
</file>

<file path=ppt/slides/_rels/slide44.xml.rels><?xml version="1.0" encoding="UTF-8" standalone="yes"?>
<Relationships xmlns="http://schemas.openxmlformats.org/package/2006/relationships"><Relationship Id="rId3" Type="http://schemas.openxmlformats.org/officeDocument/2006/relationships/image" Target="../media/image2410.png"/><Relationship Id="rId2" Type="http://schemas.openxmlformats.org/officeDocument/2006/relationships/image" Target="../media/image2400.png"/><Relationship Id="rId1" Type="http://schemas.openxmlformats.org/officeDocument/2006/relationships/slideLayout" Target="../slideLayouts/slideLayout7.xml"/><Relationship Id="rId6" Type="http://schemas.openxmlformats.org/officeDocument/2006/relationships/image" Target="../media/image2440.png"/><Relationship Id="rId5" Type="http://schemas.openxmlformats.org/officeDocument/2006/relationships/image" Target="../media/image2430.png"/><Relationship Id="rId4" Type="http://schemas.openxmlformats.org/officeDocument/2006/relationships/image" Target="../media/image2420.png"/></Relationships>
</file>

<file path=ppt/slides/_rels/slide45.xml.rels><?xml version="1.0" encoding="UTF-8" standalone="yes"?>
<Relationships xmlns="http://schemas.openxmlformats.org/package/2006/relationships"><Relationship Id="rId3" Type="http://schemas.openxmlformats.org/officeDocument/2006/relationships/image" Target="../media/image1710.png"/><Relationship Id="rId7" Type="http://schemas.openxmlformats.org/officeDocument/2006/relationships/image" Target="../media/image1750.png"/><Relationship Id="rId2" Type="http://schemas.openxmlformats.org/officeDocument/2006/relationships/image" Target="../media/image1700.png"/><Relationship Id="rId1" Type="http://schemas.openxmlformats.org/officeDocument/2006/relationships/slideLayout" Target="../slideLayouts/slideLayout2.xml"/><Relationship Id="rId6" Type="http://schemas.openxmlformats.org/officeDocument/2006/relationships/image" Target="../media/image1740.png"/><Relationship Id="rId5" Type="http://schemas.openxmlformats.org/officeDocument/2006/relationships/image" Target="../media/image1730.png"/><Relationship Id="rId4" Type="http://schemas.openxmlformats.org/officeDocument/2006/relationships/image" Target="../media/image1720.png"/></Relationships>
</file>

<file path=ppt/slides/_rels/slide46.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274.png"/><Relationship Id="rId4" Type="http://schemas.openxmlformats.org/officeDocument/2006/relationships/image" Target="../media/image27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3914473" y="4346647"/>
            <a:ext cx="6390291" cy="769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4704" rIns="91440" bIns="0" numCol="1" anchor="ctr" anchorCtr="0" compatLnSpc="1">
            <a:spAutoFit/>
          </a:bodyPr>
          <a:lstStyle/>
          <a:p>
            <a:pPr algn="ctr" fontAlgn="base">
              <a:spcBef>
                <a:spcPct val="0"/>
              </a:spcBef>
              <a:spcAft>
                <a:spcPct val="0"/>
              </a:spcAft>
            </a:pPr>
            <a:r>
              <a:rPr lang="es-NI" altLang="es-NI" sz="3000" b="1" dirty="0">
                <a:solidFill>
                  <a:prstClr val="white"/>
                </a:solidFill>
                <a:latin typeface="Cambria" panose="02040503050406030204" pitchFamily="18" charset="0"/>
                <a:cs typeface="Arial" panose="020B0604020202020204" pitchFamily="34" charset="0"/>
              </a:rPr>
              <a:t>José Andrés Munguía Cortez </a:t>
            </a:r>
            <a:endParaRPr lang="es-MX" altLang="es-NI" sz="3000" b="1" dirty="0">
              <a:solidFill>
                <a:prstClr val="white"/>
              </a:solidFill>
              <a:latin typeface="Arial" panose="020B0604020202020204" pitchFamily="34" charset="0"/>
              <a:cs typeface="Arial" panose="020B0604020202020204" pitchFamily="34" charset="0"/>
            </a:endParaRPr>
          </a:p>
        </p:txBody>
      </p:sp>
      <p:sp>
        <p:nvSpPr>
          <p:cNvPr id="6" name="Title 3"/>
          <p:cNvSpPr txBox="1"/>
          <p:nvPr/>
        </p:nvSpPr>
        <p:spPr>
          <a:xfrm>
            <a:off x="3701737" y="2985575"/>
            <a:ext cx="6815762" cy="15697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s-NI" sz="4800" dirty="0">
                <a:solidFill>
                  <a:prstClr val="white">
                    <a:lumMod val="95000"/>
                  </a:prstClr>
                </a:solidFill>
              </a:rPr>
              <a:t>ALGEBRA LINEAL</a:t>
            </a:r>
            <a:endParaRPr lang="es-ES_tradnl" sz="4800" b="1" dirty="0">
              <a:ln w="12700">
                <a:solidFill>
                  <a:srgbClr val="5B9BD5"/>
                </a:solidFill>
                <a:prstDash val="solid"/>
              </a:ln>
              <a:solidFill>
                <a:prstClr val="white">
                  <a:lumMod val="95000"/>
                </a:prstClr>
              </a:solidFill>
              <a:effectLst>
                <a:outerShdw blurRad="38100" dist="38100" dir="2700000" algn="tl">
                  <a:srgbClr val="000000">
                    <a:alpha val="43137"/>
                  </a:srgbClr>
                </a:outerShdw>
              </a:effectLst>
              <a:latin typeface="Calibri" panose="020F0502020204030204"/>
              <a:ea typeface="Franklin Gothic Std No. 2 Roman" charset="0"/>
              <a:cs typeface="Franklin Gothic Std No. 2 Roman"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p:nvPr/>
        </p:nvSpPr>
        <p:spPr>
          <a:xfrm>
            <a:off x="1" y="0"/>
            <a:ext cx="12191999" cy="10673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800" b="1" dirty="0">
                <a:solidFill>
                  <a:schemeClr val="bg1"/>
                </a:solidFill>
              </a:rPr>
              <a:t>UNIDAD II  </a:t>
            </a:r>
            <a:r>
              <a:rPr lang="es-NI" sz="2800" b="1" dirty="0">
                <a:solidFill>
                  <a:schemeClr val="bg1"/>
                </a:solidFill>
              </a:rPr>
              <a:t>ALGEBRA DE MATRICES Y DETERMINANTES</a:t>
            </a:r>
            <a:endParaRPr lang="es-ES" sz="2800" b="1" dirty="0">
              <a:solidFill>
                <a:schemeClr val="bg1"/>
              </a:solidFill>
            </a:endParaRPr>
          </a:p>
        </p:txBody>
      </p:sp>
      <p:sp>
        <p:nvSpPr>
          <p:cNvPr id="9" name="Rectángulo 8"/>
          <p:cNvSpPr/>
          <p:nvPr/>
        </p:nvSpPr>
        <p:spPr>
          <a:xfrm>
            <a:off x="0" y="3926428"/>
            <a:ext cx="4473526" cy="1708160"/>
          </a:xfrm>
          <a:prstGeom prst="rect">
            <a:avLst/>
          </a:prstGeom>
        </p:spPr>
        <p:txBody>
          <a:bodyPr wrap="square">
            <a:spAutoFit/>
          </a:bodyPr>
          <a:lstStyle/>
          <a:p>
            <a:pPr marL="342900" indent="-342900">
              <a:buFont typeface="Arial" panose="020B0604020202020204" pitchFamily="34" charset="0"/>
              <a:buChar char="•"/>
            </a:pPr>
            <a:r>
              <a:rPr lang="es-MX" sz="2100" b="1" dirty="0">
                <a:solidFill>
                  <a:srgbClr val="A5A5A5">
                    <a:lumMod val="50000"/>
                  </a:srgbClr>
                </a:solidFill>
                <a:latin typeface="Arial" panose="020B0604020202020204" pitchFamily="34" charset="0"/>
                <a:cs typeface="Arial" panose="020B0604020202020204" pitchFamily="34" charset="0"/>
              </a:rPr>
              <a:t>Definición de determinante</a:t>
            </a:r>
          </a:p>
          <a:p>
            <a:pPr marL="342900" indent="-342900">
              <a:buFont typeface="Arial" panose="020B0604020202020204" pitchFamily="34" charset="0"/>
              <a:buChar char="•"/>
            </a:pPr>
            <a:r>
              <a:rPr lang="es-MX" sz="2100" b="1" dirty="0">
                <a:solidFill>
                  <a:srgbClr val="A5A5A5">
                    <a:lumMod val="50000"/>
                  </a:srgbClr>
                </a:solidFill>
                <a:latin typeface="Arial" panose="020B0604020202020204" pitchFamily="34" charset="0"/>
                <a:cs typeface="Arial" panose="020B0604020202020204" pitchFamily="34" charset="0"/>
              </a:rPr>
              <a:t>Propiedades fundamentales</a:t>
            </a:r>
          </a:p>
          <a:p>
            <a:pPr marL="342900" indent="-342900">
              <a:buFont typeface="Arial" panose="020B0604020202020204" pitchFamily="34" charset="0"/>
              <a:buChar char="•"/>
            </a:pPr>
            <a:r>
              <a:rPr lang="es-MX" sz="2100" b="1" dirty="0">
                <a:solidFill>
                  <a:srgbClr val="A5A5A5">
                    <a:lumMod val="50000"/>
                  </a:srgbClr>
                </a:solidFill>
                <a:latin typeface="Arial" panose="020B0604020202020204" pitchFamily="34" charset="0"/>
                <a:cs typeface="Arial" panose="020B0604020202020204" pitchFamily="34" charset="0"/>
              </a:rPr>
              <a:t>Cálculo por cofactores</a:t>
            </a:r>
          </a:p>
          <a:p>
            <a:pPr marL="342900" indent="-342900">
              <a:buFont typeface="Arial" panose="020B0604020202020204" pitchFamily="34" charset="0"/>
              <a:buChar char="•"/>
            </a:pPr>
            <a:r>
              <a:rPr lang="es-MX" sz="2100" b="1" dirty="0" smtClean="0">
                <a:solidFill>
                  <a:srgbClr val="A5A5A5">
                    <a:lumMod val="50000"/>
                  </a:srgbClr>
                </a:solidFill>
                <a:latin typeface="Arial" panose="020B0604020202020204" pitchFamily="34" charset="0"/>
                <a:cs typeface="Arial" panose="020B0604020202020204" pitchFamily="34" charset="0"/>
              </a:rPr>
              <a:t>Regla </a:t>
            </a:r>
            <a:r>
              <a:rPr lang="es-MX" sz="2100" b="1" dirty="0">
                <a:solidFill>
                  <a:srgbClr val="A5A5A5">
                    <a:lumMod val="50000"/>
                  </a:srgbClr>
                </a:solidFill>
                <a:latin typeface="Arial" panose="020B0604020202020204" pitchFamily="34" charset="0"/>
                <a:cs typeface="Arial" panose="020B0604020202020204" pitchFamily="34" charset="0"/>
              </a:rPr>
              <a:t>de </a:t>
            </a:r>
            <a:r>
              <a:rPr lang="es-MX" sz="2100" b="1" dirty="0" err="1" smtClean="0">
                <a:solidFill>
                  <a:srgbClr val="A5A5A5">
                    <a:lumMod val="50000"/>
                  </a:srgbClr>
                </a:solidFill>
                <a:latin typeface="Arial" panose="020B0604020202020204" pitchFamily="34" charset="0"/>
                <a:cs typeface="Arial" panose="020B0604020202020204" pitchFamily="34" charset="0"/>
              </a:rPr>
              <a:t>Sarrus</a:t>
            </a:r>
            <a:endParaRPr lang="es-MX" sz="2100" b="1" dirty="0" smtClean="0">
              <a:solidFill>
                <a:srgbClr val="A5A5A5">
                  <a:lumMod val="50000"/>
                </a:srgbClr>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NI" sz="2100" b="1" dirty="0" smtClean="0">
                <a:solidFill>
                  <a:srgbClr val="A5A5A5">
                    <a:lumMod val="50000"/>
                  </a:srgbClr>
                </a:solidFill>
                <a:latin typeface="Arial" panose="020B0604020202020204" pitchFamily="34" charset="0"/>
                <a:cs typeface="Arial" panose="020B0604020202020204" pitchFamily="34" charset="0"/>
              </a:rPr>
              <a:t>Regla de </a:t>
            </a:r>
            <a:r>
              <a:rPr lang="es-NI" sz="2100" b="1" dirty="0" err="1" smtClean="0">
                <a:solidFill>
                  <a:srgbClr val="A5A5A5">
                    <a:lumMod val="50000"/>
                  </a:srgbClr>
                </a:solidFill>
                <a:latin typeface="Arial" panose="020B0604020202020204" pitchFamily="34" charset="0"/>
                <a:cs typeface="Arial" panose="020B0604020202020204" pitchFamily="34" charset="0"/>
              </a:rPr>
              <a:t>Cramer</a:t>
            </a:r>
            <a:endParaRPr lang="es-MX" sz="2100" b="1" dirty="0">
              <a:solidFill>
                <a:srgbClr val="A5A5A5">
                  <a:lumMod val="50000"/>
                </a:srgbClr>
              </a:solidFill>
              <a:latin typeface="Arial" panose="020B0604020202020204" pitchFamily="34" charset="0"/>
              <a:cs typeface="Arial" panose="020B0604020202020204" pitchFamily="34" charset="0"/>
            </a:endParaRPr>
          </a:p>
        </p:txBody>
      </p:sp>
      <p:sp>
        <p:nvSpPr>
          <p:cNvPr id="12" name="Rectángulo 11"/>
          <p:cNvSpPr/>
          <p:nvPr/>
        </p:nvSpPr>
        <p:spPr>
          <a:xfrm>
            <a:off x="0" y="3511669"/>
            <a:ext cx="1173706" cy="414020"/>
          </a:xfrm>
          <a:prstGeom prst="rect">
            <a:avLst/>
          </a:prstGeom>
        </p:spPr>
        <p:txBody>
          <a:bodyPr wrap="square">
            <a:spAutoFit/>
          </a:bodyPr>
          <a:lstStyle/>
          <a:p>
            <a:r>
              <a:rPr lang="es-ES" sz="2100" b="1" dirty="0">
                <a:solidFill>
                  <a:srgbClr val="FF0000"/>
                </a:solidFill>
                <a:latin typeface="Arial" panose="020B0604020202020204" pitchFamily="34" charset="0"/>
                <a:ea typeface="Times New Roman" panose="02020603050405020304" pitchFamily="18" charset="0"/>
                <a:cs typeface="Arial" panose="020B0604020202020204" pitchFamily="34" charset="0"/>
              </a:rPr>
              <a:t>Temas:</a:t>
            </a:r>
            <a:endParaRPr lang="es-MX" sz="2100" b="1" dirty="0">
              <a:solidFill>
                <a:srgbClr val="FF0000"/>
              </a:solidFill>
              <a:latin typeface="Arial" panose="020B0604020202020204" pitchFamily="34" charset="0"/>
              <a:cs typeface="Arial" panose="020B0604020202020204" pitchFamily="34" charset="0"/>
            </a:endParaRPr>
          </a:p>
        </p:txBody>
      </p:sp>
      <p:sp>
        <p:nvSpPr>
          <p:cNvPr id="7" name="Rectángulo 6"/>
          <p:cNvSpPr/>
          <p:nvPr/>
        </p:nvSpPr>
        <p:spPr>
          <a:xfrm>
            <a:off x="0" y="5703838"/>
            <a:ext cx="3670479" cy="415498"/>
          </a:xfrm>
          <a:prstGeom prst="rect">
            <a:avLst/>
          </a:prstGeom>
        </p:spPr>
        <p:txBody>
          <a:bodyPr wrap="square">
            <a:spAutoFit/>
          </a:bodyPr>
          <a:ls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100" b="1" dirty="0">
                <a:solidFill>
                  <a:srgbClr val="FF0000"/>
                </a:solidFill>
                <a:latin typeface="Arial" panose="020B0604020202020204" pitchFamily="34" charset="0"/>
                <a:ea typeface="Times New Roman" panose="02020603050405020304" pitchFamily="18" charset="0"/>
                <a:cs typeface="Arial" panose="020B0604020202020204" pitchFamily="34" charset="0"/>
              </a:rPr>
              <a:t>Resultado de aprendizaje:</a:t>
            </a:r>
            <a:endParaRPr lang="es-MX" sz="2100" b="1" dirty="0">
              <a:solidFill>
                <a:srgbClr val="FF0000"/>
              </a:solidFill>
              <a:latin typeface="Arial" panose="020B0604020202020204" pitchFamily="34" charset="0"/>
              <a:cs typeface="Arial" panose="020B0604020202020204" pitchFamily="34" charset="0"/>
            </a:endParaRPr>
          </a:p>
        </p:txBody>
      </p:sp>
      <p:sp>
        <p:nvSpPr>
          <p:cNvPr id="8" name="Rectángulo 7"/>
          <p:cNvSpPr/>
          <p:nvPr/>
        </p:nvSpPr>
        <p:spPr>
          <a:xfrm>
            <a:off x="1" y="6119336"/>
            <a:ext cx="12192000" cy="738664"/>
          </a:xfrm>
          <a:prstGeom prst="rect">
            <a:avLst/>
          </a:prstGeom>
        </p:spPr>
        <p:txBody>
          <a:bodyPr wrap="square">
            <a:spAutoFit/>
          </a:bodyPr>
          <a:ls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s-NI" sz="2100" b="1" dirty="0">
                <a:solidFill>
                  <a:schemeClr val="accent3">
                    <a:lumMod val="50000"/>
                  </a:schemeClr>
                </a:solidFill>
                <a:latin typeface="Arial" panose="020B0604020202020204" pitchFamily="34" charset="0"/>
                <a:ea typeface="Arial" panose="020B0604020202020204" pitchFamily="34" charset="0"/>
              </a:rPr>
              <a:t>Aplica operaciones con matrices y el cálculo de determinantes para la resolución de problemas en contextos matemáticos e ingenieriles.</a:t>
            </a:r>
            <a:endParaRPr lang="es-MX" sz="2100" b="1" dirty="0">
              <a:solidFill>
                <a:schemeClr val="accent3">
                  <a:lumMod val="50000"/>
                </a:schemeClr>
              </a:solidFill>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 y="1115279"/>
            <a:ext cx="4301545"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400" b="1" dirty="0">
                <a:solidFill>
                  <a:srgbClr val="FF0000"/>
                </a:solidFill>
                <a:latin typeface="Arial" panose="020B0604020202020204" pitchFamily="34" charset="0"/>
                <a:cs typeface="Arial" panose="020B0604020202020204" pitchFamily="34" charset="0"/>
              </a:rPr>
              <a:t>Definición: </a:t>
            </a:r>
            <a:r>
              <a:rPr lang="es-MX" sz="2400" b="1" dirty="0">
                <a:solidFill>
                  <a:schemeClr val="accent3">
                    <a:lumMod val="50000"/>
                  </a:schemeClr>
                </a:solidFill>
                <a:latin typeface="Arial" panose="020B0604020202020204" pitchFamily="34" charset="0"/>
                <a:cs typeface="Arial" panose="020B0604020202020204" pitchFamily="34" charset="0"/>
              </a:rPr>
              <a:t>Determinante</a:t>
            </a:r>
            <a:endParaRPr kumimoji="0" lang="es-NI" sz="24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p:sp>
        <p:nvSpPr>
          <p:cNvPr id="5" name="Title 1"/>
          <p:cNvSpPr txBox="1">
            <a:spLocks/>
          </p:cNvSpPr>
          <p:nvPr/>
        </p:nvSpPr>
        <p:spPr>
          <a:xfrm>
            <a:off x="12882" y="1693020"/>
            <a:ext cx="12179118" cy="78289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ES" sz="2100" b="1" dirty="0">
                <a:solidFill>
                  <a:schemeClr val="accent3">
                    <a:lumMod val="50000"/>
                  </a:schemeClr>
                </a:solidFill>
                <a:latin typeface="Arial" panose="020B0604020202020204" pitchFamily="34" charset="0"/>
                <a:cs typeface="Arial" panose="020B0604020202020204" pitchFamily="34" charset="0"/>
              </a:rPr>
              <a:t>En matemáticas, el determinante es un valor escalar que es función de las entradas de una matriz cuadrada.</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xmlns="" id="{4C8A0EFB-CAB0-4AFB-B3C4-3F79233E2781}"/>
                  </a:ext>
                </a:extLst>
              </p:cNvPr>
              <p:cNvSpPr txBox="1"/>
              <p:nvPr/>
            </p:nvSpPr>
            <p:spPr>
              <a:xfrm>
                <a:off x="-1" y="2513616"/>
                <a:ext cx="12192001" cy="1099468"/>
              </a:xfrm>
              <a:prstGeom prst="rect">
                <a:avLst/>
              </a:prstGeom>
              <a:noFill/>
            </p:spPr>
            <p:txBody>
              <a:bodyPr wrap="square">
                <a:spAutoFit/>
              </a:bodyPr>
              <a:lstStyle/>
              <a:p>
                <a:pPr lvl="0" algn="just">
                  <a:defRPr/>
                </a:pPr>
                <a:r>
                  <a:rPr lang="es-ES" sz="2100" b="1" dirty="0">
                    <a:solidFill>
                      <a:schemeClr val="accent3">
                        <a:lumMod val="50000"/>
                      </a:schemeClr>
                    </a:solidFill>
                    <a:latin typeface="Arial" panose="020B0604020202020204" pitchFamily="34" charset="0"/>
                    <a:cs typeface="Arial" panose="020B0604020202020204" pitchFamily="34" charset="0"/>
                  </a:rPr>
                  <a:t>Determinante, en álgebra lineal y </a:t>
                </a:r>
                <a:r>
                  <a:rPr lang="es-ES" sz="2100" b="1" dirty="0" err="1">
                    <a:solidFill>
                      <a:schemeClr val="accent3">
                        <a:lumMod val="50000"/>
                      </a:schemeClr>
                    </a:solidFill>
                    <a:latin typeface="Arial" panose="020B0604020202020204" pitchFamily="34" charset="0"/>
                    <a:cs typeface="Arial" panose="020B0604020202020204" pitchFamily="34" charset="0"/>
                  </a:rPr>
                  <a:t>multilineal</a:t>
                </a:r>
                <a:r>
                  <a:rPr lang="es-ES" sz="2100" b="1" dirty="0">
                    <a:solidFill>
                      <a:schemeClr val="accent3">
                        <a:lumMod val="50000"/>
                      </a:schemeClr>
                    </a:solidFill>
                    <a:latin typeface="Arial" panose="020B0604020202020204" pitchFamily="34" charset="0"/>
                    <a:cs typeface="Arial" panose="020B0604020202020204" pitchFamily="34" charset="0"/>
                  </a:rPr>
                  <a:t>, es un valor, denotado</a:t>
                </a:r>
                <a:r>
                  <a:rPr lang="es-ES" sz="2100" b="1" dirty="0" smtClean="0">
                    <a:solidFill>
                      <a:schemeClr val="accent3">
                        <a:lumMod val="50000"/>
                      </a:schemeClr>
                    </a:solidFill>
                    <a:latin typeface="Arial" panose="020B0604020202020204" pitchFamily="34" charset="0"/>
                    <a:cs typeface="Arial" panose="020B0604020202020204" pitchFamily="34" charset="0"/>
                  </a:rPr>
                  <a:t> </a:t>
                </a:r>
                <a14:m>
                  <m:oMath xmlns:m="http://schemas.openxmlformats.org/officeDocument/2006/math">
                    <m:r>
                      <a:rPr lang="es-NI" sz="2100" b="1" i="1">
                        <a:solidFill>
                          <a:srgbClr val="A5A5A5">
                            <a:lumMod val="50000"/>
                          </a:srgbClr>
                        </a:solidFill>
                        <a:latin typeface="Cambria Math" panose="02040503050406030204" pitchFamily="18" charset="0"/>
                        <a:cs typeface="Arial" panose="020B0604020202020204" pitchFamily="34" charset="0"/>
                      </a:rPr>
                      <m:t>𝒅𝒆𝒕</m:t>
                    </m:r>
                    <m:r>
                      <a:rPr lang="es-NI" sz="2100" b="1" i="1">
                        <a:solidFill>
                          <a:srgbClr val="A5A5A5">
                            <a:lumMod val="50000"/>
                          </a:srgbClr>
                        </a:solidFill>
                        <a:latin typeface="Cambria Math" panose="02040503050406030204" pitchFamily="18" charset="0"/>
                        <a:cs typeface="Arial" panose="020B0604020202020204" pitchFamily="34" charset="0"/>
                      </a:rPr>
                      <m:t> </m:t>
                    </m:r>
                    <m:r>
                      <a:rPr lang="es-NI" sz="2100" b="1" i="1">
                        <a:solidFill>
                          <a:srgbClr val="A5A5A5">
                            <a:lumMod val="50000"/>
                          </a:srgbClr>
                        </a:solidFill>
                        <a:latin typeface="Cambria Math" panose="02040503050406030204" pitchFamily="18" charset="0"/>
                        <a:cs typeface="Arial" panose="020B0604020202020204" pitchFamily="34" charset="0"/>
                      </a:rPr>
                      <m:t>𝑨</m:t>
                    </m:r>
                    <m:r>
                      <a:rPr lang="es-NI" sz="2100" b="1" i="1">
                        <a:solidFill>
                          <a:srgbClr val="A5A5A5">
                            <a:lumMod val="50000"/>
                          </a:srgbClr>
                        </a:solidFill>
                        <a:latin typeface="Cambria Math" panose="02040503050406030204" pitchFamily="18" charset="0"/>
                        <a:cs typeface="Arial" panose="020B0604020202020204" pitchFamily="34" charset="0"/>
                      </a:rPr>
                      <m:t>=</m:t>
                    </m:r>
                    <m:d>
                      <m:dPr>
                        <m:begChr m:val="|"/>
                        <m:endChr m:val="|"/>
                        <m:ctrlPr>
                          <a:rPr lang="es-NI" sz="2100" b="1" i="1">
                            <a:solidFill>
                              <a:srgbClr val="A5A5A5">
                                <a:lumMod val="50000"/>
                              </a:srgbClr>
                            </a:solidFill>
                            <a:latin typeface="Cambria Math" panose="02040503050406030204" pitchFamily="18" charset="0"/>
                            <a:cs typeface="Arial" panose="020B0604020202020204" pitchFamily="34" charset="0"/>
                          </a:rPr>
                        </m:ctrlPr>
                      </m:dPr>
                      <m:e>
                        <m:r>
                          <a:rPr lang="es-NI" sz="2100" b="1" i="1">
                            <a:solidFill>
                              <a:srgbClr val="A5A5A5">
                                <a:lumMod val="50000"/>
                              </a:srgbClr>
                            </a:solidFill>
                            <a:latin typeface="Cambria Math" panose="02040503050406030204" pitchFamily="18" charset="0"/>
                            <a:cs typeface="Arial" panose="020B0604020202020204" pitchFamily="34" charset="0"/>
                          </a:rPr>
                          <m:t>𝑨</m:t>
                        </m:r>
                      </m:e>
                    </m:d>
                  </m:oMath>
                </a14:m>
                <a:r>
                  <a:rPr lang="es-ES" sz="2100" b="1" dirty="0">
                    <a:solidFill>
                      <a:schemeClr val="accent3">
                        <a:lumMod val="50000"/>
                      </a:schemeClr>
                    </a:solidFill>
                    <a:latin typeface="Arial" panose="020B0604020202020204" pitchFamily="34" charset="0"/>
                    <a:cs typeface="Arial" panose="020B0604020202020204" pitchFamily="34" charset="0"/>
                  </a:rPr>
                  <a:t>, asociado con una matriz cuadrada </a:t>
                </a:r>
                <a14:m>
                  <m:oMath xmlns:m="http://schemas.openxmlformats.org/officeDocument/2006/math">
                    <m:r>
                      <a:rPr lang="es-ES" sz="21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ES" sz="2100" b="1" dirty="0">
                    <a:solidFill>
                      <a:schemeClr val="accent3">
                        <a:lumMod val="50000"/>
                      </a:schemeClr>
                    </a:solidFill>
                    <a:latin typeface="Arial" panose="020B0604020202020204" pitchFamily="34" charset="0"/>
                    <a:cs typeface="Arial" panose="020B0604020202020204" pitchFamily="34" charset="0"/>
                  </a:rPr>
                  <a:t> de </a:t>
                </a:r>
                <a14:m>
                  <m:oMath xmlns:m="http://schemas.openxmlformats.org/officeDocument/2006/math">
                    <m:r>
                      <a:rPr lang="es-ES" sz="2100" b="1" i="1" dirty="0" smtClean="0">
                        <a:solidFill>
                          <a:schemeClr val="accent3">
                            <a:lumMod val="50000"/>
                          </a:schemeClr>
                        </a:solidFill>
                        <a:latin typeface="Cambria Math" panose="02040503050406030204" pitchFamily="18" charset="0"/>
                        <a:cs typeface="Arial" panose="020B0604020202020204" pitchFamily="34" charset="0"/>
                      </a:rPr>
                      <m:t>𝒏</m:t>
                    </m:r>
                  </m:oMath>
                </a14:m>
                <a:r>
                  <a:rPr lang="es-ES" sz="2100" b="1" dirty="0">
                    <a:solidFill>
                      <a:schemeClr val="accent3">
                        <a:lumMod val="50000"/>
                      </a:schemeClr>
                    </a:solidFill>
                    <a:latin typeface="Arial" panose="020B0604020202020204" pitchFamily="34" charset="0"/>
                    <a:cs typeface="Arial" panose="020B0604020202020204" pitchFamily="34" charset="0"/>
                  </a:rPr>
                  <a:t> filas y </a:t>
                </a:r>
                <a14:m>
                  <m:oMath xmlns:m="http://schemas.openxmlformats.org/officeDocument/2006/math">
                    <m:r>
                      <a:rPr lang="es-ES" sz="2100" b="1" i="1" dirty="0" smtClean="0">
                        <a:solidFill>
                          <a:schemeClr val="accent3">
                            <a:lumMod val="50000"/>
                          </a:schemeClr>
                        </a:solidFill>
                        <a:latin typeface="Cambria Math" panose="02040503050406030204" pitchFamily="18" charset="0"/>
                        <a:cs typeface="Arial" panose="020B0604020202020204" pitchFamily="34" charset="0"/>
                      </a:rPr>
                      <m:t>𝒏</m:t>
                    </m:r>
                  </m:oMath>
                </a14:m>
                <a:r>
                  <a:rPr lang="es-ES" sz="2100" b="1" dirty="0">
                    <a:solidFill>
                      <a:schemeClr val="accent3">
                        <a:lumMod val="50000"/>
                      </a:schemeClr>
                    </a:solidFill>
                    <a:latin typeface="Arial" panose="020B0604020202020204" pitchFamily="34" charset="0"/>
                    <a:cs typeface="Arial" panose="020B0604020202020204" pitchFamily="34" charset="0"/>
                  </a:rPr>
                  <a:t> columnas,  especialmente definido solo para matrices cuadradas.</a:t>
                </a:r>
              </a:p>
            </p:txBody>
          </p:sp>
        </mc:Choice>
        <mc:Fallback xmlns="">
          <p:sp>
            <p:nvSpPr>
              <p:cNvPr id="10" name="CuadroTexto 9">
                <a:extLst>
                  <a:ext uri="{FF2B5EF4-FFF2-40B4-BE49-F238E27FC236}">
                    <a16:creationId xmlns="" xmlns:a16="http://schemas.microsoft.com/office/drawing/2014/main" xmlns:a14="http://schemas.microsoft.com/office/drawing/2010/main" id="{4C8A0EFB-CAB0-4AFB-B3C4-3F79233E2781}"/>
                  </a:ext>
                </a:extLst>
              </p:cNvPr>
              <p:cNvSpPr txBox="1">
                <a:spLocks noRot="1" noChangeAspect="1" noMove="1" noResize="1" noEditPoints="1" noAdjustHandles="1" noChangeArrowheads="1" noChangeShapeType="1" noTextEdit="1"/>
              </p:cNvSpPr>
              <p:nvPr/>
            </p:nvSpPr>
            <p:spPr>
              <a:xfrm>
                <a:off x="-1" y="2513616"/>
                <a:ext cx="12192001" cy="1099468"/>
              </a:xfrm>
              <a:prstGeom prst="rect">
                <a:avLst/>
              </a:prstGeom>
              <a:blipFill rotWithShape="0">
                <a:blip r:embed="rId2"/>
                <a:stretch>
                  <a:fillRect l="-600" t="-3315" r="-600" b="-6630"/>
                </a:stretch>
              </a:blipFill>
            </p:spPr>
            <p:txBody>
              <a:bodyPr/>
              <a:lstStyle/>
              <a:p>
                <a:r>
                  <a:rPr lang="es-MX">
                    <a:noFill/>
                  </a:rPr>
                  <a:t> </a:t>
                </a:r>
              </a:p>
            </p:txBody>
          </p:sp>
        </mc:Fallback>
      </mc:AlternateContent>
    </p:spTree>
    <p:extLst>
      <p:ext uri="{BB962C8B-B14F-4D97-AF65-F5344CB8AC3E}">
        <p14:creationId xmlns:p14="http://schemas.microsoft.com/office/powerpoint/2010/main" val="41503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115279"/>
            <a:ext cx="5275386"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200" b="1" dirty="0">
                <a:solidFill>
                  <a:srgbClr val="FF0000"/>
                </a:solidFill>
                <a:latin typeface="Arial" panose="020B0604020202020204" pitchFamily="34" charset="0"/>
                <a:cs typeface="Arial" panose="020B0604020202020204" pitchFamily="34" charset="0"/>
              </a:rPr>
              <a:t>¿Qué representa el determinante?</a:t>
            </a:r>
          </a:p>
        </p:txBody>
      </p:sp>
      <p:sp>
        <p:nvSpPr>
          <p:cNvPr id="5" name="Title 1"/>
          <p:cNvSpPr txBox="1">
            <a:spLocks/>
          </p:cNvSpPr>
          <p:nvPr/>
        </p:nvSpPr>
        <p:spPr>
          <a:xfrm>
            <a:off x="12882" y="1693020"/>
            <a:ext cx="593775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ES" sz="2100" b="1" dirty="0">
                <a:solidFill>
                  <a:schemeClr val="accent5">
                    <a:lumMod val="75000"/>
                  </a:schemeClr>
                </a:solidFill>
                <a:latin typeface="Arial" panose="020B0604020202020204" pitchFamily="34" charset="0"/>
                <a:cs typeface="Arial" panose="020B0604020202020204" pitchFamily="34" charset="0"/>
              </a:rPr>
              <a:t>Interpretación geométrica antes del cálculo</a:t>
            </a:r>
          </a:p>
        </p:txBody>
      </p:sp>
      <p:sp>
        <p:nvSpPr>
          <p:cNvPr id="6" name="Rectangle 4">
            <a:extLst>
              <a:ext uri="{FF2B5EF4-FFF2-40B4-BE49-F238E27FC236}">
                <a16:creationId xmlns:a16="http://schemas.microsoft.com/office/drawing/2014/main" xmlns="" id="{3543E73B-A70B-4547-9EFE-54C9EAD724D0}"/>
              </a:ext>
            </a:extLst>
          </p:cNvPr>
          <p:cNvSpPr/>
          <p:nvPr/>
        </p:nvSpPr>
        <p:spPr>
          <a:xfrm>
            <a:off x="815926" y="2796142"/>
            <a:ext cx="1828800" cy="1828800"/>
          </a:xfrm>
          <a:prstGeom prst="rect">
            <a:avLst/>
          </a:prstGeom>
          <a:solidFill>
            <a:srgbClr val="EBF8F8"/>
          </a:solidFill>
          <a:ln w="381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5">
            <a:extLst>
              <a:ext uri="{FF2B5EF4-FFF2-40B4-BE49-F238E27FC236}">
                <a16:creationId xmlns:a16="http://schemas.microsoft.com/office/drawing/2014/main" xmlns="" id="{ACA66A5C-516C-4832-84B7-7ACEE253FD7E}"/>
              </a:ext>
            </a:extLst>
          </p:cNvPr>
          <p:cNvSpPr txBox="1"/>
          <p:nvPr/>
        </p:nvSpPr>
        <p:spPr>
          <a:xfrm>
            <a:off x="1111406" y="5142305"/>
            <a:ext cx="1237839" cy="415498"/>
          </a:xfrm>
          <a:prstGeom prst="rect">
            <a:avLst/>
          </a:prstGeom>
          <a:noFill/>
        </p:spPr>
        <p:txBody>
          <a:bodyPr wrap="none">
            <a:spAutoFit/>
          </a:bodyPr>
          <a:lstStyle/>
          <a:p>
            <a:pPr>
              <a:defRPr sz="1800" b="1"/>
            </a:pPr>
            <a:r>
              <a:rPr sz="2100" b="1" dirty="0">
                <a:solidFill>
                  <a:schemeClr val="accent3">
                    <a:lumMod val="50000"/>
                  </a:schemeClr>
                </a:solidFill>
                <a:latin typeface="Arial" panose="020B0604020202020204" pitchFamily="34" charset="0"/>
                <a:ea typeface="+mj-ea"/>
                <a:cs typeface="Arial" panose="020B0604020202020204" pitchFamily="34" charset="0"/>
              </a:rPr>
              <a:t>Área = 1</a:t>
            </a:r>
          </a:p>
        </p:txBody>
      </p:sp>
      <p:cxnSp>
        <p:nvCxnSpPr>
          <p:cNvPr id="8" name="Connector 6">
            <a:extLst>
              <a:ext uri="{FF2B5EF4-FFF2-40B4-BE49-F238E27FC236}">
                <a16:creationId xmlns:a16="http://schemas.microsoft.com/office/drawing/2014/main" xmlns="" id="{B14F2513-4A69-4C4D-BED0-D5DEFCCD9D69}"/>
              </a:ext>
            </a:extLst>
          </p:cNvPr>
          <p:cNvCxnSpPr/>
          <p:nvPr/>
        </p:nvCxnSpPr>
        <p:spPr>
          <a:xfrm>
            <a:off x="2873326" y="3710542"/>
            <a:ext cx="141732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p:sp>
        <p:nvSpPr>
          <p:cNvPr id="9" name="Parallelogram 7">
            <a:extLst>
              <a:ext uri="{FF2B5EF4-FFF2-40B4-BE49-F238E27FC236}">
                <a16:creationId xmlns:a16="http://schemas.microsoft.com/office/drawing/2014/main" xmlns="" id="{EEB5EB3A-297D-4A73-8E9C-86D1B9F950C2}"/>
              </a:ext>
            </a:extLst>
          </p:cNvPr>
          <p:cNvSpPr/>
          <p:nvPr/>
        </p:nvSpPr>
        <p:spPr>
          <a:xfrm>
            <a:off x="4473526" y="2567542"/>
            <a:ext cx="2743200" cy="2240280"/>
          </a:xfrm>
          <a:prstGeom prst="parallelogram">
            <a:avLst/>
          </a:prstGeom>
          <a:solidFill>
            <a:srgbClr val="EBF8F8"/>
          </a:solidFill>
          <a:ln w="38100">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8">
            <a:extLst>
              <a:ext uri="{FF2B5EF4-FFF2-40B4-BE49-F238E27FC236}">
                <a16:creationId xmlns:a16="http://schemas.microsoft.com/office/drawing/2014/main" xmlns="" id="{6F097598-C389-4BEF-8682-9F788EE75B5E}"/>
              </a:ext>
            </a:extLst>
          </p:cNvPr>
          <p:cNvSpPr txBox="1"/>
          <p:nvPr/>
        </p:nvSpPr>
        <p:spPr>
          <a:xfrm>
            <a:off x="4290646" y="5142305"/>
            <a:ext cx="2574744" cy="415498"/>
          </a:xfrm>
          <a:prstGeom prst="rect">
            <a:avLst/>
          </a:prstGeom>
          <a:noFill/>
        </p:spPr>
        <p:txBody>
          <a:bodyPr wrap="none">
            <a:spAutoFit/>
          </a:bodyPr>
          <a:lstStyle/>
          <a:p>
            <a:pPr>
              <a:defRPr sz="1800" b="1"/>
            </a:pPr>
            <a:r>
              <a:rPr sz="2100" b="1" dirty="0">
                <a:solidFill>
                  <a:schemeClr val="accent3">
                    <a:lumMod val="50000"/>
                  </a:schemeClr>
                </a:solidFill>
                <a:latin typeface="Arial" panose="020B0604020202020204" pitchFamily="34" charset="0"/>
                <a:ea typeface="+mj-ea"/>
                <a:cs typeface="Arial" panose="020B0604020202020204" pitchFamily="34" charset="0"/>
              </a:rPr>
              <a:t>Área </a:t>
            </a:r>
            <a:r>
              <a:rPr sz="2100" b="1" dirty="0" err="1">
                <a:solidFill>
                  <a:schemeClr val="accent3">
                    <a:lumMod val="50000"/>
                  </a:schemeClr>
                </a:solidFill>
                <a:latin typeface="Arial" panose="020B0604020202020204" pitchFamily="34" charset="0"/>
                <a:ea typeface="+mj-ea"/>
                <a:cs typeface="Arial" panose="020B0604020202020204" pitchFamily="34" charset="0"/>
              </a:rPr>
              <a:t>transformada</a:t>
            </a:r>
            <a:endParaRPr sz="2100" b="1" dirty="0">
              <a:solidFill>
                <a:schemeClr val="accent3">
                  <a:lumMod val="50000"/>
                </a:schemeClr>
              </a:solidFill>
              <a:latin typeface="Arial" panose="020B0604020202020204" pitchFamily="34" charset="0"/>
              <a:ea typeface="+mj-ea"/>
              <a:cs typeface="Arial" panose="020B0604020202020204" pitchFamily="34" charset="0"/>
            </a:endParaRPr>
          </a:p>
        </p:txBody>
      </p:sp>
      <mc:AlternateContent xmlns:mc="http://schemas.openxmlformats.org/markup-compatibility/2006">
        <mc:Choice xmlns:a14="http://schemas.microsoft.com/office/drawing/2010/main" Requires="a14">
          <p:sp>
            <p:nvSpPr>
              <p:cNvPr id="12" name="Rounded Rectangle 9">
                <a:extLst>
                  <a:ext uri="{FF2B5EF4-FFF2-40B4-BE49-F238E27FC236}">
                    <a16:creationId xmlns:a16="http://schemas.microsoft.com/office/drawing/2014/main" xmlns="" id="{63568A01-DD61-4AC8-B185-E95AA481094B}"/>
                  </a:ext>
                </a:extLst>
              </p:cNvPr>
              <p:cNvSpPr/>
              <p:nvPr/>
            </p:nvSpPr>
            <p:spPr>
              <a:xfrm>
                <a:off x="7948246" y="2567542"/>
                <a:ext cx="2834640" cy="2240280"/>
              </a:xfrm>
              <a:prstGeom prst="roundRect">
                <a:avLst/>
              </a:prstGeom>
              <a:solidFill>
                <a:srgbClr val="FFFFFF"/>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00A6A6"/>
                    </a:solidFill>
                    <a:latin typeface="Arial"/>
                  </a:defRPr>
                </a:pPr>
                <a14:m>
                  <m:oMathPara xmlns:m="http://schemas.openxmlformats.org/officeDocument/2006/math">
                    <m:oMathParaPr>
                      <m:jc m:val="centerGroup"/>
                    </m:oMathParaPr>
                    <m:oMath xmlns:m="http://schemas.openxmlformats.org/officeDocument/2006/math">
                      <m:r>
                        <a:rPr lang="es-NI" b="1" i="1" dirty="0" smtClean="0">
                          <a:solidFill>
                            <a:srgbClr val="FF0000"/>
                          </a:solidFill>
                          <a:latin typeface="Cambria Math" panose="02040503050406030204" pitchFamily="18" charset="0"/>
                        </a:rPr>
                        <m:t>𝒅𝒆𝒕</m:t>
                      </m:r>
                      <m:r>
                        <a:rPr lang="es-NI" b="1" i="1" dirty="0" smtClean="0">
                          <a:solidFill>
                            <a:srgbClr val="FF0000"/>
                          </a:solidFill>
                          <a:latin typeface="Cambria Math" panose="02040503050406030204" pitchFamily="18" charset="0"/>
                        </a:rPr>
                        <m:t>⁡(</m:t>
                      </m:r>
                      <m:r>
                        <a:rPr lang="es-NI" b="1" i="1" dirty="0" smtClean="0">
                          <a:solidFill>
                            <a:srgbClr val="FF0000"/>
                          </a:solidFill>
                          <a:latin typeface="Cambria Math" panose="02040503050406030204" pitchFamily="18" charset="0"/>
                        </a:rPr>
                        <m:t>𝑨</m:t>
                      </m:r>
                      <m:r>
                        <a:rPr lang="es-NI" b="1" i="1" dirty="0" smtClean="0">
                          <a:solidFill>
                            <a:srgbClr val="FF0000"/>
                          </a:solidFill>
                          <a:latin typeface="Cambria Math" panose="02040503050406030204" pitchFamily="18" charset="0"/>
                        </a:rPr>
                        <m:t>)</m:t>
                      </m:r>
                    </m:oMath>
                  </m:oMathPara>
                </a14:m>
                <a:endParaRPr lang="es-NI" b="1" dirty="0">
                  <a:solidFill>
                    <a:srgbClr val="FF0000"/>
                  </a:solidFill>
                </a:endParaRPr>
              </a:p>
              <a:p>
                <a:pPr algn="just">
                  <a:spcAft>
                    <a:spcPts val="400"/>
                  </a:spcAft>
                  <a:defRPr sz="16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Factor de </a:t>
                </a:r>
                <a:r>
                  <a:rPr sz="2100" b="1" dirty="0" err="1">
                    <a:solidFill>
                      <a:schemeClr val="accent3">
                        <a:lumMod val="50000"/>
                      </a:schemeClr>
                    </a:solidFill>
                    <a:latin typeface="Arial" panose="020B0604020202020204" pitchFamily="34" charset="0"/>
                    <a:ea typeface="+mj-ea"/>
                    <a:cs typeface="Arial" panose="020B0604020202020204" pitchFamily="34" charset="0"/>
                  </a:rPr>
                  <a:t>escala</a:t>
                </a:r>
                <a:r>
                  <a:rPr sz="2100" b="1" dirty="0">
                    <a:solidFill>
                      <a:schemeClr val="accent3">
                        <a:lumMod val="50000"/>
                      </a:schemeClr>
                    </a:solidFill>
                    <a:latin typeface="Arial" panose="020B0604020202020204" pitchFamily="34" charset="0"/>
                    <a:ea typeface="+mj-ea"/>
                    <a:cs typeface="Arial" panose="020B0604020202020204" pitchFamily="34" charset="0"/>
                  </a:rPr>
                  <a:t> del área.</a:t>
                </a:r>
              </a:p>
              <a:p>
                <a:pPr algn="just">
                  <a:spcAft>
                    <a:spcPts val="400"/>
                  </a:spcAft>
                  <a:defRPr sz="16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Si </a:t>
                </a:r>
                <a14:m>
                  <m:oMath xmlns:m="http://schemas.openxmlformats.org/officeDocument/2006/math">
                    <m:r>
                      <a:rPr lang="es-NI" sz="2100" b="1" i="1" dirty="0" smtClean="0">
                        <a:solidFill>
                          <a:schemeClr val="accent3">
                            <a:lumMod val="50000"/>
                          </a:schemeClr>
                        </a:solidFill>
                        <a:latin typeface="Cambria Math" panose="02040503050406030204" pitchFamily="18" charset="0"/>
                        <a:ea typeface="+mj-ea"/>
                        <a:cs typeface="Arial" panose="020B0604020202020204" pitchFamily="34" charset="0"/>
                      </a:rPr>
                      <m:t>𝒅𝒆𝒕</m:t>
                    </m:r>
                    <m:r>
                      <a:rPr lang="es-NI" sz="2100" b="1" i="1" dirty="0" smtClean="0">
                        <a:solidFill>
                          <a:schemeClr val="accent3">
                            <a:lumMod val="50000"/>
                          </a:schemeClr>
                        </a:solidFill>
                        <a:latin typeface="Cambria Math" panose="02040503050406030204" pitchFamily="18" charset="0"/>
                        <a:ea typeface="+mj-ea"/>
                        <a:cs typeface="Arial" panose="020B0604020202020204" pitchFamily="34" charset="0"/>
                      </a:rPr>
                      <m:t>⁡(</m:t>
                    </m:r>
                    <m:r>
                      <a:rPr lang="es-NI" sz="2100" b="1" i="1" dirty="0" smtClean="0">
                        <a:solidFill>
                          <a:schemeClr val="accent3">
                            <a:lumMod val="50000"/>
                          </a:schemeClr>
                        </a:solidFill>
                        <a:latin typeface="Cambria Math" panose="02040503050406030204" pitchFamily="18" charset="0"/>
                        <a:ea typeface="+mj-ea"/>
                        <a:cs typeface="Arial" panose="020B0604020202020204" pitchFamily="34" charset="0"/>
                      </a:rPr>
                      <m:t>𝑨</m:t>
                    </m:r>
                    <m:r>
                      <a:rPr lang="es-NI" sz="2100" b="1" i="1" dirty="0" smtClean="0">
                        <a:solidFill>
                          <a:schemeClr val="accent3">
                            <a:lumMod val="50000"/>
                          </a:schemeClr>
                        </a:solidFill>
                        <a:latin typeface="Cambria Math" panose="02040503050406030204" pitchFamily="18" charset="0"/>
                        <a:ea typeface="+mj-ea"/>
                        <a:cs typeface="Arial" panose="020B0604020202020204" pitchFamily="34" charset="0"/>
                      </a:rPr>
                      <m:t>)=</m:t>
                    </m:r>
                    <m:r>
                      <a:rPr lang="es-NI" sz="2100" b="1" i="1" dirty="0" smtClean="0">
                        <a:solidFill>
                          <a:schemeClr val="accent3">
                            <a:lumMod val="50000"/>
                          </a:schemeClr>
                        </a:solidFill>
                        <a:latin typeface="Cambria Math" panose="02040503050406030204" pitchFamily="18" charset="0"/>
                        <a:ea typeface="+mj-ea"/>
                        <a:cs typeface="Arial" panose="020B0604020202020204" pitchFamily="34" charset="0"/>
                      </a:rPr>
                      <m:t>𝟎</m:t>
                    </m:r>
                  </m:oMath>
                </a14:m>
                <a:r>
                  <a:rPr sz="2100" b="1" dirty="0">
                    <a:solidFill>
                      <a:schemeClr val="accent3">
                        <a:lumMod val="50000"/>
                      </a:schemeClr>
                    </a:solidFill>
                    <a:latin typeface="Arial" panose="020B0604020202020204" pitchFamily="34" charset="0"/>
                    <a:ea typeface="+mj-ea"/>
                    <a:cs typeface="Arial" panose="020B0604020202020204" pitchFamily="34" charset="0"/>
                  </a:rPr>
                  <a:t>, </a:t>
                </a:r>
                <a:r>
                  <a:rPr sz="2100" b="1" dirty="0" err="1">
                    <a:solidFill>
                      <a:schemeClr val="accent3">
                        <a:lumMod val="50000"/>
                      </a:schemeClr>
                    </a:solidFill>
                    <a:latin typeface="Arial" panose="020B0604020202020204" pitchFamily="34" charset="0"/>
                    <a:ea typeface="+mj-ea"/>
                    <a:cs typeface="Arial" panose="020B0604020202020204" pitchFamily="34" charset="0"/>
                  </a:rPr>
                  <a:t>el</a:t>
                </a:r>
                <a:r>
                  <a:rPr sz="2100" b="1" dirty="0">
                    <a:solidFill>
                      <a:schemeClr val="accent3">
                        <a:lumMod val="50000"/>
                      </a:schemeClr>
                    </a:solidFill>
                    <a:latin typeface="Arial" panose="020B0604020202020204" pitchFamily="34" charset="0"/>
                    <a:ea typeface="+mj-ea"/>
                    <a:cs typeface="Arial" panose="020B0604020202020204" pitchFamily="34" charset="0"/>
                  </a:rPr>
                  <a:t> área </a:t>
                </a:r>
                <a:r>
                  <a:rPr sz="2100" b="1" dirty="0" err="1">
                    <a:solidFill>
                      <a:schemeClr val="accent3">
                        <a:lumMod val="50000"/>
                      </a:schemeClr>
                    </a:solidFill>
                    <a:latin typeface="Arial" panose="020B0604020202020204" pitchFamily="34" charset="0"/>
                    <a:ea typeface="+mj-ea"/>
                    <a:cs typeface="Arial" panose="020B0604020202020204" pitchFamily="34" charset="0"/>
                  </a:rPr>
                  <a:t>colapsa</a:t>
                </a:r>
                <a:r>
                  <a:rPr sz="2100" b="1" dirty="0">
                    <a:solidFill>
                      <a:schemeClr val="accent3">
                        <a:lumMod val="50000"/>
                      </a:schemeClr>
                    </a:solidFill>
                    <a:latin typeface="Arial" panose="020B0604020202020204" pitchFamily="34" charset="0"/>
                    <a:ea typeface="+mj-ea"/>
                    <a:cs typeface="Arial" panose="020B0604020202020204" pitchFamily="34" charset="0"/>
                  </a:rPr>
                  <a:t>.</a:t>
                </a:r>
              </a:p>
            </p:txBody>
          </p:sp>
        </mc:Choice>
        <mc:Fallback>
          <p:sp>
            <p:nvSpPr>
              <p:cNvPr id="12" name="Rounded Rectangle 9">
                <a:extLst>
                  <a:ext uri="{FF2B5EF4-FFF2-40B4-BE49-F238E27FC236}">
                    <a16:creationId xmlns:a16="http://schemas.microsoft.com/office/drawing/2014/main" xmlns="" xmlns:a14="http://schemas.microsoft.com/office/drawing/2010/main" id="{63568A01-DD61-4AC8-B185-E95AA481094B}"/>
                  </a:ext>
                </a:extLst>
              </p:cNvPr>
              <p:cNvSpPr>
                <a:spLocks noRot="1" noChangeAspect="1" noMove="1" noResize="1" noEditPoints="1" noAdjustHandles="1" noChangeArrowheads="1" noChangeShapeType="1" noTextEdit="1"/>
              </p:cNvSpPr>
              <p:nvPr/>
            </p:nvSpPr>
            <p:spPr>
              <a:xfrm>
                <a:off x="7948246" y="2567542"/>
                <a:ext cx="2834640" cy="2240280"/>
              </a:xfrm>
              <a:prstGeom prst="roundRect">
                <a:avLst/>
              </a:prstGeom>
              <a:blipFill rotWithShape="0">
                <a:blip r:embed="rId2"/>
                <a:stretch>
                  <a:fillRect/>
                </a:stretch>
              </a:blipFill>
              <a:ln w="19050">
                <a:solidFill>
                  <a:srgbClr val="00A6A6"/>
                </a:solidFill>
              </a:ln>
            </p:spPr>
            <p:txBody>
              <a:bodyPr/>
              <a:lstStyle/>
              <a:p>
                <a:r>
                  <a:rPr lang="es-MX">
                    <a:noFill/>
                  </a:rPr>
                  <a:t> </a:t>
                </a:r>
              </a:p>
            </p:txBody>
          </p:sp>
        </mc:Fallback>
      </mc:AlternateContent>
    </p:spTree>
    <p:extLst>
      <p:ext uri="{BB962C8B-B14F-4D97-AF65-F5344CB8AC3E}">
        <p14:creationId xmlns:p14="http://schemas.microsoft.com/office/powerpoint/2010/main" val="239581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circle(in)">
                                      <p:cBhvr>
                                        <p:cTn id="20" dur="2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ircle(in)">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circle(in)">
                                      <p:cBhvr>
                                        <p:cTn id="30" dur="2000"/>
                                        <p:tgtEl>
                                          <p:spTgt spid="9"/>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circle(in)">
                                      <p:cBhvr>
                                        <p:cTn id="33" dur="20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heel(1)">
                                      <p:cBhvr>
                                        <p:cTn id="3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1"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115279"/>
            <a:ext cx="5514535"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200" b="1" dirty="0">
                <a:solidFill>
                  <a:srgbClr val="FF0000"/>
                </a:solidFill>
                <a:latin typeface="Arial" panose="020B0604020202020204" pitchFamily="34" charset="0"/>
                <a:cs typeface="Arial" panose="020B0604020202020204" pitchFamily="34" charset="0"/>
              </a:rPr>
              <a:t>Determinante positivo, negativo y cero</a:t>
            </a:r>
          </a:p>
        </p:txBody>
      </p:sp>
      <p:sp>
        <p:nvSpPr>
          <p:cNvPr id="5" name="Title 1"/>
          <p:cNvSpPr txBox="1">
            <a:spLocks/>
          </p:cNvSpPr>
          <p:nvPr/>
        </p:nvSpPr>
        <p:spPr>
          <a:xfrm>
            <a:off x="115914" y="1693020"/>
            <a:ext cx="5079623"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ES" sz="2100" b="1" dirty="0">
                <a:solidFill>
                  <a:schemeClr val="accent5">
                    <a:lumMod val="75000"/>
                  </a:schemeClr>
                </a:solidFill>
                <a:latin typeface="Arial" panose="020B0604020202020204" pitchFamily="34" charset="0"/>
                <a:cs typeface="Arial" panose="020B0604020202020204" pitchFamily="34" charset="0"/>
              </a:rPr>
              <a:t>Tres comportamientos geométricos</a:t>
            </a:r>
          </a:p>
        </p:txBody>
      </p:sp>
      <mc:AlternateContent xmlns:mc="http://schemas.openxmlformats.org/markup-compatibility/2006">
        <mc:Choice xmlns:a14="http://schemas.microsoft.com/office/drawing/2010/main" Requires="a14">
          <p:sp>
            <p:nvSpPr>
              <p:cNvPr id="10" name="Rounded Rectangle 4">
                <a:extLst>
                  <a:ext uri="{FF2B5EF4-FFF2-40B4-BE49-F238E27FC236}">
                    <a16:creationId xmlns:a16="http://schemas.microsoft.com/office/drawing/2014/main" xmlns="" id="{EA8A4E57-2F6E-42A0-B279-4F3DF1C301CF}"/>
                  </a:ext>
                </a:extLst>
              </p:cNvPr>
              <p:cNvSpPr/>
              <p:nvPr/>
            </p:nvSpPr>
            <p:spPr>
              <a:xfrm>
                <a:off x="615363" y="2567354"/>
                <a:ext cx="3383280" cy="338328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00A6A6"/>
                    </a:solidFill>
                    <a:latin typeface="Arial"/>
                  </a:defRPr>
                </a:pPr>
                <a14:m>
                  <m:oMathPara xmlns:m="http://schemas.openxmlformats.org/officeDocument/2006/math">
                    <m:oMathParaPr>
                      <m:jc m:val="centerGroup"/>
                    </m:oMathParaPr>
                    <m:oMath xmlns:m="http://schemas.openxmlformats.org/officeDocument/2006/math">
                      <m:r>
                        <a:rPr lang="es-NI" b="1" i="1" dirty="0" smtClean="0">
                          <a:solidFill>
                            <a:srgbClr val="FF0000"/>
                          </a:solidFill>
                          <a:latin typeface="Cambria Math" panose="02040503050406030204" pitchFamily="18" charset="0"/>
                        </a:rPr>
                        <m:t>𝒅𝒆𝒕</m:t>
                      </m:r>
                      <m:r>
                        <a:rPr lang="es-NI" b="1" i="1" dirty="0" smtClean="0">
                          <a:solidFill>
                            <a:srgbClr val="FF0000"/>
                          </a:solidFill>
                          <a:latin typeface="Cambria Math" panose="02040503050406030204" pitchFamily="18" charset="0"/>
                        </a:rPr>
                        <m:t>⁡(</m:t>
                      </m:r>
                      <m:r>
                        <a:rPr lang="es-NI" b="1" i="1" dirty="0" smtClean="0">
                          <a:solidFill>
                            <a:srgbClr val="FF0000"/>
                          </a:solidFill>
                          <a:latin typeface="Cambria Math" panose="02040503050406030204" pitchFamily="18" charset="0"/>
                        </a:rPr>
                        <m:t>𝑨</m:t>
                      </m:r>
                      <m:r>
                        <a:rPr lang="es-NI" b="1" i="1" dirty="0" smtClean="0">
                          <a:solidFill>
                            <a:srgbClr val="FF0000"/>
                          </a:solidFill>
                          <a:latin typeface="Cambria Math" panose="02040503050406030204" pitchFamily="18" charset="0"/>
                        </a:rPr>
                        <m:t>) &gt; </m:t>
                      </m:r>
                      <m:r>
                        <a:rPr lang="es-NI" b="1" i="1" dirty="0" smtClean="0">
                          <a:solidFill>
                            <a:srgbClr val="FF0000"/>
                          </a:solidFill>
                          <a:latin typeface="Cambria Math" panose="02040503050406030204" pitchFamily="18" charset="0"/>
                        </a:rPr>
                        <m:t>𝟎</m:t>
                      </m:r>
                    </m:oMath>
                  </m:oMathPara>
                </a14:m>
                <a:endParaRPr lang="es-NI" b="1" dirty="0">
                  <a:solidFill>
                    <a:srgbClr val="FF0000"/>
                  </a:solidFill>
                </a:endParaRPr>
              </a:p>
              <a:p>
                <a:pPr>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Área no </a:t>
                </a:r>
                <a:r>
                  <a:rPr sz="2100" b="1" dirty="0" err="1">
                    <a:solidFill>
                      <a:schemeClr val="accent3">
                        <a:lumMod val="50000"/>
                      </a:schemeClr>
                    </a:solidFill>
                    <a:latin typeface="Arial" panose="020B0604020202020204" pitchFamily="34" charset="0"/>
                    <a:ea typeface="+mj-ea"/>
                    <a:cs typeface="Arial" panose="020B0604020202020204" pitchFamily="34" charset="0"/>
                  </a:rPr>
                  <a:t>nula</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spcAft>
                    <a:spcPts val="400"/>
                  </a:spcAft>
                  <a:defRPr sz="1700">
                    <a:solidFill>
                      <a:srgbClr val="232D34"/>
                    </a:solidFill>
                    <a:latin typeface="Arial"/>
                  </a:defRPr>
                </a:pPr>
                <a:r>
                  <a:rPr sz="2100" b="1" dirty="0" err="1">
                    <a:solidFill>
                      <a:schemeClr val="accent3">
                        <a:lumMod val="50000"/>
                      </a:schemeClr>
                    </a:solidFill>
                    <a:latin typeface="Arial" panose="020B0604020202020204" pitchFamily="34" charset="0"/>
                    <a:ea typeface="+mj-ea"/>
                    <a:cs typeface="Arial" panose="020B0604020202020204" pitchFamily="34" charset="0"/>
                  </a:rPr>
                  <a:t>Conserva</a:t>
                </a:r>
                <a:r>
                  <a:rPr sz="2100" b="1" dirty="0">
                    <a:solidFill>
                      <a:schemeClr val="accent3">
                        <a:lumMod val="50000"/>
                      </a:schemeClr>
                    </a:solidFill>
                    <a:latin typeface="Arial" panose="020B0604020202020204" pitchFamily="34" charset="0"/>
                    <a:ea typeface="+mj-ea"/>
                    <a:cs typeface="Arial" panose="020B0604020202020204" pitchFamily="34" charset="0"/>
                  </a:rPr>
                  <a:t> </a:t>
                </a:r>
                <a:r>
                  <a:rPr sz="2100" b="1" dirty="0" err="1">
                    <a:solidFill>
                      <a:schemeClr val="accent3">
                        <a:lumMod val="50000"/>
                      </a:schemeClr>
                    </a:solidFill>
                    <a:latin typeface="Arial" panose="020B0604020202020204" pitchFamily="34" charset="0"/>
                    <a:ea typeface="+mj-ea"/>
                    <a:cs typeface="Arial" panose="020B0604020202020204" pitchFamily="34" charset="0"/>
                  </a:rPr>
                  <a:t>orientación</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lgn="just">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La </a:t>
                </a:r>
                <a:r>
                  <a:rPr sz="2100" b="1" dirty="0" err="1">
                    <a:solidFill>
                      <a:schemeClr val="accent3">
                        <a:lumMod val="50000"/>
                      </a:schemeClr>
                    </a:solidFill>
                    <a:latin typeface="Arial" panose="020B0604020202020204" pitchFamily="34" charset="0"/>
                    <a:ea typeface="+mj-ea"/>
                    <a:cs typeface="Arial" panose="020B0604020202020204" pitchFamily="34" charset="0"/>
                  </a:rPr>
                  <a:t>matriz</a:t>
                </a:r>
                <a:r>
                  <a:rPr sz="2100" b="1" dirty="0">
                    <a:solidFill>
                      <a:schemeClr val="accent3">
                        <a:lumMod val="50000"/>
                      </a:schemeClr>
                    </a:solidFill>
                    <a:latin typeface="Arial" panose="020B0604020202020204" pitchFamily="34" charset="0"/>
                    <a:ea typeface="+mj-ea"/>
                    <a:cs typeface="Arial" panose="020B0604020202020204" pitchFamily="34" charset="0"/>
                  </a:rPr>
                  <a:t> es invertible.</a:t>
                </a:r>
              </a:p>
            </p:txBody>
          </p:sp>
        </mc:Choice>
        <mc:Fallback>
          <p:sp>
            <p:nvSpPr>
              <p:cNvPr id="10" name="Rounded Rectangle 4">
                <a:extLst>
                  <a:ext uri="{FF2B5EF4-FFF2-40B4-BE49-F238E27FC236}">
                    <a16:creationId xmlns:a16="http://schemas.microsoft.com/office/drawing/2014/main" xmlns="" xmlns:a14="http://schemas.microsoft.com/office/drawing/2010/main" id="{EA8A4E57-2F6E-42A0-B279-4F3DF1C301CF}"/>
                  </a:ext>
                </a:extLst>
              </p:cNvPr>
              <p:cNvSpPr>
                <a:spLocks noRot="1" noChangeAspect="1" noMove="1" noResize="1" noEditPoints="1" noAdjustHandles="1" noChangeArrowheads="1" noChangeShapeType="1" noTextEdit="1"/>
              </p:cNvSpPr>
              <p:nvPr/>
            </p:nvSpPr>
            <p:spPr>
              <a:xfrm>
                <a:off x="615363" y="2567354"/>
                <a:ext cx="3383280" cy="3383280"/>
              </a:xfrm>
              <a:prstGeom prst="roundRect">
                <a:avLst/>
              </a:prstGeom>
              <a:blipFill rotWithShape="0">
                <a:blip r:embed="rId2"/>
                <a:stretch>
                  <a:fillRect/>
                </a:stretch>
              </a:blipFill>
              <a:ln w="19050">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Rounded Rectangle 5">
                <a:extLst>
                  <a:ext uri="{FF2B5EF4-FFF2-40B4-BE49-F238E27FC236}">
                    <a16:creationId xmlns:a16="http://schemas.microsoft.com/office/drawing/2014/main" xmlns="" id="{1305CEE4-E6DD-4797-962F-1691306522DC}"/>
                  </a:ext>
                </a:extLst>
              </p:cNvPr>
              <p:cNvSpPr/>
              <p:nvPr/>
            </p:nvSpPr>
            <p:spPr>
              <a:xfrm>
                <a:off x="4397244" y="2567354"/>
                <a:ext cx="3383280" cy="3383280"/>
              </a:xfrm>
              <a:prstGeom prst="roundRect">
                <a:avLst/>
              </a:prstGeom>
              <a:solidFill>
                <a:srgbClr val="EBF8F8"/>
              </a:solidFill>
              <a:ln w="19050">
                <a:solidFill>
                  <a:srgbClr val="DCAF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DCAF2D"/>
                    </a:solidFill>
                    <a:latin typeface="Arial"/>
                  </a:defRPr>
                </a:pPr>
                <a14:m>
                  <m:oMathPara xmlns:m="http://schemas.openxmlformats.org/officeDocument/2006/math">
                    <m:oMathParaPr>
                      <m:jc m:val="centerGroup"/>
                    </m:oMathParaPr>
                    <m:oMath xmlns:m="http://schemas.openxmlformats.org/officeDocument/2006/math">
                      <m:r>
                        <a:rPr lang="es-NI" b="1" i="1" dirty="0" smtClean="0">
                          <a:solidFill>
                            <a:srgbClr val="FF0000"/>
                          </a:solidFill>
                          <a:latin typeface="Cambria Math" panose="02040503050406030204" pitchFamily="18" charset="0"/>
                        </a:rPr>
                        <m:t>𝒅𝒆𝒕</m:t>
                      </m:r>
                      <m:r>
                        <a:rPr lang="es-NI" b="1" i="1" dirty="0" smtClean="0">
                          <a:solidFill>
                            <a:srgbClr val="FF0000"/>
                          </a:solidFill>
                          <a:latin typeface="Cambria Math" panose="02040503050406030204" pitchFamily="18" charset="0"/>
                        </a:rPr>
                        <m:t>⁡(</m:t>
                      </m:r>
                      <m:r>
                        <a:rPr lang="es-NI" b="1" i="1" dirty="0" smtClean="0">
                          <a:solidFill>
                            <a:srgbClr val="FF0000"/>
                          </a:solidFill>
                          <a:latin typeface="Cambria Math" panose="02040503050406030204" pitchFamily="18" charset="0"/>
                        </a:rPr>
                        <m:t>𝑨</m:t>
                      </m:r>
                      <m:r>
                        <a:rPr lang="es-NI" b="1" i="1" dirty="0" smtClean="0">
                          <a:solidFill>
                            <a:srgbClr val="FF0000"/>
                          </a:solidFill>
                          <a:latin typeface="Cambria Math" panose="02040503050406030204" pitchFamily="18" charset="0"/>
                        </a:rPr>
                        <m:t>) &lt; </m:t>
                      </m:r>
                      <m:r>
                        <a:rPr lang="es-NI" b="1" i="1" dirty="0" smtClean="0">
                          <a:solidFill>
                            <a:srgbClr val="FF0000"/>
                          </a:solidFill>
                          <a:latin typeface="Cambria Math" panose="02040503050406030204" pitchFamily="18" charset="0"/>
                        </a:rPr>
                        <m:t>𝟎</m:t>
                      </m:r>
                    </m:oMath>
                  </m:oMathPara>
                </a14:m>
                <a:endParaRPr lang="es-NI" b="1" dirty="0">
                  <a:solidFill>
                    <a:srgbClr val="FF0000"/>
                  </a:solidFill>
                </a:endParaRPr>
              </a:p>
              <a:p>
                <a:pPr>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Área no </a:t>
                </a:r>
                <a:r>
                  <a:rPr sz="2100" b="1" dirty="0" err="1">
                    <a:solidFill>
                      <a:schemeClr val="accent3">
                        <a:lumMod val="50000"/>
                      </a:schemeClr>
                    </a:solidFill>
                    <a:latin typeface="Arial" panose="020B0604020202020204" pitchFamily="34" charset="0"/>
                    <a:ea typeface="+mj-ea"/>
                    <a:cs typeface="Arial" panose="020B0604020202020204" pitchFamily="34" charset="0"/>
                  </a:rPr>
                  <a:t>nula</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Cambia </a:t>
                </a:r>
                <a:r>
                  <a:rPr sz="2100" b="1" dirty="0" err="1">
                    <a:solidFill>
                      <a:schemeClr val="accent3">
                        <a:lumMod val="50000"/>
                      </a:schemeClr>
                    </a:solidFill>
                    <a:latin typeface="Arial" panose="020B0604020202020204" pitchFamily="34" charset="0"/>
                    <a:ea typeface="+mj-ea"/>
                    <a:cs typeface="Arial" panose="020B0604020202020204" pitchFamily="34" charset="0"/>
                  </a:rPr>
                  <a:t>orientación</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lgn="just">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La </a:t>
                </a:r>
                <a:r>
                  <a:rPr sz="2100" b="1" dirty="0" err="1">
                    <a:solidFill>
                      <a:schemeClr val="accent3">
                        <a:lumMod val="50000"/>
                      </a:schemeClr>
                    </a:solidFill>
                    <a:latin typeface="Arial" panose="020B0604020202020204" pitchFamily="34" charset="0"/>
                    <a:ea typeface="+mj-ea"/>
                    <a:cs typeface="Arial" panose="020B0604020202020204" pitchFamily="34" charset="0"/>
                  </a:rPr>
                  <a:t>matriz</a:t>
                </a:r>
                <a:r>
                  <a:rPr sz="2100" b="1" dirty="0">
                    <a:solidFill>
                      <a:schemeClr val="accent3">
                        <a:lumMod val="50000"/>
                      </a:schemeClr>
                    </a:solidFill>
                    <a:latin typeface="Arial" panose="020B0604020202020204" pitchFamily="34" charset="0"/>
                    <a:ea typeface="+mj-ea"/>
                    <a:cs typeface="Arial" panose="020B0604020202020204" pitchFamily="34" charset="0"/>
                  </a:rPr>
                  <a:t> es invertible.</a:t>
                </a:r>
              </a:p>
            </p:txBody>
          </p:sp>
        </mc:Choice>
        <mc:Fallback>
          <p:sp>
            <p:nvSpPr>
              <p:cNvPr id="13" name="Rounded Rectangle 5">
                <a:extLst>
                  <a:ext uri="{FF2B5EF4-FFF2-40B4-BE49-F238E27FC236}">
                    <a16:creationId xmlns:a16="http://schemas.microsoft.com/office/drawing/2014/main" xmlns="" xmlns:a14="http://schemas.microsoft.com/office/drawing/2010/main" id="{1305CEE4-E6DD-4797-962F-1691306522DC}"/>
                  </a:ext>
                </a:extLst>
              </p:cNvPr>
              <p:cNvSpPr>
                <a:spLocks noRot="1" noChangeAspect="1" noMove="1" noResize="1" noEditPoints="1" noAdjustHandles="1" noChangeArrowheads="1" noChangeShapeType="1" noTextEdit="1"/>
              </p:cNvSpPr>
              <p:nvPr/>
            </p:nvSpPr>
            <p:spPr>
              <a:xfrm>
                <a:off x="4397244" y="2567354"/>
                <a:ext cx="3383280" cy="3383280"/>
              </a:xfrm>
              <a:prstGeom prst="roundRect">
                <a:avLst/>
              </a:prstGeom>
              <a:blipFill rotWithShape="0">
                <a:blip r:embed="rId3"/>
                <a:stretch>
                  <a:fillRect/>
                </a:stretch>
              </a:blipFill>
              <a:ln w="19050">
                <a:solidFill>
                  <a:srgbClr val="DCAF2D"/>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4" name="Rounded Rectangle 6">
                <a:extLst>
                  <a:ext uri="{FF2B5EF4-FFF2-40B4-BE49-F238E27FC236}">
                    <a16:creationId xmlns:a16="http://schemas.microsoft.com/office/drawing/2014/main" xmlns="" id="{48454206-7D8E-43E9-A929-8446B50BD1B5}"/>
                  </a:ext>
                </a:extLst>
              </p:cNvPr>
              <p:cNvSpPr/>
              <p:nvPr/>
            </p:nvSpPr>
            <p:spPr>
              <a:xfrm>
                <a:off x="8179124" y="2567354"/>
                <a:ext cx="3383280" cy="3383280"/>
              </a:xfrm>
              <a:prstGeom prst="roundRect">
                <a:avLst/>
              </a:prstGeom>
              <a:solidFill>
                <a:srgbClr val="EBF8F8"/>
              </a:solidFill>
              <a:ln w="19050">
                <a:solidFill>
                  <a:srgbClr val="BE464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BE4646"/>
                    </a:solidFill>
                    <a:latin typeface="Arial"/>
                  </a:defRPr>
                </a:pPr>
                <a14:m>
                  <m:oMathPara xmlns:m="http://schemas.openxmlformats.org/officeDocument/2006/math">
                    <m:oMathParaPr>
                      <m:jc m:val="centerGroup"/>
                    </m:oMathParaPr>
                    <m:oMath xmlns:m="http://schemas.openxmlformats.org/officeDocument/2006/math">
                      <m:r>
                        <a:rPr lang="es-NI" b="1" i="1" dirty="0" smtClean="0">
                          <a:solidFill>
                            <a:srgbClr val="FF0000"/>
                          </a:solidFill>
                          <a:latin typeface="Cambria Math" panose="02040503050406030204" pitchFamily="18" charset="0"/>
                        </a:rPr>
                        <m:t>𝒅𝒆𝒕</m:t>
                      </m:r>
                      <m:r>
                        <a:rPr lang="es-NI" b="1" i="1" dirty="0" smtClean="0">
                          <a:solidFill>
                            <a:srgbClr val="FF0000"/>
                          </a:solidFill>
                          <a:latin typeface="Cambria Math" panose="02040503050406030204" pitchFamily="18" charset="0"/>
                        </a:rPr>
                        <m:t>⁡(</m:t>
                      </m:r>
                      <m:r>
                        <a:rPr lang="es-NI" b="1" i="1" dirty="0" smtClean="0">
                          <a:solidFill>
                            <a:srgbClr val="FF0000"/>
                          </a:solidFill>
                          <a:latin typeface="Cambria Math" panose="02040503050406030204" pitchFamily="18" charset="0"/>
                        </a:rPr>
                        <m:t>𝑨</m:t>
                      </m:r>
                      <m:r>
                        <a:rPr lang="es-NI" b="1" i="1" dirty="0" smtClean="0">
                          <a:solidFill>
                            <a:srgbClr val="FF0000"/>
                          </a:solidFill>
                          <a:latin typeface="Cambria Math" panose="02040503050406030204" pitchFamily="18" charset="0"/>
                        </a:rPr>
                        <m:t>) = </m:t>
                      </m:r>
                      <m:r>
                        <a:rPr lang="es-NI" b="1" i="1" dirty="0" smtClean="0">
                          <a:solidFill>
                            <a:srgbClr val="FF0000"/>
                          </a:solidFill>
                          <a:latin typeface="Cambria Math" panose="02040503050406030204" pitchFamily="18" charset="0"/>
                        </a:rPr>
                        <m:t>𝟎</m:t>
                      </m:r>
                    </m:oMath>
                  </m:oMathPara>
                </a14:m>
                <a:endParaRPr lang="es-NI" b="1" dirty="0">
                  <a:solidFill>
                    <a:srgbClr val="FF0000"/>
                  </a:solidFill>
                </a:endParaRPr>
              </a:p>
              <a:p>
                <a:pPr algn="just">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El área/</a:t>
                </a:r>
                <a:r>
                  <a:rPr sz="2100" b="1" dirty="0" err="1">
                    <a:solidFill>
                      <a:schemeClr val="accent3">
                        <a:lumMod val="50000"/>
                      </a:schemeClr>
                    </a:solidFill>
                    <a:latin typeface="Arial" panose="020B0604020202020204" pitchFamily="34" charset="0"/>
                    <a:ea typeface="+mj-ea"/>
                    <a:cs typeface="Arial" panose="020B0604020202020204" pitchFamily="34" charset="0"/>
                  </a:rPr>
                  <a:t>volumen</a:t>
                </a:r>
                <a:r>
                  <a:rPr sz="2100" b="1" dirty="0">
                    <a:solidFill>
                      <a:schemeClr val="accent3">
                        <a:lumMod val="50000"/>
                      </a:schemeClr>
                    </a:solidFill>
                    <a:latin typeface="Arial" panose="020B0604020202020204" pitchFamily="34" charset="0"/>
                    <a:ea typeface="+mj-ea"/>
                    <a:cs typeface="Arial" panose="020B0604020202020204" pitchFamily="34" charset="0"/>
                  </a:rPr>
                  <a:t> </a:t>
                </a:r>
                <a:r>
                  <a:rPr sz="2100" b="1" dirty="0" err="1">
                    <a:solidFill>
                      <a:schemeClr val="accent3">
                        <a:lumMod val="50000"/>
                      </a:schemeClr>
                    </a:solidFill>
                    <a:latin typeface="Arial" panose="020B0604020202020204" pitchFamily="34" charset="0"/>
                    <a:ea typeface="+mj-ea"/>
                    <a:cs typeface="Arial" panose="020B0604020202020204" pitchFamily="34" charset="0"/>
                  </a:rPr>
                  <a:t>colapsa</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lgn="just">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Se </a:t>
                </a:r>
                <a:r>
                  <a:rPr sz="2100" b="1" dirty="0" err="1">
                    <a:solidFill>
                      <a:schemeClr val="accent3">
                        <a:lumMod val="50000"/>
                      </a:schemeClr>
                    </a:solidFill>
                    <a:latin typeface="Arial" panose="020B0604020202020204" pitchFamily="34" charset="0"/>
                    <a:ea typeface="+mj-ea"/>
                    <a:cs typeface="Arial" panose="020B0604020202020204" pitchFamily="34" charset="0"/>
                  </a:rPr>
                  <a:t>pierde</a:t>
                </a:r>
                <a:r>
                  <a:rPr sz="2100" b="1" dirty="0">
                    <a:solidFill>
                      <a:schemeClr val="accent3">
                        <a:lumMod val="50000"/>
                      </a:schemeClr>
                    </a:solidFill>
                    <a:latin typeface="Arial" panose="020B0604020202020204" pitchFamily="34" charset="0"/>
                    <a:ea typeface="+mj-ea"/>
                    <a:cs typeface="Arial" panose="020B0604020202020204" pitchFamily="34" charset="0"/>
                  </a:rPr>
                  <a:t> </a:t>
                </a:r>
                <a:r>
                  <a:rPr sz="2100" b="1" dirty="0" err="1">
                    <a:solidFill>
                      <a:schemeClr val="accent3">
                        <a:lumMod val="50000"/>
                      </a:schemeClr>
                    </a:solidFill>
                    <a:latin typeface="Arial" panose="020B0604020202020204" pitchFamily="34" charset="0"/>
                    <a:ea typeface="+mj-ea"/>
                    <a:cs typeface="Arial" panose="020B0604020202020204" pitchFamily="34" charset="0"/>
                  </a:rPr>
                  <a:t>dimensión</a:t>
                </a:r>
                <a:r>
                  <a:rPr sz="2100" b="1" dirty="0">
                    <a:solidFill>
                      <a:schemeClr val="accent3">
                        <a:lumMod val="50000"/>
                      </a:schemeClr>
                    </a:solidFill>
                    <a:latin typeface="Arial" panose="020B0604020202020204" pitchFamily="34" charset="0"/>
                    <a:ea typeface="+mj-ea"/>
                    <a:cs typeface="Arial" panose="020B0604020202020204" pitchFamily="34" charset="0"/>
                  </a:rPr>
                  <a:t>.</a:t>
                </a:r>
              </a:p>
              <a:p>
                <a:pPr algn="just">
                  <a:spcAft>
                    <a:spcPts val="400"/>
                  </a:spcAft>
                  <a:defRPr sz="1700">
                    <a:solidFill>
                      <a:srgbClr val="232D34"/>
                    </a:solidFill>
                    <a:latin typeface="Arial"/>
                  </a:defRPr>
                </a:pPr>
                <a:r>
                  <a:rPr sz="2100" b="1" dirty="0">
                    <a:solidFill>
                      <a:schemeClr val="accent3">
                        <a:lumMod val="50000"/>
                      </a:schemeClr>
                    </a:solidFill>
                    <a:latin typeface="Arial" panose="020B0604020202020204" pitchFamily="34" charset="0"/>
                    <a:ea typeface="+mj-ea"/>
                    <a:cs typeface="Arial" panose="020B0604020202020204" pitchFamily="34" charset="0"/>
                  </a:rPr>
                  <a:t>La </a:t>
                </a:r>
                <a:r>
                  <a:rPr sz="2100" b="1" dirty="0" err="1">
                    <a:solidFill>
                      <a:schemeClr val="accent3">
                        <a:lumMod val="50000"/>
                      </a:schemeClr>
                    </a:solidFill>
                    <a:latin typeface="Arial" panose="020B0604020202020204" pitchFamily="34" charset="0"/>
                    <a:ea typeface="+mj-ea"/>
                    <a:cs typeface="Arial" panose="020B0604020202020204" pitchFamily="34" charset="0"/>
                  </a:rPr>
                  <a:t>matriz</a:t>
                </a:r>
                <a:r>
                  <a:rPr sz="2100" b="1" dirty="0">
                    <a:solidFill>
                      <a:schemeClr val="accent3">
                        <a:lumMod val="50000"/>
                      </a:schemeClr>
                    </a:solidFill>
                    <a:latin typeface="Arial" panose="020B0604020202020204" pitchFamily="34" charset="0"/>
                    <a:ea typeface="+mj-ea"/>
                    <a:cs typeface="Arial" panose="020B0604020202020204" pitchFamily="34" charset="0"/>
                  </a:rPr>
                  <a:t> no es invertible.</a:t>
                </a:r>
              </a:p>
            </p:txBody>
          </p:sp>
        </mc:Choice>
        <mc:Fallback>
          <p:sp>
            <p:nvSpPr>
              <p:cNvPr id="14" name="Rounded Rectangle 6">
                <a:extLst>
                  <a:ext uri="{FF2B5EF4-FFF2-40B4-BE49-F238E27FC236}">
                    <a16:creationId xmlns:a16="http://schemas.microsoft.com/office/drawing/2014/main" xmlns="" xmlns:a14="http://schemas.microsoft.com/office/drawing/2010/main" id="{48454206-7D8E-43E9-A929-8446B50BD1B5}"/>
                  </a:ext>
                </a:extLst>
              </p:cNvPr>
              <p:cNvSpPr>
                <a:spLocks noRot="1" noChangeAspect="1" noMove="1" noResize="1" noEditPoints="1" noAdjustHandles="1" noChangeArrowheads="1" noChangeShapeType="1" noTextEdit="1"/>
              </p:cNvSpPr>
              <p:nvPr/>
            </p:nvSpPr>
            <p:spPr>
              <a:xfrm>
                <a:off x="8179124" y="2567354"/>
                <a:ext cx="3383280" cy="3383280"/>
              </a:xfrm>
              <a:prstGeom prst="roundRect">
                <a:avLst/>
              </a:prstGeom>
              <a:blipFill rotWithShape="0">
                <a:blip r:embed="rId4"/>
                <a:stretch>
                  <a:fillRect/>
                </a:stretch>
              </a:blipFill>
              <a:ln w="19050">
                <a:solidFill>
                  <a:srgbClr val="BE4646"/>
                </a:solidFill>
              </a:ln>
            </p:spPr>
            <p:txBody>
              <a:bodyPr/>
              <a:lstStyle/>
              <a:p>
                <a:r>
                  <a:rPr lang="es-MX">
                    <a:noFill/>
                  </a:rPr>
                  <a:t> </a:t>
                </a:r>
              </a:p>
            </p:txBody>
          </p:sp>
        </mc:Fallback>
      </mc:AlternateContent>
    </p:spTree>
    <p:extLst>
      <p:ext uri="{BB962C8B-B14F-4D97-AF65-F5344CB8AC3E}">
        <p14:creationId xmlns:p14="http://schemas.microsoft.com/office/powerpoint/2010/main" val="211052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2000"/>
                                        <p:tgtEl>
                                          <p:spTgt spid="10"/>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2000"/>
                                        <p:tgtEl>
                                          <p:spTgt spid="13"/>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circle(in)">
                                      <p:cBhvr>
                                        <p:cTn id="21"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itle 1"/>
              <p:cNvSpPr txBox="1">
                <a:spLocks/>
              </p:cNvSpPr>
              <p:nvPr/>
            </p:nvSpPr>
            <p:spPr>
              <a:xfrm>
                <a:off x="1" y="1115279"/>
                <a:ext cx="309489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sz="2700" b="1">
                    <a:solidFill>
                      <a:srgbClr val="232D34"/>
                    </a:solidFill>
                    <a:latin typeface="Arial"/>
                  </a:defRPr>
                </a:pPr>
                <a:r>
                  <a:rPr lang="es-NI" sz="2200" dirty="0" smtClean="0">
                    <a:solidFill>
                      <a:schemeClr val="accent3">
                        <a:lumMod val="50000"/>
                      </a:schemeClr>
                    </a:solidFill>
                  </a:rPr>
                  <a:t>¿Por qué </a:t>
                </a:r>
                <a14:m>
                  <m:oMath xmlns:m="http://schemas.openxmlformats.org/officeDocument/2006/math">
                    <m:r>
                      <a:rPr lang="es-NI" sz="2200" b="1" i="1" dirty="0" smtClean="0">
                        <a:solidFill>
                          <a:schemeClr val="accent3">
                            <a:lumMod val="50000"/>
                          </a:schemeClr>
                        </a:solidFill>
                        <a:latin typeface="Cambria Math" panose="02040503050406030204" pitchFamily="18" charset="0"/>
                      </a:rPr>
                      <m:t>𝒂𝒅</m:t>
                    </m:r>
                    <m:r>
                      <a:rPr lang="es-NI" sz="2200" b="1" i="1" dirty="0" smtClean="0">
                        <a:solidFill>
                          <a:schemeClr val="accent3">
                            <a:lumMod val="50000"/>
                          </a:schemeClr>
                        </a:solidFill>
                        <a:latin typeface="Cambria Math" panose="02040503050406030204" pitchFamily="18" charset="0"/>
                      </a:rPr>
                      <m:t> − </m:t>
                    </m:r>
                    <m:r>
                      <a:rPr lang="es-NI" sz="2200" b="1" i="1" dirty="0" err="1">
                        <a:solidFill>
                          <a:schemeClr val="accent3">
                            <a:lumMod val="50000"/>
                          </a:schemeClr>
                        </a:solidFill>
                        <a:latin typeface="Cambria Math" panose="02040503050406030204" pitchFamily="18" charset="0"/>
                      </a:rPr>
                      <m:t>𝒃𝒄</m:t>
                    </m:r>
                  </m:oMath>
                </a14:m>
                <a:r>
                  <a:rPr lang="es-NI" sz="2200" dirty="0">
                    <a:solidFill>
                      <a:schemeClr val="accent3">
                        <a:lumMod val="50000"/>
                      </a:schemeClr>
                    </a:solidFill>
                  </a:rPr>
                  <a:t>?</a:t>
                </a:r>
              </a:p>
            </p:txBody>
          </p:sp>
        </mc:Choice>
        <mc:Fallback>
          <p:sp>
            <p:nvSpPr>
              <p:cNvPr id="4" name="Title 1"/>
              <p:cNvSpPr txBox="1">
                <a:spLocks noRot="1" noChangeAspect="1" noMove="1" noResize="1" noEditPoints="1" noAdjustHandles="1" noChangeArrowheads="1" noChangeShapeType="1" noTextEdit="1"/>
              </p:cNvSpPr>
              <p:nvPr/>
            </p:nvSpPr>
            <p:spPr>
              <a:xfrm>
                <a:off x="1" y="1115279"/>
                <a:ext cx="3094892" cy="540039"/>
              </a:xfrm>
              <a:prstGeom prst="rect">
                <a:avLst/>
              </a:prstGeom>
              <a:blipFill rotWithShape="0">
                <a:blip r:embed="rId2"/>
                <a:stretch>
                  <a:fillRect l="-2559" b="-1348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5" name="Title 1"/>
              <p:cNvSpPr txBox="1">
                <a:spLocks/>
              </p:cNvSpPr>
              <p:nvPr/>
            </p:nvSpPr>
            <p:spPr>
              <a:xfrm>
                <a:off x="25761" y="1693020"/>
                <a:ext cx="669740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ES" sz="2100" b="1" dirty="0">
                    <a:solidFill>
                      <a:schemeClr val="accent5">
                        <a:lumMod val="75000"/>
                      </a:schemeClr>
                    </a:solidFill>
                    <a:latin typeface="Arial" panose="020B0604020202020204" pitchFamily="34" charset="0"/>
                    <a:cs typeface="Arial" panose="020B0604020202020204" pitchFamily="34" charset="0"/>
                  </a:rPr>
                  <a:t>Lectura visual de la fórmula para una matriz </a:t>
                </a:r>
                <a14:m>
                  <m:oMath xmlns:m="http://schemas.openxmlformats.org/officeDocument/2006/math">
                    <m:r>
                      <a:rPr lang="es-ES" sz="2100" b="1" i="1" dirty="0" smtClean="0">
                        <a:solidFill>
                          <a:schemeClr val="accent5">
                            <a:lumMod val="75000"/>
                          </a:schemeClr>
                        </a:solidFill>
                        <a:latin typeface="Cambria Math" panose="02040503050406030204" pitchFamily="18" charset="0"/>
                        <a:cs typeface="Arial" panose="020B0604020202020204" pitchFamily="34" charset="0"/>
                      </a:rPr>
                      <m:t>𝟐</m:t>
                    </m:r>
                    <m:r>
                      <a:rPr lang="es-ES" sz="2100" b="1" i="1" dirty="0" smtClean="0">
                        <a:solidFill>
                          <a:schemeClr val="accent5">
                            <a:lumMod val="75000"/>
                          </a:schemeClr>
                        </a:solidFill>
                        <a:latin typeface="Cambria Math" panose="02040503050406030204" pitchFamily="18" charset="0"/>
                        <a:cs typeface="Arial" panose="020B0604020202020204" pitchFamily="34" charset="0"/>
                      </a:rPr>
                      <m:t> × </m:t>
                    </m:r>
                    <m:r>
                      <a:rPr lang="es-ES" sz="2100" b="1" i="1" dirty="0" smtClean="0">
                        <a:solidFill>
                          <a:schemeClr val="accent5">
                            <a:lumMod val="75000"/>
                          </a:schemeClr>
                        </a:solidFill>
                        <a:latin typeface="Cambria Math" panose="02040503050406030204" pitchFamily="18" charset="0"/>
                        <a:cs typeface="Arial" panose="020B0604020202020204" pitchFamily="34" charset="0"/>
                      </a:rPr>
                      <m:t>𝟐</m:t>
                    </m:r>
                  </m:oMath>
                </a14:m>
                <a:endParaRPr lang="es-ES" sz="2100" b="1" dirty="0">
                  <a:solidFill>
                    <a:schemeClr val="accent5">
                      <a:lumMod val="75000"/>
                    </a:schemeClr>
                  </a:solidFill>
                  <a:latin typeface="Arial" panose="020B0604020202020204" pitchFamily="34" charset="0"/>
                  <a:cs typeface="Arial" panose="020B0604020202020204" pitchFamily="34" charset="0"/>
                </a:endParaRPr>
              </a:p>
            </p:txBody>
          </p:sp>
        </mc:Choice>
        <mc:Fallback>
          <p:sp>
            <p:nvSpPr>
              <p:cNvPr id="5" name="Title 1"/>
              <p:cNvSpPr txBox="1">
                <a:spLocks noRot="1" noChangeAspect="1" noMove="1" noResize="1" noEditPoints="1" noAdjustHandles="1" noChangeArrowheads="1" noChangeShapeType="1" noTextEdit="1"/>
              </p:cNvSpPr>
              <p:nvPr/>
            </p:nvSpPr>
            <p:spPr>
              <a:xfrm>
                <a:off x="25761" y="1693020"/>
                <a:ext cx="6697407" cy="540039"/>
              </a:xfrm>
              <a:prstGeom prst="rect">
                <a:avLst/>
              </a:prstGeom>
              <a:blipFill rotWithShape="0">
                <a:blip r:embed="rId3"/>
                <a:stretch>
                  <a:fillRect l="-1092" b="-11364"/>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TextBox 4">
                <a:extLst>
                  <a:ext uri="{FF2B5EF4-FFF2-40B4-BE49-F238E27FC236}">
                    <a16:creationId xmlns:a16="http://schemas.microsoft.com/office/drawing/2014/main" xmlns="" id="{EAFD73D3-A488-483C-BB55-B5EB7C636A66}"/>
                  </a:ext>
                </a:extLst>
              </p:cNvPr>
              <p:cNvSpPr txBox="1"/>
              <p:nvPr/>
            </p:nvSpPr>
            <p:spPr>
              <a:xfrm>
                <a:off x="659993" y="2429491"/>
                <a:ext cx="685444" cy="369332"/>
              </a:xfrm>
              <a:prstGeom prst="rect">
                <a:avLst/>
              </a:prstGeom>
              <a:noFill/>
            </p:spPr>
            <p:txBody>
              <a:bodyPr wrap="none">
                <a:spAutoFit/>
              </a:bodyPr>
              <a:lstStyle/>
              <a:p>
                <a:pPr>
                  <a:defRPr sz="1800" b="1">
                    <a:solidFill>
                      <a:srgbClr val="00A6A6"/>
                    </a:solidFill>
                    <a:latin typeface="Arial"/>
                  </a:defRPr>
                </a:pPr>
                <a14:m>
                  <m:oMathPara xmlns:m="http://schemas.openxmlformats.org/officeDocument/2006/math">
                    <m:oMathParaPr>
                      <m:jc m:val="centerGroup"/>
                    </m:oMathParaPr>
                    <m:oMath xmlns:m="http://schemas.openxmlformats.org/officeDocument/2006/math">
                      <m:r>
                        <a:rPr lang="es-NI" b="1" i="1" dirty="0" smtClean="0">
                          <a:latin typeface="Cambria Math" panose="02040503050406030204" pitchFamily="18" charset="0"/>
                        </a:rPr>
                        <m:t>𝑨</m:t>
                      </m:r>
                      <m:r>
                        <a:rPr lang="es-NI" b="1" i="1" dirty="0" smtClean="0">
                          <a:latin typeface="Cambria Math" panose="02040503050406030204" pitchFamily="18" charset="0"/>
                        </a:rPr>
                        <m:t> =</m:t>
                      </m:r>
                    </m:oMath>
                  </m:oMathPara>
                </a14:m>
                <a:endParaRPr b="1" dirty="0"/>
              </a:p>
            </p:txBody>
          </p:sp>
        </mc:Choice>
        <mc:Fallback>
          <p:sp>
            <p:nvSpPr>
              <p:cNvPr id="7" name="TextBox 4">
                <a:extLst>
                  <a:ext uri="{FF2B5EF4-FFF2-40B4-BE49-F238E27FC236}">
                    <a16:creationId xmlns:a16="http://schemas.microsoft.com/office/drawing/2014/main" xmlns="" xmlns:a14="http://schemas.microsoft.com/office/drawing/2010/main" id="{EAFD73D3-A488-483C-BB55-B5EB7C636A66}"/>
                  </a:ext>
                </a:extLst>
              </p:cNvPr>
              <p:cNvSpPr txBox="1">
                <a:spLocks noRot="1" noChangeAspect="1" noMove="1" noResize="1" noEditPoints="1" noAdjustHandles="1" noChangeArrowheads="1" noChangeShapeType="1" noTextEdit="1"/>
              </p:cNvSpPr>
              <p:nvPr/>
            </p:nvSpPr>
            <p:spPr>
              <a:xfrm>
                <a:off x="659993" y="2429491"/>
                <a:ext cx="685444" cy="369332"/>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Rectangle 5">
                <a:extLst>
                  <a:ext uri="{FF2B5EF4-FFF2-40B4-BE49-F238E27FC236}">
                    <a16:creationId xmlns:a16="http://schemas.microsoft.com/office/drawing/2014/main" xmlns="" id="{17D06526-1502-4987-A841-87CD819FB90B}"/>
                  </a:ext>
                </a:extLst>
              </p:cNvPr>
              <p:cNvSpPr/>
              <p:nvPr/>
            </p:nvSpPr>
            <p:spPr>
              <a:xfrm>
                <a:off x="659993" y="2813539"/>
                <a:ext cx="868680" cy="86868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NI" sz="2200" b="1" i="1" dirty="0" smtClean="0">
                          <a:solidFill>
                            <a:srgbClr val="232D34"/>
                          </a:solidFill>
                          <a:latin typeface="Cambria Math" panose="02040503050406030204" pitchFamily="18" charset="0"/>
                        </a:rPr>
                        <m:t>𝒂</m:t>
                      </m:r>
                    </m:oMath>
                  </m:oMathPara>
                </a14:m>
                <a:endParaRPr sz="2200" b="1" dirty="0">
                  <a:solidFill>
                    <a:srgbClr val="232D34"/>
                  </a:solidFill>
                  <a:latin typeface="Arial"/>
                </a:endParaRPr>
              </a:p>
            </p:txBody>
          </p:sp>
        </mc:Choice>
        <mc:Fallback>
          <p:sp>
            <p:nvSpPr>
              <p:cNvPr id="8" name="Rectangle 5">
                <a:extLst>
                  <a:ext uri="{FF2B5EF4-FFF2-40B4-BE49-F238E27FC236}">
                    <a16:creationId xmlns:a16="http://schemas.microsoft.com/office/drawing/2014/main" xmlns="" xmlns:a14="http://schemas.microsoft.com/office/drawing/2010/main" id="{17D06526-1502-4987-A841-87CD819FB90B}"/>
                  </a:ext>
                </a:extLst>
              </p:cNvPr>
              <p:cNvSpPr>
                <a:spLocks noRot="1" noChangeAspect="1" noMove="1" noResize="1" noEditPoints="1" noAdjustHandles="1" noChangeArrowheads="1" noChangeShapeType="1" noTextEdit="1"/>
              </p:cNvSpPr>
              <p:nvPr/>
            </p:nvSpPr>
            <p:spPr>
              <a:xfrm>
                <a:off x="659993" y="2813539"/>
                <a:ext cx="868680" cy="868680"/>
              </a:xfrm>
              <a:prstGeom prst="rect">
                <a:avLst/>
              </a:prstGeom>
              <a:blipFill rotWithShape="0">
                <a:blip r:embed="rId5"/>
                <a:stretch>
                  <a:fillRect/>
                </a:stretch>
              </a:blipFill>
              <a:ln>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9" name="Rectangle 6">
                <a:extLst>
                  <a:ext uri="{FF2B5EF4-FFF2-40B4-BE49-F238E27FC236}">
                    <a16:creationId xmlns:a16="http://schemas.microsoft.com/office/drawing/2014/main" xmlns="" id="{70CD46BB-14DF-4CCC-AF70-6741594AE1A0}"/>
                  </a:ext>
                </a:extLst>
              </p:cNvPr>
              <p:cNvSpPr/>
              <p:nvPr/>
            </p:nvSpPr>
            <p:spPr>
              <a:xfrm>
                <a:off x="1528673" y="2813539"/>
                <a:ext cx="868680" cy="86868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NI" sz="2200" b="1" i="1" dirty="0" smtClean="0">
                          <a:solidFill>
                            <a:srgbClr val="232D34"/>
                          </a:solidFill>
                          <a:latin typeface="Cambria Math" panose="02040503050406030204" pitchFamily="18" charset="0"/>
                        </a:rPr>
                        <m:t>𝒃</m:t>
                      </m:r>
                    </m:oMath>
                  </m:oMathPara>
                </a14:m>
                <a:endParaRPr sz="2200" b="1" dirty="0">
                  <a:solidFill>
                    <a:srgbClr val="232D34"/>
                  </a:solidFill>
                  <a:latin typeface="Arial"/>
                </a:endParaRPr>
              </a:p>
            </p:txBody>
          </p:sp>
        </mc:Choice>
        <mc:Fallback>
          <p:sp>
            <p:nvSpPr>
              <p:cNvPr id="9" name="Rectangle 6">
                <a:extLst>
                  <a:ext uri="{FF2B5EF4-FFF2-40B4-BE49-F238E27FC236}">
                    <a16:creationId xmlns:a16="http://schemas.microsoft.com/office/drawing/2014/main" xmlns="" xmlns:a14="http://schemas.microsoft.com/office/drawing/2010/main" id="{70CD46BB-14DF-4CCC-AF70-6741594AE1A0}"/>
                  </a:ext>
                </a:extLst>
              </p:cNvPr>
              <p:cNvSpPr>
                <a:spLocks noRot="1" noChangeAspect="1" noMove="1" noResize="1" noEditPoints="1" noAdjustHandles="1" noChangeArrowheads="1" noChangeShapeType="1" noTextEdit="1"/>
              </p:cNvSpPr>
              <p:nvPr/>
            </p:nvSpPr>
            <p:spPr>
              <a:xfrm>
                <a:off x="1528673" y="2813539"/>
                <a:ext cx="868680" cy="868680"/>
              </a:xfrm>
              <a:prstGeom prst="rect">
                <a:avLst/>
              </a:prstGeom>
              <a:blipFill rotWithShape="0">
                <a:blip r:embed="rId6"/>
                <a:stretch>
                  <a:fillRect/>
                </a:stretch>
              </a:blipFill>
              <a:ln>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Rectangle 7">
                <a:extLst>
                  <a:ext uri="{FF2B5EF4-FFF2-40B4-BE49-F238E27FC236}">
                    <a16:creationId xmlns:a16="http://schemas.microsoft.com/office/drawing/2014/main" xmlns="" id="{DC768387-4221-4F3C-80F5-F1E1AF707EF3}"/>
                  </a:ext>
                </a:extLst>
              </p:cNvPr>
              <p:cNvSpPr/>
              <p:nvPr/>
            </p:nvSpPr>
            <p:spPr>
              <a:xfrm>
                <a:off x="659993" y="3682219"/>
                <a:ext cx="868680" cy="86868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NI" sz="2200" b="1" i="1" dirty="0" smtClean="0">
                          <a:solidFill>
                            <a:srgbClr val="232D34"/>
                          </a:solidFill>
                          <a:latin typeface="Cambria Math" panose="02040503050406030204" pitchFamily="18" charset="0"/>
                        </a:rPr>
                        <m:t>𝒄</m:t>
                      </m:r>
                    </m:oMath>
                  </m:oMathPara>
                </a14:m>
                <a:endParaRPr sz="2200" b="1" dirty="0">
                  <a:solidFill>
                    <a:srgbClr val="232D34"/>
                  </a:solidFill>
                  <a:latin typeface="Arial"/>
                </a:endParaRPr>
              </a:p>
            </p:txBody>
          </p:sp>
        </mc:Choice>
        <mc:Fallback>
          <p:sp>
            <p:nvSpPr>
              <p:cNvPr id="11" name="Rectangle 7">
                <a:extLst>
                  <a:ext uri="{FF2B5EF4-FFF2-40B4-BE49-F238E27FC236}">
                    <a16:creationId xmlns:a16="http://schemas.microsoft.com/office/drawing/2014/main" xmlns="" xmlns:a14="http://schemas.microsoft.com/office/drawing/2010/main" id="{DC768387-4221-4F3C-80F5-F1E1AF707EF3}"/>
                  </a:ext>
                </a:extLst>
              </p:cNvPr>
              <p:cNvSpPr>
                <a:spLocks noRot="1" noChangeAspect="1" noMove="1" noResize="1" noEditPoints="1" noAdjustHandles="1" noChangeArrowheads="1" noChangeShapeType="1" noTextEdit="1"/>
              </p:cNvSpPr>
              <p:nvPr/>
            </p:nvSpPr>
            <p:spPr>
              <a:xfrm>
                <a:off x="659993" y="3682219"/>
                <a:ext cx="868680" cy="868680"/>
              </a:xfrm>
              <a:prstGeom prst="rect">
                <a:avLst/>
              </a:prstGeom>
              <a:blipFill rotWithShape="0">
                <a:blip r:embed="rId7"/>
                <a:stretch>
                  <a:fillRect/>
                </a:stretch>
              </a:blipFill>
              <a:ln>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2" name="Rectangle 8">
                <a:extLst>
                  <a:ext uri="{FF2B5EF4-FFF2-40B4-BE49-F238E27FC236}">
                    <a16:creationId xmlns:a16="http://schemas.microsoft.com/office/drawing/2014/main" xmlns="" id="{85090648-9273-4F23-8B9E-A1B9EDC0FCFB}"/>
                  </a:ext>
                </a:extLst>
              </p:cNvPr>
              <p:cNvSpPr/>
              <p:nvPr/>
            </p:nvSpPr>
            <p:spPr>
              <a:xfrm>
                <a:off x="1528673" y="3682219"/>
                <a:ext cx="868680" cy="86868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NI" sz="2200" b="1" i="1" dirty="0" smtClean="0">
                          <a:solidFill>
                            <a:srgbClr val="232D34"/>
                          </a:solidFill>
                          <a:latin typeface="Cambria Math" panose="02040503050406030204" pitchFamily="18" charset="0"/>
                        </a:rPr>
                        <m:t>𝒅</m:t>
                      </m:r>
                    </m:oMath>
                  </m:oMathPara>
                </a14:m>
                <a:endParaRPr sz="2200" b="1" dirty="0">
                  <a:solidFill>
                    <a:srgbClr val="232D34"/>
                  </a:solidFill>
                  <a:latin typeface="Arial"/>
                </a:endParaRPr>
              </a:p>
            </p:txBody>
          </p:sp>
        </mc:Choice>
        <mc:Fallback>
          <p:sp>
            <p:nvSpPr>
              <p:cNvPr id="12" name="Rectangle 8">
                <a:extLst>
                  <a:ext uri="{FF2B5EF4-FFF2-40B4-BE49-F238E27FC236}">
                    <a16:creationId xmlns:a16="http://schemas.microsoft.com/office/drawing/2014/main" xmlns="" xmlns:a14="http://schemas.microsoft.com/office/drawing/2010/main" id="{85090648-9273-4F23-8B9E-A1B9EDC0FCFB}"/>
                  </a:ext>
                </a:extLst>
              </p:cNvPr>
              <p:cNvSpPr>
                <a:spLocks noRot="1" noChangeAspect="1" noMove="1" noResize="1" noEditPoints="1" noAdjustHandles="1" noChangeArrowheads="1" noChangeShapeType="1" noTextEdit="1"/>
              </p:cNvSpPr>
              <p:nvPr/>
            </p:nvSpPr>
            <p:spPr>
              <a:xfrm>
                <a:off x="1528673" y="3682219"/>
                <a:ext cx="868680" cy="868680"/>
              </a:xfrm>
              <a:prstGeom prst="rect">
                <a:avLst/>
              </a:prstGeom>
              <a:blipFill rotWithShape="0">
                <a:blip r:embed="rId8"/>
                <a:stretch>
                  <a:fillRect/>
                </a:stretch>
              </a:blipFill>
              <a:ln>
                <a:solidFill>
                  <a:srgbClr val="00A6A6"/>
                </a:solidFill>
              </a:ln>
            </p:spPr>
            <p:txBody>
              <a:bodyPr/>
              <a:lstStyle/>
              <a:p>
                <a:r>
                  <a:rPr lang="es-MX">
                    <a:noFill/>
                  </a:rPr>
                  <a:t> </a:t>
                </a:r>
              </a:p>
            </p:txBody>
          </p:sp>
        </mc:Fallback>
      </mc:AlternateContent>
      <p:cxnSp>
        <p:nvCxnSpPr>
          <p:cNvPr id="15" name="Connector 9">
            <a:extLst>
              <a:ext uri="{FF2B5EF4-FFF2-40B4-BE49-F238E27FC236}">
                <a16:creationId xmlns:a16="http://schemas.microsoft.com/office/drawing/2014/main" xmlns="" id="{6918B3FB-CBC4-495F-A279-F6388BB5C854}"/>
              </a:ext>
            </a:extLst>
          </p:cNvPr>
          <p:cNvCxnSpPr/>
          <p:nvPr/>
        </p:nvCxnSpPr>
        <p:spPr>
          <a:xfrm>
            <a:off x="2763113" y="3453619"/>
            <a:ext cx="123444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6" name="Rounded Rectangle 10">
                <a:extLst>
                  <a:ext uri="{FF2B5EF4-FFF2-40B4-BE49-F238E27FC236}">
                    <a16:creationId xmlns:a16="http://schemas.microsoft.com/office/drawing/2014/main" xmlns="" id="{A9B59262-1DA1-40A5-BDD7-E5A97EC6BFF8}"/>
                  </a:ext>
                </a:extLst>
              </p:cNvPr>
              <p:cNvSpPr/>
              <p:nvPr/>
            </p:nvSpPr>
            <p:spPr>
              <a:xfrm>
                <a:off x="4134713" y="2402059"/>
                <a:ext cx="2560320" cy="128016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A6A6"/>
                    </a:solidFill>
                    <a:latin typeface="Arial"/>
                  </a:defRPr>
                </a:pPr>
                <a:r>
                  <a:rPr dirty="0"/>
                  <a:t>Diagonal principal</a:t>
                </a:r>
              </a:p>
              <a:p>
                <a:pPr>
                  <a:spcAft>
                    <a:spcPts val="400"/>
                  </a:spcAft>
                  <a:defRPr sz="2200">
                    <a:solidFill>
                      <a:srgbClr val="232D34"/>
                    </a:solidFill>
                    <a:latin typeface="Arial"/>
                  </a:defRPr>
                </a:pPr>
                <a14:m>
                  <m:oMathPara xmlns:m="http://schemas.openxmlformats.org/officeDocument/2006/math">
                    <m:oMathParaPr>
                      <m:jc m:val="centerGroup"/>
                    </m:oMathParaPr>
                    <m:oMath xmlns:m="http://schemas.openxmlformats.org/officeDocument/2006/math">
                      <m:r>
                        <a:rPr lang="es-NI" b="1" i="1" dirty="0" smtClean="0">
                          <a:latin typeface="Cambria Math" panose="02040503050406030204" pitchFamily="18" charset="0"/>
                        </a:rPr>
                        <m:t>𝒂</m:t>
                      </m:r>
                      <m:r>
                        <a:rPr lang="es-NI" b="1" i="1" dirty="0" smtClean="0">
                          <a:latin typeface="Cambria Math" panose="02040503050406030204" pitchFamily="18" charset="0"/>
                        </a:rPr>
                        <m:t> · </m:t>
                      </m:r>
                      <m:r>
                        <a:rPr lang="es-NI" b="1" i="1" dirty="0" smtClean="0">
                          <a:latin typeface="Cambria Math" panose="02040503050406030204" pitchFamily="18" charset="0"/>
                        </a:rPr>
                        <m:t>𝒅</m:t>
                      </m:r>
                    </m:oMath>
                  </m:oMathPara>
                </a14:m>
                <a:endParaRPr b="1" dirty="0"/>
              </a:p>
            </p:txBody>
          </p:sp>
        </mc:Choice>
        <mc:Fallback>
          <p:sp>
            <p:nvSpPr>
              <p:cNvPr id="16" name="Rounded Rectangle 10">
                <a:extLst>
                  <a:ext uri="{FF2B5EF4-FFF2-40B4-BE49-F238E27FC236}">
                    <a16:creationId xmlns:a16="http://schemas.microsoft.com/office/drawing/2014/main" xmlns="" xmlns:a14="http://schemas.microsoft.com/office/drawing/2010/main" id="{A9B59262-1DA1-40A5-BDD7-E5A97EC6BFF8}"/>
                  </a:ext>
                </a:extLst>
              </p:cNvPr>
              <p:cNvSpPr>
                <a:spLocks noRot="1" noChangeAspect="1" noMove="1" noResize="1" noEditPoints="1" noAdjustHandles="1" noChangeArrowheads="1" noChangeShapeType="1" noTextEdit="1"/>
              </p:cNvSpPr>
              <p:nvPr/>
            </p:nvSpPr>
            <p:spPr>
              <a:xfrm>
                <a:off x="4134713" y="2402059"/>
                <a:ext cx="2560320" cy="1280160"/>
              </a:xfrm>
              <a:prstGeom prst="roundRect">
                <a:avLst/>
              </a:prstGeom>
              <a:blipFill rotWithShape="0">
                <a:blip r:embed="rId9"/>
                <a:stretch>
                  <a:fillRect/>
                </a:stretch>
              </a:blipFill>
              <a:ln w="19050">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7" name="Rounded Rectangle 11">
                <a:extLst>
                  <a:ext uri="{FF2B5EF4-FFF2-40B4-BE49-F238E27FC236}">
                    <a16:creationId xmlns:a16="http://schemas.microsoft.com/office/drawing/2014/main" xmlns="" id="{E6622F98-DA71-4DA6-AB45-E9F78F18FBBE}"/>
                  </a:ext>
                </a:extLst>
              </p:cNvPr>
              <p:cNvSpPr/>
              <p:nvPr/>
            </p:nvSpPr>
            <p:spPr>
              <a:xfrm>
                <a:off x="4134713" y="4047979"/>
                <a:ext cx="2560320" cy="1280160"/>
              </a:xfrm>
              <a:prstGeom prst="roundRect">
                <a:avLst/>
              </a:prstGeom>
              <a:solidFill>
                <a:srgbClr val="EBF8F8"/>
              </a:solidFill>
              <a:ln w="19050">
                <a:solidFill>
                  <a:srgbClr val="DCAF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DCAF2D"/>
                    </a:solidFill>
                    <a:latin typeface="Arial"/>
                  </a:defRPr>
                </a:pPr>
                <a:r>
                  <a:rPr dirty="0"/>
                  <a:t>Diagonal </a:t>
                </a:r>
                <a:r>
                  <a:rPr dirty="0" err="1"/>
                  <a:t>secundaria</a:t>
                </a:r>
                <a:endParaRPr dirty="0"/>
              </a:p>
              <a:p>
                <a:pPr>
                  <a:spcAft>
                    <a:spcPts val="400"/>
                  </a:spcAft>
                  <a:defRPr sz="2200">
                    <a:solidFill>
                      <a:srgbClr val="232D34"/>
                    </a:solidFill>
                    <a:latin typeface="Arial"/>
                  </a:defRPr>
                </a:pPr>
                <a14:m>
                  <m:oMathPara xmlns:m="http://schemas.openxmlformats.org/officeDocument/2006/math">
                    <m:oMathParaPr>
                      <m:jc m:val="centerGroup"/>
                    </m:oMathParaPr>
                    <m:oMath xmlns:m="http://schemas.openxmlformats.org/officeDocument/2006/math">
                      <m:r>
                        <a:rPr lang="es-NI" b="1" i="1" dirty="0" smtClean="0">
                          <a:latin typeface="Cambria Math" panose="02040503050406030204" pitchFamily="18" charset="0"/>
                        </a:rPr>
                        <m:t>𝒃</m:t>
                      </m:r>
                      <m:r>
                        <a:rPr lang="es-NI" b="1" i="1" dirty="0" smtClean="0">
                          <a:latin typeface="Cambria Math" panose="02040503050406030204" pitchFamily="18" charset="0"/>
                        </a:rPr>
                        <m:t> · </m:t>
                      </m:r>
                      <m:r>
                        <a:rPr lang="es-NI" b="1" i="1" dirty="0" smtClean="0">
                          <a:latin typeface="Cambria Math" panose="02040503050406030204" pitchFamily="18" charset="0"/>
                        </a:rPr>
                        <m:t>𝒄</m:t>
                      </m:r>
                    </m:oMath>
                  </m:oMathPara>
                </a14:m>
                <a:endParaRPr b="1" dirty="0"/>
              </a:p>
            </p:txBody>
          </p:sp>
        </mc:Choice>
        <mc:Fallback>
          <p:sp>
            <p:nvSpPr>
              <p:cNvPr id="17" name="Rounded Rectangle 11">
                <a:extLst>
                  <a:ext uri="{FF2B5EF4-FFF2-40B4-BE49-F238E27FC236}">
                    <a16:creationId xmlns:a16="http://schemas.microsoft.com/office/drawing/2014/main" xmlns="" xmlns:a14="http://schemas.microsoft.com/office/drawing/2010/main" id="{E6622F98-DA71-4DA6-AB45-E9F78F18FBBE}"/>
                  </a:ext>
                </a:extLst>
              </p:cNvPr>
              <p:cNvSpPr>
                <a:spLocks noRot="1" noChangeAspect="1" noMove="1" noResize="1" noEditPoints="1" noAdjustHandles="1" noChangeArrowheads="1" noChangeShapeType="1" noTextEdit="1"/>
              </p:cNvSpPr>
              <p:nvPr/>
            </p:nvSpPr>
            <p:spPr>
              <a:xfrm>
                <a:off x="4134713" y="4047979"/>
                <a:ext cx="2560320" cy="1280160"/>
              </a:xfrm>
              <a:prstGeom prst="roundRect">
                <a:avLst/>
              </a:prstGeom>
              <a:blipFill rotWithShape="0">
                <a:blip r:embed="rId10"/>
                <a:stretch>
                  <a:fillRect/>
                </a:stretch>
              </a:blipFill>
              <a:ln w="19050">
                <a:solidFill>
                  <a:srgbClr val="DCAF2D"/>
                </a:solidFill>
              </a:ln>
            </p:spPr>
            <p:txBody>
              <a:bodyPr/>
              <a:lstStyle/>
              <a:p>
                <a:r>
                  <a:rPr lang="es-MX">
                    <a:noFill/>
                  </a:rPr>
                  <a:t> </a:t>
                </a:r>
              </a:p>
            </p:txBody>
          </p:sp>
        </mc:Fallback>
      </mc:AlternateContent>
      <p:cxnSp>
        <p:nvCxnSpPr>
          <p:cNvPr id="18" name="Connector 12">
            <a:extLst>
              <a:ext uri="{FF2B5EF4-FFF2-40B4-BE49-F238E27FC236}">
                <a16:creationId xmlns:a16="http://schemas.microsoft.com/office/drawing/2014/main" xmlns="" id="{9FCA2D0E-628D-434F-98E1-8BFE35ED7AE5}"/>
              </a:ext>
            </a:extLst>
          </p:cNvPr>
          <p:cNvCxnSpPr/>
          <p:nvPr/>
        </p:nvCxnSpPr>
        <p:spPr>
          <a:xfrm>
            <a:off x="6832193" y="3362179"/>
            <a:ext cx="100584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9" name="Rounded Rectangle 13">
                <a:extLst>
                  <a:ext uri="{FF2B5EF4-FFF2-40B4-BE49-F238E27FC236}">
                    <a16:creationId xmlns:a16="http://schemas.microsoft.com/office/drawing/2014/main" xmlns="" id="{9A0F7812-55BA-48CC-BE11-97DA64B4F313}"/>
                  </a:ext>
                </a:extLst>
              </p:cNvPr>
              <p:cNvSpPr/>
              <p:nvPr/>
            </p:nvSpPr>
            <p:spPr>
              <a:xfrm>
                <a:off x="7975193" y="2767819"/>
                <a:ext cx="2743200" cy="1737360"/>
              </a:xfrm>
              <a:prstGeom prst="roundRect">
                <a:avLst/>
              </a:prstGeom>
              <a:solidFill>
                <a:srgbClr val="FFFFFF"/>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00A6A6"/>
                    </a:solidFill>
                    <a:latin typeface="Arial"/>
                  </a:defRPr>
                </a:pPr>
                <a:r>
                  <a:rPr dirty="0" err="1"/>
                  <a:t>Resultado</a:t>
                </a:r>
                <a:endParaRPr dirty="0"/>
              </a:p>
              <a:p>
                <a:pPr>
                  <a:spcAft>
                    <a:spcPts val="400"/>
                  </a:spcAft>
                  <a:defRPr sz="2100">
                    <a:solidFill>
                      <a:srgbClr val="232D34"/>
                    </a:solidFill>
                    <a:latin typeface="Arial"/>
                  </a:defRPr>
                </a:pPr>
                <a14:m>
                  <m:oMathPara xmlns:m="http://schemas.openxmlformats.org/officeDocument/2006/math">
                    <m:oMathParaPr>
                      <m:jc m:val="centerGroup"/>
                    </m:oMathParaPr>
                    <m:oMath xmlns:m="http://schemas.openxmlformats.org/officeDocument/2006/math">
                      <m:r>
                        <a:rPr lang="es-NI" b="1" i="1" dirty="0" smtClean="0">
                          <a:latin typeface="Cambria Math" panose="02040503050406030204" pitchFamily="18" charset="0"/>
                        </a:rPr>
                        <m:t>𝒅𝒆𝒕</m:t>
                      </m:r>
                      <m:r>
                        <a:rPr lang="es-NI" b="1" i="1" dirty="0" smtClean="0">
                          <a:latin typeface="Cambria Math" panose="02040503050406030204" pitchFamily="18" charset="0"/>
                        </a:rPr>
                        <m:t>⁡(</m:t>
                      </m:r>
                      <m:r>
                        <a:rPr lang="es-NI" b="1" i="1" dirty="0" smtClean="0">
                          <a:latin typeface="Cambria Math" panose="02040503050406030204" pitchFamily="18" charset="0"/>
                        </a:rPr>
                        <m:t>𝑨</m:t>
                      </m:r>
                      <m:r>
                        <a:rPr lang="es-NI" b="1" i="1" dirty="0" smtClean="0">
                          <a:latin typeface="Cambria Math" panose="02040503050406030204" pitchFamily="18" charset="0"/>
                        </a:rPr>
                        <m:t>) = </m:t>
                      </m:r>
                      <m:r>
                        <a:rPr lang="es-NI" b="1" i="1" dirty="0" smtClean="0">
                          <a:latin typeface="Cambria Math" panose="02040503050406030204" pitchFamily="18" charset="0"/>
                        </a:rPr>
                        <m:t>𝒂𝒅</m:t>
                      </m:r>
                      <m:r>
                        <a:rPr lang="es-NI" b="1" i="1" dirty="0" smtClean="0">
                          <a:latin typeface="Cambria Math" panose="02040503050406030204" pitchFamily="18" charset="0"/>
                        </a:rPr>
                        <m:t> − </m:t>
                      </m:r>
                      <m:r>
                        <a:rPr lang="es-NI" b="1" i="1" dirty="0" err="1">
                          <a:latin typeface="Cambria Math" panose="02040503050406030204" pitchFamily="18" charset="0"/>
                        </a:rPr>
                        <m:t>𝒃𝒄</m:t>
                      </m:r>
                    </m:oMath>
                  </m:oMathPara>
                </a14:m>
                <a:endParaRPr b="1" dirty="0"/>
              </a:p>
            </p:txBody>
          </p:sp>
        </mc:Choice>
        <mc:Fallback>
          <p:sp>
            <p:nvSpPr>
              <p:cNvPr id="19" name="Rounded Rectangle 13">
                <a:extLst>
                  <a:ext uri="{FF2B5EF4-FFF2-40B4-BE49-F238E27FC236}">
                    <a16:creationId xmlns:a16="http://schemas.microsoft.com/office/drawing/2014/main" xmlns="" xmlns:a14="http://schemas.microsoft.com/office/drawing/2010/main" id="{9A0F7812-55BA-48CC-BE11-97DA64B4F313}"/>
                  </a:ext>
                </a:extLst>
              </p:cNvPr>
              <p:cNvSpPr>
                <a:spLocks noRot="1" noChangeAspect="1" noMove="1" noResize="1" noEditPoints="1" noAdjustHandles="1" noChangeArrowheads="1" noChangeShapeType="1" noTextEdit="1"/>
              </p:cNvSpPr>
              <p:nvPr/>
            </p:nvSpPr>
            <p:spPr>
              <a:xfrm>
                <a:off x="7975193" y="2767819"/>
                <a:ext cx="2743200" cy="1737360"/>
              </a:xfrm>
              <a:prstGeom prst="roundRect">
                <a:avLst/>
              </a:prstGeom>
              <a:blipFill rotWithShape="0">
                <a:blip r:embed="rId11"/>
                <a:stretch>
                  <a:fillRect/>
                </a:stretch>
              </a:blipFill>
              <a:ln w="19050">
                <a:solidFill>
                  <a:srgbClr val="00A6A6"/>
                </a:solidFill>
              </a:ln>
            </p:spPr>
            <p:txBody>
              <a:bodyPr/>
              <a:lstStyle/>
              <a:p>
                <a:r>
                  <a:rPr lang="es-MX">
                    <a:noFill/>
                  </a:rPr>
                  <a:t> </a:t>
                </a:r>
              </a:p>
            </p:txBody>
          </p:sp>
        </mc:Fallback>
      </mc:AlternateContent>
    </p:spTree>
    <p:extLst>
      <p:ext uri="{BB962C8B-B14F-4D97-AF65-F5344CB8AC3E}">
        <p14:creationId xmlns:p14="http://schemas.microsoft.com/office/powerpoint/2010/main" val="39286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2000"/>
                                        <p:tgtEl>
                                          <p:spTgt spid="7"/>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2000"/>
                                        <p:tgtEl>
                                          <p:spTgt spid="8"/>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circle(in)">
                                      <p:cBhvr>
                                        <p:cTn id="21" dur="2000"/>
                                        <p:tgtEl>
                                          <p:spTgt spid="9"/>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ircle(in)">
                                      <p:cBhvr>
                                        <p:cTn id="24" dur="2000"/>
                                        <p:tgtEl>
                                          <p:spTgt spid="11"/>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circle(in)">
                                      <p:cBhvr>
                                        <p:cTn id="27" dur="2000"/>
                                        <p:tgtEl>
                                          <p:spTgt spid="12"/>
                                        </p:tgtEl>
                                      </p:cBhvr>
                                    </p:animEffect>
                                  </p:childTnLst>
                                </p:cTn>
                              </p:par>
                              <p:par>
                                <p:cTn id="28" presetID="6" presetClass="entr" presetSubtype="16"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circle(in)">
                                      <p:cBhvr>
                                        <p:cTn id="30" dur="2000"/>
                                        <p:tgtEl>
                                          <p:spTgt spid="15"/>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circle(in)">
                                      <p:cBhvr>
                                        <p:cTn id="33" dur="2000"/>
                                        <p:tgtEl>
                                          <p:spTgt spid="16"/>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circle(in)">
                                      <p:cBhvr>
                                        <p:cTn id="36" dur="2000"/>
                                        <p:tgtEl>
                                          <p:spTgt spid="17"/>
                                        </p:tgtEl>
                                      </p:cBhvr>
                                    </p:animEffect>
                                  </p:childTnLst>
                                </p:cTn>
                              </p:par>
                              <p:par>
                                <p:cTn id="37" presetID="6"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circle(in)">
                                      <p:cBhvr>
                                        <p:cTn id="39" dur="2000"/>
                                        <p:tgtEl>
                                          <p:spTgt spid="18"/>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circle(in)">
                                      <p:cBhvr>
                                        <p:cTn id="42"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animBg="1"/>
      <p:bldP spid="9" grpId="0" animBg="1"/>
      <p:bldP spid="11" grpId="0" animBg="1"/>
      <p:bldP spid="12" grpId="0" animBg="1"/>
      <p:bldP spid="16" grpId="0" animBg="1"/>
      <p:bldP spid="17"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1151372"/>
            <a:ext cx="3355550"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cs typeface="Arial" panose="020B0604020202020204" pitchFamily="34" charset="0"/>
              </a:rPr>
              <a:t>Sea la matriz de orden 2</a:t>
            </a:r>
            <a:endParaRPr lang="es-NI" sz="2100" b="1" dirty="0">
              <a:solidFill>
                <a:srgbClr val="FF0000"/>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6" name="Title 1"/>
              <p:cNvSpPr txBox="1">
                <a:spLocks/>
              </p:cNvSpPr>
              <p:nvPr/>
            </p:nvSpPr>
            <p:spPr>
              <a:xfrm>
                <a:off x="3355550" y="1679977"/>
                <a:ext cx="2112134" cy="64225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𝑨</m:t>
                      </m:r>
                      <m:r>
                        <a:rPr lang="es-NI" sz="2100" b="1" i="1" smtClean="0">
                          <a:solidFill>
                            <a:srgbClr val="A5A5A5">
                              <a:lumMod val="50000"/>
                            </a:srgbClr>
                          </a:solidFill>
                          <a:latin typeface="Cambria Math" panose="02040503050406030204" pitchFamily="18" charset="0"/>
                          <a:cs typeface="Arial" panose="020B0604020202020204" pitchFamily="34" charset="0"/>
                        </a:rPr>
                        <m:t>=</m:t>
                      </m:r>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100" b="1" i="1" smtClean="0">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𝟏𝟐</m:t>
                                    </m:r>
                                  </m:sub>
                                </m:sSub>
                              </m:e>
                            </m:m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𝟐𝟐</m:t>
                                    </m:r>
                                  </m:sub>
                                </m:sSub>
                              </m:e>
                            </m:mr>
                          </m:m>
                        </m:e>
                      </m:d>
                    </m:oMath>
                  </m:oMathPara>
                </a14:m>
                <a:endParaRPr lang="es-NI" sz="2100" b="1" dirty="0">
                  <a:solidFill>
                    <a:srgbClr val="A5A5A5">
                      <a:lumMod val="50000"/>
                    </a:srgbClr>
                  </a:solidFill>
                  <a:cs typeface="Arial" panose="020B0604020202020204" pitchFamily="34" charset="0"/>
                </a:endParaRPr>
              </a:p>
            </p:txBody>
          </p:sp>
        </mc:Choice>
        <mc:Fallback xmlns="">
          <p:sp>
            <p:nvSpPr>
              <p:cNvPr id="6" name="Title 1"/>
              <p:cNvSpPr txBox="1">
                <a:spLocks noRot="1" noChangeAspect="1" noMove="1" noResize="1" noEditPoints="1" noAdjustHandles="1" noChangeArrowheads="1" noChangeShapeType="1" noTextEdit="1"/>
              </p:cNvSpPr>
              <p:nvPr/>
            </p:nvSpPr>
            <p:spPr>
              <a:xfrm>
                <a:off x="3355550" y="1679977"/>
                <a:ext cx="2112134" cy="642253"/>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Title 1"/>
              <p:cNvSpPr txBox="1">
                <a:spLocks/>
              </p:cNvSpPr>
              <p:nvPr/>
            </p:nvSpPr>
            <p:spPr>
              <a:xfrm>
                <a:off x="-1" y="2619489"/>
                <a:ext cx="4836620"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A5A5A5">
                        <a:lumMod val="50000"/>
                      </a:srgbClr>
                    </a:solidFill>
                    <a:cs typeface="Arial" panose="020B0604020202020204" pitchFamily="34" charset="0"/>
                  </a:rPr>
                  <a:t>El determinante de </a:t>
                </a:r>
                <a14:m>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𝑨</m:t>
                    </m:r>
                  </m:oMath>
                </a14:m>
                <a:r>
                  <a:rPr lang="es-NI" sz="2100" b="1" dirty="0" smtClean="0">
                    <a:solidFill>
                      <a:srgbClr val="A5A5A5">
                        <a:lumMod val="50000"/>
                      </a:srgbClr>
                    </a:solidFill>
                    <a:cs typeface="Arial" panose="020B0604020202020204" pitchFamily="34" charset="0"/>
                  </a:rPr>
                  <a:t> está dado por:</a:t>
                </a:r>
                <a:endParaRPr lang="es-NI" sz="2100" b="1" dirty="0">
                  <a:solidFill>
                    <a:srgbClr val="A5A5A5">
                      <a:lumMod val="50000"/>
                    </a:srgbClr>
                  </a:solidFill>
                  <a:cs typeface="Arial" panose="020B0604020202020204" pitchFamily="34" charset="0"/>
                </a:endParaRPr>
              </a:p>
            </p:txBody>
          </p:sp>
        </mc:Choice>
        <mc:Fallback xmlns="">
          <p:sp>
            <p:nvSpPr>
              <p:cNvPr id="7" name="Title 1"/>
              <p:cNvSpPr txBox="1">
                <a:spLocks noRot="1" noChangeAspect="1" noMove="1" noResize="1" noEditPoints="1" noAdjustHandles="1" noChangeArrowheads="1" noChangeShapeType="1" noTextEdit="1"/>
              </p:cNvSpPr>
              <p:nvPr/>
            </p:nvSpPr>
            <p:spPr>
              <a:xfrm>
                <a:off x="-1" y="2619489"/>
                <a:ext cx="4836620" cy="391357"/>
              </a:xfrm>
              <a:prstGeom prst="rect">
                <a:avLst/>
              </a:prstGeom>
              <a:blipFill rotWithShape="0">
                <a:blip r:embed="rId3"/>
                <a:stretch>
                  <a:fillRect l="-1513" t="-12500" b="-3437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Title 1"/>
              <p:cNvSpPr txBox="1">
                <a:spLocks/>
              </p:cNvSpPr>
              <p:nvPr/>
            </p:nvSpPr>
            <p:spPr>
              <a:xfrm>
                <a:off x="3355550" y="3341991"/>
                <a:ext cx="2112134" cy="64225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100" b="1" i="1" smtClean="0">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𝟏𝟐</m:t>
                                    </m:r>
                                  </m:sub>
                                </m:sSub>
                              </m:e>
                            </m:m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𝟐𝟐</m:t>
                                    </m:r>
                                  </m:sub>
                                </m:sSub>
                              </m:e>
                            </m:mr>
                          </m:m>
                        </m:e>
                      </m:d>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8" name="Title 1"/>
              <p:cNvSpPr txBox="1">
                <a:spLocks noRot="1" noChangeAspect="1" noMove="1" noResize="1" noEditPoints="1" noAdjustHandles="1" noChangeArrowheads="1" noChangeShapeType="1" noTextEdit="1"/>
              </p:cNvSpPr>
              <p:nvPr/>
            </p:nvSpPr>
            <p:spPr>
              <a:xfrm>
                <a:off x="3355550" y="3341991"/>
                <a:ext cx="2112134" cy="642253"/>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Title 1"/>
              <p:cNvSpPr txBox="1">
                <a:spLocks/>
              </p:cNvSpPr>
              <p:nvPr/>
            </p:nvSpPr>
            <p:spPr>
              <a:xfrm>
                <a:off x="5249783" y="3466007"/>
                <a:ext cx="2613372"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𝟏𝟏</m:t>
                          </m:r>
                        </m:sub>
                      </m:s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𝟐𝟐</m:t>
                          </m:r>
                        </m:sub>
                      </m:s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𝟐𝟏</m:t>
                          </m:r>
                        </m:sub>
                      </m:s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𝟏𝟐</m:t>
                          </m:r>
                        </m:sub>
                      </m:sSub>
                    </m:oMath>
                  </m:oMathPara>
                </a14:m>
                <a:endParaRPr lang="es-NI" sz="2100" b="1" dirty="0">
                  <a:solidFill>
                    <a:srgbClr val="A5A5A5">
                      <a:lumMod val="50000"/>
                    </a:srgbClr>
                  </a:solidFill>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a:off x="5249783" y="3466007"/>
                <a:ext cx="2613372" cy="391357"/>
              </a:xfrm>
              <a:prstGeom prst="rect">
                <a:avLst/>
              </a:prstGeom>
              <a:blipFill rotWithShape="0">
                <a:blip r:embed="rId5"/>
                <a:stretch>
                  <a:fillRect b="-4688"/>
                </a:stretch>
              </a:blipFill>
            </p:spPr>
            <p:txBody>
              <a:bodyPr/>
              <a:lstStyle/>
              <a:p>
                <a:r>
                  <a:rPr lang="es-MX">
                    <a:noFill/>
                  </a:rPr>
                  <a:t> </a:t>
                </a:r>
              </a:p>
            </p:txBody>
          </p:sp>
        </mc:Fallback>
      </mc:AlternateContent>
      <p:cxnSp>
        <p:nvCxnSpPr>
          <p:cNvPr id="10" name="Conector recto de flecha 9"/>
          <p:cNvCxnSpPr/>
          <p:nvPr/>
        </p:nvCxnSpPr>
        <p:spPr>
          <a:xfrm flipV="1">
            <a:off x="3687398" y="3373732"/>
            <a:ext cx="1254793" cy="553863"/>
          </a:xfrm>
          <a:prstGeom prst="straightConnector1">
            <a:avLst/>
          </a:prstGeom>
          <a:noFill/>
          <a:ln w="28575" cap="flat" cmpd="sng" algn="ctr">
            <a:solidFill>
              <a:sysClr val="windowText" lastClr="000000"/>
            </a:solidFill>
            <a:prstDash val="solid"/>
            <a:miter lim="800000"/>
            <a:tailEnd type="triangle"/>
          </a:ln>
          <a:effectLst/>
        </p:spPr>
      </p:cxnSp>
      <p:cxnSp>
        <p:nvCxnSpPr>
          <p:cNvPr id="11" name="Conector recto de flecha 10"/>
          <p:cNvCxnSpPr/>
          <p:nvPr/>
        </p:nvCxnSpPr>
        <p:spPr>
          <a:xfrm>
            <a:off x="3713956" y="3379080"/>
            <a:ext cx="1135541" cy="61973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12" name="Rectángulo 11"/>
              <p:cNvSpPr/>
              <p:nvPr/>
            </p:nvSpPr>
            <p:spPr>
              <a:xfrm>
                <a:off x="4819962" y="3170267"/>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2" name="Rectángulo 11"/>
              <p:cNvSpPr>
                <a:spLocks noRot="1" noChangeAspect="1" noMove="1" noResize="1" noEditPoints="1" noAdjustHandles="1" noChangeArrowheads="1" noChangeShapeType="1" noTextEdit="1"/>
              </p:cNvSpPr>
              <p:nvPr/>
            </p:nvSpPr>
            <p:spPr>
              <a:xfrm>
                <a:off x="4819962" y="3170267"/>
                <a:ext cx="602281" cy="369332"/>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4837659" y="3875967"/>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3" name="Rectángulo 12"/>
              <p:cNvSpPr>
                <a:spLocks noRot="1" noChangeAspect="1" noMove="1" noResize="1" noEditPoints="1" noAdjustHandles="1" noChangeArrowheads="1" noChangeShapeType="1" noTextEdit="1"/>
              </p:cNvSpPr>
              <p:nvPr/>
            </p:nvSpPr>
            <p:spPr>
              <a:xfrm>
                <a:off x="4837659" y="3875967"/>
                <a:ext cx="602281" cy="369332"/>
              </a:xfrm>
              <a:prstGeom prst="rect">
                <a:avLst/>
              </a:prstGeom>
              <a:blipFill rotWithShape="0">
                <a:blip r:embed="rId7"/>
                <a:stretch>
                  <a:fillRect/>
                </a:stretch>
              </a:blipFill>
            </p:spPr>
            <p:txBody>
              <a:bodyPr/>
              <a:lstStyle/>
              <a:p>
                <a:r>
                  <a:rPr lang="es-MX">
                    <a:noFill/>
                  </a:rPr>
                  <a:t> </a:t>
                </a:r>
              </a:p>
            </p:txBody>
          </p:sp>
        </mc:Fallback>
      </mc:AlternateContent>
      <p:sp>
        <p:nvSpPr>
          <p:cNvPr id="14" name="Title 1"/>
          <p:cNvSpPr txBox="1">
            <a:spLocks/>
          </p:cNvSpPr>
          <p:nvPr/>
        </p:nvSpPr>
        <p:spPr>
          <a:xfrm>
            <a:off x="-16658" y="4311233"/>
            <a:ext cx="1594922"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100" b="1" dirty="0" smtClean="0">
                <a:solidFill>
                  <a:srgbClr val="A5A5A5">
                    <a:lumMod val="50000"/>
                  </a:srgbClr>
                </a:solidFill>
                <a:cs typeface="Arial" panose="020B0604020202020204" pitchFamily="34" charset="0"/>
              </a:rPr>
              <a:t>Por tanto, </a:t>
            </a:r>
            <a:endParaRPr lang="es-NI" sz="2100" b="1" dirty="0">
              <a:solidFill>
                <a:srgbClr val="A5A5A5">
                  <a:lumMod val="50000"/>
                </a:srgbClr>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15" name="Title 1"/>
              <p:cNvSpPr txBox="1">
                <a:spLocks/>
              </p:cNvSpPr>
              <p:nvPr/>
            </p:nvSpPr>
            <p:spPr>
              <a:xfrm>
                <a:off x="3258726" y="4471337"/>
                <a:ext cx="2827143" cy="64225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𝒅𝒆𝒕𝑨</m:t>
                      </m:r>
                      <m:r>
                        <a:rPr lang="es-NI" sz="2100" b="1" i="1" smtClean="0">
                          <a:solidFill>
                            <a:srgbClr val="A5A5A5">
                              <a:lumMod val="50000"/>
                            </a:srgbClr>
                          </a:solidFill>
                          <a:latin typeface="Cambria Math" panose="02040503050406030204" pitchFamily="18" charset="0"/>
                          <a:cs typeface="Arial" panose="020B0604020202020204" pitchFamily="34" charset="0"/>
                        </a:rPr>
                        <m:t>=</m:t>
                      </m:r>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100" b="1" i="1" smtClean="0">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𝟏𝟐</m:t>
                                    </m:r>
                                  </m:sub>
                                </m:sSub>
                              </m:e>
                            </m:m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𝟐𝟐</m:t>
                                    </m:r>
                                  </m:sub>
                                </m:sSub>
                              </m:e>
                            </m:mr>
                          </m:m>
                        </m:e>
                      </m:d>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15" name="Title 1"/>
              <p:cNvSpPr txBox="1">
                <a:spLocks noRot="1" noChangeAspect="1" noMove="1" noResize="1" noEditPoints="1" noAdjustHandles="1" noChangeArrowheads="1" noChangeShapeType="1" noTextEdit="1"/>
              </p:cNvSpPr>
              <p:nvPr/>
            </p:nvSpPr>
            <p:spPr>
              <a:xfrm>
                <a:off x="3258726" y="4471337"/>
                <a:ext cx="2827143" cy="642253"/>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Title 1"/>
              <p:cNvSpPr txBox="1">
                <a:spLocks/>
              </p:cNvSpPr>
              <p:nvPr/>
            </p:nvSpPr>
            <p:spPr>
              <a:xfrm>
                <a:off x="5974002" y="4546160"/>
                <a:ext cx="2613372"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sSub>
                        <m:sSubPr>
                          <m:ctrlPr>
                            <a:rPr lang="es-NI" sz="2100" b="1" i="1" smtClean="0">
                              <a:solidFill>
                                <a:srgbClr val="FF0000"/>
                              </a:solidFill>
                              <a:latin typeface="Cambria Math" panose="02040503050406030204" pitchFamily="18" charset="0"/>
                              <a:cs typeface="Arial" panose="020B0604020202020204" pitchFamily="34" charset="0"/>
                            </a:rPr>
                          </m:ctrlPr>
                        </m:sSubPr>
                        <m:e>
                          <m:r>
                            <a:rPr lang="es-NI" sz="2100" b="1" i="1" smtClean="0">
                              <a:solidFill>
                                <a:srgbClr val="FF0000"/>
                              </a:solidFill>
                              <a:latin typeface="Cambria Math" panose="02040503050406030204" pitchFamily="18" charset="0"/>
                              <a:cs typeface="Arial" panose="020B0604020202020204" pitchFamily="34" charset="0"/>
                            </a:rPr>
                            <m:t>𝒂</m:t>
                          </m:r>
                        </m:e>
                        <m:sub>
                          <m:r>
                            <a:rPr lang="es-NI" sz="2100" b="1" i="1" smtClean="0">
                              <a:solidFill>
                                <a:srgbClr val="FF0000"/>
                              </a:solidFill>
                              <a:latin typeface="Cambria Math" panose="02040503050406030204" pitchFamily="18" charset="0"/>
                              <a:cs typeface="Arial" panose="020B0604020202020204" pitchFamily="34" charset="0"/>
                            </a:rPr>
                            <m:t>𝟏𝟏</m:t>
                          </m:r>
                        </m:sub>
                      </m:s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𝟐𝟐</m:t>
                          </m:r>
                        </m:sub>
                      </m:s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𝟐𝟏</m:t>
                          </m:r>
                        </m:sub>
                      </m:s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𝒂</m:t>
                          </m:r>
                        </m:e>
                        <m:sub>
                          <m:r>
                            <a:rPr lang="es-NI" sz="21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𝟏𝟐</m:t>
                          </m:r>
                        </m:sub>
                      </m:sSub>
                    </m:oMath>
                  </m:oMathPara>
                </a14:m>
                <a:endParaRPr lang="es-NI" sz="2100" b="1" dirty="0">
                  <a:solidFill>
                    <a:srgbClr val="FF0000"/>
                  </a:solidFill>
                  <a:cs typeface="Arial" panose="020B0604020202020204" pitchFamily="34" charset="0"/>
                </a:endParaRPr>
              </a:p>
            </p:txBody>
          </p:sp>
        </mc:Choice>
        <mc:Fallback xmlns="">
          <p:sp>
            <p:nvSpPr>
              <p:cNvPr id="16" name="Title 1"/>
              <p:cNvSpPr txBox="1">
                <a:spLocks noRot="1" noChangeAspect="1" noMove="1" noResize="1" noEditPoints="1" noAdjustHandles="1" noChangeArrowheads="1" noChangeShapeType="1" noTextEdit="1"/>
              </p:cNvSpPr>
              <p:nvPr/>
            </p:nvSpPr>
            <p:spPr>
              <a:xfrm>
                <a:off x="5974002" y="4546160"/>
                <a:ext cx="2613372" cy="391357"/>
              </a:xfrm>
              <a:prstGeom prst="rect">
                <a:avLst/>
              </a:prstGeom>
              <a:blipFill rotWithShape="0">
                <a:blip r:embed="rId9"/>
                <a:stretch>
                  <a:fillRect b="-6250"/>
                </a:stretch>
              </a:blipFill>
            </p:spPr>
            <p:txBody>
              <a:bodyPr/>
              <a:lstStyle/>
              <a:p>
                <a:r>
                  <a:rPr lang="es-MX">
                    <a:noFill/>
                  </a:rPr>
                  <a:t> </a:t>
                </a:r>
              </a:p>
            </p:txBody>
          </p:sp>
        </mc:Fallback>
      </mc:AlternateContent>
    </p:spTree>
    <p:extLst>
      <p:ext uri="{BB962C8B-B14F-4D97-AF65-F5344CB8AC3E}">
        <p14:creationId xmlns:p14="http://schemas.microsoft.com/office/powerpoint/2010/main" val="264608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2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circle(in)">
                                      <p:cBhvr>
                                        <p:cTn id="20" dur="2000"/>
                                        <p:tgtEl>
                                          <p:spTgt spid="8"/>
                                        </p:tgtEl>
                                      </p:cBhvr>
                                    </p:animEffect>
                                  </p:childTnLst>
                                </p:cTn>
                              </p:par>
                              <p:par>
                                <p:cTn id="21" presetID="6" presetClass="entr" presetSubtype="16"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circle(in)">
                                      <p:cBhvr>
                                        <p:cTn id="26" dur="2000"/>
                                        <p:tgtEl>
                                          <p:spTgt spid="10"/>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circle(in)">
                                      <p:cBhvr>
                                        <p:cTn id="29" dur="2000"/>
                                        <p:tgtEl>
                                          <p:spTgt spid="12"/>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ircle(in)">
                                      <p:cBhvr>
                                        <p:cTn id="32" dur="2000"/>
                                        <p:tgtEl>
                                          <p:spTgt spid="13"/>
                                        </p:tgtEl>
                                      </p:cBhvr>
                                    </p:animEffect>
                                  </p:childTnLst>
                                </p:cTn>
                              </p:par>
                              <p:par>
                                <p:cTn id="33" presetID="6" presetClass="entr" presetSubtype="1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circle(in)">
                                      <p:cBhvr>
                                        <p:cTn id="35" dur="20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circle(in)">
                                      <p:cBhvr>
                                        <p:cTn id="40" dur="20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circle(in)">
                                      <p:cBhvr>
                                        <p:cTn id="45" dur="20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circle(in)">
                                      <p:cBhvr>
                                        <p:cTn id="50"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2" grpId="0"/>
      <p:bldP spid="13" grpId="0"/>
      <p:bldP spid="14"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p:cNvSpPr/>
          <p:nvPr/>
        </p:nvSpPr>
        <p:spPr>
          <a:xfrm>
            <a:off x="0" y="1193075"/>
            <a:ext cx="1931831"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Ejemplo 1</a:t>
            </a:r>
            <a:endParaRPr lang="es-MX" sz="2100" b="1" dirty="0" smtClean="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Rectángulo 13"/>
              <p:cNvSpPr/>
              <p:nvPr/>
            </p:nvSpPr>
            <p:spPr>
              <a:xfrm>
                <a:off x="0" y="1692911"/>
                <a:ext cx="5965881" cy="631198"/>
              </a:xfrm>
              <a:prstGeom prst="rect">
                <a:avLst/>
              </a:prstGeom>
            </p:spPr>
            <p:txBody>
              <a:bodyPr wrap="square">
                <a:spAutoFit/>
              </a:bodyPr>
              <a:lstStyle/>
              <a:p>
                <a:pPr lvl="1">
                  <a:buClrTx/>
                  <a:buFontTx/>
                  <a:buNone/>
                </a:pPr>
                <a:r>
                  <a:rPr lang="es-MX" sz="2100" b="1" dirty="0" smtClean="0">
                    <a:solidFill>
                      <a:srgbClr val="A5A5A5">
                        <a:lumMod val="50000"/>
                      </a:srgbClr>
                    </a:solidFill>
                    <a:latin typeface="Arial" panose="020B0604020202020204" pitchFamily="34" charset="0"/>
                    <a:cs typeface="Arial" panose="020B0604020202020204" pitchFamily="34" charset="0"/>
                  </a:rPr>
                  <a:t>Calcule el determinante, si </a:t>
                </a:r>
                <a14:m>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mr>
                          <m:mr>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𝟑</m:t>
                              </m:r>
                            </m:e>
                          </m:mr>
                        </m:m>
                      </m:e>
                    </m:d>
                  </m:oMath>
                </a14:m>
                <a:endParaRPr lang="es-MX" sz="2100" b="1" dirty="0" smtClean="0">
                  <a:solidFill>
                    <a:srgbClr val="A5A5A5">
                      <a:lumMod val="50000"/>
                    </a:srgbClr>
                  </a:solidFill>
                  <a:latin typeface="Calibri" panose="020F0502020204030204"/>
                </a:endParaRPr>
              </a:p>
            </p:txBody>
          </p:sp>
        </mc:Choice>
        <mc:Fallback xmlns="">
          <p:sp>
            <p:nvSpPr>
              <p:cNvPr id="14" name="Rectángulo 13"/>
              <p:cNvSpPr>
                <a:spLocks noRot="1" noChangeAspect="1" noMove="1" noResize="1" noEditPoints="1" noAdjustHandles="1" noChangeArrowheads="1" noChangeShapeType="1" noTextEdit="1"/>
              </p:cNvSpPr>
              <p:nvPr/>
            </p:nvSpPr>
            <p:spPr>
              <a:xfrm>
                <a:off x="0" y="1692911"/>
                <a:ext cx="5965881" cy="631198"/>
              </a:xfrm>
              <a:prstGeom prst="rect">
                <a:avLst/>
              </a:prstGeom>
              <a:blipFill rotWithShape="0">
                <a:blip r:embed="rId2"/>
                <a:stretch>
                  <a:fillRect/>
                </a:stretch>
              </a:blipFill>
            </p:spPr>
            <p:txBody>
              <a:bodyPr/>
              <a:lstStyle/>
              <a:p>
                <a:r>
                  <a:rPr lang="es-MX">
                    <a:noFill/>
                  </a:rPr>
                  <a:t> </a:t>
                </a:r>
              </a:p>
            </p:txBody>
          </p:sp>
        </mc:Fallback>
      </mc:AlternateContent>
      <p:sp>
        <p:nvSpPr>
          <p:cNvPr id="15" name="Rectángulo 14"/>
          <p:cNvSpPr/>
          <p:nvPr/>
        </p:nvSpPr>
        <p:spPr>
          <a:xfrm>
            <a:off x="1" y="2421216"/>
            <a:ext cx="1931830"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Solución</a:t>
            </a:r>
            <a:endParaRPr lang="es-MX" sz="2100" b="1" dirty="0" smtClean="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Rectángulo 15"/>
              <p:cNvSpPr/>
              <p:nvPr/>
            </p:nvSpPr>
            <p:spPr>
              <a:xfrm>
                <a:off x="1171976" y="2905801"/>
                <a:ext cx="3983015"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NI" sz="2100" b="1" i="1" smtClean="0">
                          <a:solidFill>
                            <a:srgbClr val="0070C0"/>
                          </a:solidFill>
                          <a:latin typeface="Cambria Math" panose="02040503050406030204" pitchFamily="18" charset="0"/>
                        </a:rPr>
                        <m:t>𝒅𝒆𝒕</m:t>
                      </m:r>
                      <m:r>
                        <a:rPr lang="es-MX" sz="2100" b="1" i="1" dirty="0">
                          <a:solidFill>
                            <a:srgbClr val="0070C0"/>
                          </a:solidFill>
                          <a:latin typeface="Cambria Math" panose="02040503050406030204" pitchFamily="18" charset="0"/>
                        </a:rPr>
                        <m:t>𝑨</m:t>
                      </m:r>
                      <m:r>
                        <a:rPr lang="es-MX" sz="2100" b="1" i="1" smtClean="0">
                          <a:solidFill>
                            <a:srgbClr val="0070C0"/>
                          </a:solidFill>
                          <a:latin typeface="Cambria Math" panose="02040503050406030204" pitchFamily="18" charset="0"/>
                        </a:rPr>
                        <m:t>=</m:t>
                      </m:r>
                      <m:d>
                        <m:dPr>
                          <m:ctrlPr>
                            <a:rPr lang="es-MX" sz="2100" b="1" i="1" smtClean="0">
                              <a:solidFill>
                                <a:srgbClr val="0070C0"/>
                              </a:solidFill>
                              <a:latin typeface="Cambria Math" panose="02040503050406030204" pitchFamily="18" charset="0"/>
                            </a:rPr>
                          </m:ctrlPr>
                        </m:dPr>
                        <m:e>
                          <m:r>
                            <a:rPr lang="es-MX" sz="2100" b="1" i="1" smtClean="0">
                              <a:solidFill>
                                <a:srgbClr val="0070C0"/>
                              </a:solidFill>
                              <a:latin typeface="Cambria Math" panose="02040503050406030204" pitchFamily="18" charset="0"/>
                            </a:rPr>
                            <m:t>𝟏</m:t>
                          </m:r>
                        </m:e>
                      </m:d>
                      <m:d>
                        <m:dPr>
                          <m:ctrlPr>
                            <a:rPr lang="es-MX" sz="2100" b="1" i="1" smtClean="0">
                              <a:solidFill>
                                <a:srgbClr val="0070C0"/>
                              </a:solidFill>
                              <a:latin typeface="Cambria Math" panose="02040503050406030204" pitchFamily="18" charset="0"/>
                            </a:rPr>
                          </m:ctrlPr>
                        </m:dPr>
                        <m:e>
                          <m:r>
                            <a:rPr lang="es-MX" sz="2100" b="1" i="1" smtClean="0">
                              <a:solidFill>
                                <a:srgbClr val="0070C0"/>
                              </a:solidFill>
                              <a:latin typeface="Cambria Math" panose="02040503050406030204" pitchFamily="18" charset="0"/>
                            </a:rPr>
                            <m:t>𝟑</m:t>
                          </m:r>
                        </m:e>
                      </m:d>
                      <m:r>
                        <a:rPr lang="es-MX" sz="2100" b="1" smtClean="0">
                          <a:solidFill>
                            <a:srgbClr val="0070C0"/>
                          </a:solidFill>
                          <a:latin typeface="Cambria Math" panose="02040503050406030204" pitchFamily="18" charset="0"/>
                        </a:rPr>
                        <m:t>−</m:t>
                      </m:r>
                      <m:d>
                        <m:dPr>
                          <m:ctrlPr>
                            <a:rPr lang="es-MX" sz="2100" b="1" i="1" smtClean="0">
                              <a:solidFill>
                                <a:srgbClr val="0070C0"/>
                              </a:solidFill>
                              <a:latin typeface="Cambria Math" panose="02040503050406030204" pitchFamily="18" charset="0"/>
                            </a:rPr>
                          </m:ctrlPr>
                        </m:dPr>
                        <m:e>
                          <m:r>
                            <a:rPr lang="es-MX" sz="2100" b="1" smtClean="0">
                              <a:solidFill>
                                <a:srgbClr val="0070C0"/>
                              </a:solidFill>
                              <a:latin typeface="Cambria Math" panose="02040503050406030204" pitchFamily="18" charset="0"/>
                            </a:rPr>
                            <m:t>𝟐</m:t>
                          </m:r>
                        </m:e>
                      </m:d>
                      <m:d>
                        <m:dPr>
                          <m:ctrlPr>
                            <a:rPr lang="es-MX" sz="2100" b="1" i="1" smtClean="0">
                              <a:solidFill>
                                <a:srgbClr val="0070C0"/>
                              </a:solidFill>
                              <a:latin typeface="Cambria Math" panose="02040503050406030204" pitchFamily="18" charset="0"/>
                            </a:rPr>
                          </m:ctrlPr>
                        </m:dPr>
                        <m:e>
                          <m:r>
                            <a:rPr lang="es-MX" sz="2100" b="1" smtClean="0">
                              <a:solidFill>
                                <a:srgbClr val="0070C0"/>
                              </a:solidFill>
                              <a:latin typeface="Cambria Math" panose="02040503050406030204" pitchFamily="18" charset="0"/>
                            </a:rPr>
                            <m:t>𝟐</m:t>
                          </m:r>
                        </m:e>
                      </m:d>
                    </m:oMath>
                  </m:oMathPara>
                </a14:m>
                <a:endParaRPr lang="es-MX" sz="2100" b="1" dirty="0" smtClean="0">
                  <a:solidFill>
                    <a:srgbClr val="0070C0"/>
                  </a:solidFill>
                  <a:latin typeface="Calibri" panose="020F0502020204030204"/>
                </a:endParaRPr>
              </a:p>
            </p:txBody>
          </p:sp>
        </mc:Choice>
        <mc:Fallback xmlns="">
          <p:sp>
            <p:nvSpPr>
              <p:cNvPr id="16" name="Rectángulo 15"/>
              <p:cNvSpPr>
                <a:spLocks noRot="1" noChangeAspect="1" noMove="1" noResize="1" noEditPoints="1" noAdjustHandles="1" noChangeArrowheads="1" noChangeShapeType="1" noTextEdit="1"/>
              </p:cNvSpPr>
              <p:nvPr/>
            </p:nvSpPr>
            <p:spPr>
              <a:xfrm>
                <a:off x="1171976" y="2905801"/>
                <a:ext cx="3983015" cy="415498"/>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4072945" y="2905801"/>
                <a:ext cx="1679390"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MX" sz="2100" b="1" smtClean="0">
                          <a:solidFill>
                            <a:srgbClr val="0070C0"/>
                          </a:solidFill>
                          <a:latin typeface="Cambria Math" panose="02040503050406030204" pitchFamily="18" charset="0"/>
                        </a:rPr>
                        <m:t>=</m:t>
                      </m:r>
                      <m:r>
                        <a:rPr lang="es-MX" sz="2100" b="1" smtClean="0">
                          <a:solidFill>
                            <a:srgbClr val="0070C0"/>
                          </a:solidFill>
                          <a:latin typeface="Cambria Math" panose="02040503050406030204" pitchFamily="18" charset="0"/>
                        </a:rPr>
                        <m:t>𝟑</m:t>
                      </m:r>
                      <m:r>
                        <a:rPr lang="es-MX" sz="2100" b="1" smtClean="0">
                          <a:solidFill>
                            <a:srgbClr val="0070C0"/>
                          </a:solidFill>
                          <a:latin typeface="Cambria Math" panose="02040503050406030204" pitchFamily="18" charset="0"/>
                        </a:rPr>
                        <m:t>−</m:t>
                      </m:r>
                      <m:r>
                        <a:rPr lang="es-MX" sz="2100" b="1" smtClean="0">
                          <a:solidFill>
                            <a:srgbClr val="0070C0"/>
                          </a:solidFill>
                          <a:latin typeface="Cambria Math" panose="02040503050406030204" pitchFamily="18" charset="0"/>
                        </a:rPr>
                        <m:t>𝟒</m:t>
                      </m:r>
                    </m:oMath>
                  </m:oMathPara>
                </a14:m>
                <a:endParaRPr lang="es-MX" sz="2100" b="1" dirty="0" smtClean="0">
                  <a:solidFill>
                    <a:srgbClr val="0070C0"/>
                  </a:solidFill>
                  <a:latin typeface="Calibri" panose="020F0502020204030204"/>
                </a:endParaRPr>
              </a:p>
            </p:txBody>
          </p:sp>
        </mc:Choice>
        <mc:Fallback xmlns="">
          <p:sp>
            <p:nvSpPr>
              <p:cNvPr id="17" name="Rectángulo 16"/>
              <p:cNvSpPr>
                <a:spLocks noRot="1" noChangeAspect="1" noMove="1" noResize="1" noEditPoints="1" noAdjustHandles="1" noChangeArrowheads="1" noChangeShapeType="1" noTextEdit="1"/>
              </p:cNvSpPr>
              <p:nvPr/>
            </p:nvSpPr>
            <p:spPr>
              <a:xfrm>
                <a:off x="4072945" y="2905801"/>
                <a:ext cx="1679390" cy="415498"/>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5125031" y="2905801"/>
                <a:ext cx="1072455"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MX" sz="2100" b="1" smtClean="0">
                          <a:solidFill>
                            <a:srgbClr val="7030A0"/>
                          </a:solidFill>
                          <a:latin typeface="Cambria Math" panose="02040503050406030204" pitchFamily="18" charset="0"/>
                        </a:rPr>
                        <m:t>=−</m:t>
                      </m:r>
                      <m:r>
                        <a:rPr lang="es-MX" sz="2100" b="1" smtClean="0">
                          <a:solidFill>
                            <a:srgbClr val="7030A0"/>
                          </a:solidFill>
                          <a:latin typeface="Cambria Math" panose="02040503050406030204" pitchFamily="18" charset="0"/>
                        </a:rPr>
                        <m:t>𝟏</m:t>
                      </m:r>
                    </m:oMath>
                  </m:oMathPara>
                </a14:m>
                <a:endParaRPr lang="es-MX" sz="2100" b="1" dirty="0" smtClean="0">
                  <a:solidFill>
                    <a:srgbClr val="7030A0"/>
                  </a:solidFill>
                  <a:latin typeface="Calibri" panose="020F0502020204030204"/>
                </a:endParaRPr>
              </a:p>
            </p:txBody>
          </p:sp>
        </mc:Choice>
        <mc:Fallback xmlns="">
          <p:sp>
            <p:nvSpPr>
              <p:cNvPr id="18" name="Rectángulo 17"/>
              <p:cNvSpPr>
                <a:spLocks noRot="1" noChangeAspect="1" noMove="1" noResize="1" noEditPoints="1" noAdjustHandles="1" noChangeArrowheads="1" noChangeShapeType="1" noTextEdit="1"/>
              </p:cNvSpPr>
              <p:nvPr/>
            </p:nvSpPr>
            <p:spPr>
              <a:xfrm>
                <a:off x="5125031" y="2905801"/>
                <a:ext cx="1072455" cy="415498"/>
              </a:xfrm>
              <a:prstGeom prst="rect">
                <a:avLst/>
              </a:prstGeom>
              <a:blipFill rotWithShape="0">
                <a:blip r:embed="rId5"/>
                <a:stretch>
                  <a:fillRect r="-1875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1171977" y="3540753"/>
                <a:ext cx="2110692"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NI" sz="2100" b="1" i="1" smtClean="0">
                          <a:solidFill>
                            <a:srgbClr val="FF0000"/>
                          </a:solidFill>
                          <a:latin typeface="Cambria Math" panose="02040503050406030204" pitchFamily="18" charset="0"/>
                        </a:rPr>
                        <m:t>𝒅𝒆𝒕</m:t>
                      </m:r>
                      <m:r>
                        <a:rPr lang="es-MX" sz="2100" b="1" i="1" dirty="0" smtClean="0">
                          <a:solidFill>
                            <a:srgbClr val="FF0000"/>
                          </a:solidFill>
                          <a:latin typeface="Cambria Math" panose="02040503050406030204" pitchFamily="18" charset="0"/>
                        </a:rPr>
                        <m:t>𝑨</m:t>
                      </m:r>
                      <m:r>
                        <a:rPr lang="es-MX" sz="2100" b="1" i="1" smtClean="0">
                          <a:solidFill>
                            <a:srgbClr val="0070C0"/>
                          </a:solidFill>
                          <a:latin typeface="Cambria Math" panose="02040503050406030204" pitchFamily="18" charset="0"/>
                        </a:rPr>
                        <m:t>=−</m:t>
                      </m:r>
                      <m:r>
                        <a:rPr lang="es-MX" sz="2100" b="1" i="1" smtClean="0">
                          <a:solidFill>
                            <a:srgbClr val="0070C0"/>
                          </a:solidFill>
                          <a:latin typeface="Cambria Math" panose="02040503050406030204" pitchFamily="18" charset="0"/>
                        </a:rPr>
                        <m:t>𝟏</m:t>
                      </m:r>
                    </m:oMath>
                  </m:oMathPara>
                </a14:m>
                <a:endParaRPr lang="es-MX" sz="2100" b="1" dirty="0" smtClean="0">
                  <a:solidFill>
                    <a:srgbClr val="0070C0"/>
                  </a:solidFill>
                  <a:latin typeface="Calibri" panose="020F0502020204030204"/>
                </a:endParaRPr>
              </a:p>
            </p:txBody>
          </p:sp>
        </mc:Choice>
        <mc:Fallback xmlns="">
          <p:sp>
            <p:nvSpPr>
              <p:cNvPr id="19" name="Rectángulo 18"/>
              <p:cNvSpPr>
                <a:spLocks noRot="1" noChangeAspect="1" noMove="1" noResize="1" noEditPoints="1" noAdjustHandles="1" noChangeArrowheads="1" noChangeShapeType="1" noTextEdit="1"/>
              </p:cNvSpPr>
              <p:nvPr/>
            </p:nvSpPr>
            <p:spPr>
              <a:xfrm>
                <a:off x="1171977" y="3540753"/>
                <a:ext cx="2110692" cy="415498"/>
              </a:xfrm>
              <a:prstGeom prst="rect">
                <a:avLst/>
              </a:prstGeom>
              <a:blipFill rotWithShape="0">
                <a:blip r:embed="rId6"/>
                <a:stretch>
                  <a:fillRect/>
                </a:stretch>
              </a:blipFill>
            </p:spPr>
            <p:txBody>
              <a:bodyPr/>
              <a:lstStyle/>
              <a:p>
                <a:r>
                  <a:rPr lang="es-MX">
                    <a:noFill/>
                  </a:rPr>
                  <a:t> </a:t>
                </a:r>
              </a:p>
            </p:txBody>
          </p:sp>
        </mc:Fallback>
      </mc:AlternateContent>
      <p:sp>
        <p:nvSpPr>
          <p:cNvPr id="20" name="Rectángulo 19"/>
          <p:cNvSpPr/>
          <p:nvPr/>
        </p:nvSpPr>
        <p:spPr>
          <a:xfrm>
            <a:off x="1" y="3994173"/>
            <a:ext cx="1931830"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Ejemplo 2</a:t>
            </a:r>
            <a:endParaRPr lang="es-MX" sz="2100" b="1" dirty="0" smtClean="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1" name="Rectángulo 20"/>
              <p:cNvSpPr/>
              <p:nvPr/>
            </p:nvSpPr>
            <p:spPr>
              <a:xfrm>
                <a:off x="2" y="4503023"/>
                <a:ext cx="5752333" cy="631135"/>
              </a:xfrm>
              <a:prstGeom prst="rect">
                <a:avLst/>
              </a:prstGeom>
            </p:spPr>
            <p:txBody>
              <a:bodyPr wrap="square">
                <a:spAutoFit/>
              </a:bodyPr>
              <a:lstStyle/>
              <a:p>
                <a:pPr lvl="1">
                  <a:buClrTx/>
                  <a:buFontTx/>
                  <a:buNone/>
                </a:pPr>
                <a:r>
                  <a:rPr lang="es-MX" sz="2100" b="1" dirty="0" smtClean="0">
                    <a:solidFill>
                      <a:srgbClr val="A5A5A5">
                        <a:lumMod val="50000"/>
                      </a:srgbClr>
                    </a:solidFill>
                    <a:latin typeface="Arial" panose="020B0604020202020204" pitchFamily="34" charset="0"/>
                    <a:cs typeface="Arial" panose="020B0604020202020204" pitchFamily="34" charset="0"/>
                  </a:rPr>
                  <a:t>Calcule el determinante, si </a:t>
                </a:r>
                <a14:m>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a:rPr lang="es-NI" sz="2100" b="1" i="1" smtClean="0">
                                  <a:solidFill>
                                    <a:srgbClr val="A5A5A5">
                                      <a:lumMod val="50000"/>
                                    </a:srgbClr>
                                  </a:solidFill>
                                  <a:latin typeface="Cambria Math" panose="02040503050406030204" pitchFamily="18" charset="0"/>
                                </a:rPr>
                                <m:t>𝟒</m:t>
                              </m:r>
                            </m:e>
                            <m:e>
                              <m:r>
                                <a:rPr lang="es-NI" sz="2100" b="1" i="1" smtClean="0">
                                  <a:solidFill>
                                    <a:srgbClr val="A5A5A5">
                                      <a:lumMod val="50000"/>
                                    </a:srgbClr>
                                  </a:solidFill>
                                  <a:latin typeface="Cambria Math" panose="02040503050406030204" pitchFamily="18" charset="0"/>
                                </a:rPr>
                                <m:t>𝟏</m:t>
                              </m:r>
                            </m:e>
                          </m:mr>
                          <m:mr>
                            <m:e>
                              <m:r>
                                <a:rPr lang="es-NI"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e>
                              <m:r>
                                <a:rPr lang="es-NI" sz="2100" b="1" i="1" smtClean="0">
                                  <a:solidFill>
                                    <a:srgbClr val="A5A5A5">
                                      <a:lumMod val="50000"/>
                                    </a:srgbClr>
                                  </a:solidFill>
                                  <a:latin typeface="Cambria Math" panose="02040503050406030204" pitchFamily="18" charset="0"/>
                                </a:rPr>
                                <m:t>𝟓</m:t>
                              </m:r>
                            </m:e>
                          </m:mr>
                        </m:m>
                      </m:e>
                    </m:d>
                  </m:oMath>
                </a14:m>
                <a:endParaRPr lang="es-MX" sz="2100" b="1" dirty="0" smtClean="0">
                  <a:solidFill>
                    <a:srgbClr val="A5A5A5">
                      <a:lumMod val="50000"/>
                    </a:srgbClr>
                  </a:solidFill>
                  <a:latin typeface="Calibri" panose="020F0502020204030204"/>
                </a:endParaRPr>
              </a:p>
            </p:txBody>
          </p:sp>
        </mc:Choice>
        <mc:Fallback xmlns="">
          <p:sp>
            <p:nvSpPr>
              <p:cNvPr id="21" name="Rectángulo 20"/>
              <p:cNvSpPr>
                <a:spLocks noRot="1" noChangeAspect="1" noMove="1" noResize="1" noEditPoints="1" noAdjustHandles="1" noChangeArrowheads="1" noChangeShapeType="1" noTextEdit="1"/>
              </p:cNvSpPr>
              <p:nvPr/>
            </p:nvSpPr>
            <p:spPr>
              <a:xfrm>
                <a:off x="2" y="4503023"/>
                <a:ext cx="5752333" cy="631135"/>
              </a:xfrm>
              <a:prstGeom prst="rect">
                <a:avLst/>
              </a:prstGeom>
              <a:blipFill rotWithShape="0">
                <a:blip r:embed="rId7"/>
                <a:stretch>
                  <a:fillRect/>
                </a:stretch>
              </a:blipFill>
            </p:spPr>
            <p:txBody>
              <a:bodyPr/>
              <a:lstStyle/>
              <a:p>
                <a:r>
                  <a:rPr lang="es-MX">
                    <a:noFill/>
                  </a:rPr>
                  <a:t> </a:t>
                </a:r>
              </a:p>
            </p:txBody>
          </p:sp>
        </mc:Fallback>
      </mc:AlternateContent>
      <p:sp>
        <p:nvSpPr>
          <p:cNvPr id="22" name="Rectángulo 21"/>
          <p:cNvSpPr/>
          <p:nvPr/>
        </p:nvSpPr>
        <p:spPr>
          <a:xfrm>
            <a:off x="1" y="5222314"/>
            <a:ext cx="1931829"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Solución</a:t>
            </a:r>
            <a:endParaRPr lang="es-MX" sz="2100" b="1" dirty="0" smtClean="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3" name="Rectángulo 22"/>
              <p:cNvSpPr/>
              <p:nvPr/>
            </p:nvSpPr>
            <p:spPr>
              <a:xfrm>
                <a:off x="1325338" y="5706899"/>
                <a:ext cx="4331501"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NI" sz="2100" b="1" i="1" smtClean="0">
                          <a:solidFill>
                            <a:srgbClr val="0070C0"/>
                          </a:solidFill>
                          <a:latin typeface="Cambria Math" panose="02040503050406030204" pitchFamily="18" charset="0"/>
                        </a:rPr>
                        <m:t>𝒅𝒆𝒕𝑨</m:t>
                      </m:r>
                      <m:r>
                        <a:rPr lang="es-NI" sz="2100" b="1" i="1" smtClean="0">
                          <a:solidFill>
                            <a:srgbClr val="0070C0"/>
                          </a:solidFill>
                          <a:latin typeface="Cambria Math" panose="02040503050406030204" pitchFamily="18" charset="0"/>
                        </a:rPr>
                        <m:t> =</m:t>
                      </m:r>
                      <m:d>
                        <m:dPr>
                          <m:ctrlPr>
                            <a:rPr lang="es-MX" sz="2100" b="1" i="1" smtClean="0">
                              <a:solidFill>
                                <a:srgbClr val="0070C0"/>
                              </a:solidFill>
                              <a:latin typeface="Cambria Math" panose="02040503050406030204" pitchFamily="18" charset="0"/>
                            </a:rPr>
                          </m:ctrlPr>
                        </m:dPr>
                        <m:e>
                          <m:r>
                            <a:rPr lang="es-NI" sz="2100" b="1" i="1" smtClean="0">
                              <a:solidFill>
                                <a:srgbClr val="0070C0"/>
                              </a:solidFill>
                              <a:latin typeface="Cambria Math" panose="02040503050406030204" pitchFamily="18" charset="0"/>
                            </a:rPr>
                            <m:t>𝟒</m:t>
                          </m:r>
                        </m:e>
                      </m:d>
                      <m:d>
                        <m:dPr>
                          <m:ctrlPr>
                            <a:rPr lang="es-MX" sz="2100" b="1" i="1" smtClean="0">
                              <a:solidFill>
                                <a:srgbClr val="0070C0"/>
                              </a:solidFill>
                              <a:latin typeface="Cambria Math" panose="02040503050406030204" pitchFamily="18" charset="0"/>
                            </a:rPr>
                          </m:ctrlPr>
                        </m:dPr>
                        <m:e>
                          <m:r>
                            <a:rPr lang="es-NI" sz="2100" b="1" i="1" smtClean="0">
                              <a:solidFill>
                                <a:srgbClr val="0070C0"/>
                              </a:solidFill>
                              <a:latin typeface="Cambria Math" panose="02040503050406030204" pitchFamily="18" charset="0"/>
                            </a:rPr>
                            <m:t>𝟓</m:t>
                          </m:r>
                        </m:e>
                      </m:d>
                      <m:r>
                        <a:rPr lang="es-MX" sz="2100" b="1" smtClean="0">
                          <a:solidFill>
                            <a:srgbClr val="0070C0"/>
                          </a:solidFill>
                          <a:latin typeface="Cambria Math" panose="02040503050406030204" pitchFamily="18" charset="0"/>
                        </a:rPr>
                        <m:t>−</m:t>
                      </m:r>
                      <m:d>
                        <m:dPr>
                          <m:ctrlPr>
                            <a:rPr lang="es-MX" sz="2100" b="1" i="1" smtClean="0">
                              <a:solidFill>
                                <a:srgbClr val="0070C0"/>
                              </a:solidFill>
                              <a:latin typeface="Cambria Math" panose="02040503050406030204" pitchFamily="18" charset="0"/>
                            </a:rPr>
                          </m:ctrlPr>
                        </m:dPr>
                        <m:e>
                          <m:r>
                            <a:rPr lang="es-NI" sz="2100" b="1" smtClean="0">
                              <a:solidFill>
                                <a:srgbClr val="0070C0"/>
                              </a:solidFill>
                              <a:latin typeface="Cambria Math" panose="02040503050406030204" pitchFamily="18" charset="0"/>
                            </a:rPr>
                            <m:t>𝟏</m:t>
                          </m:r>
                        </m:e>
                      </m:d>
                      <m:d>
                        <m:dPr>
                          <m:ctrlPr>
                            <a:rPr lang="es-MX" sz="2100" b="1" i="1" smtClean="0">
                              <a:solidFill>
                                <a:srgbClr val="0070C0"/>
                              </a:solidFill>
                              <a:latin typeface="Cambria Math" panose="02040503050406030204" pitchFamily="18" charset="0"/>
                            </a:rPr>
                          </m:ctrlPr>
                        </m:dPr>
                        <m:e>
                          <m:r>
                            <a:rPr lang="es-NI" sz="2100" b="1" smtClean="0">
                              <a:solidFill>
                                <a:srgbClr val="0070C0"/>
                              </a:solidFill>
                              <a:latin typeface="Cambria Math" panose="02040503050406030204" pitchFamily="18" charset="0"/>
                            </a:rPr>
                            <m:t>−</m:t>
                          </m:r>
                          <m:r>
                            <a:rPr lang="es-MX" sz="2100" b="1" smtClean="0">
                              <a:solidFill>
                                <a:srgbClr val="0070C0"/>
                              </a:solidFill>
                              <a:latin typeface="Cambria Math" panose="02040503050406030204" pitchFamily="18" charset="0"/>
                            </a:rPr>
                            <m:t>𝟐</m:t>
                          </m:r>
                        </m:e>
                      </m:d>
                    </m:oMath>
                  </m:oMathPara>
                </a14:m>
                <a:endParaRPr lang="es-MX" sz="2100" b="1" dirty="0" smtClean="0">
                  <a:solidFill>
                    <a:srgbClr val="0070C0"/>
                  </a:solidFill>
                  <a:latin typeface="Calibri" panose="020F0502020204030204"/>
                </a:endParaRPr>
              </a:p>
            </p:txBody>
          </p:sp>
        </mc:Choice>
        <mc:Fallback xmlns="">
          <p:sp>
            <p:nvSpPr>
              <p:cNvPr id="23" name="Rectángulo 22"/>
              <p:cNvSpPr>
                <a:spLocks noRot="1" noChangeAspect="1" noMove="1" noResize="1" noEditPoints="1" noAdjustHandles="1" noChangeArrowheads="1" noChangeShapeType="1" noTextEdit="1"/>
              </p:cNvSpPr>
              <p:nvPr/>
            </p:nvSpPr>
            <p:spPr>
              <a:xfrm>
                <a:off x="1325338" y="5706899"/>
                <a:ext cx="4331501" cy="415498"/>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Rectángulo 23"/>
              <p:cNvSpPr/>
              <p:nvPr/>
            </p:nvSpPr>
            <p:spPr>
              <a:xfrm>
                <a:off x="4433976" y="5701254"/>
                <a:ext cx="1848563"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MX" sz="2100" b="1" smtClean="0">
                          <a:solidFill>
                            <a:srgbClr val="0070C0"/>
                          </a:solidFill>
                          <a:latin typeface="Cambria Math" panose="02040503050406030204" pitchFamily="18" charset="0"/>
                        </a:rPr>
                        <m:t>=</m:t>
                      </m:r>
                      <m:r>
                        <a:rPr lang="es-NI" sz="2100" b="1" smtClean="0">
                          <a:solidFill>
                            <a:srgbClr val="0070C0"/>
                          </a:solidFill>
                          <a:latin typeface="Cambria Math" panose="02040503050406030204" pitchFamily="18" charset="0"/>
                        </a:rPr>
                        <m:t>𝟐𝟎</m:t>
                      </m:r>
                      <m:r>
                        <a:rPr lang="es-NI" sz="2100" b="1" smtClean="0">
                          <a:solidFill>
                            <a:srgbClr val="0070C0"/>
                          </a:solidFill>
                          <a:latin typeface="Cambria Math" panose="02040503050406030204" pitchFamily="18" charset="0"/>
                        </a:rPr>
                        <m:t>+</m:t>
                      </m:r>
                      <m:r>
                        <a:rPr lang="es-NI" sz="2100" b="1" smtClean="0">
                          <a:solidFill>
                            <a:srgbClr val="0070C0"/>
                          </a:solidFill>
                          <a:latin typeface="Cambria Math" panose="02040503050406030204" pitchFamily="18" charset="0"/>
                        </a:rPr>
                        <m:t>𝟐</m:t>
                      </m:r>
                    </m:oMath>
                  </m:oMathPara>
                </a14:m>
                <a:endParaRPr lang="es-MX" sz="2100" b="1" dirty="0" smtClean="0">
                  <a:solidFill>
                    <a:srgbClr val="0070C0"/>
                  </a:solidFill>
                  <a:latin typeface="Calibri" panose="020F0502020204030204"/>
                </a:endParaRPr>
              </a:p>
            </p:txBody>
          </p:sp>
        </mc:Choice>
        <mc:Fallback xmlns="">
          <p:sp>
            <p:nvSpPr>
              <p:cNvPr id="24" name="Rectángulo 23"/>
              <p:cNvSpPr>
                <a:spLocks noRot="1" noChangeAspect="1" noMove="1" noResize="1" noEditPoints="1" noAdjustHandles="1" noChangeArrowheads="1" noChangeShapeType="1" noTextEdit="1"/>
              </p:cNvSpPr>
              <p:nvPr/>
            </p:nvSpPr>
            <p:spPr>
              <a:xfrm>
                <a:off x="4433976" y="5701254"/>
                <a:ext cx="1848563" cy="415498"/>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Rectángulo 24"/>
              <p:cNvSpPr/>
              <p:nvPr/>
            </p:nvSpPr>
            <p:spPr>
              <a:xfrm>
                <a:off x="5600700" y="5701254"/>
                <a:ext cx="1176059"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MX" sz="2100" b="1" smtClean="0">
                          <a:solidFill>
                            <a:srgbClr val="7030A0"/>
                          </a:solidFill>
                          <a:latin typeface="Cambria Math" panose="02040503050406030204" pitchFamily="18" charset="0"/>
                        </a:rPr>
                        <m:t>=</m:t>
                      </m:r>
                      <m:r>
                        <a:rPr lang="es-NI" sz="2100" b="1" smtClean="0">
                          <a:solidFill>
                            <a:srgbClr val="7030A0"/>
                          </a:solidFill>
                          <a:latin typeface="Cambria Math" panose="02040503050406030204" pitchFamily="18" charset="0"/>
                        </a:rPr>
                        <m:t>𝟐𝟐</m:t>
                      </m:r>
                    </m:oMath>
                  </m:oMathPara>
                </a14:m>
                <a:endParaRPr lang="es-MX" sz="2100" b="1" dirty="0" smtClean="0">
                  <a:solidFill>
                    <a:srgbClr val="7030A0"/>
                  </a:solidFill>
                  <a:latin typeface="Calibri" panose="020F0502020204030204"/>
                </a:endParaRPr>
              </a:p>
            </p:txBody>
          </p:sp>
        </mc:Choice>
        <mc:Fallback xmlns="">
          <p:sp>
            <p:nvSpPr>
              <p:cNvPr id="25" name="Rectángulo 24"/>
              <p:cNvSpPr>
                <a:spLocks noRot="1" noChangeAspect="1" noMove="1" noResize="1" noEditPoints="1" noAdjustHandles="1" noChangeArrowheads="1" noChangeShapeType="1" noTextEdit="1"/>
              </p:cNvSpPr>
              <p:nvPr/>
            </p:nvSpPr>
            <p:spPr>
              <a:xfrm>
                <a:off x="5600700" y="5701254"/>
                <a:ext cx="1176059" cy="415498"/>
              </a:xfrm>
              <a:prstGeom prst="rect">
                <a:avLst/>
              </a:prstGeom>
              <a:blipFill rotWithShape="0">
                <a:blip r:embed="rId10"/>
                <a:stretch>
                  <a:fillRect r="-466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6" name="Rectángulo 25"/>
              <p:cNvSpPr/>
              <p:nvPr/>
            </p:nvSpPr>
            <p:spPr>
              <a:xfrm>
                <a:off x="1321155" y="6323563"/>
                <a:ext cx="2136135" cy="415498"/>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NI" sz="2100" b="1" i="1" smtClean="0">
                          <a:solidFill>
                            <a:srgbClr val="FF0000"/>
                          </a:solidFill>
                          <a:latin typeface="Cambria Math" panose="02040503050406030204" pitchFamily="18" charset="0"/>
                        </a:rPr>
                        <m:t>𝒅𝒆𝒕𝑨</m:t>
                      </m:r>
                      <m:r>
                        <a:rPr lang="es-MX" sz="2100" b="1" i="1" smtClean="0">
                          <a:solidFill>
                            <a:srgbClr val="0070C0"/>
                          </a:solidFill>
                          <a:latin typeface="Cambria Math" panose="02040503050406030204" pitchFamily="18" charset="0"/>
                        </a:rPr>
                        <m:t>=</m:t>
                      </m:r>
                      <m:r>
                        <a:rPr lang="es-NI" sz="2100" b="1" i="1" smtClean="0">
                          <a:solidFill>
                            <a:srgbClr val="0070C0"/>
                          </a:solidFill>
                          <a:latin typeface="Cambria Math" panose="02040503050406030204" pitchFamily="18" charset="0"/>
                        </a:rPr>
                        <m:t>𝟐𝟐</m:t>
                      </m:r>
                    </m:oMath>
                  </m:oMathPara>
                </a14:m>
                <a:endParaRPr lang="es-MX" sz="2100" b="1" dirty="0" smtClean="0">
                  <a:solidFill>
                    <a:srgbClr val="0070C0"/>
                  </a:solidFill>
                  <a:latin typeface="Calibri" panose="020F0502020204030204"/>
                </a:endParaRPr>
              </a:p>
            </p:txBody>
          </p:sp>
        </mc:Choice>
        <mc:Fallback xmlns="">
          <p:sp>
            <p:nvSpPr>
              <p:cNvPr id="26" name="Rectángulo 25"/>
              <p:cNvSpPr>
                <a:spLocks noRot="1" noChangeAspect="1" noMove="1" noResize="1" noEditPoints="1" noAdjustHandles="1" noChangeArrowheads="1" noChangeShapeType="1" noTextEdit="1"/>
              </p:cNvSpPr>
              <p:nvPr/>
            </p:nvSpPr>
            <p:spPr>
              <a:xfrm>
                <a:off x="1321155" y="6323563"/>
                <a:ext cx="2136135" cy="415498"/>
              </a:xfrm>
              <a:prstGeom prst="rect">
                <a:avLst/>
              </a:prstGeom>
              <a:blipFill rotWithShape="0">
                <a:blip r:embed="rId11"/>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420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ircle(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circle(in)">
                                      <p:cBhvr>
                                        <p:cTn id="17" dur="2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circle(in)">
                                      <p:cBhvr>
                                        <p:cTn id="22" dur="2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ircle(in)">
                                      <p:cBhvr>
                                        <p:cTn id="27" dur="2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ircle(in)">
                                      <p:cBhvr>
                                        <p:cTn id="32" dur="2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ircle(in)">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ircle(in)">
                                      <p:cBhvr>
                                        <p:cTn id="42" dur="20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circle(in)">
                                      <p:cBhvr>
                                        <p:cTn id="47" dur="20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circle(in)">
                                      <p:cBhvr>
                                        <p:cTn id="52" dur="20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circle(in)">
                                      <p:cBhvr>
                                        <p:cTn id="57" dur="20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circle(in)">
                                      <p:cBhvr>
                                        <p:cTn id="62" dur="20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circle(in)">
                                      <p:cBhvr>
                                        <p:cTn id="67" dur="20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circle(in)">
                                      <p:cBhvr>
                                        <p:cTn id="72"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txBox="1"/>
              <p:nvPr/>
            </p:nvSpPr>
            <p:spPr>
              <a:xfrm>
                <a:off x="38637" y="1121492"/>
                <a:ext cx="4732770" cy="430887"/>
              </a:xfrm>
              <a:prstGeom prst="rect">
                <a:avLst/>
              </a:prstGeom>
              <a:noFill/>
            </p:spPr>
            <p:txBody>
              <a:bodyPr wrap="none">
                <a:spAutoFit/>
              </a:bodyPr>
              <a:lstStyle/>
              <a:p>
                <a:pPr>
                  <a:defRPr sz="2700" b="1">
                    <a:solidFill>
                      <a:srgbClr val="232D34"/>
                    </a:solidFill>
                    <a:latin typeface="Arial"/>
                  </a:defRPr>
                </a:pPr>
                <a:r>
                  <a:rPr sz="2200" dirty="0" err="1"/>
                  <a:t>Determinante</a:t>
                </a:r>
                <a:r>
                  <a:rPr sz="2200" dirty="0"/>
                  <a:t> </a:t>
                </a:r>
                <a14:m>
                  <m:oMath xmlns:m="http://schemas.openxmlformats.org/officeDocument/2006/math">
                    <m:r>
                      <a:rPr lang="es-MX" sz="2200" i="1" dirty="0" smtClean="0">
                        <a:latin typeface="Cambria Math" panose="02040503050406030204" pitchFamily="18" charset="0"/>
                      </a:rPr>
                      <m:t>3 × 3</m:t>
                    </m:r>
                  </m:oMath>
                </a14:m>
                <a:r>
                  <a:rPr sz="2200" dirty="0"/>
                  <a:t>: </a:t>
                </a:r>
                <a:r>
                  <a:rPr sz="2200" dirty="0" smtClean="0"/>
                  <a:t>dos </a:t>
                </a:r>
                <a:r>
                  <a:rPr sz="2200" dirty="0" err="1"/>
                  <a:t>caminos</a:t>
                </a:r>
                <a:endParaRPr sz="2200" dirty="0"/>
              </a:p>
            </p:txBody>
          </p:sp>
        </mc:Choice>
        <mc:Fallback>
          <p:sp>
            <p:nvSpPr>
              <p:cNvPr id="6" name="TextBox 2"/>
              <p:cNvSpPr txBox="1">
                <a:spLocks noRot="1" noChangeAspect="1" noMove="1" noResize="1" noEditPoints="1" noAdjustHandles="1" noChangeArrowheads="1" noChangeShapeType="1" noTextEdit="1"/>
              </p:cNvSpPr>
              <p:nvPr/>
            </p:nvSpPr>
            <p:spPr>
              <a:xfrm>
                <a:off x="38637" y="1121492"/>
                <a:ext cx="4732770" cy="430887"/>
              </a:xfrm>
              <a:prstGeom prst="rect">
                <a:avLst/>
              </a:prstGeom>
              <a:blipFill rotWithShape="0">
                <a:blip r:embed="rId2"/>
                <a:stretch>
                  <a:fillRect l="-1673" t="-8451" r="-515" b="-28169"/>
                </a:stretch>
              </a:blipFill>
            </p:spPr>
            <p:txBody>
              <a:bodyPr/>
              <a:lstStyle/>
              <a:p>
                <a:r>
                  <a:rPr lang="es-MX">
                    <a:noFill/>
                  </a:rPr>
                  <a:t> </a:t>
                </a:r>
              </a:p>
            </p:txBody>
          </p:sp>
        </mc:Fallback>
      </mc:AlternateContent>
      <p:sp>
        <p:nvSpPr>
          <p:cNvPr id="7" name="TextBox 3"/>
          <p:cNvSpPr txBox="1"/>
          <p:nvPr/>
        </p:nvSpPr>
        <p:spPr>
          <a:xfrm>
            <a:off x="18288" y="1624412"/>
            <a:ext cx="6511301" cy="415498"/>
          </a:xfrm>
          <a:prstGeom prst="rect">
            <a:avLst/>
          </a:prstGeom>
          <a:noFill/>
        </p:spPr>
        <p:txBody>
          <a:bodyPr wrap="square">
            <a:spAutoFit/>
          </a:bodyPr>
          <a:lstStyle/>
          <a:p>
            <a:pPr>
              <a:defRPr sz="1400">
                <a:solidFill>
                  <a:srgbClr val="00A6A6"/>
                </a:solidFill>
                <a:latin typeface="Arial"/>
              </a:defRPr>
            </a:pPr>
            <a:r>
              <a:rPr sz="2100" b="1" dirty="0"/>
              <a:t>El </a:t>
            </a:r>
            <a:r>
              <a:rPr sz="2100" b="1" dirty="0" err="1"/>
              <a:t>mismo</a:t>
            </a:r>
            <a:r>
              <a:rPr sz="2100" b="1" dirty="0"/>
              <a:t> </a:t>
            </a:r>
            <a:r>
              <a:rPr sz="2100" b="1" dirty="0" err="1"/>
              <a:t>objetivo</a:t>
            </a:r>
            <a:r>
              <a:rPr sz="2100" b="1" dirty="0"/>
              <a:t>, </a:t>
            </a:r>
            <a:r>
              <a:rPr sz="2100" b="1" dirty="0" err="1"/>
              <a:t>diferentes</a:t>
            </a:r>
            <a:r>
              <a:rPr sz="2100" b="1" dirty="0"/>
              <a:t> </a:t>
            </a:r>
            <a:r>
              <a:rPr sz="2100" b="1" dirty="0" err="1"/>
              <a:t>procedimientos</a:t>
            </a:r>
            <a:endParaRPr sz="2100" b="1" dirty="0"/>
          </a:p>
        </p:txBody>
      </p:sp>
      <mc:AlternateContent xmlns:mc="http://schemas.openxmlformats.org/markup-compatibility/2006">
        <mc:Choice xmlns:a14="http://schemas.microsoft.com/office/drawing/2010/main" Requires="a14">
          <p:sp>
            <p:nvSpPr>
              <p:cNvPr id="12" name="Rounded Rectangle 4"/>
              <p:cNvSpPr/>
              <p:nvPr/>
            </p:nvSpPr>
            <p:spPr>
              <a:xfrm>
                <a:off x="579550" y="2869154"/>
                <a:ext cx="2971800" cy="182880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100" b="1">
                    <a:solidFill>
                      <a:srgbClr val="00A6A6"/>
                    </a:solidFill>
                    <a:latin typeface="Arial"/>
                  </a:defRPr>
                </a:pPr>
                <a:r>
                  <a:rPr dirty="0" err="1"/>
                  <a:t>Matriz</a:t>
                </a:r>
                <a:r>
                  <a:rPr dirty="0"/>
                  <a:t> </a:t>
                </a:r>
                <a14:m>
                  <m:oMath xmlns:m="http://schemas.openxmlformats.org/officeDocument/2006/math">
                    <m:r>
                      <a:rPr lang="es-MX" i="1" dirty="0" smtClean="0">
                        <a:latin typeface="Cambria Math" panose="02040503050406030204" pitchFamily="18" charset="0"/>
                      </a:rPr>
                      <m:t>3 × 3</m:t>
                    </m:r>
                  </m:oMath>
                </a14:m>
                <a:endParaRPr dirty="0"/>
              </a:p>
              <a:p>
                <a:pPr>
                  <a:spcAft>
                    <a:spcPts val="400"/>
                  </a:spcAft>
                  <a:defRPr sz="2500">
                    <a:solidFill>
                      <a:srgbClr val="232D34"/>
                    </a:solidFill>
                    <a:latin typeface="Arial"/>
                  </a:defRPr>
                </a:pPr>
                <a:r>
                  <a:rPr dirty="0"/>
                  <a:t>A</a:t>
                </a:r>
              </a:p>
            </p:txBody>
          </p:sp>
        </mc:Choice>
        <mc:Fallback>
          <p:sp>
            <p:nvSpPr>
              <p:cNvPr id="12" name="Rounded Rectangle 4"/>
              <p:cNvSpPr>
                <a:spLocks noRot="1" noChangeAspect="1" noMove="1" noResize="1" noEditPoints="1" noAdjustHandles="1" noChangeArrowheads="1" noChangeShapeType="1" noTextEdit="1"/>
              </p:cNvSpPr>
              <p:nvPr/>
            </p:nvSpPr>
            <p:spPr>
              <a:xfrm>
                <a:off x="579550" y="2869154"/>
                <a:ext cx="2971800" cy="1828800"/>
              </a:xfrm>
              <a:prstGeom prst="roundRect">
                <a:avLst/>
              </a:prstGeom>
              <a:blipFill rotWithShape="0">
                <a:blip r:embed="rId3"/>
                <a:stretch>
                  <a:fillRect l="-204"/>
                </a:stretch>
              </a:blipFill>
              <a:ln w="19050">
                <a:solidFill>
                  <a:srgbClr val="00A6A6"/>
                </a:solidFill>
              </a:ln>
            </p:spPr>
            <p:txBody>
              <a:bodyPr/>
              <a:lstStyle/>
              <a:p>
                <a:r>
                  <a:rPr lang="es-MX">
                    <a:noFill/>
                  </a:rPr>
                  <a:t> </a:t>
                </a:r>
              </a:p>
            </p:txBody>
          </p:sp>
        </mc:Fallback>
      </mc:AlternateContent>
      <p:cxnSp>
        <p:nvCxnSpPr>
          <p:cNvPr id="13" name="Connector 5"/>
          <p:cNvCxnSpPr/>
          <p:nvPr/>
        </p:nvCxnSpPr>
        <p:spPr>
          <a:xfrm>
            <a:off x="3642790" y="3737835"/>
            <a:ext cx="73152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p:sp>
        <p:nvSpPr>
          <p:cNvPr id="14" name="Rounded Rectangle 6"/>
          <p:cNvSpPr/>
          <p:nvPr/>
        </p:nvSpPr>
        <p:spPr>
          <a:xfrm>
            <a:off x="4465750" y="2320515"/>
            <a:ext cx="2743200" cy="1371600"/>
          </a:xfrm>
          <a:prstGeom prst="roundRect">
            <a:avLst/>
          </a:prstGeom>
          <a:solidFill>
            <a:srgbClr val="EBF8F8"/>
          </a:solidFill>
          <a:ln w="19050">
            <a:solidFill>
              <a:srgbClr val="DCAF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100" b="1">
                <a:solidFill>
                  <a:srgbClr val="00A6A6"/>
                </a:solidFill>
                <a:latin typeface="Arial"/>
              </a:defRPr>
            </a:pPr>
            <a:r>
              <a:rPr sz="2100" b="1" dirty="0" err="1">
                <a:solidFill>
                  <a:srgbClr val="00A6A6"/>
                </a:solidFill>
                <a:latin typeface="Arial"/>
              </a:rPr>
              <a:t>Regla</a:t>
            </a:r>
            <a:r>
              <a:rPr sz="2100" b="1" dirty="0">
                <a:solidFill>
                  <a:srgbClr val="00A6A6"/>
                </a:solidFill>
                <a:latin typeface="Arial"/>
              </a:rPr>
              <a:t> de </a:t>
            </a:r>
            <a:r>
              <a:rPr sz="2100" b="1" dirty="0" err="1">
                <a:solidFill>
                  <a:srgbClr val="00A6A6"/>
                </a:solidFill>
                <a:latin typeface="Arial"/>
              </a:rPr>
              <a:t>Sarrus</a:t>
            </a:r>
            <a:endParaRPr sz="2100" b="1" dirty="0">
              <a:solidFill>
                <a:srgbClr val="00A6A6"/>
              </a:solidFill>
              <a:latin typeface="Arial"/>
            </a:endParaRPr>
          </a:p>
          <a:p>
            <a:pPr algn="ctr">
              <a:spcAft>
                <a:spcPts val="400"/>
              </a:spcAft>
              <a:defRPr sz="1700">
                <a:solidFill>
                  <a:srgbClr val="232D34"/>
                </a:solidFill>
                <a:latin typeface="Arial"/>
              </a:defRPr>
            </a:pPr>
            <a:r>
              <a:rPr b="1" dirty="0" err="1">
                <a:solidFill>
                  <a:schemeClr val="accent3">
                    <a:lumMod val="50000"/>
                  </a:schemeClr>
                </a:solidFill>
              </a:rPr>
              <a:t>Diagonales</a:t>
            </a:r>
            <a:r>
              <a:rPr b="1" dirty="0">
                <a:solidFill>
                  <a:schemeClr val="accent3">
                    <a:lumMod val="50000"/>
                  </a:schemeClr>
                </a:solidFill>
              </a:rPr>
              <a:t> y </a:t>
            </a:r>
            <a:r>
              <a:rPr b="1" dirty="0" err="1">
                <a:solidFill>
                  <a:schemeClr val="accent3">
                    <a:lumMod val="50000"/>
                  </a:schemeClr>
                </a:solidFill>
              </a:rPr>
              <a:t>signos</a:t>
            </a:r>
            <a:endParaRPr b="1" dirty="0">
              <a:solidFill>
                <a:schemeClr val="accent3">
                  <a:lumMod val="50000"/>
                </a:schemeClr>
              </a:solidFill>
            </a:endParaRPr>
          </a:p>
        </p:txBody>
      </p:sp>
      <p:sp>
        <p:nvSpPr>
          <p:cNvPr id="15" name="Rounded Rectangle 7"/>
          <p:cNvSpPr/>
          <p:nvPr/>
        </p:nvSpPr>
        <p:spPr>
          <a:xfrm>
            <a:off x="4465750" y="4195035"/>
            <a:ext cx="2743200" cy="137160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00A6A6"/>
                </a:solidFill>
                <a:latin typeface="Arial"/>
              </a:defRPr>
            </a:pPr>
            <a:r>
              <a:rPr dirty="0" err="1"/>
              <a:t>Cofactores</a:t>
            </a:r>
            <a:endParaRPr dirty="0"/>
          </a:p>
          <a:p>
            <a:pPr algn="ctr">
              <a:spcAft>
                <a:spcPts val="400"/>
              </a:spcAft>
              <a:defRPr sz="1700">
                <a:solidFill>
                  <a:srgbClr val="232D34"/>
                </a:solidFill>
                <a:latin typeface="Arial"/>
              </a:defRPr>
            </a:pPr>
            <a:r>
              <a:rPr b="1" dirty="0" err="1">
                <a:solidFill>
                  <a:schemeClr val="accent3">
                    <a:lumMod val="50000"/>
                  </a:schemeClr>
                </a:solidFill>
              </a:rPr>
              <a:t>Menores</a:t>
            </a:r>
            <a:r>
              <a:rPr b="1" dirty="0">
                <a:solidFill>
                  <a:schemeClr val="accent3">
                    <a:lumMod val="50000"/>
                  </a:schemeClr>
                </a:solidFill>
              </a:rPr>
              <a:t> + </a:t>
            </a:r>
            <a:r>
              <a:rPr b="1" dirty="0" err="1">
                <a:solidFill>
                  <a:schemeClr val="accent3">
                    <a:lumMod val="50000"/>
                  </a:schemeClr>
                </a:solidFill>
              </a:rPr>
              <a:t>signos</a:t>
            </a:r>
            <a:endParaRPr b="1" dirty="0">
              <a:solidFill>
                <a:schemeClr val="accent3">
                  <a:lumMod val="50000"/>
                </a:schemeClr>
              </a:solidFill>
            </a:endParaRPr>
          </a:p>
        </p:txBody>
      </p:sp>
      <p:cxnSp>
        <p:nvCxnSpPr>
          <p:cNvPr id="16" name="Connector 8"/>
          <p:cNvCxnSpPr/>
          <p:nvPr/>
        </p:nvCxnSpPr>
        <p:spPr>
          <a:xfrm>
            <a:off x="7300390" y="3006315"/>
            <a:ext cx="86868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p:cxnSp>
        <p:nvCxnSpPr>
          <p:cNvPr id="17" name="Connector 9"/>
          <p:cNvCxnSpPr/>
          <p:nvPr/>
        </p:nvCxnSpPr>
        <p:spPr>
          <a:xfrm>
            <a:off x="7300390" y="4880835"/>
            <a:ext cx="86868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Rounded Rectangle 10"/>
              <p:cNvSpPr/>
              <p:nvPr/>
            </p:nvSpPr>
            <p:spPr>
              <a:xfrm>
                <a:off x="8260510" y="3052035"/>
                <a:ext cx="2743200" cy="1737360"/>
              </a:xfrm>
              <a:prstGeom prst="roundRect">
                <a:avLst/>
              </a:prstGeom>
              <a:solidFill>
                <a:srgbClr val="FFFFFF"/>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100" b="1">
                    <a:solidFill>
                      <a:srgbClr val="00A6A6"/>
                    </a:solidFill>
                    <a:latin typeface="Arial"/>
                  </a:defRPr>
                </a:pPr>
                <a14:m>
                  <m:oMathPara xmlns:m="http://schemas.openxmlformats.org/officeDocument/2006/math">
                    <m:oMathParaPr>
                      <m:jc m:val="centerGroup"/>
                    </m:oMathParaPr>
                    <m:oMath xmlns:m="http://schemas.openxmlformats.org/officeDocument/2006/math">
                      <m:r>
                        <m:rPr>
                          <m:sty m:val="p"/>
                        </m:rPr>
                        <a:rPr lang="es-MX" i="1" dirty="0" smtClean="0">
                          <a:latin typeface="Cambria Math" panose="02040503050406030204" pitchFamily="18" charset="0"/>
                        </a:rPr>
                        <m:t>det</m:t>
                      </m:r>
                      <m:r>
                        <a:rPr lang="es-MX" i="1" dirty="0">
                          <a:latin typeface="Cambria Math" panose="02040503050406030204" pitchFamily="18" charset="0"/>
                        </a:rPr>
                        <m:t>⁡(</m:t>
                      </m:r>
                      <m:r>
                        <a:rPr lang="es-MX" i="1" dirty="0">
                          <a:latin typeface="Cambria Math" panose="02040503050406030204" pitchFamily="18" charset="0"/>
                        </a:rPr>
                        <m:t>𝐴</m:t>
                      </m:r>
                      <m:r>
                        <a:rPr lang="es-MX" i="1" dirty="0">
                          <a:latin typeface="Cambria Math" panose="02040503050406030204" pitchFamily="18" charset="0"/>
                        </a:rPr>
                        <m:t>)</m:t>
                      </m:r>
                    </m:oMath>
                  </m:oMathPara>
                </a14:m>
                <a:endParaRPr dirty="0"/>
              </a:p>
              <a:p>
                <a:pPr algn="ctr">
                  <a:spcAft>
                    <a:spcPts val="400"/>
                  </a:spcAft>
                  <a:defRPr sz="2200">
                    <a:solidFill>
                      <a:srgbClr val="232D34"/>
                    </a:solidFill>
                    <a:latin typeface="Arial"/>
                  </a:defRPr>
                </a:pPr>
                <a:r>
                  <a:rPr sz="1700" b="1" dirty="0" err="1">
                    <a:solidFill>
                      <a:schemeClr val="accent3">
                        <a:lumMod val="50000"/>
                      </a:schemeClr>
                    </a:solidFill>
                  </a:rPr>
                  <a:t>Mismo</a:t>
                </a:r>
                <a:r>
                  <a:rPr sz="1700" b="1" dirty="0">
                    <a:solidFill>
                      <a:schemeClr val="accent3">
                        <a:lumMod val="50000"/>
                      </a:schemeClr>
                    </a:solidFill>
                  </a:rPr>
                  <a:t> valor final</a:t>
                </a:r>
              </a:p>
            </p:txBody>
          </p:sp>
        </mc:Choice>
        <mc:Fallback>
          <p:sp>
            <p:nvSpPr>
              <p:cNvPr id="18" name="Rounded Rectangle 10"/>
              <p:cNvSpPr>
                <a:spLocks noRot="1" noChangeAspect="1" noMove="1" noResize="1" noEditPoints="1" noAdjustHandles="1" noChangeArrowheads="1" noChangeShapeType="1" noTextEdit="1"/>
              </p:cNvSpPr>
              <p:nvPr/>
            </p:nvSpPr>
            <p:spPr>
              <a:xfrm>
                <a:off x="8260510" y="3052035"/>
                <a:ext cx="2743200" cy="1737360"/>
              </a:xfrm>
              <a:prstGeom prst="roundRect">
                <a:avLst/>
              </a:prstGeom>
              <a:blipFill rotWithShape="0">
                <a:blip r:embed="rId4"/>
                <a:stretch>
                  <a:fillRect/>
                </a:stretch>
              </a:blipFill>
              <a:ln w="19050">
                <a:solidFill>
                  <a:srgbClr val="00A6A6"/>
                </a:solidFill>
              </a:ln>
            </p:spPr>
            <p:txBody>
              <a:bodyPr/>
              <a:lstStyle/>
              <a:p>
                <a:r>
                  <a:rPr lang="es-MX">
                    <a:noFill/>
                  </a:rPr>
                  <a:t> </a:t>
                </a:r>
              </a:p>
            </p:txBody>
          </p:sp>
        </mc:Fallback>
      </mc:AlternateContent>
    </p:spTree>
    <p:extLst>
      <p:ext uri="{BB962C8B-B14F-4D97-AF65-F5344CB8AC3E}">
        <p14:creationId xmlns:p14="http://schemas.microsoft.com/office/powerpoint/2010/main" val="82637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circle(in)">
                                      <p:cBhvr>
                                        <p:cTn id="15" dur="2000"/>
                                        <p:tgtEl>
                                          <p:spTgt spid="12"/>
                                        </p:tgtEl>
                                      </p:cBhvr>
                                    </p:animEffect>
                                  </p:childTnLst>
                                </p:cTn>
                              </p:par>
                              <p:par>
                                <p:cTn id="16" presetID="6" presetClass="entr" presetSubtype="16"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2000"/>
                                        <p:tgtEl>
                                          <p:spTgt spid="13"/>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circle(in)">
                                      <p:cBhvr>
                                        <p:cTn id="21" dur="2000"/>
                                        <p:tgtEl>
                                          <p:spTgt spid="14"/>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circle(in)">
                                      <p:cBhvr>
                                        <p:cTn id="24" dur="2000"/>
                                        <p:tgtEl>
                                          <p:spTgt spid="15"/>
                                        </p:tgtEl>
                                      </p:cBhvr>
                                    </p:animEffect>
                                  </p:childTnLst>
                                </p:cTn>
                              </p:par>
                              <p:par>
                                <p:cTn id="25" presetID="6" presetClass="entr" presetSubtype="16"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par>
                                <p:cTn id="28" presetID="6" presetClass="entr" presetSubtype="16"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circle(in)">
                                      <p:cBhvr>
                                        <p:cTn id="30" dur="2000"/>
                                        <p:tgtEl>
                                          <p:spTgt spid="17"/>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circle(in)">
                                      <p:cBhvr>
                                        <p:cTn id="33"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animBg="1"/>
      <p:bldP spid="14" grpId="0" animBg="1"/>
      <p:bldP spid="15"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0" y="1167616"/>
            <a:ext cx="1635617" cy="403608"/>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200" b="1" dirty="0" smtClean="0">
                <a:solidFill>
                  <a:srgbClr val="FF0000"/>
                </a:solidFill>
                <a:latin typeface="Arial" panose="020B0604020202020204" pitchFamily="34" charset="0"/>
                <a:cs typeface="Arial" panose="020B0604020202020204" pitchFamily="34" charset="0"/>
              </a:rPr>
              <a:t>Definición</a:t>
            </a:r>
            <a:endParaRPr kumimoji="0" lang="es-NI" sz="22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itle 1"/>
              <p:cNvSpPr txBox="1">
                <a:spLocks/>
              </p:cNvSpPr>
              <p:nvPr/>
            </p:nvSpPr>
            <p:spPr>
              <a:xfrm>
                <a:off x="0" y="1707654"/>
                <a:ext cx="12192000" cy="1009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100" b="1" dirty="0" smtClean="0">
                    <a:solidFill>
                      <a:schemeClr val="accent3">
                        <a:lumMod val="50000"/>
                      </a:schemeClr>
                    </a:solidFill>
                    <a:effectLst/>
                    <a:latin typeface="Arial" panose="020B0604020202020204" pitchFamily="34" charset="0"/>
                    <a:cs typeface="Arial" panose="020B0604020202020204" pitchFamily="34" charset="0"/>
                  </a:rPr>
                  <a:t>Para </a:t>
                </a:r>
                <a14:m>
                  <m:oMath xmlns:m="http://schemas.openxmlformats.org/officeDocument/2006/math">
                    <m:r>
                      <a:rPr lang="es-NI" sz="2100" b="1" i="1" smtClean="0">
                        <a:solidFill>
                          <a:schemeClr val="accent3">
                            <a:lumMod val="50000"/>
                          </a:schemeClr>
                        </a:solidFill>
                        <a:effectLst/>
                        <a:latin typeface="Cambria Math" panose="02040503050406030204" pitchFamily="18" charset="0"/>
                        <a:cs typeface="Arial" panose="020B0604020202020204" pitchFamily="34" charset="0"/>
                      </a:rPr>
                      <m:t>𝒏</m:t>
                    </m:r>
                    <m:r>
                      <a:rPr lang="es-NI" sz="2100" b="1" i="1" smtClean="0">
                        <a:solidFill>
                          <a:schemeClr val="accent3">
                            <a:lumMod val="50000"/>
                          </a:schemeClr>
                        </a:solidFill>
                        <a:effectLst/>
                        <a:latin typeface="Cambria Math" panose="02040503050406030204" pitchFamily="18" charset="0"/>
                        <a:ea typeface="Cambria Math" panose="02040503050406030204" pitchFamily="18" charset="0"/>
                        <a:cs typeface="Arial" panose="020B0604020202020204" pitchFamily="34" charset="0"/>
                      </a:rPr>
                      <m:t>≥</m:t>
                    </m:r>
                    <m:r>
                      <a:rPr lang="es-NI" sz="2100" b="1" i="1" smtClean="0">
                        <a:solidFill>
                          <a:schemeClr val="accent3">
                            <a:lumMod val="50000"/>
                          </a:schemeClr>
                        </a:solidFill>
                        <a:effectLst/>
                        <a:latin typeface="Cambria Math" panose="02040503050406030204" pitchFamily="18" charset="0"/>
                        <a:ea typeface="Cambria Math" panose="02040503050406030204" pitchFamily="18" charset="0"/>
                        <a:cs typeface="Arial" panose="020B0604020202020204" pitchFamily="34" charset="0"/>
                      </a:rPr>
                      <m:t>𝟐</m:t>
                    </m:r>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el determinante de una matriz </a:t>
                </a:r>
                <a14:m>
                  <m:oMath xmlns:m="http://schemas.openxmlformats.org/officeDocument/2006/math">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m:t>
                    </m:r>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d>
                      <m:dPr>
                        <m:begChr m:val="["/>
                        <m:endChr m:val="]"/>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dPr>
                      <m:e>
                        <m:sSub>
                          <m:sSubPr>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bPr>
                          <m:e>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𝒂</m:t>
                            </m:r>
                          </m:e>
                          <m: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𝒊𝒋</m:t>
                            </m:r>
                          </m:sub>
                        </m:sSub>
                      </m:e>
                    </m:d>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de </a:t>
                </a:r>
                <a14:m>
                  <m:oMath xmlns:m="http://schemas.openxmlformats.org/officeDocument/2006/math">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𝒏𝒙𝒏</m:t>
                    </m:r>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es la suma de </a:t>
                </a:r>
                <a14:m>
                  <m:oMath xmlns:m="http://schemas.openxmlformats.org/officeDocument/2006/math">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𝒏</m:t>
                    </m:r>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términos de la forma </a:t>
                </a:r>
                <a14:m>
                  <m:oMath xmlns:m="http://schemas.openxmlformats.org/officeDocument/2006/math">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ea typeface="Cambria Math" panose="02040503050406030204" pitchFamily="18" charset="0"/>
                        <a:cs typeface="Arial" panose="020B0604020202020204" pitchFamily="34" charset="0"/>
                      </a:rPr>
                      <m:t>±</m:t>
                    </m:r>
                    <m:sSub>
                      <m:sSubPr>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ea typeface="Cambria Math" panose="02040503050406030204" pitchFamily="18" charset="0"/>
                            <a:cs typeface="Arial" panose="020B0604020202020204" pitchFamily="34" charset="0"/>
                          </a:rPr>
                        </m:ctrlPr>
                      </m:sSubPr>
                      <m:e>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ea typeface="Cambria Math" panose="02040503050406030204" pitchFamily="18" charset="0"/>
                            <a:cs typeface="Arial" panose="020B0604020202020204" pitchFamily="34" charset="0"/>
                          </a:rPr>
                          <m:t>𝒂</m:t>
                        </m:r>
                      </m:e>
                      <m: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ea typeface="Cambria Math" panose="02040503050406030204" pitchFamily="18" charset="0"/>
                            <a:cs typeface="Arial" panose="020B0604020202020204" pitchFamily="34" charset="0"/>
                          </a:rPr>
                          <m:t>𝒊𝒋</m:t>
                        </m:r>
                      </m:sub>
                    </m:sSub>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a:t>
                </a:r>
                <a14:m>
                  <m:oMath xmlns:m="http://schemas.openxmlformats.org/officeDocument/2006/math">
                    <m: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𝒅𝒆𝒕</m:t>
                    </m:r>
                    <m: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 </m:t>
                    </m:r>
                    <m:sSub>
                      <m:sSubPr>
                        <m:ctrlP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bPr>
                      <m:e>
                        <m: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m:t>
                        </m:r>
                      </m:e>
                      <m:sub>
                        <m: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𝒊𝒋</m:t>
                        </m:r>
                      </m:sub>
                    </m:sSub>
                    <m:r>
                      <a:rPr kumimoji="0" lang="es-NI" sz="2100" b="1" i="1" u="none" strike="noStrike" kern="1200" cap="none" spc="0" normalizeH="0" baseline="0" noProof="0" dirty="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con signos mas y menos alternados, donde las entradas </a:t>
                </a:r>
                <a14:m>
                  <m:oMath xmlns:m="http://schemas.openxmlformats.org/officeDocument/2006/math">
                    <m:sSub>
                      <m:sSubPr>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bPr>
                      <m:e>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𝒂</m:t>
                        </m:r>
                      </m:e>
                      <m: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𝟏𝟏</m:t>
                        </m:r>
                      </m:sub>
                    </m:s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 </m:t>
                    </m:r>
                    <m:sSub>
                      <m:sSubPr>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bPr>
                      <m:e>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𝒂</m:t>
                        </m:r>
                      </m:e>
                      <m: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𝟏𝟐</m:t>
                        </m:r>
                      </m:sub>
                    </m:s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 …, </m:t>
                    </m:r>
                    <m:sSub>
                      <m:sSubPr>
                        <m:ctrlP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bPr>
                      <m:e>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𝒂</m:t>
                        </m:r>
                      </m:e>
                      <m:sub>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𝟏</m:t>
                        </m:r>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𝒏</m:t>
                        </m:r>
                      </m:sub>
                    </m:sSub>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son de la primera fila de </a:t>
                </a:r>
                <a14:m>
                  <m:oMath xmlns:m="http://schemas.openxmlformats.org/officeDocument/2006/math">
                    <m:r>
                      <a:rPr kumimoji="0" lang="es-NI" sz="21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m:t>
                    </m:r>
                  </m:oMath>
                </a14:m>
                <a:r>
                  <a:rPr kumimoji="0" lang="es-NI" sz="21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En símbolos, </a:t>
                </a:r>
                <a:endParaRPr kumimoji="0" lang="es-NI" sz="21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a:off x="0" y="1707654"/>
                <a:ext cx="12192000" cy="1009788"/>
              </a:xfrm>
              <a:prstGeom prst="rect">
                <a:avLst/>
              </a:prstGeom>
              <a:blipFill rotWithShape="0">
                <a:blip r:embed="rId2"/>
                <a:stretch>
                  <a:fillRect l="-600" t="-8434" r="-600" b="-1747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Title 1"/>
              <p:cNvSpPr txBox="1">
                <a:spLocks/>
              </p:cNvSpPr>
              <p:nvPr/>
            </p:nvSpPr>
            <p:spPr>
              <a:xfrm>
                <a:off x="613893" y="2965207"/>
                <a:ext cx="10964214" cy="87269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𝒅𝒆𝒕</m:t>
                      </m:r>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 </m:t>
                      </m:r>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𝑨</m:t>
                      </m:r>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sSub>
                        <m:sSubPr>
                          <m:ctrlP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sSubPr>
                        <m:e>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𝒂</m:t>
                          </m:r>
                        </m:e>
                        <m:sub>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𝟏𝟏</m:t>
                          </m:r>
                        </m:sub>
                      </m:sSub>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𝒅𝒆𝒕</m:t>
                      </m:r>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 </m:t>
                      </m:r>
                      <m:sSub>
                        <m:sSubPr>
                          <m:ctrlP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sSubPr>
                        <m:e>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𝑨</m:t>
                          </m:r>
                        </m:e>
                        <m:sub>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𝟏𝟏</m:t>
                          </m:r>
                        </m:sub>
                      </m:sSub>
                      <m:r>
                        <a:rPr kumimoji="0" lang="es-NI" sz="22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sSub>
                        <m:sSubPr>
                          <m:ctrlPr>
                            <a:rPr lang="es-NI" sz="2200" b="1" i="1">
                              <a:solidFill>
                                <a:schemeClr val="accent3">
                                  <a:lumMod val="50000"/>
                                </a:schemeClr>
                              </a:solidFill>
                              <a:latin typeface="Cambria Math" panose="02040503050406030204" pitchFamily="18" charset="0"/>
                              <a:cs typeface="Arial" panose="020B0604020202020204" pitchFamily="34" charset="0"/>
                            </a:rPr>
                          </m:ctrlPr>
                        </m:sSubPr>
                        <m:e>
                          <m:r>
                            <a:rPr lang="es-NI" sz="2200" b="1" i="1">
                              <a:solidFill>
                                <a:schemeClr val="accent3">
                                  <a:lumMod val="50000"/>
                                </a:schemeClr>
                              </a:solidFill>
                              <a:latin typeface="Cambria Math" panose="02040503050406030204" pitchFamily="18" charset="0"/>
                              <a:cs typeface="Arial" panose="020B0604020202020204" pitchFamily="34" charset="0"/>
                            </a:rPr>
                            <m:t>𝒂</m:t>
                          </m:r>
                        </m:e>
                        <m:sub>
                          <m:r>
                            <a:rPr lang="es-NI" sz="2200" b="1" i="1">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𝟐</m:t>
                          </m:r>
                        </m:sub>
                      </m:sSub>
                      <m:r>
                        <a:rPr lang="es-NI" sz="2200" b="1" i="1">
                          <a:solidFill>
                            <a:schemeClr val="accent3">
                              <a:lumMod val="50000"/>
                            </a:schemeClr>
                          </a:solidFill>
                          <a:latin typeface="Cambria Math" panose="02040503050406030204" pitchFamily="18" charset="0"/>
                          <a:cs typeface="Arial" panose="020B0604020202020204" pitchFamily="34" charset="0"/>
                        </a:rPr>
                        <m:t>𝒅𝒆𝒕</m:t>
                      </m:r>
                      <m:r>
                        <a:rPr lang="es-NI" sz="22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200" b="1" i="1">
                              <a:solidFill>
                                <a:schemeClr val="accent3">
                                  <a:lumMod val="50000"/>
                                </a:schemeClr>
                              </a:solidFill>
                              <a:latin typeface="Cambria Math" panose="02040503050406030204" pitchFamily="18" charset="0"/>
                              <a:cs typeface="Arial" panose="020B0604020202020204" pitchFamily="34" charset="0"/>
                            </a:rPr>
                          </m:ctrlPr>
                        </m:sSubPr>
                        <m:e>
                          <m:r>
                            <a:rPr lang="es-NI" sz="2200" b="1" i="1">
                              <a:solidFill>
                                <a:schemeClr val="accent3">
                                  <a:lumMod val="50000"/>
                                </a:schemeClr>
                              </a:solidFill>
                              <a:latin typeface="Cambria Math" panose="02040503050406030204" pitchFamily="18" charset="0"/>
                              <a:cs typeface="Arial" panose="020B0604020202020204" pitchFamily="34" charset="0"/>
                            </a:rPr>
                            <m:t>𝑨</m:t>
                          </m:r>
                        </m:e>
                        <m:sub>
                          <m:r>
                            <a:rPr lang="es-NI" sz="2200" b="1" i="1">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𝟐</m:t>
                          </m:r>
                        </m:sub>
                      </m:sSub>
                      <m:r>
                        <a:rPr lang="es-NI" sz="2200" b="1" i="1" smtClean="0">
                          <a:solidFill>
                            <a:schemeClr val="accent3">
                              <a:lumMod val="50000"/>
                            </a:schemeClr>
                          </a:solidFill>
                          <a:latin typeface="Cambria Math" panose="02040503050406030204" pitchFamily="18" charset="0"/>
                          <a:cs typeface="Arial" panose="020B0604020202020204" pitchFamily="34" charset="0"/>
                        </a:rPr>
                        <m:t>+⋯+</m:t>
                      </m:r>
                      <m:sSup>
                        <m:sSup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pPr>
                        <m:e>
                          <m:d>
                            <m:d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dPr>
                            <m:e>
                              <m:r>
                                <a:rPr lang="es-NI" sz="2200" b="1" i="1" smtClean="0">
                                  <a:solidFill>
                                    <a:schemeClr val="accent3">
                                      <a:lumMod val="50000"/>
                                    </a:schemeClr>
                                  </a:solidFill>
                                  <a:latin typeface="Cambria Math" panose="02040503050406030204" pitchFamily="18" charset="0"/>
                                  <a:cs typeface="Arial" panose="020B0604020202020204" pitchFamily="34" charset="0"/>
                                </a:rPr>
                                <m:t>−</m:t>
                              </m:r>
                              <m:r>
                                <a:rPr lang="es-NI" sz="2200" b="1" i="1" smtClean="0">
                                  <a:solidFill>
                                    <a:schemeClr val="accent3">
                                      <a:lumMod val="50000"/>
                                    </a:schemeClr>
                                  </a:solidFill>
                                  <a:latin typeface="Cambria Math" panose="02040503050406030204" pitchFamily="18" charset="0"/>
                                  <a:cs typeface="Arial" panose="020B0604020202020204" pitchFamily="34" charset="0"/>
                                </a:rPr>
                                <m:t>𝟏</m:t>
                              </m:r>
                            </m:e>
                          </m:d>
                        </m:e>
                        <m:sup>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m:t>
                          </m:r>
                          <m:r>
                            <a:rPr lang="es-NI" sz="2200" b="1" i="1" smtClean="0">
                              <a:solidFill>
                                <a:schemeClr val="accent3">
                                  <a:lumMod val="50000"/>
                                </a:schemeClr>
                              </a:solidFill>
                              <a:latin typeface="Cambria Math" panose="02040503050406030204" pitchFamily="18" charset="0"/>
                              <a:cs typeface="Arial" panose="020B0604020202020204" pitchFamily="34" charset="0"/>
                            </a:rPr>
                            <m:t>𝒏</m:t>
                          </m:r>
                        </m:sup>
                      </m:sSup>
                      <m:sSub>
                        <m:sSub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200" b="1" i="1" smtClean="0">
                              <a:solidFill>
                                <a:schemeClr val="accent3">
                                  <a:lumMod val="50000"/>
                                </a:schemeClr>
                              </a:solidFill>
                              <a:latin typeface="Cambria Math" panose="02040503050406030204" pitchFamily="18" charset="0"/>
                              <a:cs typeface="Arial" panose="020B0604020202020204" pitchFamily="34" charset="0"/>
                            </a:rPr>
                            <m:t>𝒂</m:t>
                          </m:r>
                        </m:e>
                        <m:sub>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𝒏</m:t>
                          </m:r>
                        </m:sub>
                      </m:sSub>
                      <m:r>
                        <a:rPr lang="es-NI" sz="2200" b="1" i="1" smtClean="0">
                          <a:solidFill>
                            <a:schemeClr val="accent3">
                              <a:lumMod val="50000"/>
                            </a:schemeClr>
                          </a:solidFill>
                          <a:latin typeface="Cambria Math" panose="02040503050406030204" pitchFamily="18" charset="0"/>
                          <a:cs typeface="Arial" panose="020B0604020202020204" pitchFamily="34" charset="0"/>
                        </a:rPr>
                        <m:t> </m:t>
                      </m:r>
                      <m:r>
                        <a:rPr lang="es-NI" sz="22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2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2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𝒏</m:t>
                          </m:r>
                        </m:sub>
                      </m:sSub>
                      <m:r>
                        <a:rPr lang="es-NI" sz="2200" b="1" i="1" smtClean="0">
                          <a:solidFill>
                            <a:schemeClr val="accent3">
                              <a:lumMod val="50000"/>
                            </a:schemeClr>
                          </a:solidFill>
                          <a:latin typeface="Cambria Math" panose="02040503050406030204" pitchFamily="18" charset="0"/>
                          <a:cs typeface="Arial" panose="020B0604020202020204" pitchFamily="34" charset="0"/>
                        </a:rPr>
                        <m:t>=</m:t>
                      </m:r>
                      <m:nary>
                        <m:naryPr>
                          <m:chr m:val="∑"/>
                          <m:ctrlPr>
                            <a:rPr lang="es-NI" sz="2200" b="1" i="1" smtClean="0">
                              <a:solidFill>
                                <a:schemeClr val="accent3">
                                  <a:lumMod val="50000"/>
                                </a:schemeClr>
                              </a:solidFill>
                              <a:latin typeface="Cambria Math" panose="02040503050406030204" pitchFamily="18" charset="0"/>
                              <a:cs typeface="Arial" panose="020B0604020202020204" pitchFamily="34" charset="0"/>
                            </a:rPr>
                          </m:ctrlPr>
                        </m:naryPr>
                        <m:sub>
                          <m:r>
                            <m:rPr>
                              <m:brk m:alnAt="23"/>
                            </m:rPr>
                            <a:rPr lang="es-NI" sz="2200" b="1" i="1" smtClean="0">
                              <a:solidFill>
                                <a:schemeClr val="accent3">
                                  <a:lumMod val="50000"/>
                                </a:schemeClr>
                              </a:solidFill>
                              <a:latin typeface="Cambria Math" panose="02040503050406030204" pitchFamily="18" charset="0"/>
                              <a:cs typeface="Arial" panose="020B0604020202020204" pitchFamily="34" charset="0"/>
                            </a:rPr>
                            <m:t>𝒋</m:t>
                          </m:r>
                          <m:r>
                            <a:rPr lang="es-NI" sz="2200" b="1" i="1" smtClean="0">
                              <a:solidFill>
                                <a:schemeClr val="accent3">
                                  <a:lumMod val="50000"/>
                                </a:schemeClr>
                              </a:solidFill>
                              <a:latin typeface="Cambria Math" panose="02040503050406030204" pitchFamily="18" charset="0"/>
                              <a:cs typeface="Arial" panose="020B0604020202020204" pitchFamily="34" charset="0"/>
                            </a:rPr>
                            <m:t>=</m:t>
                          </m:r>
                          <m:r>
                            <a:rPr lang="es-NI" sz="2200" b="1" i="1" smtClean="0">
                              <a:solidFill>
                                <a:schemeClr val="accent3">
                                  <a:lumMod val="50000"/>
                                </a:schemeClr>
                              </a:solidFill>
                              <a:latin typeface="Cambria Math" panose="02040503050406030204" pitchFamily="18" charset="0"/>
                              <a:cs typeface="Arial" panose="020B0604020202020204" pitchFamily="34" charset="0"/>
                            </a:rPr>
                            <m:t>𝟏</m:t>
                          </m:r>
                        </m:sub>
                        <m:sup>
                          <m:r>
                            <a:rPr lang="es-NI" sz="2200" b="1" i="1" smtClean="0">
                              <a:solidFill>
                                <a:schemeClr val="accent3">
                                  <a:lumMod val="50000"/>
                                </a:schemeClr>
                              </a:solidFill>
                              <a:latin typeface="Cambria Math" panose="02040503050406030204" pitchFamily="18" charset="0"/>
                              <a:cs typeface="Arial" panose="020B0604020202020204" pitchFamily="34" charset="0"/>
                            </a:rPr>
                            <m:t>𝒏</m:t>
                          </m:r>
                        </m:sup>
                        <m:e>
                          <m:sSup>
                            <m:sSup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pPr>
                            <m:e>
                              <m:d>
                                <m:d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dPr>
                                <m:e>
                                  <m:r>
                                    <a:rPr lang="es-NI" sz="2200" b="1" i="1" smtClean="0">
                                      <a:solidFill>
                                        <a:schemeClr val="accent3">
                                          <a:lumMod val="50000"/>
                                        </a:schemeClr>
                                      </a:solidFill>
                                      <a:latin typeface="Cambria Math" panose="02040503050406030204" pitchFamily="18" charset="0"/>
                                      <a:cs typeface="Arial" panose="020B0604020202020204" pitchFamily="34" charset="0"/>
                                    </a:rPr>
                                    <m:t>−</m:t>
                                  </m:r>
                                  <m:r>
                                    <a:rPr lang="es-NI" sz="2200" b="1" i="1" smtClean="0">
                                      <a:solidFill>
                                        <a:schemeClr val="accent3">
                                          <a:lumMod val="50000"/>
                                        </a:schemeClr>
                                      </a:solidFill>
                                      <a:latin typeface="Cambria Math" panose="02040503050406030204" pitchFamily="18" charset="0"/>
                                      <a:cs typeface="Arial" panose="020B0604020202020204" pitchFamily="34" charset="0"/>
                                    </a:rPr>
                                    <m:t>𝟏</m:t>
                                  </m:r>
                                </m:e>
                              </m:d>
                            </m:e>
                            <m:sup>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m:t>
                              </m:r>
                              <m:r>
                                <a:rPr lang="es-NI" sz="2200" b="1" i="1" smtClean="0">
                                  <a:solidFill>
                                    <a:schemeClr val="accent3">
                                      <a:lumMod val="50000"/>
                                    </a:schemeClr>
                                  </a:solidFill>
                                  <a:latin typeface="Cambria Math" panose="02040503050406030204" pitchFamily="18" charset="0"/>
                                  <a:cs typeface="Arial" panose="020B0604020202020204" pitchFamily="34" charset="0"/>
                                </a:rPr>
                                <m:t>𝒋</m:t>
                              </m:r>
                            </m:sup>
                          </m:sSup>
                          <m:sSub>
                            <m:sSub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200" b="1" i="1" smtClean="0">
                                  <a:solidFill>
                                    <a:schemeClr val="accent3">
                                      <a:lumMod val="50000"/>
                                    </a:schemeClr>
                                  </a:solidFill>
                                  <a:latin typeface="Cambria Math" panose="02040503050406030204" pitchFamily="18" charset="0"/>
                                  <a:cs typeface="Arial" panose="020B0604020202020204" pitchFamily="34" charset="0"/>
                                </a:rPr>
                                <m:t>𝒂</m:t>
                              </m:r>
                            </m:e>
                            <m:sub>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𝒋</m:t>
                              </m:r>
                            </m:sub>
                          </m:sSub>
                          <m:r>
                            <a:rPr lang="es-NI" sz="2200" b="1" i="1" smtClean="0">
                              <a:solidFill>
                                <a:schemeClr val="accent3">
                                  <a:lumMod val="50000"/>
                                </a:schemeClr>
                              </a:solidFill>
                              <a:latin typeface="Cambria Math" panose="02040503050406030204" pitchFamily="18" charset="0"/>
                              <a:cs typeface="Arial" panose="020B0604020202020204" pitchFamily="34" charset="0"/>
                            </a:rPr>
                            <m:t> </m:t>
                          </m:r>
                          <m:r>
                            <a:rPr lang="es-NI" sz="22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2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2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2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200" b="1" i="1" smtClean="0">
                                  <a:solidFill>
                                    <a:schemeClr val="accent3">
                                      <a:lumMod val="50000"/>
                                    </a:schemeClr>
                                  </a:solidFill>
                                  <a:latin typeface="Cambria Math" panose="02040503050406030204" pitchFamily="18" charset="0"/>
                                  <a:cs typeface="Arial" panose="020B0604020202020204" pitchFamily="34" charset="0"/>
                                </a:rPr>
                                <m:t>𝟏</m:t>
                              </m:r>
                              <m:r>
                                <a:rPr lang="es-NI" sz="2200" b="1" i="1" smtClean="0">
                                  <a:solidFill>
                                    <a:schemeClr val="accent3">
                                      <a:lumMod val="50000"/>
                                    </a:schemeClr>
                                  </a:solidFill>
                                  <a:latin typeface="Cambria Math" panose="02040503050406030204" pitchFamily="18" charset="0"/>
                                  <a:cs typeface="Arial" panose="020B0604020202020204" pitchFamily="34" charset="0"/>
                                </a:rPr>
                                <m:t>𝒋</m:t>
                              </m:r>
                            </m:sub>
                          </m:sSub>
                        </m:e>
                      </m:nary>
                    </m:oMath>
                  </m:oMathPara>
                </a14:m>
                <a:endParaRPr kumimoji="0" lang="es-NI" sz="22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7" name="Title 1"/>
              <p:cNvSpPr txBox="1">
                <a:spLocks noRot="1" noChangeAspect="1" noMove="1" noResize="1" noEditPoints="1" noAdjustHandles="1" noChangeArrowheads="1" noChangeShapeType="1" noTextEdit="1"/>
              </p:cNvSpPr>
              <p:nvPr/>
            </p:nvSpPr>
            <p:spPr>
              <a:xfrm>
                <a:off x="613893" y="2965207"/>
                <a:ext cx="10964214" cy="872698"/>
              </a:xfrm>
              <a:prstGeom prst="rect">
                <a:avLst/>
              </a:prstGeom>
              <a:blipFill rotWithShape="0">
                <a:blip r:embed="rId3"/>
                <a:stretch>
                  <a:fillRect t="-1389" b="-4167"/>
                </a:stretch>
              </a:blipFill>
            </p:spPr>
            <p:txBody>
              <a:bodyPr/>
              <a:lstStyle/>
              <a:p>
                <a:r>
                  <a:rPr lang="es-MX">
                    <a:noFill/>
                  </a:rPr>
                  <a:t> </a:t>
                </a:r>
              </a:p>
            </p:txBody>
          </p:sp>
        </mc:Fallback>
      </mc:AlternateContent>
      <p:sp>
        <p:nvSpPr>
          <p:cNvPr id="12" name="Rectángulo 11"/>
          <p:cNvSpPr/>
          <p:nvPr/>
        </p:nvSpPr>
        <p:spPr>
          <a:xfrm>
            <a:off x="1184" y="4081309"/>
            <a:ext cx="2833352" cy="461665"/>
          </a:xfrm>
          <a:prstGeom prst="rect">
            <a:avLst/>
          </a:prstGeom>
        </p:spPr>
        <p:txBody>
          <a:bodyPr wrap="square">
            <a:spAutoFit/>
          </a:bodyPr>
          <a:lstStyle/>
          <a:p>
            <a:pPr marL="0" lvl="1"/>
            <a:r>
              <a:rPr lang="es-ES" sz="2400" b="1" dirty="0" smtClean="0">
                <a:solidFill>
                  <a:srgbClr val="FF0000"/>
                </a:solidFill>
              </a:rPr>
              <a:t>Definición (Cofactor)</a:t>
            </a:r>
            <a:endParaRPr lang="es-MX" sz="2400" b="1" dirty="0">
              <a:solidFill>
                <a:srgbClr val="FF0000"/>
              </a:solidFill>
            </a:endParaRPr>
          </a:p>
        </p:txBody>
      </p:sp>
      <mc:AlternateContent xmlns:mc="http://schemas.openxmlformats.org/markup-compatibility/2006" xmlns:a14="http://schemas.microsoft.com/office/drawing/2010/main">
        <mc:Choice Requires="a14">
          <p:sp>
            <p:nvSpPr>
              <p:cNvPr id="13" name="Rectángulo 12"/>
              <p:cNvSpPr/>
              <p:nvPr/>
            </p:nvSpPr>
            <p:spPr>
              <a:xfrm>
                <a:off x="1184" y="4581844"/>
                <a:ext cx="12190816" cy="1173013"/>
              </a:xfrm>
              <a:prstGeom prst="rect">
                <a:avLst/>
              </a:prstGeom>
            </p:spPr>
            <p:txBody>
              <a:bodyPr wrap="square">
                <a:spAutoFit/>
              </a:bodyPr>
              <a:lstStyle/>
              <a:p>
                <a:pPr marL="0" lvl="1"/>
                <a:r>
                  <a:rPr lang="es-MX" sz="2200" b="1" dirty="0" smtClean="0">
                    <a:solidFill>
                      <a:srgbClr val="0070C0"/>
                    </a:solidFill>
                    <a:latin typeface="Arial" panose="020B0604020202020204" pitchFamily="34" charset="0"/>
                    <a:cs typeface="Arial" panose="020B0604020202020204" pitchFamily="34" charset="0"/>
                  </a:rPr>
                  <a:t>El cofactor </a:t>
                </a:r>
                <a14:m>
                  <m:oMath xmlns:m="http://schemas.openxmlformats.org/officeDocument/2006/math">
                    <m:sSub>
                      <m:sSubPr>
                        <m:ctrlPr>
                          <a:rPr lang="es-MX" sz="2200" b="1" i="1" smtClean="0">
                            <a:solidFill>
                              <a:srgbClr val="FF0000"/>
                            </a:solidFill>
                            <a:latin typeface="Cambria Math" panose="02040503050406030204" pitchFamily="18" charset="0"/>
                          </a:rPr>
                        </m:ctrlPr>
                      </m:sSubPr>
                      <m:e>
                        <m:r>
                          <a:rPr lang="es-MX" sz="2200" b="1" i="1" smtClean="0">
                            <a:solidFill>
                              <a:srgbClr val="FF0000"/>
                            </a:solidFill>
                            <a:latin typeface="Cambria Math" panose="02040503050406030204" pitchFamily="18" charset="0"/>
                          </a:rPr>
                          <m:t>𝑪</m:t>
                        </m:r>
                      </m:e>
                      <m:sub>
                        <m:r>
                          <a:rPr lang="es-MX" sz="2200" b="1" i="1" smtClean="0">
                            <a:solidFill>
                              <a:srgbClr val="FF0000"/>
                            </a:solidFill>
                            <a:latin typeface="Cambria Math" panose="02040503050406030204" pitchFamily="18" charset="0"/>
                          </a:rPr>
                          <m:t>𝒊𝒋</m:t>
                        </m:r>
                      </m:sub>
                    </m:sSub>
                  </m:oMath>
                </a14:m>
                <a:r>
                  <a:rPr lang="es-MX" sz="2200" b="1" dirty="0" smtClean="0">
                    <a:solidFill>
                      <a:srgbClr val="0070C0"/>
                    </a:solidFill>
                    <a:latin typeface="Arial" panose="020B0604020202020204" pitchFamily="34" charset="0"/>
                    <a:cs typeface="Arial" panose="020B0604020202020204" pitchFamily="34" charset="0"/>
                  </a:rPr>
                  <a:t> (que es un escalar) del elemento </a:t>
                </a:r>
                <a14:m>
                  <m:oMath xmlns:m="http://schemas.openxmlformats.org/officeDocument/2006/math">
                    <m:sSub>
                      <m:sSubPr>
                        <m:ctrlPr>
                          <a:rPr lang="es-MX" sz="2200" b="1" i="1" smtClean="0">
                            <a:solidFill>
                              <a:srgbClr val="FF0000"/>
                            </a:solidFill>
                            <a:latin typeface="Cambria Math" panose="02040503050406030204" pitchFamily="18" charset="0"/>
                          </a:rPr>
                        </m:ctrlPr>
                      </m:sSubPr>
                      <m:e>
                        <m:r>
                          <a:rPr lang="es-MX" sz="2200" b="1" i="1" smtClean="0">
                            <a:solidFill>
                              <a:srgbClr val="FF0000"/>
                            </a:solidFill>
                            <a:latin typeface="Cambria Math" panose="02040503050406030204" pitchFamily="18" charset="0"/>
                          </a:rPr>
                          <m:t>𝒂</m:t>
                        </m:r>
                      </m:e>
                      <m:sub>
                        <m:r>
                          <a:rPr lang="es-MX" sz="2200" b="1" i="1" smtClean="0">
                            <a:solidFill>
                              <a:srgbClr val="FF0000"/>
                            </a:solidFill>
                            <a:latin typeface="Cambria Math" panose="02040503050406030204" pitchFamily="18" charset="0"/>
                          </a:rPr>
                          <m:t>𝒊𝒋</m:t>
                        </m:r>
                      </m:sub>
                    </m:sSub>
                  </m:oMath>
                </a14:m>
                <a:r>
                  <a:rPr lang="es-MX" sz="2200" b="1" dirty="0" smtClean="0">
                    <a:solidFill>
                      <a:srgbClr val="0070C0"/>
                    </a:solidFill>
                    <a:latin typeface="Arial" panose="020B0604020202020204" pitchFamily="34" charset="0"/>
                    <a:cs typeface="Arial" panose="020B0604020202020204" pitchFamily="34" charset="0"/>
                  </a:rPr>
                  <a:t> se define como </a:t>
                </a:r>
                <a14:m>
                  <m:oMath xmlns:m="http://schemas.openxmlformats.org/officeDocument/2006/math">
                    <m:sSub>
                      <m:sSubPr>
                        <m:ctrlPr>
                          <a:rPr lang="es-MX" sz="2200" b="1" i="1" smtClean="0">
                            <a:solidFill>
                              <a:srgbClr val="FF0000"/>
                            </a:solidFill>
                            <a:latin typeface="Cambria Math" panose="02040503050406030204" pitchFamily="18" charset="0"/>
                          </a:rPr>
                        </m:ctrlPr>
                      </m:sSubPr>
                      <m:e>
                        <m:r>
                          <a:rPr lang="es-MX" sz="2200" b="1" i="1" smtClean="0">
                            <a:solidFill>
                              <a:srgbClr val="FF0000"/>
                            </a:solidFill>
                            <a:latin typeface="Cambria Math" panose="02040503050406030204" pitchFamily="18" charset="0"/>
                          </a:rPr>
                          <m:t>𝑪</m:t>
                        </m:r>
                      </m:e>
                      <m:sub>
                        <m:r>
                          <a:rPr lang="es-MX" sz="2200" b="1" i="1" smtClean="0">
                            <a:solidFill>
                              <a:srgbClr val="FF0000"/>
                            </a:solidFill>
                            <a:latin typeface="Cambria Math" panose="02040503050406030204" pitchFamily="18" charset="0"/>
                          </a:rPr>
                          <m:t>𝒊𝒋</m:t>
                        </m:r>
                      </m:sub>
                    </m:sSub>
                    <m:r>
                      <a:rPr lang="es-MX" sz="2200" b="1" i="1" smtClean="0">
                        <a:solidFill>
                          <a:srgbClr val="FF0000"/>
                        </a:solidFill>
                        <a:latin typeface="Cambria Math" panose="02040503050406030204" pitchFamily="18" charset="0"/>
                      </a:rPr>
                      <m:t>=</m:t>
                    </m:r>
                    <m:sSup>
                      <m:sSupPr>
                        <m:ctrlPr>
                          <a:rPr lang="es-MX" sz="2200" b="1" i="1" smtClean="0">
                            <a:solidFill>
                              <a:srgbClr val="FF0000"/>
                            </a:solidFill>
                            <a:latin typeface="Cambria Math" panose="02040503050406030204" pitchFamily="18" charset="0"/>
                          </a:rPr>
                        </m:ctrlPr>
                      </m:sSupPr>
                      <m:e>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𝟏</m:t>
                            </m:r>
                          </m:e>
                        </m:d>
                      </m:e>
                      <m:sup>
                        <m:r>
                          <a:rPr lang="es-MX" sz="2200" b="1" i="1" smtClean="0">
                            <a:solidFill>
                              <a:srgbClr val="FF0000"/>
                            </a:solidFill>
                            <a:latin typeface="Cambria Math" panose="02040503050406030204" pitchFamily="18" charset="0"/>
                          </a:rPr>
                          <m:t>𝒊</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𝒋</m:t>
                        </m:r>
                      </m:sup>
                    </m:sSup>
                    <m:d>
                      <m:dPr>
                        <m:begChr m:val="|"/>
                        <m:endChr m:val="|"/>
                        <m:ctrlPr>
                          <a:rPr lang="es-MX" sz="2200" b="1" i="1" smtClean="0">
                            <a:solidFill>
                              <a:srgbClr val="FF0000"/>
                            </a:solidFill>
                            <a:latin typeface="Cambria Math" panose="02040503050406030204" pitchFamily="18" charset="0"/>
                          </a:rPr>
                        </m:ctrlPr>
                      </m:dPr>
                      <m:e>
                        <m:sSub>
                          <m:sSubPr>
                            <m:ctrlPr>
                              <a:rPr lang="es-MX" sz="2200" b="1" i="1" smtClean="0">
                                <a:solidFill>
                                  <a:srgbClr val="FF0000"/>
                                </a:solidFill>
                                <a:latin typeface="Cambria Math" panose="02040503050406030204" pitchFamily="18" charset="0"/>
                              </a:rPr>
                            </m:ctrlPr>
                          </m:sSubPr>
                          <m:e>
                            <m:r>
                              <a:rPr lang="es-MX" sz="2200" b="1" i="1" smtClean="0">
                                <a:solidFill>
                                  <a:srgbClr val="FF0000"/>
                                </a:solidFill>
                                <a:latin typeface="Cambria Math" panose="02040503050406030204" pitchFamily="18" charset="0"/>
                              </a:rPr>
                              <m:t>𝑴</m:t>
                            </m:r>
                          </m:e>
                          <m:sub>
                            <m:r>
                              <a:rPr lang="es-MX" sz="2200" b="1" i="1" smtClean="0">
                                <a:solidFill>
                                  <a:srgbClr val="FF0000"/>
                                </a:solidFill>
                                <a:latin typeface="Cambria Math" panose="02040503050406030204" pitchFamily="18" charset="0"/>
                              </a:rPr>
                              <m:t>𝒊𝒋</m:t>
                            </m:r>
                          </m:sub>
                        </m:sSub>
                      </m:e>
                    </m:d>
                  </m:oMath>
                </a14:m>
                <a:r>
                  <a:rPr lang="es-MX" sz="2200" b="1" dirty="0" smtClean="0">
                    <a:solidFill>
                      <a:srgbClr val="0070C0"/>
                    </a:solidFill>
                    <a:latin typeface="Arial" panose="020B0604020202020204" pitchFamily="34" charset="0"/>
                    <a:cs typeface="Arial" panose="020B0604020202020204" pitchFamily="34" charset="0"/>
                  </a:rPr>
                  <a:t> esto es, el determinante del menor para el elemento </a:t>
                </a:r>
                <a14:m>
                  <m:oMath xmlns:m="http://schemas.openxmlformats.org/officeDocument/2006/math">
                    <m:r>
                      <a:rPr lang="es-MX" sz="2200" b="1" i="1" dirty="0" smtClean="0">
                        <a:solidFill>
                          <a:srgbClr val="FF0000"/>
                        </a:solidFill>
                        <a:latin typeface="Cambria Math" panose="02040503050406030204" pitchFamily="18" charset="0"/>
                      </a:rPr>
                      <m:t>𝒊𝒋</m:t>
                    </m:r>
                  </m:oMath>
                </a14:m>
                <a:r>
                  <a:rPr lang="es-MX" sz="2200" b="1" dirty="0" smtClean="0">
                    <a:solidFill>
                      <a:srgbClr val="0070C0"/>
                    </a:solidFill>
                    <a:latin typeface="Arial" panose="020B0604020202020204" pitchFamily="34" charset="0"/>
                    <a:cs typeface="Arial" panose="020B0604020202020204" pitchFamily="34" charset="0"/>
                  </a:rPr>
                  <a:t> multiplicado por el factor </a:t>
                </a:r>
                <a14:m>
                  <m:oMath xmlns:m="http://schemas.openxmlformats.org/officeDocument/2006/math">
                    <m:sSup>
                      <m:sSupPr>
                        <m:ctrlPr>
                          <a:rPr lang="es-MX" sz="2200" b="1" i="1" smtClean="0">
                            <a:solidFill>
                              <a:srgbClr val="FF0000"/>
                            </a:solidFill>
                            <a:latin typeface="Cambria Math" panose="02040503050406030204" pitchFamily="18" charset="0"/>
                          </a:rPr>
                        </m:ctrlPr>
                      </m:sSupPr>
                      <m:e>
                        <m:d>
                          <m:dPr>
                            <m:ctrlPr>
                              <a:rPr lang="es-MX" sz="2200" b="1" i="1">
                                <a:solidFill>
                                  <a:srgbClr val="FF0000"/>
                                </a:solidFill>
                                <a:latin typeface="Cambria Math" panose="02040503050406030204" pitchFamily="18" charset="0"/>
                              </a:rPr>
                            </m:ctrlPr>
                          </m:dPr>
                          <m:e>
                            <m:r>
                              <a:rPr lang="es-MX" sz="2200" b="1" i="1">
                                <a:solidFill>
                                  <a:srgbClr val="FF0000"/>
                                </a:solidFill>
                                <a:latin typeface="Cambria Math" panose="02040503050406030204" pitchFamily="18" charset="0"/>
                              </a:rPr>
                              <m:t>−</m:t>
                            </m:r>
                            <m:r>
                              <a:rPr lang="es-MX" sz="2200" b="1" i="1">
                                <a:solidFill>
                                  <a:srgbClr val="FF0000"/>
                                </a:solidFill>
                                <a:latin typeface="Cambria Math" panose="02040503050406030204" pitchFamily="18" charset="0"/>
                              </a:rPr>
                              <m:t>𝟏</m:t>
                            </m:r>
                          </m:e>
                        </m:d>
                      </m:e>
                      <m:sup>
                        <m:r>
                          <a:rPr lang="es-MX" sz="2200" b="1" i="1">
                            <a:solidFill>
                              <a:srgbClr val="FF0000"/>
                            </a:solidFill>
                            <a:latin typeface="Cambria Math" panose="02040503050406030204" pitchFamily="18" charset="0"/>
                          </a:rPr>
                          <m:t>𝒊</m:t>
                        </m:r>
                        <m:r>
                          <a:rPr lang="es-MX" sz="2200" b="1" i="1">
                            <a:solidFill>
                              <a:srgbClr val="FF0000"/>
                            </a:solidFill>
                            <a:latin typeface="Cambria Math" panose="02040503050406030204" pitchFamily="18" charset="0"/>
                          </a:rPr>
                          <m:t>+</m:t>
                        </m:r>
                        <m:r>
                          <a:rPr lang="es-MX" sz="2200" b="1" i="1">
                            <a:solidFill>
                              <a:srgbClr val="FF0000"/>
                            </a:solidFill>
                            <a:latin typeface="Cambria Math" panose="02040503050406030204" pitchFamily="18" charset="0"/>
                          </a:rPr>
                          <m:t>𝒋</m:t>
                        </m:r>
                      </m:sup>
                    </m:sSup>
                  </m:oMath>
                </a14:m>
                <a:r>
                  <a:rPr lang="es-MX" sz="2200" b="1" dirty="0" smtClean="0">
                    <a:solidFill>
                      <a:srgbClr val="0070C0"/>
                    </a:solidFill>
                    <a:latin typeface="Arial" panose="020B0604020202020204" pitchFamily="34" charset="0"/>
                    <a:cs typeface="Arial" panose="020B0604020202020204" pitchFamily="34" charset="0"/>
                  </a:rPr>
                  <a:t> el cual será positivo si la suma (</a:t>
                </a:r>
                <a14:m>
                  <m:oMath xmlns:m="http://schemas.openxmlformats.org/officeDocument/2006/math">
                    <m:r>
                      <a:rPr lang="es-MX" sz="2200" b="1" i="1" smtClean="0">
                        <a:solidFill>
                          <a:srgbClr val="FF0000"/>
                        </a:solidFill>
                        <a:latin typeface="Cambria Math" panose="02040503050406030204" pitchFamily="18" charset="0"/>
                      </a:rPr>
                      <m:t>𝒊</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𝒋</m:t>
                    </m:r>
                  </m:oMath>
                </a14:m>
                <a:r>
                  <a:rPr lang="es-MX" sz="2200" b="1" dirty="0" smtClean="0">
                    <a:solidFill>
                      <a:srgbClr val="0070C0"/>
                    </a:solidFill>
                    <a:latin typeface="Arial" panose="020B0604020202020204" pitchFamily="34" charset="0"/>
                    <a:cs typeface="Arial" panose="020B0604020202020204" pitchFamily="34" charset="0"/>
                  </a:rPr>
                  <a:t>) es par y negativo si es impar.</a:t>
                </a:r>
                <a:endParaRPr lang="es-MX" sz="2200" b="1" dirty="0">
                  <a:solidFill>
                    <a:srgbClr val="0070C0"/>
                  </a:solidFill>
                  <a:latin typeface="Arial" panose="020B0604020202020204" pitchFamily="34" charset="0"/>
                  <a:cs typeface="Arial" panose="020B0604020202020204" pitchFamily="34" charset="0"/>
                </a:endParaRPr>
              </a:p>
            </p:txBody>
          </p:sp>
        </mc:Choice>
        <mc:Fallback xmlns="">
          <p:sp>
            <p:nvSpPr>
              <p:cNvPr id="13" name="Rectángulo 12"/>
              <p:cNvSpPr>
                <a:spLocks noRot="1" noChangeAspect="1" noMove="1" noResize="1" noEditPoints="1" noAdjustHandles="1" noChangeArrowheads="1" noChangeShapeType="1" noTextEdit="1"/>
              </p:cNvSpPr>
              <p:nvPr/>
            </p:nvSpPr>
            <p:spPr>
              <a:xfrm>
                <a:off x="1184" y="4581844"/>
                <a:ext cx="12190816" cy="1173013"/>
              </a:xfrm>
              <a:prstGeom prst="rect">
                <a:avLst/>
              </a:prstGeom>
              <a:blipFill rotWithShape="0">
                <a:blip r:embed="rId4"/>
                <a:stretch>
                  <a:fillRect l="-650" t="-2083" r="-350" b="-9896"/>
                </a:stretch>
              </a:blipFill>
            </p:spPr>
            <p:txBody>
              <a:bodyPr/>
              <a:lstStyle/>
              <a:p>
                <a:r>
                  <a:rPr lang="es-MX">
                    <a:noFill/>
                  </a:rPr>
                  <a:t> </a:t>
                </a:r>
              </a:p>
            </p:txBody>
          </p:sp>
        </mc:Fallback>
      </mc:AlternateContent>
    </p:spTree>
    <p:extLst>
      <p:ext uri="{BB962C8B-B14F-4D97-AF65-F5344CB8AC3E}">
        <p14:creationId xmlns:p14="http://schemas.microsoft.com/office/powerpoint/2010/main" val="389664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circle(in)">
                                      <p:cBhvr>
                                        <p:cTn id="22" dur="20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ángulo 4"/>
              <p:cNvSpPr/>
              <p:nvPr/>
            </p:nvSpPr>
            <p:spPr>
              <a:xfrm>
                <a:off x="0" y="1162002"/>
                <a:ext cx="12192000" cy="1219052"/>
              </a:xfrm>
              <a:prstGeom prst="rect">
                <a:avLst/>
              </a:prstGeom>
            </p:spPr>
            <p:txBody>
              <a:bodyPr wrap="square">
                <a:spAutoFit/>
              </a:bodyPr>
              <a:lstStyle/>
              <a:p>
                <a:pPr marL="0" lvl="1" algn="just"/>
                <a:r>
                  <a:rPr lang="es-ES" sz="2000" b="1" dirty="0" smtClean="0">
                    <a:solidFill>
                      <a:srgbClr val="FF0000"/>
                    </a:solidFill>
                    <a:latin typeface="Arial" panose="020B0604020202020204" pitchFamily="34" charset="0"/>
                    <a:cs typeface="Arial" panose="020B0604020202020204" pitchFamily="34" charset="0"/>
                  </a:rPr>
                  <a:t>Ejemplo. </a:t>
                </a:r>
                <a:r>
                  <a:rPr lang="es-ES" sz="2000" b="1" dirty="0" smtClean="0">
                    <a:solidFill>
                      <a:schemeClr val="accent3">
                        <a:lumMod val="50000"/>
                      </a:schemeClr>
                    </a:solidFill>
                    <a:latin typeface="Arial" panose="020B0604020202020204" pitchFamily="34" charset="0"/>
                    <a:cs typeface="Arial" panose="020B0604020202020204" pitchFamily="34" charset="0"/>
                  </a:rPr>
                  <a:t>Si </a:t>
                </a:r>
                <a14:m>
                  <m:oMath xmlns:m="http://schemas.openxmlformats.org/officeDocument/2006/math">
                    <m:r>
                      <a:rPr lang="es-ES" sz="2000" b="1" i="1" dirty="0" smtClean="0">
                        <a:solidFill>
                          <a:schemeClr val="accent3">
                            <a:lumMod val="50000"/>
                          </a:schemeClr>
                        </a:solidFill>
                        <a:latin typeface="Cambria Math" panose="02040503050406030204" pitchFamily="18" charset="0"/>
                      </a:rPr>
                      <m:t>𝑨</m:t>
                    </m:r>
                  </m:oMath>
                </a14:m>
                <a:r>
                  <a:rPr lang="es-ES" sz="2000" b="1" dirty="0">
                    <a:solidFill>
                      <a:schemeClr val="accent3">
                        <a:lumMod val="50000"/>
                      </a:schemeClr>
                    </a:solidFill>
                    <a:latin typeface="Arial" panose="020B0604020202020204" pitchFamily="34" charset="0"/>
                    <a:cs typeface="Arial" panose="020B0604020202020204" pitchFamily="34" charset="0"/>
                  </a:rPr>
                  <a:t> es la matriz de orden </a:t>
                </a:r>
                <a14:m>
                  <m:oMath xmlns:m="http://schemas.openxmlformats.org/officeDocument/2006/math">
                    <m:r>
                      <a:rPr lang="es-ES" sz="2000" b="1" i="1" dirty="0" smtClean="0">
                        <a:solidFill>
                          <a:schemeClr val="accent3">
                            <a:lumMod val="50000"/>
                          </a:schemeClr>
                        </a:solidFill>
                        <a:latin typeface="Cambria Math" panose="02040503050406030204" pitchFamily="18" charset="0"/>
                      </a:rPr>
                      <m:t>𝟑</m:t>
                    </m:r>
                    <m:r>
                      <a:rPr lang="es-ES" sz="2000" b="1" i="1" dirty="0" smtClean="0">
                        <a:solidFill>
                          <a:schemeClr val="accent3">
                            <a:lumMod val="50000"/>
                          </a:schemeClr>
                        </a:solidFill>
                        <a:latin typeface="Cambria Math" panose="02040503050406030204" pitchFamily="18" charset="0"/>
                      </a:rPr>
                      <m:t>𝒙</m:t>
                    </m:r>
                    <m:r>
                      <a:rPr lang="es-ES" sz="2000" b="1" i="1" dirty="0" smtClean="0">
                        <a:solidFill>
                          <a:schemeClr val="accent3">
                            <a:lumMod val="50000"/>
                          </a:schemeClr>
                        </a:solidFill>
                        <a:latin typeface="Cambria Math" panose="02040503050406030204" pitchFamily="18" charset="0"/>
                      </a:rPr>
                      <m:t>𝟑</m:t>
                    </m:r>
                  </m:oMath>
                </a14:m>
                <a:r>
                  <a:rPr lang="es-ES" sz="2000" b="1" dirty="0">
                    <a:solidFill>
                      <a:schemeClr val="accent3">
                        <a:lumMod val="50000"/>
                      </a:schemeClr>
                    </a:solidFill>
                    <a:latin typeface="Arial" panose="020B0604020202020204" pitchFamily="34" charset="0"/>
                    <a:cs typeface="Arial" panose="020B0604020202020204" pitchFamily="34" charset="0"/>
                  </a:rPr>
                  <a:t> definida por </a:t>
                </a:r>
                <a14:m>
                  <m:oMath xmlns:m="http://schemas.openxmlformats.org/officeDocument/2006/math">
                    <m:d>
                      <m:dPr>
                        <m:begChr m:val="["/>
                        <m:endChr m:val="]"/>
                        <m:ctrlPr>
                          <a:rPr lang="es-ES" sz="2000" b="1" i="1">
                            <a:solidFill>
                              <a:schemeClr val="accent3">
                                <a:lumMod val="50000"/>
                              </a:schemeClr>
                            </a:solidFill>
                            <a:latin typeface="Cambria Math" panose="02040503050406030204" pitchFamily="18" charset="0"/>
                          </a:rPr>
                        </m:ctrlPr>
                      </m:dPr>
                      <m:e>
                        <m:m>
                          <m:mPr>
                            <m:mcs>
                              <m:mc>
                                <m:mcPr>
                                  <m:count m:val="3"/>
                                  <m:mcJc m:val="center"/>
                                </m:mcPr>
                              </m:mc>
                            </m:mcs>
                            <m:ctrlPr>
                              <a:rPr lang="es-ES" sz="2000" b="1" i="1">
                                <a:solidFill>
                                  <a:schemeClr val="accent3">
                                    <a:lumMod val="50000"/>
                                  </a:schemeClr>
                                </a:solidFill>
                                <a:latin typeface="Cambria Math" panose="02040503050406030204" pitchFamily="18" charset="0"/>
                              </a:rPr>
                            </m:ctrlPr>
                          </m:mP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𝟏𝟑</m:t>
                                  </m:r>
                                </m:sub>
                              </m:sSub>
                            </m:e>
                          </m:m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𝟐𝟑</m:t>
                                  </m:r>
                                </m:sub>
                              </m:sSub>
                            </m:e>
                          </m:m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𝟑𝟑</m:t>
                                  </m:r>
                                </m:sub>
                              </m:sSub>
                            </m:e>
                          </m:mr>
                        </m:m>
                      </m:e>
                    </m:d>
                  </m:oMath>
                </a14:m>
                <a:r>
                  <a:rPr lang="es-MX" sz="2000" b="1" dirty="0" smtClean="0">
                    <a:solidFill>
                      <a:schemeClr val="accent3">
                        <a:lumMod val="50000"/>
                      </a:schemeClr>
                    </a:solidFill>
                    <a:latin typeface="Arial" panose="020B0604020202020204" pitchFamily="34" charset="0"/>
                    <a:cs typeface="Arial" panose="020B0604020202020204" pitchFamily="34" charset="0"/>
                  </a:rPr>
                  <a:t>, </a:t>
                </a:r>
                <a:r>
                  <a:rPr lang="es-ES" sz="2000" b="1" dirty="0">
                    <a:solidFill>
                      <a:schemeClr val="accent3">
                        <a:lumMod val="50000"/>
                      </a:schemeClr>
                    </a:solidFill>
                    <a:latin typeface="Arial" panose="020B0604020202020204" pitchFamily="34" charset="0"/>
                    <a:cs typeface="Arial" panose="020B0604020202020204" pitchFamily="34" charset="0"/>
                  </a:rPr>
                  <a:t>entonces como podemos observar, cada elemento dentro de la matriz tiene una posición </a:t>
                </a:r>
                <a14:m>
                  <m:oMath xmlns:m="http://schemas.openxmlformats.org/officeDocument/2006/math">
                    <m:r>
                      <a:rPr lang="es-ES" sz="2000" b="1" i="1" dirty="0" smtClean="0">
                        <a:solidFill>
                          <a:schemeClr val="accent3">
                            <a:lumMod val="50000"/>
                          </a:schemeClr>
                        </a:solidFill>
                        <a:latin typeface="Cambria Math" panose="02040503050406030204" pitchFamily="18" charset="0"/>
                      </a:rPr>
                      <m:t>𝒊𝒋</m:t>
                    </m:r>
                  </m:oMath>
                </a14:m>
                <a:r>
                  <a:rPr lang="es-ES" sz="2000" b="1" dirty="0">
                    <a:solidFill>
                      <a:schemeClr val="accent3">
                        <a:lumMod val="50000"/>
                      </a:schemeClr>
                    </a:solidFill>
                    <a:latin typeface="Arial" panose="020B0604020202020204" pitchFamily="34" charset="0"/>
                    <a:cs typeface="Arial" panose="020B0604020202020204" pitchFamily="34" charset="0"/>
                  </a:rPr>
                  <a:t>.</a:t>
                </a:r>
                <a:endParaRPr lang="es-MX"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0" y="1162002"/>
                <a:ext cx="12192000" cy="1219052"/>
              </a:xfrm>
              <a:prstGeom prst="rect">
                <a:avLst/>
              </a:prstGeom>
              <a:blipFill rotWithShape="0">
                <a:blip r:embed="rId2"/>
                <a:stretch>
                  <a:fillRect l="-500" r="-500" b="-8500"/>
                </a:stretch>
              </a:blipFill>
            </p:spPr>
            <p:txBody>
              <a:bodyPr/>
              <a:lstStyle/>
              <a:p>
                <a:r>
                  <a:rPr lang="es-MX">
                    <a:noFill/>
                  </a:rPr>
                  <a:t> </a:t>
                </a:r>
              </a:p>
            </p:txBody>
          </p:sp>
        </mc:Fallback>
      </mc:AlternateContent>
      <p:pic>
        <p:nvPicPr>
          <p:cNvPr id="6" name="Imagen 5"/>
          <p:cNvPicPr>
            <a:picLocks noChangeAspect="1"/>
          </p:cNvPicPr>
          <p:nvPr/>
        </p:nvPicPr>
        <p:blipFill>
          <a:blip r:embed="rId3"/>
          <a:stretch>
            <a:fillRect/>
          </a:stretch>
        </p:blipFill>
        <p:spPr>
          <a:xfrm>
            <a:off x="238259" y="2423137"/>
            <a:ext cx="3445099" cy="1086596"/>
          </a:xfrm>
          <a:prstGeom prst="rect">
            <a:avLst/>
          </a:prstGeom>
        </p:spPr>
      </p:pic>
      <p:sp>
        <p:nvSpPr>
          <p:cNvPr id="7" name="Rectángulo 6"/>
          <p:cNvSpPr/>
          <p:nvPr/>
        </p:nvSpPr>
        <p:spPr>
          <a:xfrm>
            <a:off x="3664104" y="2774775"/>
            <a:ext cx="438016" cy="400110"/>
          </a:xfrm>
          <a:prstGeom prst="rect">
            <a:avLst/>
          </a:prstGeom>
        </p:spPr>
        <p:txBody>
          <a:bodyPr wrap="square">
            <a:spAutoFit/>
          </a:bodyPr>
          <a:lstStyle/>
          <a:p>
            <a:pPr marL="0" lvl="1"/>
            <a:r>
              <a:rPr lang="es-ES" sz="2000" b="1" dirty="0" smtClean="0">
                <a:solidFill>
                  <a:srgbClr val="FF0000"/>
                </a:solidFill>
                <a:latin typeface="Arial" panose="020B0604020202020204" pitchFamily="34" charset="0"/>
                <a:cs typeface="Arial" panose="020B0604020202020204" pitchFamily="34" charset="0"/>
              </a:rPr>
              <a:t>y</a:t>
            </a:r>
            <a:endParaRPr lang="es-MX" sz="20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Rectángulo 7"/>
              <p:cNvSpPr/>
              <p:nvPr/>
            </p:nvSpPr>
            <p:spPr>
              <a:xfrm>
                <a:off x="4121374" y="2669522"/>
                <a:ext cx="2987898" cy="610616"/>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𝑪</m:t>
                          </m:r>
                        </m:e>
                        <m:sub>
                          <m:r>
                            <a:rPr lang="es-MX" sz="2000" b="1" i="1" smtClean="0">
                              <a:solidFill>
                                <a:schemeClr val="accent3">
                                  <a:lumMod val="50000"/>
                                </a:schemeClr>
                              </a:solidFill>
                              <a:latin typeface="Cambria Math" panose="02040503050406030204" pitchFamily="18" charset="0"/>
                            </a:rPr>
                            <m:t>𝟏𝟏</m:t>
                          </m:r>
                        </m:sub>
                      </m:sSub>
                      <m:r>
                        <a:rPr lang="es-MX" sz="2000" b="1" i="1" smtClean="0">
                          <a:solidFill>
                            <a:schemeClr val="accent3">
                              <a:lumMod val="50000"/>
                            </a:schemeClr>
                          </a:solidFill>
                          <a:latin typeface="Cambria Math" panose="02040503050406030204" pitchFamily="18" charset="0"/>
                        </a:rPr>
                        <m:t>=</m:t>
                      </m:r>
                      <m:sSup>
                        <m:sSupPr>
                          <m:ctrlPr>
                            <a:rPr lang="es-MX" sz="2000" b="1" i="1" smtClean="0">
                              <a:solidFill>
                                <a:schemeClr val="accent3">
                                  <a:lumMod val="50000"/>
                                </a:schemeClr>
                              </a:solidFill>
                              <a:latin typeface="Cambria Math" panose="02040503050406030204" pitchFamily="18" charset="0"/>
                            </a:rPr>
                          </m:ctrlPr>
                        </m:sSupPr>
                        <m:e>
                          <m:d>
                            <m:dPr>
                              <m:ctrlPr>
                                <a:rPr lang="es-MX" sz="2000" b="1" i="1" smtClean="0">
                                  <a:solidFill>
                                    <a:schemeClr val="accent3">
                                      <a:lumMod val="50000"/>
                                    </a:schemeClr>
                                  </a:solidFill>
                                  <a:latin typeface="Cambria Math" panose="02040503050406030204" pitchFamily="18" charset="0"/>
                                </a:rPr>
                              </m:ctrlPr>
                            </m:dPr>
                            <m:e>
                              <m:r>
                                <a:rPr lang="es-MX" sz="2000" b="1" i="1" smtClean="0">
                                  <a:solidFill>
                                    <a:schemeClr val="accent3">
                                      <a:lumMod val="50000"/>
                                    </a:schemeClr>
                                  </a:solidFill>
                                  <a:latin typeface="Cambria Math" panose="02040503050406030204" pitchFamily="18" charset="0"/>
                                </a:rPr>
                                <m:t>−</m:t>
                              </m:r>
                              <m:r>
                                <a:rPr lang="es-MX" sz="2000" b="1" i="1" smtClean="0">
                                  <a:solidFill>
                                    <a:schemeClr val="accent3">
                                      <a:lumMod val="50000"/>
                                    </a:schemeClr>
                                  </a:solidFill>
                                  <a:latin typeface="Cambria Math" panose="02040503050406030204" pitchFamily="18" charset="0"/>
                                </a:rPr>
                                <m:t>𝟏</m:t>
                              </m:r>
                            </m:e>
                          </m:d>
                        </m:e>
                        <m:sup>
                          <m:r>
                            <a:rPr lang="es-MX" sz="2000" b="1" i="1" smtClean="0">
                              <a:solidFill>
                                <a:schemeClr val="accent3">
                                  <a:lumMod val="50000"/>
                                </a:schemeClr>
                              </a:solidFill>
                              <a:latin typeface="Cambria Math" panose="02040503050406030204" pitchFamily="18" charset="0"/>
                            </a:rPr>
                            <m:t>𝟐</m:t>
                          </m:r>
                        </m:sup>
                      </m:sSup>
                      <m:d>
                        <m:dPr>
                          <m:begChr m:val="["/>
                          <m:endChr m:val="]"/>
                          <m:ctrlPr>
                            <a:rPr lang="es-MX" sz="20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000" b="1" i="1" smtClean="0">
                                  <a:solidFill>
                                    <a:schemeClr val="accent3">
                                      <a:lumMod val="50000"/>
                                    </a:schemeClr>
                                  </a:solidFill>
                                  <a:latin typeface="Cambria Math" panose="02040503050406030204" pitchFamily="18" charset="0"/>
                                </a:rPr>
                              </m:ctrlPr>
                            </m:mP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𝟐𝟐</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𝟐𝟑</m:t>
                                    </m:r>
                                  </m:sub>
                                </m:sSub>
                              </m:e>
                            </m:m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𝟑𝟐</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𝟑𝟑</m:t>
                                    </m:r>
                                  </m:sub>
                                </m:sSub>
                              </m:e>
                            </m:mr>
                          </m:m>
                        </m:e>
                      </m:d>
                    </m:oMath>
                  </m:oMathPara>
                </a14:m>
                <a:endParaRPr lang="es-MX" sz="2000" b="1" dirty="0">
                  <a:solidFill>
                    <a:schemeClr val="accent3">
                      <a:lumMod val="50000"/>
                    </a:schemeClr>
                  </a:solidFill>
                </a:endParaRPr>
              </a:p>
            </p:txBody>
          </p:sp>
        </mc:Choice>
        <mc:Fallback xmlns="">
          <p:sp>
            <p:nvSpPr>
              <p:cNvPr id="8" name="Rectángulo 7"/>
              <p:cNvSpPr>
                <a:spLocks noRot="1" noChangeAspect="1" noMove="1" noResize="1" noEditPoints="1" noAdjustHandles="1" noChangeArrowheads="1" noChangeShapeType="1" noTextEdit="1"/>
              </p:cNvSpPr>
              <p:nvPr/>
            </p:nvSpPr>
            <p:spPr>
              <a:xfrm>
                <a:off x="4121374" y="2669522"/>
                <a:ext cx="2987898" cy="610616"/>
              </a:xfrm>
              <a:prstGeom prst="rect">
                <a:avLst/>
              </a:prstGeom>
              <a:blipFill rotWithShape="0">
                <a:blip r:embed="rId4"/>
                <a:stretch>
                  <a:fillRect/>
                </a:stretch>
              </a:blipFill>
            </p:spPr>
            <p:txBody>
              <a:bodyPr/>
              <a:lstStyle/>
              <a:p>
                <a:r>
                  <a:rPr lang="es-MX">
                    <a:noFill/>
                  </a:rPr>
                  <a:t> </a:t>
                </a:r>
              </a:p>
            </p:txBody>
          </p:sp>
        </mc:Fallback>
      </mc:AlternateContent>
      <p:sp>
        <p:nvSpPr>
          <p:cNvPr id="9" name="Rectángulo 8"/>
          <p:cNvSpPr/>
          <p:nvPr/>
        </p:nvSpPr>
        <p:spPr>
          <a:xfrm>
            <a:off x="3664104" y="3969160"/>
            <a:ext cx="438016" cy="400110"/>
          </a:xfrm>
          <a:prstGeom prst="rect">
            <a:avLst/>
          </a:prstGeom>
        </p:spPr>
        <p:txBody>
          <a:bodyPr wrap="square">
            <a:spAutoFit/>
          </a:bodyPr>
          <a:lstStyle/>
          <a:p>
            <a:pPr marL="0" lvl="1"/>
            <a:r>
              <a:rPr lang="es-ES" sz="2000" b="1" dirty="0" smtClean="0">
                <a:solidFill>
                  <a:srgbClr val="FF0000"/>
                </a:solidFill>
                <a:latin typeface="Arial" panose="020B0604020202020204" pitchFamily="34" charset="0"/>
                <a:cs typeface="Arial" panose="020B0604020202020204" pitchFamily="34" charset="0"/>
              </a:rPr>
              <a:t>y</a:t>
            </a:r>
            <a:endParaRPr lang="es-MX" sz="2000" b="1" dirty="0">
              <a:solidFill>
                <a:srgbClr val="FF0000"/>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5"/>
          <a:stretch>
            <a:fillRect/>
          </a:stretch>
        </p:blipFill>
        <p:spPr>
          <a:xfrm>
            <a:off x="238259" y="3583301"/>
            <a:ext cx="3352470" cy="1072110"/>
          </a:xfrm>
          <a:prstGeom prst="rect">
            <a:avLst/>
          </a:prstGeom>
        </p:spPr>
      </p:pic>
      <mc:AlternateContent xmlns:mc="http://schemas.openxmlformats.org/markup-compatibility/2006" xmlns:a14="http://schemas.microsoft.com/office/drawing/2010/main">
        <mc:Choice Requires="a14">
          <p:sp>
            <p:nvSpPr>
              <p:cNvPr id="11" name="Rectángulo 10"/>
              <p:cNvSpPr/>
              <p:nvPr/>
            </p:nvSpPr>
            <p:spPr>
              <a:xfrm>
                <a:off x="4102120" y="3863907"/>
                <a:ext cx="3007152" cy="610616"/>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𝑪</m:t>
                          </m:r>
                        </m:e>
                        <m:sub>
                          <m:r>
                            <a:rPr lang="es-MX" sz="2000" b="1" i="1" smtClean="0">
                              <a:solidFill>
                                <a:schemeClr val="accent3">
                                  <a:lumMod val="50000"/>
                                </a:schemeClr>
                              </a:solidFill>
                              <a:latin typeface="Cambria Math" panose="02040503050406030204" pitchFamily="18" charset="0"/>
                            </a:rPr>
                            <m:t>𝟏𝟐</m:t>
                          </m:r>
                        </m:sub>
                      </m:sSub>
                      <m:r>
                        <a:rPr lang="es-MX" sz="2000" b="1" i="1" smtClean="0">
                          <a:solidFill>
                            <a:schemeClr val="accent3">
                              <a:lumMod val="50000"/>
                            </a:schemeClr>
                          </a:solidFill>
                          <a:latin typeface="Cambria Math" panose="02040503050406030204" pitchFamily="18" charset="0"/>
                        </a:rPr>
                        <m:t>=</m:t>
                      </m:r>
                      <m:sSup>
                        <m:sSupPr>
                          <m:ctrlPr>
                            <a:rPr lang="es-MX" sz="2000" b="1" i="1" smtClean="0">
                              <a:solidFill>
                                <a:schemeClr val="accent3">
                                  <a:lumMod val="50000"/>
                                </a:schemeClr>
                              </a:solidFill>
                              <a:latin typeface="Cambria Math" panose="02040503050406030204" pitchFamily="18" charset="0"/>
                            </a:rPr>
                          </m:ctrlPr>
                        </m:sSupPr>
                        <m:e>
                          <m:d>
                            <m:dPr>
                              <m:ctrlPr>
                                <a:rPr lang="es-MX" sz="2000" b="1" i="1" smtClean="0">
                                  <a:solidFill>
                                    <a:schemeClr val="accent3">
                                      <a:lumMod val="50000"/>
                                    </a:schemeClr>
                                  </a:solidFill>
                                  <a:latin typeface="Cambria Math" panose="02040503050406030204" pitchFamily="18" charset="0"/>
                                </a:rPr>
                              </m:ctrlPr>
                            </m:dPr>
                            <m:e>
                              <m:r>
                                <a:rPr lang="es-MX" sz="2000" b="1" i="1" smtClean="0">
                                  <a:solidFill>
                                    <a:schemeClr val="accent3">
                                      <a:lumMod val="50000"/>
                                    </a:schemeClr>
                                  </a:solidFill>
                                  <a:latin typeface="Cambria Math" panose="02040503050406030204" pitchFamily="18" charset="0"/>
                                </a:rPr>
                                <m:t>−</m:t>
                              </m:r>
                              <m:r>
                                <a:rPr lang="es-MX" sz="2000" b="1" i="1" smtClean="0">
                                  <a:solidFill>
                                    <a:schemeClr val="accent3">
                                      <a:lumMod val="50000"/>
                                    </a:schemeClr>
                                  </a:solidFill>
                                  <a:latin typeface="Cambria Math" panose="02040503050406030204" pitchFamily="18" charset="0"/>
                                </a:rPr>
                                <m:t>𝟏</m:t>
                              </m:r>
                            </m:e>
                          </m:d>
                        </m:e>
                        <m:sup>
                          <m:r>
                            <a:rPr lang="es-MX" sz="2000" b="1" i="1" smtClean="0">
                              <a:solidFill>
                                <a:schemeClr val="accent3">
                                  <a:lumMod val="50000"/>
                                </a:schemeClr>
                              </a:solidFill>
                              <a:latin typeface="Cambria Math" panose="02040503050406030204" pitchFamily="18" charset="0"/>
                            </a:rPr>
                            <m:t>𝟑</m:t>
                          </m:r>
                        </m:sup>
                      </m:sSup>
                      <m:d>
                        <m:dPr>
                          <m:begChr m:val="["/>
                          <m:endChr m:val="]"/>
                          <m:ctrlPr>
                            <a:rPr lang="es-MX" sz="20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000" b="1" i="1" smtClean="0">
                                  <a:solidFill>
                                    <a:schemeClr val="accent3">
                                      <a:lumMod val="50000"/>
                                    </a:schemeClr>
                                  </a:solidFill>
                                  <a:latin typeface="Cambria Math" panose="02040503050406030204" pitchFamily="18" charset="0"/>
                                </a:rPr>
                              </m:ctrlPr>
                            </m:mP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𝟐𝟏</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𝟐𝟑</m:t>
                                    </m:r>
                                  </m:sub>
                                </m:sSub>
                              </m:e>
                            </m:m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𝟑𝟏</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𝟑𝟑</m:t>
                                    </m:r>
                                  </m:sub>
                                </m:sSub>
                              </m:e>
                            </m:mr>
                          </m:m>
                        </m:e>
                      </m:d>
                    </m:oMath>
                  </m:oMathPara>
                </a14:m>
                <a:endParaRPr lang="es-MX" sz="2000" b="1" dirty="0">
                  <a:solidFill>
                    <a:schemeClr val="accent3">
                      <a:lumMod val="50000"/>
                    </a:schemeClr>
                  </a:solidFill>
                </a:endParaRPr>
              </a:p>
            </p:txBody>
          </p:sp>
        </mc:Choice>
        <mc:Fallback xmlns="">
          <p:sp>
            <p:nvSpPr>
              <p:cNvPr id="11" name="Rectángulo 10"/>
              <p:cNvSpPr>
                <a:spLocks noRot="1" noChangeAspect="1" noMove="1" noResize="1" noEditPoints="1" noAdjustHandles="1" noChangeArrowheads="1" noChangeShapeType="1" noTextEdit="1"/>
              </p:cNvSpPr>
              <p:nvPr/>
            </p:nvSpPr>
            <p:spPr>
              <a:xfrm>
                <a:off x="4102120" y="3863907"/>
                <a:ext cx="3007152" cy="610616"/>
              </a:xfrm>
              <a:prstGeom prst="rect">
                <a:avLst/>
              </a:prstGeom>
              <a:blipFill rotWithShape="0">
                <a:blip r:embed="rId6"/>
                <a:stretch>
                  <a:fillRect/>
                </a:stretch>
              </a:blipFill>
            </p:spPr>
            <p:txBody>
              <a:bodyPr/>
              <a:lstStyle/>
              <a:p>
                <a:r>
                  <a:rPr lang="es-MX">
                    <a:noFill/>
                  </a:rPr>
                  <a:t> </a:t>
                </a:r>
              </a:p>
            </p:txBody>
          </p:sp>
        </mc:Fallback>
      </mc:AlternateContent>
      <p:pic>
        <p:nvPicPr>
          <p:cNvPr id="12" name="Imagen 11"/>
          <p:cNvPicPr>
            <a:picLocks noChangeAspect="1"/>
          </p:cNvPicPr>
          <p:nvPr/>
        </p:nvPicPr>
        <p:blipFill>
          <a:blip r:embed="rId7"/>
          <a:stretch>
            <a:fillRect/>
          </a:stretch>
        </p:blipFill>
        <p:spPr>
          <a:xfrm>
            <a:off x="238259" y="4780162"/>
            <a:ext cx="3644853" cy="1028930"/>
          </a:xfrm>
          <a:prstGeom prst="rect">
            <a:avLst/>
          </a:prstGeom>
        </p:spPr>
      </p:pic>
      <p:sp>
        <p:nvSpPr>
          <p:cNvPr id="13" name="Rectángulo 12"/>
          <p:cNvSpPr/>
          <p:nvPr/>
        </p:nvSpPr>
        <p:spPr>
          <a:xfrm>
            <a:off x="3664104" y="5094572"/>
            <a:ext cx="438016" cy="400110"/>
          </a:xfrm>
          <a:prstGeom prst="rect">
            <a:avLst/>
          </a:prstGeom>
        </p:spPr>
        <p:txBody>
          <a:bodyPr wrap="square">
            <a:spAutoFit/>
          </a:bodyPr>
          <a:lstStyle/>
          <a:p>
            <a:pPr marL="0" lvl="1"/>
            <a:r>
              <a:rPr lang="es-ES" sz="2000" b="1" dirty="0" smtClean="0">
                <a:solidFill>
                  <a:srgbClr val="FF0000"/>
                </a:solidFill>
                <a:latin typeface="Arial" panose="020B0604020202020204" pitchFamily="34" charset="0"/>
                <a:cs typeface="Arial" panose="020B0604020202020204" pitchFamily="34" charset="0"/>
              </a:rPr>
              <a:t>y</a:t>
            </a:r>
            <a:endParaRPr lang="es-MX" sz="20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Rectángulo 13"/>
              <p:cNvSpPr/>
              <p:nvPr/>
            </p:nvSpPr>
            <p:spPr>
              <a:xfrm>
                <a:off x="4121374" y="4989320"/>
                <a:ext cx="2987898" cy="610616"/>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𝑪</m:t>
                          </m:r>
                        </m:e>
                        <m:sub>
                          <m:r>
                            <a:rPr lang="es-MX" sz="2000" b="1" i="1" smtClean="0">
                              <a:solidFill>
                                <a:schemeClr val="accent3">
                                  <a:lumMod val="50000"/>
                                </a:schemeClr>
                              </a:solidFill>
                              <a:latin typeface="Cambria Math" panose="02040503050406030204" pitchFamily="18" charset="0"/>
                            </a:rPr>
                            <m:t>𝟏𝟑</m:t>
                          </m:r>
                        </m:sub>
                      </m:sSub>
                      <m:r>
                        <a:rPr lang="es-MX" sz="2000" b="1" i="1" smtClean="0">
                          <a:solidFill>
                            <a:schemeClr val="accent3">
                              <a:lumMod val="50000"/>
                            </a:schemeClr>
                          </a:solidFill>
                          <a:latin typeface="Cambria Math" panose="02040503050406030204" pitchFamily="18" charset="0"/>
                        </a:rPr>
                        <m:t>=</m:t>
                      </m:r>
                      <m:sSup>
                        <m:sSupPr>
                          <m:ctrlPr>
                            <a:rPr lang="es-MX" sz="2000" b="1" i="1" smtClean="0">
                              <a:solidFill>
                                <a:schemeClr val="accent3">
                                  <a:lumMod val="50000"/>
                                </a:schemeClr>
                              </a:solidFill>
                              <a:latin typeface="Cambria Math" panose="02040503050406030204" pitchFamily="18" charset="0"/>
                            </a:rPr>
                          </m:ctrlPr>
                        </m:sSupPr>
                        <m:e>
                          <m:d>
                            <m:dPr>
                              <m:ctrlPr>
                                <a:rPr lang="es-MX" sz="2000" b="1" i="1" smtClean="0">
                                  <a:solidFill>
                                    <a:schemeClr val="accent3">
                                      <a:lumMod val="50000"/>
                                    </a:schemeClr>
                                  </a:solidFill>
                                  <a:latin typeface="Cambria Math" panose="02040503050406030204" pitchFamily="18" charset="0"/>
                                </a:rPr>
                              </m:ctrlPr>
                            </m:dPr>
                            <m:e>
                              <m:r>
                                <a:rPr lang="es-MX" sz="2000" b="1" i="1" smtClean="0">
                                  <a:solidFill>
                                    <a:schemeClr val="accent3">
                                      <a:lumMod val="50000"/>
                                    </a:schemeClr>
                                  </a:solidFill>
                                  <a:latin typeface="Cambria Math" panose="02040503050406030204" pitchFamily="18" charset="0"/>
                                </a:rPr>
                                <m:t>−</m:t>
                              </m:r>
                              <m:r>
                                <a:rPr lang="es-MX" sz="2000" b="1" i="1" smtClean="0">
                                  <a:solidFill>
                                    <a:schemeClr val="accent3">
                                      <a:lumMod val="50000"/>
                                    </a:schemeClr>
                                  </a:solidFill>
                                  <a:latin typeface="Cambria Math" panose="02040503050406030204" pitchFamily="18" charset="0"/>
                                </a:rPr>
                                <m:t>𝟏</m:t>
                              </m:r>
                            </m:e>
                          </m:d>
                        </m:e>
                        <m:sup>
                          <m:r>
                            <a:rPr lang="es-MX" sz="2000" b="1" i="1" smtClean="0">
                              <a:solidFill>
                                <a:schemeClr val="accent3">
                                  <a:lumMod val="50000"/>
                                </a:schemeClr>
                              </a:solidFill>
                              <a:latin typeface="Cambria Math" panose="02040503050406030204" pitchFamily="18" charset="0"/>
                            </a:rPr>
                            <m:t>𝟒</m:t>
                          </m:r>
                        </m:sup>
                      </m:sSup>
                      <m:d>
                        <m:dPr>
                          <m:begChr m:val="["/>
                          <m:endChr m:val="]"/>
                          <m:ctrlPr>
                            <a:rPr lang="es-MX" sz="20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000" b="1" i="1" smtClean="0">
                                  <a:solidFill>
                                    <a:schemeClr val="accent3">
                                      <a:lumMod val="50000"/>
                                    </a:schemeClr>
                                  </a:solidFill>
                                  <a:latin typeface="Cambria Math" panose="02040503050406030204" pitchFamily="18" charset="0"/>
                                </a:rPr>
                              </m:ctrlPr>
                            </m:mP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𝟐𝟏</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𝟐𝟐</m:t>
                                    </m:r>
                                  </m:sub>
                                </m:sSub>
                              </m:e>
                            </m:mr>
                            <m:mr>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𝟑𝟏</m:t>
                                    </m:r>
                                  </m:sub>
                                </m:sSub>
                              </m:e>
                              <m:e>
                                <m:sSub>
                                  <m:sSubPr>
                                    <m:ctrlPr>
                                      <a:rPr lang="es-MX" sz="2000" b="1" i="1" smtClean="0">
                                        <a:solidFill>
                                          <a:schemeClr val="accent3">
                                            <a:lumMod val="50000"/>
                                          </a:schemeClr>
                                        </a:solidFill>
                                        <a:latin typeface="Cambria Math" panose="02040503050406030204" pitchFamily="18" charset="0"/>
                                      </a:rPr>
                                    </m:ctrlPr>
                                  </m:sSubPr>
                                  <m:e>
                                    <m:r>
                                      <a:rPr lang="es-MX" sz="2000" b="1" i="1" smtClean="0">
                                        <a:solidFill>
                                          <a:schemeClr val="accent3">
                                            <a:lumMod val="50000"/>
                                          </a:schemeClr>
                                        </a:solidFill>
                                        <a:latin typeface="Cambria Math" panose="02040503050406030204" pitchFamily="18" charset="0"/>
                                      </a:rPr>
                                      <m:t>𝒂</m:t>
                                    </m:r>
                                  </m:e>
                                  <m:sub>
                                    <m:r>
                                      <a:rPr lang="es-MX" sz="2000" b="1" i="1" smtClean="0">
                                        <a:solidFill>
                                          <a:schemeClr val="accent3">
                                            <a:lumMod val="50000"/>
                                          </a:schemeClr>
                                        </a:solidFill>
                                        <a:latin typeface="Cambria Math" panose="02040503050406030204" pitchFamily="18" charset="0"/>
                                      </a:rPr>
                                      <m:t>𝟑𝟐</m:t>
                                    </m:r>
                                  </m:sub>
                                </m:sSub>
                              </m:e>
                            </m:mr>
                          </m:m>
                        </m:e>
                      </m:d>
                    </m:oMath>
                  </m:oMathPara>
                </a14:m>
                <a:endParaRPr lang="es-MX" sz="2000" b="1" dirty="0">
                  <a:solidFill>
                    <a:schemeClr val="accent3">
                      <a:lumMod val="50000"/>
                    </a:schemeClr>
                  </a:solidFill>
                </a:endParaRPr>
              </a:p>
            </p:txBody>
          </p:sp>
        </mc:Choice>
        <mc:Fallback xmlns="">
          <p:sp>
            <p:nvSpPr>
              <p:cNvPr id="14" name="Rectángulo 13"/>
              <p:cNvSpPr>
                <a:spLocks noRot="1" noChangeAspect="1" noMove="1" noResize="1" noEditPoints="1" noAdjustHandles="1" noChangeArrowheads="1" noChangeShapeType="1" noTextEdit="1"/>
              </p:cNvSpPr>
              <p:nvPr/>
            </p:nvSpPr>
            <p:spPr>
              <a:xfrm>
                <a:off x="4121374" y="4989320"/>
                <a:ext cx="2987898" cy="610616"/>
              </a:xfrm>
              <a:prstGeom prst="rect">
                <a:avLst/>
              </a:prstGeom>
              <a:blipFill rotWithShape="0">
                <a:blip r:embed="rId8"/>
                <a:stretch>
                  <a:fillRect/>
                </a:stretch>
              </a:blipFill>
            </p:spPr>
            <p:txBody>
              <a:bodyPr/>
              <a:lstStyle/>
              <a:p>
                <a:r>
                  <a:rPr lang="es-MX">
                    <a:noFill/>
                  </a:rPr>
                  <a:t> </a:t>
                </a:r>
              </a:p>
            </p:txBody>
          </p:sp>
        </mc:Fallback>
      </mc:AlternateContent>
      <p:sp>
        <p:nvSpPr>
          <p:cNvPr id="15" name="Rectángulo 14"/>
          <p:cNvSpPr/>
          <p:nvPr/>
        </p:nvSpPr>
        <p:spPr>
          <a:xfrm>
            <a:off x="0" y="5933844"/>
            <a:ext cx="12192000" cy="923330"/>
          </a:xfrm>
          <a:prstGeom prst="rect">
            <a:avLst/>
          </a:prstGeom>
        </p:spPr>
        <p:txBody>
          <a:bodyPr wrap="square">
            <a:spAutoFit/>
          </a:bodyPr>
          <a:lstStyle/>
          <a:p>
            <a:pPr marL="0" lvl="1" algn="just"/>
            <a:r>
              <a:rPr lang="es-ES" b="1" dirty="0">
                <a:solidFill>
                  <a:schemeClr val="accent3">
                    <a:lumMod val="50000"/>
                  </a:schemeClr>
                </a:solidFill>
                <a:latin typeface="Arial" panose="020B0604020202020204" pitchFamily="34" charset="0"/>
                <a:cs typeface="Arial" panose="020B0604020202020204" pitchFamily="34" charset="0"/>
              </a:rPr>
              <a:t>Aunque en este caso hemos determinado los cofactores de tres de los elementos de la matriz, esto puede hacerse para cualquiera de los elementos, si esto se hace para todos los elementos de la matriz podemos formar una matriz de cofactores, que nos será muy útil para determinar la inversa de una matriz</a:t>
            </a:r>
            <a:r>
              <a:rPr lang="es-ES" b="1" dirty="0" smtClean="0">
                <a:solidFill>
                  <a:schemeClr val="accent3">
                    <a:lumMod val="50000"/>
                  </a:schemeClr>
                </a:solidFill>
                <a:latin typeface="Arial" panose="020B0604020202020204" pitchFamily="34" charset="0"/>
                <a:cs typeface="Arial" panose="020B0604020202020204" pitchFamily="34" charset="0"/>
              </a:rPr>
              <a:t>.</a:t>
            </a:r>
            <a:endParaRPr lang="es-MX" b="1" dirty="0">
              <a:solidFill>
                <a:schemeClr val="accent3">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309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ircle(in)">
                                      <p:cBhvr>
                                        <p:cTn id="27" dur="2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circle(in)">
                                      <p:cBhvr>
                                        <p:cTn id="32" dur="20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circle(in)">
                                      <p:cBhvr>
                                        <p:cTn id="37" dur="20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circle(in)">
                                      <p:cBhvr>
                                        <p:cTn id="42" dur="20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circle(in)">
                                      <p:cBhvr>
                                        <p:cTn id="47" dur="20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circle(in)">
                                      <p:cBhvr>
                                        <p:cTn id="52" dur="20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circle(in)">
                                      <p:cBhvr>
                                        <p:cTn id="5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1"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698063"/>
            <a:ext cx="12207585" cy="1015663"/>
          </a:xfrm>
          <a:prstGeom prst="rect">
            <a:avLst/>
          </a:prstGeom>
        </p:spPr>
        <p:txBody>
          <a:bodyPr wrap="square">
            <a:spAutoFit/>
          </a:bodyPr>
          <a:lstStyle/>
          <a:p>
            <a:pPr marL="0" lvl="1" algn="just"/>
            <a:r>
              <a:rPr lang="es-ES" sz="2000" b="1" dirty="0">
                <a:solidFill>
                  <a:schemeClr val="accent3">
                    <a:lumMod val="50000"/>
                  </a:schemeClr>
                </a:solidFill>
                <a:latin typeface="Arial" panose="020B0604020202020204" pitchFamily="34" charset="0"/>
                <a:cs typeface="Arial" panose="020B0604020202020204" pitchFamily="34" charset="0"/>
              </a:rPr>
              <a:t>El valor de un determinante puede encontrarse multiplicando los elementos en cualquier fila (o columna) por sus cofactores y sumando los productos correspondientes a todos los elementos en la fila (o columna) considerados. Por esta razón el  método recibe </a:t>
            </a:r>
            <a:r>
              <a:rPr lang="es-ES" sz="2000" b="1" dirty="0" smtClean="0">
                <a:solidFill>
                  <a:schemeClr val="accent3">
                    <a:lumMod val="50000"/>
                  </a:schemeClr>
                </a:solidFill>
                <a:latin typeface="Arial" panose="020B0604020202020204" pitchFamily="34" charset="0"/>
                <a:cs typeface="Arial" panose="020B0604020202020204" pitchFamily="34" charset="0"/>
              </a:rPr>
              <a:t>el.</a:t>
            </a:r>
            <a:endParaRPr lang="es-MX" sz="2000" dirty="0">
              <a:solidFill>
                <a:schemeClr val="accent3">
                  <a:lumMod val="50000"/>
                </a:schemeClr>
              </a:solidFill>
              <a:latin typeface="Arial" panose="020B0604020202020204" pitchFamily="34" charset="0"/>
              <a:cs typeface="Arial" panose="020B0604020202020204" pitchFamily="34" charset="0"/>
            </a:endParaRPr>
          </a:p>
        </p:txBody>
      </p:sp>
      <p:sp>
        <p:nvSpPr>
          <p:cNvPr id="3" name="Rectángulo 2"/>
          <p:cNvSpPr/>
          <p:nvPr/>
        </p:nvSpPr>
        <p:spPr>
          <a:xfrm>
            <a:off x="1" y="1171130"/>
            <a:ext cx="5164428" cy="430887"/>
          </a:xfrm>
          <a:prstGeom prst="rect">
            <a:avLst/>
          </a:prstGeom>
        </p:spPr>
        <p:txBody>
          <a:bodyPr wrap="square">
            <a:spAutoFit/>
          </a:bodyPr>
          <a:lstStyle/>
          <a:p>
            <a:pPr marL="0" lvl="1"/>
            <a:r>
              <a:rPr lang="es-ES" sz="2200" b="1" dirty="0" smtClean="0">
                <a:solidFill>
                  <a:srgbClr val="FF0000"/>
                </a:solidFill>
                <a:latin typeface="Arial" panose="020B0604020202020204" pitchFamily="34" charset="0"/>
                <a:cs typeface="Arial" panose="020B0604020202020204" pitchFamily="34" charset="0"/>
              </a:rPr>
              <a:t>Método de desarrollo por Cofactores</a:t>
            </a:r>
            <a:endParaRPr lang="es-MX" sz="2200" b="1" dirty="0">
              <a:solidFill>
                <a:srgbClr val="FF0000"/>
              </a:solidFill>
              <a:latin typeface="Arial" panose="020B0604020202020204" pitchFamily="34" charset="0"/>
              <a:cs typeface="Arial" panose="020B0604020202020204" pitchFamily="34" charset="0"/>
            </a:endParaRPr>
          </a:p>
        </p:txBody>
      </p:sp>
      <p:sp>
        <p:nvSpPr>
          <p:cNvPr id="4" name="Rectángulo 3"/>
          <p:cNvSpPr/>
          <p:nvPr/>
        </p:nvSpPr>
        <p:spPr>
          <a:xfrm>
            <a:off x="16768" y="2842311"/>
            <a:ext cx="1300767" cy="430887"/>
          </a:xfrm>
          <a:prstGeom prst="rect">
            <a:avLst/>
          </a:prstGeom>
        </p:spPr>
        <p:txBody>
          <a:bodyPr wrap="square">
            <a:spAutoFit/>
          </a:bodyPr>
          <a:lstStyle/>
          <a:p>
            <a:pPr marL="0" lvl="1"/>
            <a:r>
              <a:rPr lang="es-ES" sz="2200" b="1" dirty="0" smtClean="0">
                <a:solidFill>
                  <a:srgbClr val="FF0000"/>
                </a:solidFill>
                <a:latin typeface="Arial" panose="020B0604020202020204" pitchFamily="34" charset="0"/>
                <a:cs typeface="Arial" panose="020B0604020202020204" pitchFamily="34" charset="0"/>
              </a:rPr>
              <a:t>Ejemplo</a:t>
            </a:r>
            <a:endParaRPr lang="es-MX" sz="22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ángulo 4"/>
              <p:cNvSpPr/>
              <p:nvPr/>
            </p:nvSpPr>
            <p:spPr>
              <a:xfrm>
                <a:off x="16768" y="3401783"/>
                <a:ext cx="12190817" cy="1526828"/>
              </a:xfrm>
              <a:prstGeom prst="rect">
                <a:avLst/>
              </a:prstGeom>
            </p:spPr>
            <p:txBody>
              <a:bodyPr wrap="square">
                <a:spAutoFit/>
              </a:bodyPr>
              <a:lstStyle/>
              <a:p>
                <a:pPr marL="0" lvl="1" algn="just"/>
                <a:r>
                  <a:rPr lang="es-ES" sz="2000" b="1" dirty="0" smtClean="0">
                    <a:solidFill>
                      <a:schemeClr val="accent3">
                        <a:lumMod val="50000"/>
                      </a:schemeClr>
                    </a:solidFill>
                    <a:latin typeface="Arial" panose="020B0604020202020204" pitchFamily="34" charset="0"/>
                    <a:cs typeface="Arial" panose="020B0604020202020204" pitchFamily="34" charset="0"/>
                  </a:rPr>
                  <a:t>Si  </a:t>
                </a:r>
                <a14:m>
                  <m:oMath xmlns:m="http://schemas.openxmlformats.org/officeDocument/2006/math">
                    <m:r>
                      <a:rPr lang="es-ES" sz="20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ES" sz="2000" b="1" dirty="0" smtClean="0">
                    <a:solidFill>
                      <a:schemeClr val="accent3">
                        <a:lumMod val="50000"/>
                      </a:schemeClr>
                    </a:solidFill>
                    <a:latin typeface="Arial" panose="020B0604020202020204" pitchFamily="34" charset="0"/>
                    <a:cs typeface="Arial" panose="020B0604020202020204" pitchFamily="34" charset="0"/>
                  </a:rPr>
                  <a:t> es la matriz de orden </a:t>
                </a:r>
                <a14:m>
                  <m:oMath xmlns:m="http://schemas.openxmlformats.org/officeDocument/2006/math">
                    <m:r>
                      <a:rPr lang="es-ES" sz="2000" b="1" i="1" dirty="0" smtClean="0">
                        <a:solidFill>
                          <a:schemeClr val="accent3">
                            <a:lumMod val="50000"/>
                          </a:schemeClr>
                        </a:solidFill>
                        <a:latin typeface="Cambria Math" panose="02040503050406030204" pitchFamily="18" charset="0"/>
                        <a:cs typeface="Arial" panose="020B0604020202020204" pitchFamily="34" charset="0"/>
                      </a:rPr>
                      <m:t>𝟑</m:t>
                    </m:r>
                    <m:r>
                      <a:rPr lang="es-ES" sz="2000" b="1" i="1" dirty="0" smtClean="0">
                        <a:solidFill>
                          <a:schemeClr val="accent3">
                            <a:lumMod val="50000"/>
                          </a:schemeClr>
                        </a:solidFill>
                        <a:latin typeface="Cambria Math" panose="02040503050406030204" pitchFamily="18" charset="0"/>
                        <a:cs typeface="Arial" panose="020B0604020202020204" pitchFamily="34" charset="0"/>
                      </a:rPr>
                      <m:t>𝒙</m:t>
                    </m:r>
                    <m:r>
                      <a:rPr lang="es-ES" sz="2000" b="1" i="1" dirty="0" smtClean="0">
                        <a:solidFill>
                          <a:schemeClr val="accent3">
                            <a:lumMod val="50000"/>
                          </a:schemeClr>
                        </a:solidFill>
                        <a:latin typeface="Cambria Math" panose="02040503050406030204" pitchFamily="18" charset="0"/>
                        <a:cs typeface="Arial" panose="020B0604020202020204" pitchFamily="34" charset="0"/>
                      </a:rPr>
                      <m:t>𝟑</m:t>
                    </m:r>
                  </m:oMath>
                </a14:m>
                <a:r>
                  <a:rPr lang="es-ES" sz="2000" b="1" dirty="0" smtClean="0">
                    <a:solidFill>
                      <a:schemeClr val="accent3">
                        <a:lumMod val="50000"/>
                      </a:schemeClr>
                    </a:solidFill>
                    <a:latin typeface="Arial" panose="020B0604020202020204" pitchFamily="34" charset="0"/>
                    <a:cs typeface="Arial" panose="020B0604020202020204" pitchFamily="34" charset="0"/>
                  </a:rPr>
                  <a:t> definida por </a:t>
                </a:r>
                <a14:m>
                  <m:oMath xmlns:m="http://schemas.openxmlformats.org/officeDocument/2006/math">
                    <m:d>
                      <m:dPr>
                        <m:begChr m:val="["/>
                        <m:endChr m:val="]"/>
                        <m:ctrlPr>
                          <a:rPr lang="es-ES" sz="2000" b="1" i="1">
                            <a:solidFill>
                              <a:schemeClr val="accent3">
                                <a:lumMod val="50000"/>
                              </a:schemeClr>
                            </a:solidFill>
                            <a:latin typeface="Cambria Math" panose="02040503050406030204" pitchFamily="18" charset="0"/>
                          </a:rPr>
                        </m:ctrlPr>
                      </m:dPr>
                      <m:e>
                        <m:m>
                          <m:mPr>
                            <m:mcs>
                              <m:mc>
                                <m:mcPr>
                                  <m:count m:val="3"/>
                                  <m:mcJc m:val="center"/>
                                </m:mcPr>
                              </m:mc>
                            </m:mcs>
                            <m:ctrlPr>
                              <a:rPr lang="es-ES" sz="2000" b="1" i="1">
                                <a:solidFill>
                                  <a:schemeClr val="accent3">
                                    <a:lumMod val="50000"/>
                                  </a:schemeClr>
                                </a:solidFill>
                                <a:latin typeface="Cambria Math" panose="02040503050406030204" pitchFamily="18" charset="0"/>
                              </a:rPr>
                            </m:ctrlPr>
                          </m:mP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𝟏𝟑</m:t>
                                  </m:r>
                                </m:sub>
                              </m:sSub>
                            </m:e>
                          </m:m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𝟐𝟑</m:t>
                                  </m:r>
                                </m:sub>
                              </m:sSub>
                            </m:e>
                          </m:mr>
                          <m:mr>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𝟑𝟏</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𝟑𝟐</m:t>
                                  </m:r>
                                </m:sub>
                              </m:sSub>
                            </m:e>
                            <m:e>
                              <m:sSub>
                                <m:sSubPr>
                                  <m:ctrlPr>
                                    <a:rPr lang="es-MX" sz="2000" b="1" i="1">
                                      <a:solidFill>
                                        <a:schemeClr val="accent3">
                                          <a:lumMod val="50000"/>
                                        </a:schemeClr>
                                      </a:solidFill>
                                      <a:latin typeface="Cambria Math" panose="02040503050406030204" pitchFamily="18" charset="0"/>
                                    </a:rPr>
                                  </m:ctrlPr>
                                </m:sSubPr>
                                <m:e>
                                  <m:r>
                                    <a:rPr lang="es-MX" sz="2000" b="1" i="1">
                                      <a:solidFill>
                                        <a:schemeClr val="accent3">
                                          <a:lumMod val="50000"/>
                                        </a:schemeClr>
                                      </a:solidFill>
                                      <a:latin typeface="Cambria Math" panose="02040503050406030204" pitchFamily="18" charset="0"/>
                                    </a:rPr>
                                    <m:t>𝒂</m:t>
                                  </m:r>
                                </m:e>
                                <m:sub>
                                  <m:r>
                                    <a:rPr lang="es-MX" sz="2000" b="1" i="1">
                                      <a:solidFill>
                                        <a:schemeClr val="accent3">
                                          <a:lumMod val="50000"/>
                                        </a:schemeClr>
                                      </a:solidFill>
                                      <a:latin typeface="Cambria Math" panose="02040503050406030204" pitchFamily="18" charset="0"/>
                                    </a:rPr>
                                    <m:t>𝟑𝟑</m:t>
                                  </m:r>
                                </m:sub>
                              </m:sSub>
                            </m:e>
                          </m:mr>
                        </m:m>
                      </m:e>
                    </m:d>
                  </m:oMath>
                </a14:m>
                <a:r>
                  <a:rPr lang="es-ES" sz="2000" b="1" dirty="0" smtClean="0">
                    <a:solidFill>
                      <a:schemeClr val="accent3">
                        <a:lumMod val="50000"/>
                      </a:schemeClr>
                    </a:solidFill>
                    <a:latin typeface="Arial" panose="020B0604020202020204" pitchFamily="34" charset="0"/>
                    <a:cs typeface="Arial" panose="020B0604020202020204" pitchFamily="34" charset="0"/>
                  </a:rPr>
                  <a:t>, </a:t>
                </a:r>
                <a:r>
                  <a:rPr lang="es-ES" sz="2000" b="1" dirty="0">
                    <a:solidFill>
                      <a:schemeClr val="accent3">
                        <a:lumMod val="50000"/>
                      </a:schemeClr>
                    </a:solidFill>
                    <a:latin typeface="Arial" panose="020B0604020202020204" pitchFamily="34" charset="0"/>
                    <a:cs typeface="Arial" panose="020B0604020202020204" pitchFamily="34" charset="0"/>
                  </a:rPr>
                  <a:t>y decidimos calcular el determinante a partir del desarrollo de los cofactores de la primera fila de la matriz, el determinante quedaría expresado de la siguiente manera: </a:t>
                </a:r>
                <a:endParaRPr lang="es-MX"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16768" y="3401783"/>
                <a:ext cx="12190817" cy="1526828"/>
              </a:xfrm>
              <a:prstGeom prst="rect">
                <a:avLst/>
              </a:prstGeom>
              <a:blipFill rotWithShape="0">
                <a:blip r:embed="rId2"/>
                <a:stretch>
                  <a:fillRect l="-550" r="-500" b="-6800"/>
                </a:stretch>
              </a:blipFill>
            </p:spPr>
            <p:txBody>
              <a:bodyPr/>
              <a:lstStyle/>
              <a:p>
                <a:r>
                  <a:rPr lang="es-MX">
                    <a:noFill/>
                  </a:rPr>
                  <a:t> </a:t>
                </a:r>
              </a:p>
            </p:txBody>
          </p:sp>
        </mc:Fallback>
      </mc:AlternateContent>
      <p:pic>
        <p:nvPicPr>
          <p:cNvPr id="6" name="Imagen 5"/>
          <p:cNvPicPr>
            <a:picLocks noChangeAspect="1"/>
          </p:cNvPicPr>
          <p:nvPr/>
        </p:nvPicPr>
        <p:blipFill>
          <a:blip r:embed="rId3"/>
          <a:stretch>
            <a:fillRect/>
          </a:stretch>
        </p:blipFill>
        <p:spPr>
          <a:xfrm>
            <a:off x="991672" y="5194960"/>
            <a:ext cx="9285670" cy="1141255"/>
          </a:xfrm>
          <a:prstGeom prst="rect">
            <a:avLst/>
          </a:prstGeom>
        </p:spPr>
      </p:pic>
    </p:spTree>
    <p:extLst>
      <p:ext uri="{BB962C8B-B14F-4D97-AF65-F5344CB8AC3E}">
        <p14:creationId xmlns:p14="http://schemas.microsoft.com/office/powerpoint/2010/main" val="142502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ircle(in)">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txBox="1"/>
          <p:nvPr/>
        </p:nvSpPr>
        <p:spPr>
          <a:xfrm>
            <a:off x="0" y="1134371"/>
            <a:ext cx="4883068" cy="430887"/>
          </a:xfrm>
          <a:prstGeom prst="rect">
            <a:avLst/>
          </a:prstGeom>
          <a:noFill/>
        </p:spPr>
        <p:txBody>
          <a:bodyPr wrap="none">
            <a:spAutoFit/>
          </a:bodyPr>
          <a:lstStyle/>
          <a:p>
            <a:pPr>
              <a:defRPr sz="2700" b="1">
                <a:solidFill>
                  <a:srgbClr val="232D34"/>
                </a:solidFill>
                <a:latin typeface="Arial"/>
              </a:defRPr>
            </a:pPr>
            <a:r>
              <a:rPr sz="2200" dirty="0" err="1"/>
              <a:t>Patrón</a:t>
            </a:r>
            <a:r>
              <a:rPr sz="2200" dirty="0"/>
              <a:t> de </a:t>
            </a:r>
            <a:r>
              <a:rPr sz="2200" dirty="0" err="1"/>
              <a:t>signos</a:t>
            </a:r>
            <a:r>
              <a:rPr sz="2200" dirty="0"/>
              <a:t> de los </a:t>
            </a:r>
            <a:r>
              <a:rPr sz="2200" dirty="0" err="1"/>
              <a:t>cofactores</a:t>
            </a:r>
            <a:endParaRPr sz="2200" dirty="0"/>
          </a:p>
        </p:txBody>
      </p:sp>
      <mc:AlternateContent xmlns:mc="http://schemas.openxmlformats.org/markup-compatibility/2006" xmlns:a14="http://schemas.microsoft.com/office/drawing/2010/main">
        <mc:Choice Requires="a14">
          <p:sp>
            <p:nvSpPr>
              <p:cNvPr id="7" name="TextBox 3"/>
              <p:cNvSpPr txBox="1"/>
              <p:nvPr/>
            </p:nvSpPr>
            <p:spPr>
              <a:xfrm>
                <a:off x="18288" y="1637291"/>
                <a:ext cx="4847802" cy="415498"/>
              </a:xfrm>
              <a:prstGeom prst="rect">
                <a:avLst/>
              </a:prstGeom>
              <a:noFill/>
            </p:spPr>
            <p:txBody>
              <a:bodyPr wrap="none">
                <a:spAutoFit/>
              </a:bodyPr>
              <a:lstStyle/>
              <a:p>
                <a:pPr>
                  <a:defRPr sz="1400">
                    <a:solidFill>
                      <a:srgbClr val="00A6A6"/>
                    </a:solidFill>
                    <a:latin typeface="Arial"/>
                  </a:defRPr>
                </a:pPr>
                <a:r>
                  <a:rPr sz="2100" b="1" dirty="0"/>
                  <a:t>El </a:t>
                </a:r>
                <a:r>
                  <a:rPr sz="2100" b="1" dirty="0" err="1"/>
                  <a:t>signo</a:t>
                </a:r>
                <a:r>
                  <a:rPr sz="2100" b="1" dirty="0"/>
                  <a:t> </a:t>
                </a:r>
                <a:r>
                  <a:rPr sz="2100" b="1" dirty="0" err="1"/>
                  <a:t>depende</a:t>
                </a:r>
                <a:r>
                  <a:rPr sz="2100" b="1" dirty="0"/>
                  <a:t> de la </a:t>
                </a:r>
                <a:r>
                  <a:rPr sz="2100" b="1" dirty="0" err="1"/>
                  <a:t>posición</a:t>
                </a:r>
                <a:r>
                  <a:rPr sz="2100" b="1" dirty="0"/>
                  <a:t> </a:t>
                </a:r>
                <a14:m>
                  <m:oMath xmlns:m="http://schemas.openxmlformats.org/officeDocument/2006/math">
                    <m:r>
                      <a:rPr lang="es-MX" sz="2100" b="1" i="1" dirty="0" smtClean="0">
                        <a:latin typeface="Cambria Math" panose="02040503050406030204" pitchFamily="18" charset="0"/>
                      </a:rPr>
                      <m:t>(</m:t>
                    </m:r>
                    <m:r>
                      <a:rPr lang="es-MX" sz="2100" b="1" i="1" dirty="0" err="1">
                        <a:latin typeface="Cambria Math" panose="02040503050406030204" pitchFamily="18" charset="0"/>
                      </a:rPr>
                      <m:t>𝒊</m:t>
                    </m:r>
                    <m:r>
                      <a:rPr lang="es-MX" sz="2100" b="1" i="1" dirty="0">
                        <a:latin typeface="Cambria Math" panose="02040503050406030204" pitchFamily="18" charset="0"/>
                      </a:rPr>
                      <m:t>, </m:t>
                    </m:r>
                    <m:r>
                      <a:rPr lang="es-MX" sz="2100" b="1" i="1" dirty="0">
                        <a:latin typeface="Cambria Math" panose="02040503050406030204" pitchFamily="18" charset="0"/>
                      </a:rPr>
                      <m:t>𝒋</m:t>
                    </m:r>
                    <m:r>
                      <a:rPr lang="es-MX" sz="2100" b="1" i="1" dirty="0">
                        <a:latin typeface="Cambria Math" panose="02040503050406030204" pitchFamily="18" charset="0"/>
                      </a:rPr>
                      <m:t>)</m:t>
                    </m:r>
                  </m:oMath>
                </a14:m>
                <a:endParaRPr sz="2100" b="1" dirty="0"/>
              </a:p>
            </p:txBody>
          </p:sp>
        </mc:Choice>
        <mc:Fallback xmlns="">
          <p:sp>
            <p:nvSpPr>
              <p:cNvPr id="7" name="TextBox 3"/>
              <p:cNvSpPr txBox="1">
                <a:spLocks noRot="1" noChangeAspect="1" noMove="1" noResize="1" noEditPoints="1" noAdjustHandles="1" noChangeArrowheads="1" noChangeShapeType="1" noTextEdit="1"/>
              </p:cNvSpPr>
              <p:nvPr/>
            </p:nvSpPr>
            <p:spPr>
              <a:xfrm>
                <a:off x="18288" y="1637291"/>
                <a:ext cx="4847802" cy="415498"/>
              </a:xfrm>
              <a:prstGeom prst="rect">
                <a:avLst/>
              </a:prstGeom>
              <a:blipFill rotWithShape="0">
                <a:blip r:embed="rId2"/>
                <a:stretch>
                  <a:fillRect l="-1509" t="-10294" r="-755" b="-27941"/>
                </a:stretch>
              </a:blipFill>
            </p:spPr>
            <p:txBody>
              <a:bodyPr/>
              <a:lstStyle/>
              <a:p>
                <a:r>
                  <a:rPr lang="es-MX">
                    <a:noFill/>
                  </a:rPr>
                  <a:t> </a:t>
                </a:r>
              </a:p>
            </p:txBody>
          </p:sp>
        </mc:Fallback>
      </mc:AlternateContent>
      <p:sp>
        <p:nvSpPr>
          <p:cNvPr id="12" name="Rectangle 4"/>
          <p:cNvSpPr/>
          <p:nvPr/>
        </p:nvSpPr>
        <p:spPr>
          <a:xfrm>
            <a:off x="1188720" y="23870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3" name="Rectangle 5"/>
          <p:cNvSpPr/>
          <p:nvPr/>
        </p:nvSpPr>
        <p:spPr>
          <a:xfrm>
            <a:off x="2103120" y="23870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4" name="Rectangle 6"/>
          <p:cNvSpPr/>
          <p:nvPr/>
        </p:nvSpPr>
        <p:spPr>
          <a:xfrm>
            <a:off x="3017520" y="23870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5" name="Rectangle 7"/>
          <p:cNvSpPr/>
          <p:nvPr/>
        </p:nvSpPr>
        <p:spPr>
          <a:xfrm>
            <a:off x="1188720" y="33014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6" name="Rectangle 8"/>
          <p:cNvSpPr/>
          <p:nvPr/>
        </p:nvSpPr>
        <p:spPr>
          <a:xfrm>
            <a:off x="2103120" y="33014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7" name="Rectangle 9"/>
          <p:cNvSpPr/>
          <p:nvPr/>
        </p:nvSpPr>
        <p:spPr>
          <a:xfrm>
            <a:off x="3017520" y="33014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8" name="Rectangle 10"/>
          <p:cNvSpPr/>
          <p:nvPr/>
        </p:nvSpPr>
        <p:spPr>
          <a:xfrm>
            <a:off x="1188720" y="42158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19" name="Rectangle 11"/>
          <p:cNvSpPr/>
          <p:nvPr/>
        </p:nvSpPr>
        <p:spPr>
          <a:xfrm>
            <a:off x="2103120" y="42158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p:sp>
        <p:nvSpPr>
          <p:cNvPr id="20" name="Rectangle 12"/>
          <p:cNvSpPr/>
          <p:nvPr/>
        </p:nvSpPr>
        <p:spPr>
          <a:xfrm>
            <a:off x="3017520" y="4215899"/>
            <a:ext cx="914400" cy="914400"/>
          </a:xfrm>
          <a:prstGeom prst="rect">
            <a:avLst/>
          </a:prstGeom>
          <a:solidFill>
            <a:srgbClr val="EBF8F8"/>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232D34"/>
                </a:solidFill>
                <a:latin typeface="Arial"/>
              </a:rPr>
              <a:t>+</a:t>
            </a:r>
          </a:p>
        </p:txBody>
      </p:sp>
      <mc:AlternateContent xmlns:mc="http://schemas.openxmlformats.org/markup-compatibility/2006">
        <mc:Choice xmlns:a14="http://schemas.microsoft.com/office/drawing/2010/main" Requires="a14">
          <p:sp>
            <p:nvSpPr>
              <p:cNvPr id="21" name="Rounded Rectangle 13"/>
              <p:cNvSpPr/>
              <p:nvPr/>
            </p:nvSpPr>
            <p:spPr>
              <a:xfrm>
                <a:off x="4937760" y="2524259"/>
                <a:ext cx="4480560" cy="2148840"/>
              </a:xfrm>
              <a:prstGeom prst="roundRect">
                <a:avLst/>
              </a:prstGeom>
              <a:solidFill>
                <a:srgbClr val="FFFFFF"/>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100" b="1">
                    <a:solidFill>
                      <a:srgbClr val="00A6A6"/>
                    </a:solidFill>
                    <a:latin typeface="Arial"/>
                  </a:defRPr>
                </a:pPr>
                <a:r>
                  <a:rPr dirty="0" err="1">
                    <a:solidFill>
                      <a:schemeClr val="accent3">
                        <a:lumMod val="50000"/>
                      </a:schemeClr>
                    </a:solidFill>
                  </a:rPr>
                  <a:t>Regla</a:t>
                </a:r>
                <a:endParaRPr dirty="0">
                  <a:solidFill>
                    <a:schemeClr val="accent3">
                      <a:lumMod val="50000"/>
                    </a:schemeClr>
                  </a:solidFill>
                </a:endParaRPr>
              </a:p>
              <a:p>
                <a:pPr algn="just">
                  <a:spcAft>
                    <a:spcPts val="400"/>
                  </a:spcAft>
                  <a:defRPr sz="2000">
                    <a:solidFill>
                      <a:srgbClr val="232D34"/>
                    </a:solidFill>
                    <a:latin typeface="Arial"/>
                  </a:defRPr>
                </a:pPr>
                <a:endParaRPr lang="es-NI" b="1" dirty="0" smtClean="0">
                  <a:solidFill>
                    <a:schemeClr val="accent3">
                      <a:lumMod val="50000"/>
                    </a:schemeClr>
                  </a:solidFill>
                </a:endParaRPr>
              </a:p>
              <a:p>
                <a:pPr algn="just">
                  <a:spcAft>
                    <a:spcPts val="400"/>
                  </a:spcAft>
                  <a:defRPr sz="20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solidFill>
                            <a:schemeClr val="accent3">
                              <a:lumMod val="50000"/>
                            </a:schemeClr>
                          </a:solidFill>
                          <a:latin typeface="Cambria Math" panose="02040503050406030204" pitchFamily="18" charset="0"/>
                        </a:rPr>
                        <m:t>𝑪</m:t>
                      </m:r>
                      <m:r>
                        <a:rPr lang="es-MX" b="1" i="1" dirty="0" smtClean="0">
                          <a:solidFill>
                            <a:schemeClr val="accent3">
                              <a:lumMod val="50000"/>
                            </a:schemeClr>
                          </a:solidFill>
                          <a:latin typeface="Cambria Math" panose="02040503050406030204" pitchFamily="18" charset="0"/>
                        </a:rPr>
                        <m:t>ᵢ</m:t>
                      </m:r>
                      <m:r>
                        <a:rPr lang="es-MX" b="1" i="1" dirty="0" smtClean="0">
                          <a:solidFill>
                            <a:schemeClr val="accent3">
                              <a:lumMod val="50000"/>
                            </a:schemeClr>
                          </a:solidFill>
                          <a:latin typeface="Cambria Math" panose="02040503050406030204" pitchFamily="18" charset="0"/>
                        </a:rPr>
                        <m:t>ⱼ</m:t>
                      </m:r>
                      <m:r>
                        <a:rPr lang="es-MX" b="1" i="1" dirty="0" smtClean="0">
                          <a:solidFill>
                            <a:schemeClr val="accent3">
                              <a:lumMod val="50000"/>
                            </a:schemeClr>
                          </a:solidFill>
                          <a:latin typeface="Cambria Math" panose="02040503050406030204" pitchFamily="18" charset="0"/>
                        </a:rPr>
                        <m:t> = (−</m:t>
                      </m:r>
                      <m:r>
                        <a:rPr lang="es-MX" b="1" i="1" dirty="0">
                          <a:solidFill>
                            <a:schemeClr val="accent3">
                              <a:lumMod val="50000"/>
                            </a:schemeClr>
                          </a:solidFill>
                          <a:latin typeface="Cambria Math" panose="02040503050406030204" pitchFamily="18" charset="0"/>
                        </a:rPr>
                        <m:t>𝟏</m:t>
                      </m:r>
                      <m:r>
                        <a:rPr lang="es-MX" b="1" i="1" dirty="0">
                          <a:solidFill>
                            <a:schemeClr val="accent3">
                              <a:lumMod val="50000"/>
                            </a:schemeClr>
                          </a:solidFill>
                          <a:latin typeface="Cambria Math" panose="02040503050406030204" pitchFamily="18" charset="0"/>
                        </a:rPr>
                        <m:t>)ⁱ⁺ʲ </m:t>
                      </m:r>
                      <m:r>
                        <a:rPr lang="es-MX" b="1" i="1" dirty="0">
                          <a:solidFill>
                            <a:schemeClr val="accent3">
                              <a:lumMod val="50000"/>
                            </a:schemeClr>
                          </a:solidFill>
                          <a:latin typeface="Cambria Math" panose="02040503050406030204" pitchFamily="18" charset="0"/>
                        </a:rPr>
                        <m:t>𝑴</m:t>
                      </m:r>
                      <m:r>
                        <a:rPr lang="es-MX" b="1" i="1" dirty="0">
                          <a:solidFill>
                            <a:schemeClr val="accent3">
                              <a:lumMod val="50000"/>
                            </a:schemeClr>
                          </a:solidFill>
                          <a:latin typeface="Cambria Math" panose="02040503050406030204" pitchFamily="18" charset="0"/>
                        </a:rPr>
                        <m:t>ᵢ</m:t>
                      </m:r>
                      <m:r>
                        <a:rPr lang="es-MX" b="1" i="1" dirty="0">
                          <a:solidFill>
                            <a:schemeClr val="accent3">
                              <a:lumMod val="50000"/>
                            </a:schemeClr>
                          </a:solidFill>
                          <a:latin typeface="Cambria Math" panose="02040503050406030204" pitchFamily="18" charset="0"/>
                        </a:rPr>
                        <m:t>ⱼ</m:t>
                      </m:r>
                    </m:oMath>
                  </m:oMathPara>
                </a14:m>
                <a:endParaRPr b="1" dirty="0">
                  <a:solidFill>
                    <a:schemeClr val="accent3">
                      <a:lumMod val="50000"/>
                    </a:schemeClr>
                  </a:solidFill>
                </a:endParaRPr>
              </a:p>
              <a:p>
                <a:pPr algn="just">
                  <a:spcAft>
                    <a:spcPts val="400"/>
                  </a:spcAft>
                  <a:defRPr sz="2000">
                    <a:solidFill>
                      <a:srgbClr val="232D34"/>
                    </a:solidFill>
                    <a:latin typeface="Arial"/>
                  </a:defRPr>
                </a:pPr>
                <a:r>
                  <a:rPr b="1" dirty="0">
                    <a:solidFill>
                      <a:schemeClr val="accent3">
                        <a:lumMod val="50000"/>
                      </a:schemeClr>
                    </a:solidFill>
                  </a:rPr>
                  <a:t>Los </a:t>
                </a:r>
                <a:r>
                  <a:rPr b="1" dirty="0" err="1">
                    <a:solidFill>
                      <a:schemeClr val="accent3">
                        <a:lumMod val="50000"/>
                      </a:schemeClr>
                    </a:solidFill>
                  </a:rPr>
                  <a:t>signos</a:t>
                </a:r>
                <a:r>
                  <a:rPr b="1" dirty="0">
                    <a:solidFill>
                      <a:schemeClr val="accent3">
                        <a:lumMod val="50000"/>
                      </a:schemeClr>
                    </a:solidFill>
                  </a:rPr>
                  <a:t> </a:t>
                </a:r>
                <a:r>
                  <a:rPr b="1" dirty="0" err="1">
                    <a:solidFill>
                      <a:schemeClr val="accent3">
                        <a:lumMod val="50000"/>
                      </a:schemeClr>
                    </a:solidFill>
                  </a:rPr>
                  <a:t>forman</a:t>
                </a:r>
                <a:r>
                  <a:rPr b="1" dirty="0">
                    <a:solidFill>
                      <a:schemeClr val="accent3">
                        <a:lumMod val="50000"/>
                      </a:schemeClr>
                    </a:solidFill>
                  </a:rPr>
                  <a:t> un </a:t>
                </a:r>
                <a:r>
                  <a:rPr b="1" dirty="0" err="1">
                    <a:solidFill>
                      <a:schemeClr val="accent3">
                        <a:lumMod val="50000"/>
                      </a:schemeClr>
                    </a:solidFill>
                  </a:rPr>
                  <a:t>patrón</a:t>
                </a:r>
                <a:r>
                  <a:rPr b="1" dirty="0">
                    <a:solidFill>
                      <a:schemeClr val="accent3">
                        <a:lumMod val="50000"/>
                      </a:schemeClr>
                    </a:solidFill>
                  </a:rPr>
                  <a:t> </a:t>
                </a:r>
                <a:r>
                  <a:rPr b="1" dirty="0" err="1">
                    <a:solidFill>
                      <a:schemeClr val="accent3">
                        <a:lumMod val="50000"/>
                      </a:schemeClr>
                    </a:solidFill>
                  </a:rPr>
                  <a:t>alternado</a:t>
                </a:r>
                <a:r>
                  <a:rPr b="1" dirty="0">
                    <a:solidFill>
                      <a:schemeClr val="accent3">
                        <a:lumMod val="50000"/>
                      </a:schemeClr>
                    </a:solidFill>
                  </a:rPr>
                  <a:t>.</a:t>
                </a:r>
              </a:p>
            </p:txBody>
          </p:sp>
        </mc:Choice>
        <mc:Fallback>
          <p:sp>
            <p:nvSpPr>
              <p:cNvPr id="21" name="Rounded Rectangle 13"/>
              <p:cNvSpPr>
                <a:spLocks noRot="1" noChangeAspect="1" noMove="1" noResize="1" noEditPoints="1" noAdjustHandles="1" noChangeArrowheads="1" noChangeShapeType="1" noTextEdit="1"/>
              </p:cNvSpPr>
              <p:nvPr/>
            </p:nvSpPr>
            <p:spPr>
              <a:xfrm>
                <a:off x="4937760" y="2524259"/>
                <a:ext cx="4480560" cy="2148840"/>
              </a:xfrm>
              <a:prstGeom prst="roundRect">
                <a:avLst/>
              </a:prstGeom>
              <a:blipFill rotWithShape="0">
                <a:blip r:embed="rId3"/>
                <a:stretch>
                  <a:fillRect/>
                </a:stretch>
              </a:blipFill>
              <a:ln w="19050">
                <a:solidFill>
                  <a:srgbClr val="00A6A6"/>
                </a:solidFill>
              </a:ln>
            </p:spPr>
            <p:txBody>
              <a:bodyPr/>
              <a:lstStyle/>
              <a:p>
                <a:r>
                  <a:rPr lang="es-MX">
                    <a:noFill/>
                  </a:rPr>
                  <a:t> </a:t>
                </a:r>
              </a:p>
            </p:txBody>
          </p:sp>
        </mc:Fallback>
      </mc:AlternateContent>
    </p:spTree>
    <p:extLst>
      <p:ext uri="{BB962C8B-B14F-4D97-AF65-F5344CB8AC3E}">
        <p14:creationId xmlns:p14="http://schemas.microsoft.com/office/powerpoint/2010/main" val="19927499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5485D0AB-5FE5-42C0-8665-D183531994E2}"/>
              </a:ext>
            </a:extLst>
          </p:cNvPr>
          <p:cNvSpPr/>
          <p:nvPr/>
        </p:nvSpPr>
        <p:spPr>
          <a:xfrm>
            <a:off x="0" y="1192798"/>
            <a:ext cx="1584101" cy="461665"/>
          </a:xfrm>
          <a:prstGeom prst="rect">
            <a:avLst/>
          </a:prstGeom>
        </p:spPr>
        <p:txBody>
          <a:bodyPr wrap="square">
            <a:spAutoFit/>
          </a:bodyPr>
          <a:lstStyle/>
          <a:p>
            <a:pPr marL="0" lvl="1"/>
            <a:r>
              <a:rPr lang="es-ES" sz="2400" b="1" dirty="0">
                <a:solidFill>
                  <a:srgbClr val="FF0000"/>
                </a:solidFill>
              </a:rPr>
              <a:t>Ejemplo 1</a:t>
            </a:r>
            <a:endParaRPr lang="es-MX" sz="2400" b="1" dirty="0">
              <a:solidFill>
                <a:srgbClr val="FF0000"/>
              </a:solidFill>
            </a:endParaRPr>
          </a:p>
        </p:txBody>
      </p:sp>
      <p:sp>
        <p:nvSpPr>
          <p:cNvPr id="3" name="Rectángulo 2">
            <a:extLst>
              <a:ext uri="{FF2B5EF4-FFF2-40B4-BE49-F238E27FC236}">
                <a16:creationId xmlns:a16="http://schemas.microsoft.com/office/drawing/2014/main" xmlns="" id="{B307826E-949B-40A5-9EB8-72CCC8D40FB2}"/>
              </a:ext>
            </a:extLst>
          </p:cNvPr>
          <p:cNvSpPr/>
          <p:nvPr/>
        </p:nvSpPr>
        <p:spPr>
          <a:xfrm>
            <a:off x="-2" y="1798443"/>
            <a:ext cx="8899303" cy="461665"/>
          </a:xfrm>
          <a:prstGeom prst="rect">
            <a:avLst/>
          </a:prstGeom>
        </p:spPr>
        <p:txBody>
          <a:bodyPr wrap="square">
            <a:spAutoFit/>
          </a:bodyPr>
          <a:lstStyle/>
          <a:p>
            <a:pPr marL="0" lvl="1"/>
            <a:r>
              <a:rPr lang="es-ES" sz="2400" b="1" dirty="0">
                <a:solidFill>
                  <a:schemeClr val="accent3">
                    <a:lumMod val="50000"/>
                  </a:schemeClr>
                </a:solidFill>
              </a:rPr>
              <a:t>Calcule el determinante por el método de desarrollo por cofactores. </a:t>
            </a:r>
            <a:endParaRPr lang="es-MX" sz="2400" b="1" dirty="0">
              <a:solidFill>
                <a:schemeClr val="accent3">
                  <a:lumMod val="50000"/>
                </a:schemeClr>
              </a:solidFill>
            </a:endParaRP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xmlns="" id="{DD69B6D0-9F4C-461E-A954-F2213548DAE0}"/>
                  </a:ext>
                </a:extLst>
              </p:cNvPr>
              <p:cNvSpPr/>
              <p:nvPr/>
            </p:nvSpPr>
            <p:spPr>
              <a:xfrm>
                <a:off x="-2" y="2404087"/>
                <a:ext cx="2601534" cy="1066574"/>
              </a:xfrm>
              <a:prstGeom prst="rect">
                <a:avLst/>
              </a:prstGeom>
            </p:spPr>
            <p:txBody>
              <a:bodyPr wrap="square">
                <a:spAutoFit/>
              </a:bodyPr>
              <a:lstStyle/>
              <a:p>
                <a:pPr marL="0" lvl="1"/>
                <a14:m>
                  <m:oMathPara xmlns:m="http://schemas.openxmlformats.org/officeDocument/2006/math">
                    <m:oMathParaPr>
                      <m:jc m:val="centerGroup"/>
                    </m:oMathParaPr>
                    <m:oMath xmlns:m="http://schemas.openxmlformats.org/officeDocument/2006/math">
                      <m:r>
                        <a:rPr lang="es-MX" sz="2400" b="1" i="1" smtClean="0">
                          <a:solidFill>
                            <a:srgbClr val="FF0000"/>
                          </a:solidFill>
                          <a:latin typeface="Cambria Math" panose="02040503050406030204" pitchFamily="18" charset="0"/>
                        </a:rPr>
                        <m:t>𝑨</m:t>
                      </m:r>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m>
                            <m:mPr>
                              <m:mcs>
                                <m:mc>
                                  <m:mcPr>
                                    <m:count m:val="3"/>
                                    <m:mcJc m:val="center"/>
                                  </m:mcPr>
                                </m:mc>
                              </m:mcs>
                              <m:ctrlPr>
                                <a:rPr lang="es-MX" sz="2400" b="1" i="1" smtClean="0">
                                  <a:solidFill>
                                    <a:srgbClr val="FF0000"/>
                                  </a:solidFill>
                                  <a:latin typeface="Cambria Math" panose="02040503050406030204" pitchFamily="18" charset="0"/>
                                </a:rPr>
                              </m:ctrlPr>
                            </m:mPr>
                            <m:mr>
                              <m:e>
                                <m:r>
                                  <m:rPr>
                                    <m:brk m:alnAt="7"/>
                                  </m:rPr>
                                  <a:rPr lang="es-MX" sz="2400" b="1" i="1" smtClean="0">
                                    <a:solidFill>
                                      <a:srgbClr val="FF0000"/>
                                    </a:solidFill>
                                    <a:latin typeface="Cambria Math" panose="02040503050406030204" pitchFamily="18" charset="0"/>
                                  </a:rPr>
                                  <m:t>𝟏</m:t>
                                </m:r>
                              </m:e>
                              <m:e>
                                <m:r>
                                  <a:rPr lang="es-MX" sz="2400" b="1" i="1" smtClean="0">
                                    <a:solidFill>
                                      <a:srgbClr val="FF0000"/>
                                    </a:solidFill>
                                    <a:latin typeface="Cambria Math" panose="02040503050406030204" pitchFamily="18" charset="0"/>
                                  </a:rPr>
                                  <m:t>𝟑</m:t>
                                </m:r>
                              </m:e>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𝟑</m:t>
                                </m:r>
                              </m:e>
                            </m:mr>
                            <m:mr>
                              <m:e>
                                <m:r>
                                  <a:rPr lang="es-MX" sz="2400" b="1" i="1" smtClean="0">
                                    <a:solidFill>
                                      <a:srgbClr val="FF0000"/>
                                    </a:solidFill>
                                    <a:latin typeface="Cambria Math" panose="02040503050406030204" pitchFamily="18" charset="0"/>
                                  </a:rPr>
                                  <m:t>𝟐</m:t>
                                </m:r>
                              </m:e>
                              <m:e>
                                <m:r>
                                  <a:rPr lang="es-MX" sz="2400" b="1" i="1" smtClean="0">
                                    <a:solidFill>
                                      <a:srgbClr val="FF0000"/>
                                    </a:solidFill>
                                    <a:latin typeface="Cambria Math" panose="02040503050406030204" pitchFamily="18" charset="0"/>
                                  </a:rPr>
                                  <m:t>𝟎</m:t>
                                </m:r>
                              </m:e>
                              <m:e>
                                <m:r>
                                  <a:rPr lang="es-MX" sz="2400" b="1" i="1" smtClean="0">
                                    <a:solidFill>
                                      <a:srgbClr val="FF0000"/>
                                    </a:solidFill>
                                    <a:latin typeface="Cambria Math" panose="02040503050406030204" pitchFamily="18" charset="0"/>
                                  </a:rPr>
                                  <m:t>𝟏</m:t>
                                </m:r>
                              </m:e>
                            </m:mr>
                            <m:mr>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𝟏</m:t>
                                </m:r>
                              </m:e>
                              <m:e>
                                <m:r>
                                  <a:rPr lang="es-MX" sz="2400" b="1" i="1" smtClean="0">
                                    <a:solidFill>
                                      <a:srgbClr val="FF0000"/>
                                    </a:solidFill>
                                    <a:latin typeface="Cambria Math" panose="02040503050406030204" pitchFamily="18" charset="0"/>
                                  </a:rPr>
                                  <m:t>𝟒</m:t>
                                </m:r>
                              </m:e>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𝟐</m:t>
                                </m:r>
                              </m:e>
                            </m:mr>
                          </m:m>
                        </m:e>
                      </m:d>
                    </m:oMath>
                  </m:oMathPara>
                </a14:m>
                <a:endParaRPr lang="es-MX" sz="2400" b="1" dirty="0">
                  <a:solidFill>
                    <a:srgbClr val="FF0000"/>
                  </a:solidFill>
                </a:endParaRPr>
              </a:p>
            </p:txBody>
          </p:sp>
        </mc:Choice>
        <mc:Fallback xmlns="">
          <p:sp>
            <p:nvSpPr>
              <p:cNvPr id="4" name="Rectángulo 3">
                <a:extLst>
                  <a:ext uri="{FF2B5EF4-FFF2-40B4-BE49-F238E27FC236}">
                    <a16:creationId xmlns="" xmlns:a16="http://schemas.microsoft.com/office/drawing/2014/main" xmlns:a14="http://schemas.microsoft.com/office/drawing/2010/main" id="{DD69B6D0-9F4C-461E-A954-F2213548DAE0}"/>
                  </a:ext>
                </a:extLst>
              </p:cNvPr>
              <p:cNvSpPr>
                <a:spLocks noRot="1" noChangeAspect="1" noMove="1" noResize="1" noEditPoints="1" noAdjustHandles="1" noChangeArrowheads="1" noChangeShapeType="1" noTextEdit="1"/>
              </p:cNvSpPr>
              <p:nvPr/>
            </p:nvSpPr>
            <p:spPr>
              <a:xfrm>
                <a:off x="-2" y="2404087"/>
                <a:ext cx="2601534" cy="1066574"/>
              </a:xfrm>
              <a:prstGeom prst="rect">
                <a:avLst/>
              </a:prstGeom>
              <a:blipFill rotWithShape="0">
                <a:blip r:embed="rId2"/>
                <a:stretch>
                  <a:fillRect/>
                </a:stretch>
              </a:blipFill>
            </p:spPr>
            <p:txBody>
              <a:bodyPr/>
              <a:lstStyle/>
              <a:p>
                <a:r>
                  <a:rPr lang="es-MX">
                    <a:noFill/>
                  </a:rPr>
                  <a:t> </a:t>
                </a:r>
              </a:p>
            </p:txBody>
          </p:sp>
        </mc:Fallback>
      </mc:AlternateContent>
      <p:sp>
        <p:nvSpPr>
          <p:cNvPr id="5" name="Rectángulo 4">
            <a:extLst>
              <a:ext uri="{FF2B5EF4-FFF2-40B4-BE49-F238E27FC236}">
                <a16:creationId xmlns:a16="http://schemas.microsoft.com/office/drawing/2014/main" xmlns="" id="{5EA9CB92-7CEE-457D-82B0-CC06684995AB}"/>
              </a:ext>
            </a:extLst>
          </p:cNvPr>
          <p:cNvSpPr/>
          <p:nvPr/>
        </p:nvSpPr>
        <p:spPr>
          <a:xfrm>
            <a:off x="0" y="3727802"/>
            <a:ext cx="1300767" cy="461665"/>
          </a:xfrm>
          <a:prstGeom prst="rect">
            <a:avLst/>
          </a:prstGeom>
        </p:spPr>
        <p:txBody>
          <a:bodyPr wrap="square">
            <a:spAutoFit/>
          </a:bodyPr>
          <a:lstStyle/>
          <a:p>
            <a:pPr marL="0" lvl="1"/>
            <a:r>
              <a:rPr lang="es-ES" sz="2400" b="1" dirty="0">
                <a:solidFill>
                  <a:srgbClr val="FF0000"/>
                </a:solidFill>
              </a:rPr>
              <a:t>Solución</a:t>
            </a:r>
            <a:endParaRPr lang="es-MX" sz="2400" b="1" dirty="0">
              <a:solidFill>
                <a:srgbClr val="FF0000"/>
              </a:solidFill>
            </a:endParaRPr>
          </a:p>
        </p:txBody>
      </p:sp>
      <p:sp>
        <p:nvSpPr>
          <p:cNvPr id="6" name="Rectángulo 5">
            <a:extLst>
              <a:ext uri="{FF2B5EF4-FFF2-40B4-BE49-F238E27FC236}">
                <a16:creationId xmlns:a16="http://schemas.microsoft.com/office/drawing/2014/main" xmlns="" id="{1CAD73CE-2914-4712-8847-1EE129A412EC}"/>
              </a:ext>
            </a:extLst>
          </p:cNvPr>
          <p:cNvSpPr/>
          <p:nvPr/>
        </p:nvSpPr>
        <p:spPr>
          <a:xfrm>
            <a:off x="-2" y="4258995"/>
            <a:ext cx="3606087" cy="461665"/>
          </a:xfrm>
          <a:prstGeom prst="rect">
            <a:avLst/>
          </a:prstGeom>
        </p:spPr>
        <p:txBody>
          <a:bodyPr wrap="square">
            <a:spAutoFit/>
          </a:bodyPr>
          <a:lstStyle/>
          <a:p>
            <a:pPr marL="0" lvl="1"/>
            <a:r>
              <a:rPr lang="es-ES" sz="2400" b="1" dirty="0">
                <a:solidFill>
                  <a:schemeClr val="accent3">
                    <a:lumMod val="50000"/>
                  </a:schemeClr>
                </a:solidFill>
              </a:rPr>
              <a:t>Seleccionar la primera fila</a:t>
            </a:r>
            <a:endParaRPr lang="es-MX" sz="2400" b="1" dirty="0">
              <a:solidFill>
                <a:schemeClr val="accent3">
                  <a:lumMod val="50000"/>
                </a:schemeClr>
              </a:solidFill>
            </a:endParaRPr>
          </a:p>
        </p:txBody>
      </p:sp>
      <mc:AlternateContent xmlns:mc="http://schemas.openxmlformats.org/markup-compatibility/2006" xmlns:a14="http://schemas.microsoft.com/office/drawing/2010/main">
        <mc:Choice Requires="a14">
          <p:sp>
            <p:nvSpPr>
              <p:cNvPr id="7" name="Rectángulo 6">
                <a:extLst>
                  <a:ext uri="{FF2B5EF4-FFF2-40B4-BE49-F238E27FC236}">
                    <a16:creationId xmlns:a16="http://schemas.microsoft.com/office/drawing/2014/main" xmlns="" id="{D1D6F231-D767-4F78-8B24-B0E7A96496D8}"/>
                  </a:ext>
                </a:extLst>
              </p:cNvPr>
              <p:cNvSpPr/>
              <p:nvPr/>
            </p:nvSpPr>
            <p:spPr>
              <a:xfrm>
                <a:off x="0" y="4785928"/>
                <a:ext cx="11243256" cy="1066574"/>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3"/>
                                    <m:mcJc m:val="center"/>
                                  </m:mcPr>
                                </m:mc>
                              </m:mcs>
                              <m:ctrlPr>
                                <a:rPr lang="es-MX" sz="2400" b="1" i="1">
                                  <a:solidFill>
                                    <a:schemeClr val="accent3">
                                      <a:lumMod val="50000"/>
                                    </a:schemeClr>
                                  </a:solidFill>
                                  <a:latin typeface="Cambria Math" panose="02040503050406030204" pitchFamily="18" charset="0"/>
                                </a:rPr>
                              </m:ctrlPr>
                            </m:mPr>
                            <m:mr>
                              <m:e>
                                <m:r>
                                  <m:rPr>
                                    <m:brk m:alnAt="7"/>
                                  </m:rP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𝟑</m:t>
                                </m:r>
                              </m:e>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𝟑</m:t>
                                </m:r>
                              </m:e>
                            </m:mr>
                            <m:mr>
                              <m:e>
                                <m:r>
                                  <a:rPr lang="es-MX" sz="2400" b="1" i="1">
                                    <a:solidFill>
                                      <a:schemeClr val="accent3">
                                        <a:lumMod val="50000"/>
                                      </a:schemeClr>
                                    </a:solidFill>
                                    <a:latin typeface="Cambria Math" panose="02040503050406030204" pitchFamily="18" charset="0"/>
                                  </a:rPr>
                                  <m:t>𝟐</m:t>
                                </m:r>
                              </m:e>
                              <m:e>
                                <m:r>
                                  <a:rPr lang="es-MX" sz="2400" b="1" i="1">
                                    <a:solidFill>
                                      <a:schemeClr val="accent3">
                                        <a:lumMod val="50000"/>
                                      </a:schemeClr>
                                    </a:solidFill>
                                    <a:latin typeface="Cambria Math" panose="02040503050406030204" pitchFamily="18" charset="0"/>
                                  </a:rPr>
                                  <m:t>𝟎</m:t>
                                </m:r>
                              </m:e>
                              <m:e>
                                <m:r>
                                  <a:rPr lang="es-MX" sz="2400" b="1" i="1">
                                    <a:solidFill>
                                      <a:schemeClr val="accent3">
                                        <a:lumMod val="50000"/>
                                      </a:schemeClr>
                                    </a:solidFill>
                                    <a:latin typeface="Cambria Math" panose="02040503050406030204" pitchFamily="18" charset="0"/>
                                  </a:rPr>
                                  <m:t>𝟏</m:t>
                                </m:r>
                              </m:e>
                            </m:mr>
                            <m:mr>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𝟒</m:t>
                                </m:r>
                              </m:e>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𝟐</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𝟎</m:t>
                                </m:r>
                              </m:e>
                              <m:e>
                                <m:r>
                                  <a:rPr lang="es-MX" sz="2400" b="1" i="1" smtClean="0">
                                    <a:solidFill>
                                      <a:schemeClr val="accent3">
                                        <a:lumMod val="50000"/>
                                      </a:schemeClr>
                                    </a:solidFill>
                                    <a:latin typeface="Cambria Math" panose="02040503050406030204" pitchFamily="18" charset="0"/>
                                  </a:rPr>
                                  <m:t>𝟏</m:t>
                                </m:r>
                              </m:e>
                            </m:mr>
                            <m:mr>
                              <m:e>
                                <m:r>
                                  <a:rPr lang="es-MX" sz="2400" b="1" i="1" smtClean="0">
                                    <a:solidFill>
                                      <a:schemeClr val="accent3">
                                        <a:lumMod val="50000"/>
                                      </a:schemeClr>
                                    </a:solidFill>
                                    <a:latin typeface="Cambria Math" panose="02040503050406030204" pitchFamily="18" charset="0"/>
                                  </a:rPr>
                                  <m:t>𝟒</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𝟑</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mr>
                            <m:m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r>
                        <a:rPr lang="es-MX" sz="2400" b="1" i="1" smtClean="0">
                          <a:solidFill>
                            <a:schemeClr val="accent3">
                              <a:lumMod val="50000"/>
                            </a:schemeClr>
                          </a:solidFill>
                          <a:latin typeface="Cambria Math" panose="02040503050406030204" pitchFamily="18" charset="0"/>
                        </a:rPr>
                        <m:t>)</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𝟒</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𝟎</m:t>
                                </m:r>
                              </m:e>
                            </m:mr>
                            <m:m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𝟒</m:t>
                                </m:r>
                              </m:e>
                            </m:mr>
                          </m:m>
                        </m:e>
                      </m:d>
                    </m:oMath>
                  </m:oMathPara>
                </a14:m>
                <a:endParaRPr lang="es-MX" sz="2400" b="1" dirty="0">
                  <a:solidFill>
                    <a:schemeClr val="accent3">
                      <a:lumMod val="50000"/>
                    </a:schemeClr>
                  </a:solidFill>
                </a:endParaRPr>
              </a:p>
            </p:txBody>
          </p:sp>
        </mc:Choice>
        <mc:Fallback xmlns="">
          <p:sp>
            <p:nvSpPr>
              <p:cNvPr id="7" name="Rectángulo 6">
                <a:extLst>
                  <a:ext uri="{FF2B5EF4-FFF2-40B4-BE49-F238E27FC236}">
                    <a16:creationId xmlns="" xmlns:a16="http://schemas.microsoft.com/office/drawing/2014/main" xmlns:a14="http://schemas.microsoft.com/office/drawing/2010/main" id="{D1D6F231-D767-4F78-8B24-B0E7A96496D8}"/>
                  </a:ext>
                </a:extLst>
              </p:cNvPr>
              <p:cNvSpPr>
                <a:spLocks noRot="1" noChangeAspect="1" noMove="1" noResize="1" noEditPoints="1" noAdjustHandles="1" noChangeArrowheads="1" noChangeShapeType="1" noTextEdit="1"/>
              </p:cNvSpPr>
              <p:nvPr/>
            </p:nvSpPr>
            <p:spPr>
              <a:xfrm>
                <a:off x="0" y="4785928"/>
                <a:ext cx="11243256" cy="1066574"/>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xmlns="" id="{71738C94-0F2B-40BF-9A1E-9B794614D6E2}"/>
                  </a:ext>
                </a:extLst>
              </p:cNvPr>
              <p:cNvSpPr/>
              <p:nvPr/>
            </p:nvSpPr>
            <p:spPr>
              <a:xfrm>
                <a:off x="0" y="6041919"/>
                <a:ext cx="5357611"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𝟖</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e>
                      </m:d>
                    </m:oMath>
                  </m:oMathPara>
                </a14:m>
                <a:endParaRPr lang="es-MX" sz="2400" b="1" dirty="0">
                  <a:solidFill>
                    <a:schemeClr val="accent3">
                      <a:lumMod val="50000"/>
                    </a:schemeClr>
                  </a:solidFill>
                </a:endParaRPr>
              </a:p>
            </p:txBody>
          </p:sp>
        </mc:Choice>
        <mc:Fallback xmlns="">
          <p:sp>
            <p:nvSpPr>
              <p:cNvPr id="8" name="Rectángulo 7">
                <a:extLst>
                  <a:ext uri="{FF2B5EF4-FFF2-40B4-BE49-F238E27FC236}">
                    <a16:creationId xmlns="" xmlns:a16="http://schemas.microsoft.com/office/drawing/2014/main" xmlns:a14="http://schemas.microsoft.com/office/drawing/2010/main" id="{71738C94-0F2B-40BF-9A1E-9B794614D6E2}"/>
                  </a:ext>
                </a:extLst>
              </p:cNvPr>
              <p:cNvSpPr>
                <a:spLocks noRot="1" noChangeAspect="1" noMove="1" noResize="1" noEditPoints="1" noAdjustHandles="1" noChangeArrowheads="1" noChangeShapeType="1" noTextEdit="1"/>
              </p:cNvSpPr>
              <p:nvPr/>
            </p:nvSpPr>
            <p:spPr>
              <a:xfrm>
                <a:off x="0" y="6041919"/>
                <a:ext cx="5357611" cy="461665"/>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a:extLst>
                  <a:ext uri="{FF2B5EF4-FFF2-40B4-BE49-F238E27FC236}">
                    <a16:creationId xmlns:a16="http://schemas.microsoft.com/office/drawing/2014/main" xmlns="" id="{432772C6-E628-4C88-8F95-1E37E4B8E9E0}"/>
                  </a:ext>
                </a:extLst>
              </p:cNvPr>
              <p:cNvSpPr/>
              <p:nvPr/>
            </p:nvSpPr>
            <p:spPr>
              <a:xfrm>
                <a:off x="5357612" y="6041918"/>
                <a:ext cx="3541689"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𝟖</m:t>
                          </m:r>
                        </m:e>
                      </m:d>
                    </m:oMath>
                  </m:oMathPara>
                </a14:m>
                <a:endParaRPr lang="es-MX" sz="2400" b="1" dirty="0">
                  <a:solidFill>
                    <a:schemeClr val="accent3">
                      <a:lumMod val="50000"/>
                    </a:schemeClr>
                  </a:solidFill>
                </a:endParaRPr>
              </a:p>
            </p:txBody>
          </p:sp>
        </mc:Choice>
        <mc:Fallback xmlns="">
          <p:sp>
            <p:nvSpPr>
              <p:cNvPr id="9" name="Rectángulo 8">
                <a:extLst>
                  <a:ext uri="{FF2B5EF4-FFF2-40B4-BE49-F238E27FC236}">
                    <a16:creationId xmlns="" xmlns:a16="http://schemas.microsoft.com/office/drawing/2014/main" xmlns:a14="http://schemas.microsoft.com/office/drawing/2010/main" id="{432772C6-E628-4C88-8F95-1E37E4B8E9E0}"/>
                  </a:ext>
                </a:extLst>
              </p:cNvPr>
              <p:cNvSpPr>
                <a:spLocks noRot="1" noChangeAspect="1" noMove="1" noResize="1" noEditPoints="1" noAdjustHandles="1" noChangeArrowheads="1" noChangeShapeType="1" noTextEdit="1"/>
              </p:cNvSpPr>
              <p:nvPr/>
            </p:nvSpPr>
            <p:spPr>
              <a:xfrm>
                <a:off x="5357612" y="6041918"/>
                <a:ext cx="3541689" cy="461665"/>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xmlns="" id="{C027E258-57F0-493C-8021-098BC7C1CD4C}"/>
                  </a:ext>
                </a:extLst>
              </p:cNvPr>
              <p:cNvSpPr/>
              <p:nvPr/>
            </p:nvSpPr>
            <p:spPr>
              <a:xfrm>
                <a:off x="8693459" y="6060021"/>
                <a:ext cx="2320343"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𝟗</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𝟐𝟒</m:t>
                      </m:r>
                    </m:oMath>
                  </m:oMathPara>
                </a14:m>
                <a:endParaRPr lang="es-MX" sz="2400" b="1" dirty="0">
                  <a:solidFill>
                    <a:schemeClr val="accent3">
                      <a:lumMod val="50000"/>
                    </a:schemeClr>
                  </a:solidFill>
                </a:endParaRPr>
              </a:p>
            </p:txBody>
          </p:sp>
        </mc:Choice>
        <mc:Fallback xmlns="">
          <p:sp>
            <p:nvSpPr>
              <p:cNvPr id="10" name="Rectángulo 9">
                <a:extLst>
                  <a:ext uri="{FF2B5EF4-FFF2-40B4-BE49-F238E27FC236}">
                    <a16:creationId xmlns="" xmlns:a16="http://schemas.microsoft.com/office/drawing/2014/main" xmlns:a14="http://schemas.microsoft.com/office/drawing/2010/main" id="{C027E258-57F0-493C-8021-098BC7C1CD4C}"/>
                  </a:ext>
                </a:extLst>
              </p:cNvPr>
              <p:cNvSpPr>
                <a:spLocks noRot="1" noChangeAspect="1" noMove="1" noResize="1" noEditPoints="1" noAdjustHandles="1" noChangeArrowheads="1" noChangeShapeType="1" noTextEdit="1"/>
              </p:cNvSpPr>
              <p:nvPr/>
            </p:nvSpPr>
            <p:spPr>
              <a:xfrm>
                <a:off x="8693459" y="6060021"/>
                <a:ext cx="2320343" cy="461665"/>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Rectángulo 10">
                <a:extLst>
                  <a:ext uri="{FF2B5EF4-FFF2-40B4-BE49-F238E27FC236}">
                    <a16:creationId xmlns:a16="http://schemas.microsoft.com/office/drawing/2014/main" xmlns="" id="{573ABCC3-7685-45AC-A89A-923978172DCD}"/>
                  </a:ext>
                </a:extLst>
              </p:cNvPr>
              <p:cNvSpPr/>
              <p:nvPr/>
            </p:nvSpPr>
            <p:spPr>
              <a:xfrm>
                <a:off x="10740980" y="6041917"/>
                <a:ext cx="1449836"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prstClr val="black"/>
                          </a:solidFill>
                          <a:latin typeface="Cambria Math" panose="02040503050406030204" pitchFamily="18" charset="0"/>
                        </a:rPr>
                        <m:t>=−</m:t>
                      </m:r>
                      <m:r>
                        <a:rPr lang="es-MX" sz="2400" b="1" i="1" smtClean="0">
                          <a:solidFill>
                            <a:prstClr val="black"/>
                          </a:solidFill>
                          <a:latin typeface="Cambria Math" panose="02040503050406030204" pitchFamily="18" charset="0"/>
                        </a:rPr>
                        <m:t>𝟏𝟗</m:t>
                      </m:r>
                    </m:oMath>
                  </m:oMathPara>
                </a14:m>
                <a:endParaRPr lang="es-MX" sz="2400" b="1" dirty="0">
                  <a:solidFill>
                    <a:prstClr val="black"/>
                  </a:solidFill>
                </a:endParaRPr>
              </a:p>
            </p:txBody>
          </p:sp>
        </mc:Choice>
        <mc:Fallback xmlns="">
          <p:sp>
            <p:nvSpPr>
              <p:cNvPr id="11" name="Rectángulo 10">
                <a:extLst>
                  <a:ext uri="{FF2B5EF4-FFF2-40B4-BE49-F238E27FC236}">
                    <a16:creationId xmlns="" xmlns:a16="http://schemas.microsoft.com/office/drawing/2014/main" xmlns:a14="http://schemas.microsoft.com/office/drawing/2010/main" id="{573ABCC3-7685-45AC-A89A-923978172DCD}"/>
                  </a:ext>
                </a:extLst>
              </p:cNvPr>
              <p:cNvSpPr>
                <a:spLocks noRot="1" noChangeAspect="1" noMove="1" noResize="1" noEditPoints="1" noAdjustHandles="1" noChangeArrowheads="1" noChangeShapeType="1" noTextEdit="1"/>
              </p:cNvSpPr>
              <p:nvPr/>
            </p:nvSpPr>
            <p:spPr>
              <a:xfrm>
                <a:off x="10740980" y="6041917"/>
                <a:ext cx="1449836" cy="461665"/>
              </a:xfrm>
              <a:prstGeom prst="rect">
                <a:avLst/>
              </a:prstGeom>
              <a:blipFill rotWithShape="0">
                <a:blip r:embed="rId7"/>
                <a:stretch>
                  <a:fillRect/>
                </a:stretch>
              </a:blipFill>
            </p:spPr>
            <p:txBody>
              <a:bodyPr/>
              <a:lstStyle/>
              <a:p>
                <a:r>
                  <a:rPr lang="es-MX">
                    <a:noFill/>
                  </a:rPr>
                  <a:t> </a:t>
                </a:r>
              </a:p>
            </p:txBody>
          </p:sp>
        </mc:Fallback>
      </mc:AlternateContent>
      <p:cxnSp>
        <p:nvCxnSpPr>
          <p:cNvPr id="12" name="Conector recto 11">
            <a:extLst>
              <a:ext uri="{FF2B5EF4-FFF2-40B4-BE49-F238E27FC236}">
                <a16:creationId xmlns:a16="http://schemas.microsoft.com/office/drawing/2014/main" xmlns="" id="{6E895BE0-B61F-4B1B-A729-3F76D7EDD3C6}"/>
              </a:ext>
            </a:extLst>
          </p:cNvPr>
          <p:cNvCxnSpPr/>
          <p:nvPr/>
        </p:nvCxnSpPr>
        <p:spPr>
          <a:xfrm flipV="1">
            <a:off x="991673" y="4942385"/>
            <a:ext cx="1609859" cy="257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81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circle(in)">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ircle(in)">
                                      <p:cBhvr>
                                        <p:cTn id="32" dur="2000"/>
                                        <p:tgtEl>
                                          <p:spTgt spid="7"/>
                                        </p:tgtEl>
                                      </p:cBhvr>
                                    </p:animEffect>
                                  </p:childTnLst>
                                </p:cTn>
                              </p:par>
                              <p:par>
                                <p:cTn id="33" presetID="6" presetClass="entr" presetSubtype="16"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circle(in)">
                                      <p:cBhvr>
                                        <p:cTn id="35" dur="20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circle(in)">
                                      <p:cBhvr>
                                        <p:cTn id="45" dur="20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circle(in)">
                                      <p:cBhvr>
                                        <p:cTn id="50" dur="20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circle(in)">
                                      <p:cBhvr>
                                        <p:cTn id="5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F76EB8CD-18B9-4781-8A10-6BAA6231505A}"/>
              </a:ext>
            </a:extLst>
          </p:cNvPr>
          <p:cNvSpPr/>
          <p:nvPr/>
        </p:nvSpPr>
        <p:spPr>
          <a:xfrm>
            <a:off x="0" y="1209907"/>
            <a:ext cx="1506828" cy="461665"/>
          </a:xfrm>
          <a:prstGeom prst="rect">
            <a:avLst/>
          </a:prstGeom>
        </p:spPr>
        <p:txBody>
          <a:bodyPr wrap="square">
            <a:spAutoFit/>
          </a:bodyPr>
          <a:lstStyle/>
          <a:p>
            <a:pPr marL="0" lvl="1"/>
            <a:r>
              <a:rPr lang="es-ES" sz="2400" b="1" dirty="0">
                <a:solidFill>
                  <a:srgbClr val="FF0000"/>
                </a:solidFill>
              </a:rPr>
              <a:t>Ejemplo 2</a:t>
            </a:r>
            <a:endParaRPr lang="es-MX" sz="2400" b="1" dirty="0">
              <a:solidFill>
                <a:srgbClr val="FF0000"/>
              </a:solidFill>
            </a:endParaRPr>
          </a:p>
        </p:txBody>
      </p:sp>
      <p:sp>
        <p:nvSpPr>
          <p:cNvPr id="3" name="Rectángulo 2">
            <a:extLst>
              <a:ext uri="{FF2B5EF4-FFF2-40B4-BE49-F238E27FC236}">
                <a16:creationId xmlns:a16="http://schemas.microsoft.com/office/drawing/2014/main" xmlns="" id="{E546D3CF-8673-40FE-BBC3-0EE21EF48862}"/>
              </a:ext>
            </a:extLst>
          </p:cNvPr>
          <p:cNvSpPr/>
          <p:nvPr/>
        </p:nvSpPr>
        <p:spPr>
          <a:xfrm>
            <a:off x="-2" y="1815552"/>
            <a:ext cx="10866785" cy="461665"/>
          </a:xfrm>
          <a:prstGeom prst="rect">
            <a:avLst/>
          </a:prstGeom>
        </p:spPr>
        <p:txBody>
          <a:bodyPr wrap="square">
            <a:spAutoFit/>
          </a:bodyPr>
          <a:lstStyle/>
          <a:p>
            <a:pPr marL="0" lvl="1"/>
            <a:r>
              <a:rPr lang="es-ES" sz="2400" b="1" dirty="0">
                <a:solidFill>
                  <a:prstClr val="black"/>
                </a:solidFill>
              </a:rPr>
              <a:t>Calculemos el valor del determinante por el método de desarrollo por cofactores. </a:t>
            </a:r>
            <a:endParaRPr lang="es-MX" sz="2400" b="1" dirty="0">
              <a:solidFill>
                <a:srgbClr val="FF0000"/>
              </a:solidFill>
            </a:endParaRP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xmlns="" id="{4C85E7FC-35D6-456D-B63C-C0B2111C1CF3}"/>
                  </a:ext>
                </a:extLst>
              </p:cNvPr>
              <p:cNvSpPr/>
              <p:nvPr/>
            </p:nvSpPr>
            <p:spPr>
              <a:xfrm>
                <a:off x="-2" y="2466634"/>
                <a:ext cx="2601534" cy="1066574"/>
              </a:xfrm>
              <a:prstGeom prst="rect">
                <a:avLst/>
              </a:prstGeom>
            </p:spPr>
            <p:txBody>
              <a:bodyPr wrap="square">
                <a:spAutoFit/>
              </a:bodyPr>
              <a:lstStyle/>
              <a:p>
                <a:pPr marL="0" lvl="1"/>
                <a14:m>
                  <m:oMathPara xmlns:m="http://schemas.openxmlformats.org/officeDocument/2006/math">
                    <m:oMathParaPr>
                      <m:jc m:val="centerGroup"/>
                    </m:oMathParaPr>
                    <m:oMath xmlns:m="http://schemas.openxmlformats.org/officeDocument/2006/math">
                      <m:r>
                        <a:rPr lang="es-MX" sz="2400" b="1" i="1" smtClean="0">
                          <a:solidFill>
                            <a:srgbClr val="FF0000"/>
                          </a:solidFill>
                          <a:latin typeface="Cambria Math" panose="02040503050406030204" pitchFamily="18" charset="0"/>
                        </a:rPr>
                        <m:t>𝑨</m:t>
                      </m:r>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m>
                            <m:mPr>
                              <m:mcs>
                                <m:mc>
                                  <m:mcPr>
                                    <m:count m:val="3"/>
                                    <m:mcJc m:val="center"/>
                                  </m:mcPr>
                                </m:mc>
                              </m:mcs>
                              <m:ctrlPr>
                                <a:rPr lang="es-MX" sz="2400" b="1" i="1" smtClean="0">
                                  <a:solidFill>
                                    <a:srgbClr val="FF0000"/>
                                  </a:solidFill>
                                  <a:latin typeface="Cambria Math" panose="02040503050406030204" pitchFamily="18" charset="0"/>
                                </a:rPr>
                              </m:ctrlPr>
                            </m:mPr>
                            <m:mr>
                              <m:e>
                                <m:r>
                                  <m:rPr>
                                    <m:brk m:alnAt="7"/>
                                  </m:rPr>
                                  <a:rPr lang="es-MX" sz="2400" b="1" i="1" smtClean="0">
                                    <a:solidFill>
                                      <a:srgbClr val="FF0000"/>
                                    </a:solidFill>
                                    <a:latin typeface="Cambria Math" panose="02040503050406030204" pitchFamily="18" charset="0"/>
                                  </a:rPr>
                                  <m:t>𝟏</m:t>
                                </m:r>
                              </m:e>
                              <m:e>
                                <m:r>
                                  <a:rPr lang="es-MX" sz="2400" b="1" i="1" smtClean="0">
                                    <a:solidFill>
                                      <a:srgbClr val="FF0000"/>
                                    </a:solidFill>
                                    <a:latin typeface="Cambria Math" panose="02040503050406030204" pitchFamily="18" charset="0"/>
                                  </a:rPr>
                                  <m:t>𝟑</m:t>
                                </m:r>
                              </m:e>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𝟑</m:t>
                                </m:r>
                              </m:e>
                            </m:mr>
                            <m:mr>
                              <m:e>
                                <m:r>
                                  <a:rPr lang="es-MX" sz="2400" b="1" i="1" smtClean="0">
                                    <a:solidFill>
                                      <a:srgbClr val="FF0000"/>
                                    </a:solidFill>
                                    <a:latin typeface="Cambria Math" panose="02040503050406030204" pitchFamily="18" charset="0"/>
                                  </a:rPr>
                                  <m:t>𝟐</m:t>
                                </m:r>
                              </m:e>
                              <m:e>
                                <m:r>
                                  <a:rPr lang="es-MX" sz="2400" b="1" i="1" smtClean="0">
                                    <a:solidFill>
                                      <a:srgbClr val="FF0000"/>
                                    </a:solidFill>
                                    <a:latin typeface="Cambria Math" panose="02040503050406030204" pitchFamily="18" charset="0"/>
                                  </a:rPr>
                                  <m:t>𝟎</m:t>
                                </m:r>
                              </m:e>
                              <m:e>
                                <m:r>
                                  <a:rPr lang="es-MX" sz="2400" b="1" i="1" smtClean="0">
                                    <a:solidFill>
                                      <a:srgbClr val="FF0000"/>
                                    </a:solidFill>
                                    <a:latin typeface="Cambria Math" panose="02040503050406030204" pitchFamily="18" charset="0"/>
                                  </a:rPr>
                                  <m:t>𝟏</m:t>
                                </m:r>
                              </m:e>
                            </m:mr>
                            <m:mr>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𝟏</m:t>
                                </m:r>
                              </m:e>
                              <m:e>
                                <m:r>
                                  <a:rPr lang="es-MX" sz="2400" b="1" i="1" smtClean="0">
                                    <a:solidFill>
                                      <a:srgbClr val="FF0000"/>
                                    </a:solidFill>
                                    <a:latin typeface="Cambria Math" panose="02040503050406030204" pitchFamily="18" charset="0"/>
                                  </a:rPr>
                                  <m:t>𝟒</m:t>
                                </m:r>
                              </m:e>
                              <m:e>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𝟐</m:t>
                                </m:r>
                              </m:e>
                            </m:mr>
                          </m:m>
                        </m:e>
                      </m:d>
                    </m:oMath>
                  </m:oMathPara>
                </a14:m>
                <a:endParaRPr lang="es-MX" sz="2400" b="1" dirty="0">
                  <a:solidFill>
                    <a:srgbClr val="FF0000"/>
                  </a:solidFill>
                </a:endParaRPr>
              </a:p>
            </p:txBody>
          </p:sp>
        </mc:Choice>
        <mc:Fallback xmlns="">
          <p:sp>
            <p:nvSpPr>
              <p:cNvPr id="4" name="Rectángulo 3">
                <a:extLst>
                  <a:ext uri="{FF2B5EF4-FFF2-40B4-BE49-F238E27FC236}">
                    <a16:creationId xmlns="" xmlns:a16="http://schemas.microsoft.com/office/drawing/2014/main" xmlns:a14="http://schemas.microsoft.com/office/drawing/2010/main" id="{4C85E7FC-35D6-456D-B63C-C0B2111C1CF3}"/>
                  </a:ext>
                </a:extLst>
              </p:cNvPr>
              <p:cNvSpPr>
                <a:spLocks noRot="1" noChangeAspect="1" noMove="1" noResize="1" noEditPoints="1" noAdjustHandles="1" noChangeArrowheads="1" noChangeShapeType="1" noTextEdit="1"/>
              </p:cNvSpPr>
              <p:nvPr/>
            </p:nvSpPr>
            <p:spPr>
              <a:xfrm>
                <a:off x="-2" y="2466634"/>
                <a:ext cx="2601534" cy="1066574"/>
              </a:xfrm>
              <a:prstGeom prst="rect">
                <a:avLst/>
              </a:prstGeom>
              <a:blipFill rotWithShape="0">
                <a:blip r:embed="rId2"/>
                <a:stretch>
                  <a:fillRect/>
                </a:stretch>
              </a:blipFill>
            </p:spPr>
            <p:txBody>
              <a:bodyPr/>
              <a:lstStyle/>
              <a:p>
                <a:r>
                  <a:rPr lang="es-MX">
                    <a:noFill/>
                  </a:rPr>
                  <a:t> </a:t>
                </a:r>
              </a:p>
            </p:txBody>
          </p:sp>
        </mc:Fallback>
      </mc:AlternateContent>
      <p:sp>
        <p:nvSpPr>
          <p:cNvPr id="5" name="Rectángulo 4">
            <a:extLst>
              <a:ext uri="{FF2B5EF4-FFF2-40B4-BE49-F238E27FC236}">
                <a16:creationId xmlns:a16="http://schemas.microsoft.com/office/drawing/2014/main" xmlns="" id="{4D4E9AE2-31D4-4E3F-8C4B-6F65ADE1998A}"/>
              </a:ext>
            </a:extLst>
          </p:cNvPr>
          <p:cNvSpPr/>
          <p:nvPr/>
        </p:nvSpPr>
        <p:spPr>
          <a:xfrm>
            <a:off x="0" y="3744911"/>
            <a:ext cx="1300767" cy="461665"/>
          </a:xfrm>
          <a:prstGeom prst="rect">
            <a:avLst/>
          </a:prstGeom>
        </p:spPr>
        <p:txBody>
          <a:bodyPr wrap="square">
            <a:spAutoFit/>
          </a:bodyPr>
          <a:lstStyle/>
          <a:p>
            <a:pPr marL="0" lvl="1"/>
            <a:r>
              <a:rPr lang="es-ES" sz="2400" b="1" dirty="0">
                <a:solidFill>
                  <a:srgbClr val="FF0000"/>
                </a:solidFill>
              </a:rPr>
              <a:t>Solución</a:t>
            </a:r>
            <a:endParaRPr lang="es-MX" sz="2400" b="1" dirty="0">
              <a:solidFill>
                <a:srgbClr val="FF0000"/>
              </a:solidFill>
            </a:endParaRPr>
          </a:p>
        </p:txBody>
      </p:sp>
      <p:sp>
        <p:nvSpPr>
          <p:cNvPr id="6" name="Rectángulo 5">
            <a:extLst>
              <a:ext uri="{FF2B5EF4-FFF2-40B4-BE49-F238E27FC236}">
                <a16:creationId xmlns:a16="http://schemas.microsoft.com/office/drawing/2014/main" xmlns="" id="{4987E3FA-5B78-45AC-9F2B-1AC4D334DE48}"/>
              </a:ext>
            </a:extLst>
          </p:cNvPr>
          <p:cNvSpPr/>
          <p:nvPr/>
        </p:nvSpPr>
        <p:spPr>
          <a:xfrm>
            <a:off x="-2" y="4276104"/>
            <a:ext cx="4378819" cy="461665"/>
          </a:xfrm>
          <a:prstGeom prst="rect">
            <a:avLst/>
          </a:prstGeom>
        </p:spPr>
        <p:txBody>
          <a:bodyPr wrap="square">
            <a:spAutoFit/>
          </a:bodyPr>
          <a:lstStyle/>
          <a:p>
            <a:pPr marL="0" lvl="1"/>
            <a:r>
              <a:rPr lang="es-ES" sz="2400" b="1" dirty="0">
                <a:solidFill>
                  <a:schemeClr val="accent3">
                    <a:lumMod val="50000"/>
                  </a:schemeClr>
                </a:solidFill>
              </a:rPr>
              <a:t>Seleccionar la segunda columna</a:t>
            </a:r>
            <a:endParaRPr lang="es-MX" sz="2400" b="1" dirty="0">
              <a:solidFill>
                <a:schemeClr val="accent3">
                  <a:lumMod val="50000"/>
                </a:schemeClr>
              </a:solidFill>
            </a:endParaRPr>
          </a:p>
        </p:txBody>
      </p:sp>
      <mc:AlternateContent xmlns:mc="http://schemas.openxmlformats.org/markup-compatibility/2006" xmlns:a14="http://schemas.microsoft.com/office/drawing/2010/main">
        <mc:Choice Requires="a14">
          <p:sp>
            <p:nvSpPr>
              <p:cNvPr id="7" name="Rectángulo 6">
                <a:extLst>
                  <a:ext uri="{FF2B5EF4-FFF2-40B4-BE49-F238E27FC236}">
                    <a16:creationId xmlns:a16="http://schemas.microsoft.com/office/drawing/2014/main" xmlns="" id="{9018A30E-1F35-483A-888A-4FD7AA548903}"/>
                  </a:ext>
                </a:extLst>
              </p:cNvPr>
              <p:cNvSpPr/>
              <p:nvPr/>
            </p:nvSpPr>
            <p:spPr>
              <a:xfrm>
                <a:off x="0" y="4803037"/>
                <a:ext cx="11243256" cy="1066574"/>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3"/>
                                    <m:mcJc m:val="center"/>
                                  </m:mcPr>
                                </m:mc>
                              </m:mcs>
                              <m:ctrlPr>
                                <a:rPr lang="es-MX" sz="2400" b="1" i="1">
                                  <a:solidFill>
                                    <a:schemeClr val="accent3">
                                      <a:lumMod val="50000"/>
                                    </a:schemeClr>
                                  </a:solidFill>
                                  <a:latin typeface="Cambria Math" panose="02040503050406030204" pitchFamily="18" charset="0"/>
                                </a:rPr>
                              </m:ctrlPr>
                            </m:mPr>
                            <m:mr>
                              <m:e>
                                <m:r>
                                  <m:rPr>
                                    <m:brk m:alnAt="7"/>
                                  </m:rP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𝟑</m:t>
                                </m:r>
                              </m:e>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𝟑</m:t>
                                </m:r>
                              </m:e>
                            </m:mr>
                            <m:mr>
                              <m:e>
                                <m:r>
                                  <a:rPr lang="es-MX" sz="2400" b="1" i="1">
                                    <a:solidFill>
                                      <a:schemeClr val="accent3">
                                        <a:lumMod val="50000"/>
                                      </a:schemeClr>
                                    </a:solidFill>
                                    <a:latin typeface="Cambria Math" panose="02040503050406030204" pitchFamily="18" charset="0"/>
                                  </a:rPr>
                                  <m:t>𝟐</m:t>
                                </m:r>
                              </m:e>
                              <m:e>
                                <m:r>
                                  <a:rPr lang="es-MX" sz="2400" b="1" i="1">
                                    <a:solidFill>
                                      <a:schemeClr val="accent3">
                                        <a:lumMod val="50000"/>
                                      </a:schemeClr>
                                    </a:solidFill>
                                    <a:latin typeface="Cambria Math" panose="02040503050406030204" pitchFamily="18" charset="0"/>
                                  </a:rPr>
                                  <m:t>𝟎</m:t>
                                </m:r>
                              </m:e>
                              <m:e>
                                <m:r>
                                  <a:rPr lang="es-MX" sz="2400" b="1" i="1">
                                    <a:solidFill>
                                      <a:schemeClr val="accent3">
                                        <a:lumMod val="50000"/>
                                      </a:schemeClr>
                                    </a:solidFill>
                                    <a:latin typeface="Cambria Math" panose="02040503050406030204" pitchFamily="18" charset="0"/>
                                  </a:rPr>
                                  <m:t>𝟏</m:t>
                                </m:r>
                              </m:e>
                            </m:mr>
                            <m:mr>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𝟒</m:t>
                                </m:r>
                              </m:e>
                              <m:e>
                                <m:r>
                                  <a:rPr lang="es-MX" sz="2400" b="1" i="1">
                                    <a:solidFill>
                                      <a:schemeClr val="accent3">
                                        <a:lumMod val="50000"/>
                                      </a:schemeClr>
                                    </a:solidFill>
                                    <a:latin typeface="Cambria Math" panose="02040503050406030204" pitchFamily="18" charset="0"/>
                                  </a:rPr>
                                  <m:t>−</m:t>
                                </m:r>
                                <m:r>
                                  <a:rPr lang="es-MX" sz="2400" b="1" i="1">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𝟑</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mr>
                            <m:m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𝟒</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e>
                            </m:mr>
                            <m:m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𝟓</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2"/>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e>
                            </m:mr>
                            <m:mr>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mr>
                          </m:m>
                        </m:e>
                      </m:d>
                    </m:oMath>
                  </m:oMathPara>
                </a14:m>
                <a:endParaRPr lang="es-MX" sz="2400" b="1" dirty="0">
                  <a:solidFill>
                    <a:schemeClr val="accent3">
                      <a:lumMod val="50000"/>
                    </a:schemeClr>
                  </a:solidFill>
                </a:endParaRPr>
              </a:p>
            </p:txBody>
          </p:sp>
        </mc:Choice>
        <mc:Fallback xmlns="">
          <p:sp>
            <p:nvSpPr>
              <p:cNvPr id="7" name="Rectángulo 6">
                <a:extLst>
                  <a:ext uri="{FF2B5EF4-FFF2-40B4-BE49-F238E27FC236}">
                    <a16:creationId xmlns="" xmlns:a16="http://schemas.microsoft.com/office/drawing/2014/main" xmlns:a14="http://schemas.microsoft.com/office/drawing/2010/main" id="{9018A30E-1F35-483A-888A-4FD7AA548903}"/>
                  </a:ext>
                </a:extLst>
              </p:cNvPr>
              <p:cNvSpPr>
                <a:spLocks noRot="1" noChangeAspect="1" noMove="1" noResize="1" noEditPoints="1" noAdjustHandles="1" noChangeArrowheads="1" noChangeShapeType="1" noTextEdit="1"/>
              </p:cNvSpPr>
              <p:nvPr/>
            </p:nvSpPr>
            <p:spPr>
              <a:xfrm>
                <a:off x="0" y="4803037"/>
                <a:ext cx="11243256" cy="1066574"/>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xmlns="" id="{C3F136F2-EEF4-43D9-8175-2C2BBC7099AF}"/>
                  </a:ext>
                </a:extLst>
              </p:cNvPr>
              <p:cNvSpPr/>
              <p:nvPr/>
            </p:nvSpPr>
            <p:spPr>
              <a:xfrm>
                <a:off x="0" y="6059028"/>
                <a:ext cx="5937161"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𝟔</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𝟏</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𝟔</m:t>
                          </m:r>
                        </m:e>
                      </m:d>
                    </m:oMath>
                  </m:oMathPara>
                </a14:m>
                <a:endParaRPr lang="es-MX" sz="2400" b="1" dirty="0">
                  <a:solidFill>
                    <a:schemeClr val="accent3">
                      <a:lumMod val="50000"/>
                    </a:schemeClr>
                  </a:solidFill>
                </a:endParaRPr>
              </a:p>
            </p:txBody>
          </p:sp>
        </mc:Choice>
        <mc:Fallback xmlns="">
          <p:sp>
            <p:nvSpPr>
              <p:cNvPr id="8" name="Rectángulo 7">
                <a:extLst>
                  <a:ext uri="{FF2B5EF4-FFF2-40B4-BE49-F238E27FC236}">
                    <a16:creationId xmlns="" xmlns:a16="http://schemas.microsoft.com/office/drawing/2014/main" xmlns:a14="http://schemas.microsoft.com/office/drawing/2010/main" id="{C3F136F2-EEF4-43D9-8175-2C2BBC7099AF}"/>
                  </a:ext>
                </a:extLst>
              </p:cNvPr>
              <p:cNvSpPr>
                <a:spLocks noRot="1" noChangeAspect="1" noMove="1" noResize="1" noEditPoints="1" noAdjustHandles="1" noChangeArrowheads="1" noChangeShapeType="1" noTextEdit="1"/>
              </p:cNvSpPr>
              <p:nvPr/>
            </p:nvSpPr>
            <p:spPr>
              <a:xfrm>
                <a:off x="0" y="6059028"/>
                <a:ext cx="5937161" cy="461665"/>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a:extLst>
                  <a:ext uri="{FF2B5EF4-FFF2-40B4-BE49-F238E27FC236}">
                    <a16:creationId xmlns:a16="http://schemas.microsoft.com/office/drawing/2014/main" xmlns="" id="{7AA20D76-E124-4D31-87FD-964C75AF633D}"/>
                  </a:ext>
                </a:extLst>
              </p:cNvPr>
              <p:cNvSpPr/>
              <p:nvPr/>
            </p:nvSpPr>
            <p:spPr>
              <a:xfrm>
                <a:off x="5679834" y="6045233"/>
                <a:ext cx="3669107"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𝟖</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𝟕</m:t>
                          </m:r>
                        </m:e>
                      </m:d>
                    </m:oMath>
                  </m:oMathPara>
                </a14:m>
                <a:endParaRPr lang="es-MX" sz="2400" b="1" dirty="0">
                  <a:solidFill>
                    <a:schemeClr val="accent3">
                      <a:lumMod val="50000"/>
                    </a:schemeClr>
                  </a:solidFill>
                </a:endParaRPr>
              </a:p>
            </p:txBody>
          </p:sp>
        </mc:Choice>
        <mc:Fallback xmlns="">
          <p:sp>
            <p:nvSpPr>
              <p:cNvPr id="9" name="Rectángulo 8">
                <a:extLst>
                  <a:ext uri="{FF2B5EF4-FFF2-40B4-BE49-F238E27FC236}">
                    <a16:creationId xmlns="" xmlns:a16="http://schemas.microsoft.com/office/drawing/2014/main" xmlns:a14="http://schemas.microsoft.com/office/drawing/2010/main" id="{7AA20D76-E124-4D31-87FD-964C75AF633D}"/>
                  </a:ext>
                </a:extLst>
              </p:cNvPr>
              <p:cNvSpPr>
                <a:spLocks noRot="1" noChangeAspect="1" noMove="1" noResize="1" noEditPoints="1" noAdjustHandles="1" noChangeArrowheads="1" noChangeShapeType="1" noTextEdit="1"/>
              </p:cNvSpPr>
              <p:nvPr/>
            </p:nvSpPr>
            <p:spPr>
              <a:xfrm>
                <a:off x="5679834" y="6045233"/>
                <a:ext cx="3669107" cy="461665"/>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xmlns="" id="{538D0098-3936-48CE-BD6C-F9B8B93D7CF7}"/>
                  </a:ext>
                </a:extLst>
              </p:cNvPr>
              <p:cNvSpPr/>
              <p:nvPr/>
            </p:nvSpPr>
            <p:spPr>
              <a:xfrm>
                <a:off x="9296652" y="6059027"/>
                <a:ext cx="2320343"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𝟗</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𝟐𝟖</m:t>
                      </m:r>
                    </m:oMath>
                  </m:oMathPara>
                </a14:m>
                <a:endParaRPr lang="es-MX" sz="2400" b="1" dirty="0">
                  <a:solidFill>
                    <a:schemeClr val="accent3">
                      <a:lumMod val="50000"/>
                    </a:schemeClr>
                  </a:solidFill>
                </a:endParaRPr>
              </a:p>
            </p:txBody>
          </p:sp>
        </mc:Choice>
        <mc:Fallback xmlns="">
          <p:sp>
            <p:nvSpPr>
              <p:cNvPr id="10" name="Rectángulo 9">
                <a:extLst>
                  <a:ext uri="{FF2B5EF4-FFF2-40B4-BE49-F238E27FC236}">
                    <a16:creationId xmlns="" xmlns:a16="http://schemas.microsoft.com/office/drawing/2014/main" xmlns:a14="http://schemas.microsoft.com/office/drawing/2010/main" id="{538D0098-3936-48CE-BD6C-F9B8B93D7CF7}"/>
                  </a:ext>
                </a:extLst>
              </p:cNvPr>
              <p:cNvSpPr>
                <a:spLocks noRot="1" noChangeAspect="1" noMove="1" noResize="1" noEditPoints="1" noAdjustHandles="1" noChangeArrowheads="1" noChangeShapeType="1" noTextEdit="1"/>
              </p:cNvSpPr>
              <p:nvPr/>
            </p:nvSpPr>
            <p:spPr>
              <a:xfrm>
                <a:off x="9296652" y="6059027"/>
                <a:ext cx="2320343" cy="461665"/>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Rectángulo 10">
                <a:extLst>
                  <a:ext uri="{FF2B5EF4-FFF2-40B4-BE49-F238E27FC236}">
                    <a16:creationId xmlns:a16="http://schemas.microsoft.com/office/drawing/2014/main" xmlns="" id="{3D6BDD0D-B6F6-4B34-BBE7-5EC6350E94CC}"/>
                  </a:ext>
                </a:extLst>
              </p:cNvPr>
              <p:cNvSpPr/>
              <p:nvPr/>
            </p:nvSpPr>
            <p:spPr>
              <a:xfrm>
                <a:off x="11133226" y="6059026"/>
                <a:ext cx="967538"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sz="2400" b="1" i="1" smtClean="0">
                          <a:solidFill>
                            <a:prstClr val="black"/>
                          </a:solidFill>
                          <a:latin typeface="Cambria Math" panose="02040503050406030204" pitchFamily="18" charset="0"/>
                        </a:rPr>
                        <m:t>=−</m:t>
                      </m:r>
                      <m:r>
                        <a:rPr lang="es-MX" sz="2400" b="1" i="1" smtClean="0">
                          <a:solidFill>
                            <a:prstClr val="black"/>
                          </a:solidFill>
                          <a:latin typeface="Cambria Math" panose="02040503050406030204" pitchFamily="18" charset="0"/>
                        </a:rPr>
                        <m:t>𝟏𝟗</m:t>
                      </m:r>
                    </m:oMath>
                  </m:oMathPara>
                </a14:m>
                <a:endParaRPr lang="es-MX" sz="2400" b="1" dirty="0">
                  <a:solidFill>
                    <a:prstClr val="black"/>
                  </a:solidFill>
                </a:endParaRPr>
              </a:p>
            </p:txBody>
          </p:sp>
        </mc:Choice>
        <mc:Fallback xmlns="">
          <p:sp>
            <p:nvSpPr>
              <p:cNvPr id="11" name="Rectángulo 10">
                <a:extLst>
                  <a:ext uri="{FF2B5EF4-FFF2-40B4-BE49-F238E27FC236}">
                    <a16:creationId xmlns="" xmlns:a16="http://schemas.microsoft.com/office/drawing/2014/main" xmlns:a14="http://schemas.microsoft.com/office/drawing/2010/main" id="{3D6BDD0D-B6F6-4B34-BBE7-5EC6350E94CC}"/>
                  </a:ext>
                </a:extLst>
              </p:cNvPr>
              <p:cNvSpPr>
                <a:spLocks noRot="1" noChangeAspect="1" noMove="1" noResize="1" noEditPoints="1" noAdjustHandles="1" noChangeArrowheads="1" noChangeShapeType="1" noTextEdit="1"/>
              </p:cNvSpPr>
              <p:nvPr/>
            </p:nvSpPr>
            <p:spPr>
              <a:xfrm>
                <a:off x="11133226" y="6059026"/>
                <a:ext cx="967538" cy="461665"/>
              </a:xfrm>
              <a:prstGeom prst="rect">
                <a:avLst/>
              </a:prstGeom>
              <a:blipFill rotWithShape="0">
                <a:blip r:embed="rId7"/>
                <a:stretch>
                  <a:fillRect r="-13836"/>
                </a:stretch>
              </a:blipFill>
            </p:spPr>
            <p:txBody>
              <a:bodyPr/>
              <a:lstStyle/>
              <a:p>
                <a:r>
                  <a:rPr lang="es-MX">
                    <a:noFill/>
                  </a:rPr>
                  <a:t> </a:t>
                </a:r>
              </a:p>
            </p:txBody>
          </p:sp>
        </mc:Fallback>
      </mc:AlternateContent>
      <p:cxnSp>
        <p:nvCxnSpPr>
          <p:cNvPr id="12" name="Conector recto 11">
            <a:extLst>
              <a:ext uri="{FF2B5EF4-FFF2-40B4-BE49-F238E27FC236}">
                <a16:creationId xmlns:a16="http://schemas.microsoft.com/office/drawing/2014/main" xmlns="" id="{5BC6DD32-CDA1-48CB-BA49-49B33226E17F}"/>
              </a:ext>
            </a:extLst>
          </p:cNvPr>
          <p:cNvCxnSpPr/>
          <p:nvPr/>
        </p:nvCxnSpPr>
        <p:spPr>
          <a:xfrm flipH="1">
            <a:off x="1764406" y="4803037"/>
            <a:ext cx="12879" cy="12421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25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circle(in)">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ircle(in)">
                                      <p:cBhvr>
                                        <p:cTn id="32" dur="2000"/>
                                        <p:tgtEl>
                                          <p:spTgt spid="7"/>
                                        </p:tgtEl>
                                      </p:cBhvr>
                                    </p:animEffect>
                                  </p:childTnLst>
                                </p:cTn>
                              </p:par>
                              <p:par>
                                <p:cTn id="33" presetID="6" presetClass="entr" presetSubtype="16"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circle(in)">
                                      <p:cBhvr>
                                        <p:cTn id="35" dur="20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circle(in)">
                                      <p:cBhvr>
                                        <p:cTn id="45" dur="20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circle(in)">
                                      <p:cBhvr>
                                        <p:cTn id="50" dur="20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circle(in)">
                                      <p:cBhvr>
                                        <p:cTn id="5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xmlns="" id="{E10D2E80-E32A-4BC8-A9E8-DF041067C3A1}"/>
              </a:ext>
            </a:extLst>
          </p:cNvPr>
          <p:cNvSpPr/>
          <p:nvPr/>
        </p:nvSpPr>
        <p:spPr>
          <a:xfrm>
            <a:off x="0" y="1209018"/>
            <a:ext cx="1584101" cy="461665"/>
          </a:xfrm>
          <a:prstGeom prst="rect">
            <a:avLst/>
          </a:prstGeom>
        </p:spPr>
        <p:txBody>
          <a:bodyPr wrap="square">
            <a:spAutoFit/>
          </a:bodyPr>
          <a:lstStyle/>
          <a:p>
            <a:pPr marL="0" lvl="1"/>
            <a:r>
              <a:rPr lang="es-ES" sz="2400" b="1" dirty="0">
                <a:solidFill>
                  <a:srgbClr val="FF0000"/>
                </a:solidFill>
              </a:rPr>
              <a:t>Ejemplo 3</a:t>
            </a:r>
            <a:endParaRPr lang="es-MX" sz="2400" b="1" dirty="0">
              <a:solidFill>
                <a:srgbClr val="FF0000"/>
              </a:solidFill>
            </a:endParaRPr>
          </a:p>
        </p:txBody>
      </p:sp>
      <p:sp>
        <p:nvSpPr>
          <p:cNvPr id="3" name="Rectángulo 2">
            <a:extLst>
              <a:ext uri="{FF2B5EF4-FFF2-40B4-BE49-F238E27FC236}">
                <a16:creationId xmlns:a16="http://schemas.microsoft.com/office/drawing/2014/main" xmlns="" id="{0A77D074-E813-4F39-ACA7-48CDBCD5A66E}"/>
              </a:ext>
            </a:extLst>
          </p:cNvPr>
          <p:cNvSpPr/>
          <p:nvPr/>
        </p:nvSpPr>
        <p:spPr>
          <a:xfrm>
            <a:off x="-2" y="1740211"/>
            <a:ext cx="4929811" cy="461665"/>
          </a:xfrm>
          <a:prstGeom prst="rect">
            <a:avLst/>
          </a:prstGeom>
        </p:spPr>
        <p:txBody>
          <a:bodyPr wrap="square">
            <a:spAutoFit/>
          </a:bodyPr>
          <a:lstStyle/>
          <a:p>
            <a:pPr marL="0" lvl="1"/>
            <a:r>
              <a:rPr lang="es-ES" sz="2400" b="1" dirty="0">
                <a:solidFill>
                  <a:prstClr val="black"/>
                </a:solidFill>
              </a:rPr>
              <a:t>Calcule el determinante de la matriz </a:t>
            </a:r>
            <a:endParaRPr lang="es-MX" sz="2400" b="1" dirty="0">
              <a:solidFill>
                <a:srgbClr val="FF0000"/>
              </a:solidFill>
            </a:endParaRP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xmlns="" id="{7EEDE6DD-B94E-4064-AE0B-754DADCD6FCD}"/>
                  </a:ext>
                </a:extLst>
              </p:cNvPr>
              <p:cNvSpPr/>
              <p:nvPr/>
            </p:nvSpPr>
            <p:spPr>
              <a:xfrm>
                <a:off x="4885385" y="1440821"/>
                <a:ext cx="2421230" cy="1112933"/>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r>
                        <a:rPr lang="es-MX" b="1" i="1" smtClean="0">
                          <a:solidFill>
                            <a:srgbClr val="FF0000"/>
                          </a:solidFill>
                          <a:latin typeface="Cambria Math" panose="02040503050406030204" pitchFamily="18" charset="0"/>
                        </a:rPr>
                        <m:t>𝑨</m:t>
                      </m:r>
                      <m:r>
                        <a:rPr lang="es-MX" b="1" i="1" smtClean="0">
                          <a:solidFill>
                            <a:srgbClr val="FF0000"/>
                          </a:solidFill>
                          <a:latin typeface="Cambria Math" panose="02040503050406030204" pitchFamily="18" charset="0"/>
                        </a:rPr>
                        <m:t>=</m:t>
                      </m:r>
                      <m:d>
                        <m:dPr>
                          <m:begChr m:val="|"/>
                          <m:endChr m:val="|"/>
                          <m:ctrlPr>
                            <a:rPr lang="es-MX" b="1" i="1" smtClean="0">
                              <a:solidFill>
                                <a:srgbClr val="FF0000"/>
                              </a:solidFill>
                              <a:latin typeface="Cambria Math" panose="02040503050406030204" pitchFamily="18" charset="0"/>
                            </a:rPr>
                          </m:ctrlPr>
                        </m:dPr>
                        <m:e>
                          <m:m>
                            <m:mPr>
                              <m:mcs>
                                <m:mc>
                                  <m:mcPr>
                                    <m:count m:val="3"/>
                                    <m:mcJc m:val="center"/>
                                  </m:mcPr>
                                </m:mc>
                              </m:mcs>
                              <m:ctrlPr>
                                <a:rPr lang="es-MX" b="1" i="1" smtClean="0">
                                  <a:solidFill>
                                    <a:srgbClr val="FF0000"/>
                                  </a:solidFill>
                                  <a:latin typeface="Cambria Math" panose="02040503050406030204" pitchFamily="18" charset="0"/>
                                </a:rPr>
                              </m:ctrlPr>
                            </m:mPr>
                            <m:mr>
                              <m:e>
                                <m:eqArr>
                                  <m:eqArrPr>
                                    <m:ctrlPr>
                                      <a:rPr lang="es-MX" b="1" i="1" smtClean="0">
                                        <a:solidFill>
                                          <a:srgbClr val="FF0000"/>
                                        </a:solidFill>
                                        <a:latin typeface="Cambria Math" panose="02040503050406030204" pitchFamily="18" charset="0"/>
                                      </a:rPr>
                                    </m:ctrlPr>
                                  </m:eqArrPr>
                                  <m:e>
                                    <m:r>
                                      <a:rPr lang="es-MX" b="1" i="1" smtClean="0">
                                        <a:solidFill>
                                          <a:srgbClr val="FF0000"/>
                                        </a:solidFill>
                                        <a:latin typeface="Cambria Math" panose="02040503050406030204" pitchFamily="18" charset="0"/>
                                      </a:rPr>
                                      <m:t>𝟐</m:t>
                                    </m:r>
                                  </m:e>
                                  <m:e>
                                    <m:r>
                                      <a:rPr lang="es-MX" b="1" i="1" smtClean="0">
                                        <a:solidFill>
                                          <a:srgbClr val="FF0000"/>
                                        </a:solidFill>
                                        <a:latin typeface="Cambria Math" panose="02040503050406030204" pitchFamily="18" charset="0"/>
                                      </a:rPr>
                                      <m:t>𝟏</m:t>
                                    </m:r>
                                  </m:e>
                                  <m:e>
                                    <m:r>
                                      <a:rPr lang="es-MX" b="1" i="1" smtClean="0">
                                        <a:solidFill>
                                          <a:srgbClr val="FF0000"/>
                                        </a:solidFill>
                                        <a:latin typeface="Cambria Math" panose="02040503050406030204" pitchFamily="18" charset="0"/>
                                      </a:rPr>
                                      <m:t>𝟎</m:t>
                                    </m:r>
                                  </m:e>
                                  <m:e>
                                    <m:r>
                                      <a:rPr lang="es-MX" b="1" i="1" smtClean="0">
                                        <a:solidFill>
                                          <a:srgbClr val="FF0000"/>
                                        </a:solidFill>
                                        <a:latin typeface="Cambria Math" panose="02040503050406030204" pitchFamily="18" charset="0"/>
                                      </a:rPr>
                                      <m:t>𝟑</m:t>
                                    </m:r>
                                  </m:e>
                                </m:eqArr>
                              </m:e>
                              <m:e>
                                <m:eqArr>
                                  <m:eqArrPr>
                                    <m:ctrlPr>
                                      <a:rPr lang="es-MX" b="1" i="1" smtClean="0">
                                        <a:solidFill>
                                          <a:srgbClr val="FF0000"/>
                                        </a:solidFill>
                                        <a:latin typeface="Cambria Math" panose="02040503050406030204" pitchFamily="18" charset="0"/>
                                      </a:rPr>
                                    </m:ctrlPr>
                                  </m:eqArrPr>
                                  <m:e>
                                    <m:r>
                                      <a:rPr lang="es-MX" b="1" i="1" smtClean="0">
                                        <a:solidFill>
                                          <a:srgbClr val="FF0000"/>
                                        </a:solidFill>
                                        <a:latin typeface="Cambria Math" panose="02040503050406030204" pitchFamily="18" charset="0"/>
                                      </a:rPr>
                                      <m:t>𝟑</m:t>
                                    </m:r>
                                  </m:e>
                                  <m:e>
                                    <m:r>
                                      <a:rPr lang="es-MX" b="1" i="1" smtClean="0">
                                        <a:solidFill>
                                          <a:srgbClr val="FF0000"/>
                                        </a:solidFill>
                                        <a:latin typeface="Cambria Math" panose="02040503050406030204" pitchFamily="18" charset="0"/>
                                      </a:rPr>
                                      <m:t>𝟎</m:t>
                                    </m:r>
                                  </m:e>
                                  <m:e>
                                    <m:r>
                                      <a:rPr lang="es-MX" b="1" i="1" smtClean="0">
                                        <a:solidFill>
                                          <a:srgbClr val="FF0000"/>
                                        </a:solidFill>
                                        <a:latin typeface="Cambria Math" panose="02040503050406030204" pitchFamily="18" charset="0"/>
                                      </a:rPr>
                                      <m:t>−</m:t>
                                    </m:r>
                                    <m:r>
                                      <a:rPr lang="es-MX" b="1" i="1" smtClean="0">
                                        <a:solidFill>
                                          <a:srgbClr val="FF0000"/>
                                        </a:solidFill>
                                        <a:latin typeface="Cambria Math" panose="02040503050406030204" pitchFamily="18" charset="0"/>
                                      </a:rPr>
                                      <m:t>𝟐</m:t>
                                    </m:r>
                                  </m:e>
                                  <m:e>
                                    <m:r>
                                      <a:rPr lang="es-MX" b="1" i="1" smtClean="0">
                                        <a:solidFill>
                                          <a:srgbClr val="FF0000"/>
                                        </a:solidFill>
                                        <a:latin typeface="Cambria Math" panose="02040503050406030204" pitchFamily="18" charset="0"/>
                                      </a:rPr>
                                      <m:t>𝟎</m:t>
                                    </m:r>
                                  </m:e>
                                </m:eqArr>
                              </m:e>
                              <m:e>
                                <m:m>
                                  <m:mPr>
                                    <m:mcs>
                                      <m:mc>
                                        <m:mcPr>
                                          <m:count m:val="2"/>
                                          <m:mcJc m:val="center"/>
                                        </m:mcPr>
                                      </m:mc>
                                    </m:mcs>
                                    <m:ctrlPr>
                                      <a:rPr lang="es-MX" b="1" i="1" smtClean="0">
                                        <a:solidFill>
                                          <a:srgbClr val="FF0000"/>
                                        </a:solidFill>
                                        <a:latin typeface="Cambria Math" panose="02040503050406030204" pitchFamily="18" charset="0"/>
                                      </a:rPr>
                                    </m:ctrlPr>
                                  </m:mPr>
                                  <m:mr>
                                    <m:e>
                                      <m:eqArr>
                                        <m:eqArrPr>
                                          <m:ctrlPr>
                                            <a:rPr lang="es-MX" b="1" i="1" smtClean="0">
                                              <a:solidFill>
                                                <a:srgbClr val="FF0000"/>
                                              </a:solidFill>
                                              <a:latin typeface="Cambria Math" panose="02040503050406030204" pitchFamily="18" charset="0"/>
                                            </a:rPr>
                                          </m:ctrlPr>
                                        </m:eqArrPr>
                                        <m:e>
                                          <m:r>
                                            <a:rPr lang="es-MX" b="1" i="1" smtClean="0">
                                              <a:solidFill>
                                                <a:srgbClr val="FF0000"/>
                                              </a:solidFill>
                                              <a:latin typeface="Cambria Math" panose="02040503050406030204" pitchFamily="18" charset="0"/>
                                            </a:rPr>
                                            <m:t>𝟒</m:t>
                                          </m:r>
                                        </m:e>
                                        <m:e>
                                          <m:r>
                                            <a:rPr lang="es-MX" b="1" i="1" smtClean="0">
                                              <a:solidFill>
                                                <a:srgbClr val="FF0000"/>
                                              </a:solidFill>
                                              <a:latin typeface="Cambria Math" panose="02040503050406030204" pitchFamily="18" charset="0"/>
                                            </a:rPr>
                                            <m:t>−</m:t>
                                          </m:r>
                                          <m:r>
                                            <a:rPr lang="es-MX" b="1" i="1" smtClean="0">
                                              <a:solidFill>
                                                <a:srgbClr val="FF0000"/>
                                              </a:solidFill>
                                              <a:latin typeface="Cambria Math" panose="02040503050406030204" pitchFamily="18" charset="0"/>
                                            </a:rPr>
                                            <m:t>𝟏</m:t>
                                          </m:r>
                                        </m:e>
                                        <m:e>
                                          <m:r>
                                            <a:rPr lang="es-MX" b="1" i="1" smtClean="0">
                                              <a:solidFill>
                                                <a:srgbClr val="FF0000"/>
                                              </a:solidFill>
                                              <a:latin typeface="Cambria Math" panose="02040503050406030204" pitchFamily="18" charset="0"/>
                                            </a:rPr>
                                            <m:t>𝟏</m:t>
                                          </m:r>
                                        </m:e>
                                        <m:e>
                                          <m:r>
                                            <a:rPr lang="es-MX" b="1" i="1" smtClean="0">
                                              <a:solidFill>
                                                <a:srgbClr val="FF0000"/>
                                              </a:solidFill>
                                              <a:latin typeface="Cambria Math" panose="02040503050406030204" pitchFamily="18" charset="0"/>
                                            </a:rPr>
                                            <m:t>𝟐</m:t>
                                          </m:r>
                                        </m:e>
                                      </m:eqArr>
                                    </m:e>
                                    <m:e>
                                      <m:eqArr>
                                        <m:eqArrPr>
                                          <m:ctrlPr>
                                            <a:rPr lang="es-MX" b="1" i="1" smtClean="0">
                                              <a:solidFill>
                                                <a:srgbClr val="FF0000"/>
                                              </a:solidFill>
                                              <a:latin typeface="Cambria Math" panose="02040503050406030204" pitchFamily="18" charset="0"/>
                                            </a:rPr>
                                          </m:ctrlPr>
                                        </m:eqArrPr>
                                        <m:e>
                                          <m:r>
                                            <a:rPr lang="es-MX" b="1" i="1" smtClean="0">
                                              <a:solidFill>
                                                <a:srgbClr val="FF0000"/>
                                              </a:solidFill>
                                              <a:latin typeface="Cambria Math" panose="02040503050406030204" pitchFamily="18" charset="0"/>
                                            </a:rPr>
                                            <m:t>𝟓</m:t>
                                          </m:r>
                                        </m:e>
                                        <m:e>
                                          <m:r>
                                            <a:rPr lang="es-MX" b="1" i="1" smtClean="0">
                                              <a:solidFill>
                                                <a:srgbClr val="FF0000"/>
                                              </a:solidFill>
                                              <a:latin typeface="Cambria Math" panose="02040503050406030204" pitchFamily="18" charset="0"/>
                                            </a:rPr>
                                            <m:t>𝟐</m:t>
                                          </m:r>
                                        </m:e>
                                        <m:e>
                                          <m:r>
                                            <a:rPr lang="es-MX" b="1" i="1" smtClean="0">
                                              <a:solidFill>
                                                <a:srgbClr val="FF0000"/>
                                              </a:solidFill>
                                              <a:latin typeface="Cambria Math" panose="02040503050406030204" pitchFamily="18" charset="0"/>
                                            </a:rPr>
                                            <m:t>𝟎</m:t>
                                          </m:r>
                                        </m:e>
                                        <m:e>
                                          <m:r>
                                            <a:rPr lang="es-MX" b="1" i="1" smtClean="0">
                                              <a:solidFill>
                                                <a:srgbClr val="FF0000"/>
                                              </a:solidFill>
                                              <a:latin typeface="Cambria Math" panose="02040503050406030204" pitchFamily="18" charset="0"/>
                                            </a:rPr>
                                            <m:t>𝟏</m:t>
                                          </m:r>
                                        </m:e>
                                      </m:eqArr>
                                    </m:e>
                                  </m:mr>
                                </m:m>
                              </m:e>
                            </m:mr>
                          </m:m>
                        </m:e>
                      </m:d>
                    </m:oMath>
                  </m:oMathPara>
                </a14:m>
                <a:endParaRPr lang="es-MX" b="1" dirty="0">
                  <a:solidFill>
                    <a:srgbClr val="FF0000"/>
                  </a:solidFill>
                </a:endParaRPr>
              </a:p>
            </p:txBody>
          </p:sp>
        </mc:Choice>
        <mc:Fallback xmlns="">
          <p:sp>
            <p:nvSpPr>
              <p:cNvPr id="4" name="Rectángulo 3">
                <a:extLst>
                  <a:ext uri="{FF2B5EF4-FFF2-40B4-BE49-F238E27FC236}">
                    <a16:creationId xmlns="" xmlns:a16="http://schemas.microsoft.com/office/drawing/2014/main" xmlns:a14="http://schemas.microsoft.com/office/drawing/2010/main" id="{7EEDE6DD-B94E-4064-AE0B-754DADCD6FCD}"/>
                  </a:ext>
                </a:extLst>
              </p:cNvPr>
              <p:cNvSpPr>
                <a:spLocks noRot="1" noChangeAspect="1" noMove="1" noResize="1" noEditPoints="1" noAdjustHandles="1" noChangeArrowheads="1" noChangeShapeType="1" noTextEdit="1"/>
              </p:cNvSpPr>
              <p:nvPr/>
            </p:nvSpPr>
            <p:spPr>
              <a:xfrm>
                <a:off x="4885385" y="1440821"/>
                <a:ext cx="2421230" cy="1112933"/>
              </a:xfrm>
              <a:prstGeom prst="rect">
                <a:avLst/>
              </a:prstGeom>
              <a:blipFill rotWithShape="0">
                <a:blip r:embed="rId2"/>
                <a:stretch>
                  <a:fillRect/>
                </a:stretch>
              </a:blipFill>
            </p:spPr>
            <p:txBody>
              <a:bodyPr/>
              <a:lstStyle/>
              <a:p>
                <a:r>
                  <a:rPr lang="es-MX">
                    <a:noFill/>
                  </a:rPr>
                  <a:t> </a:t>
                </a:r>
              </a:p>
            </p:txBody>
          </p:sp>
        </mc:Fallback>
      </mc:AlternateContent>
      <p:sp>
        <p:nvSpPr>
          <p:cNvPr id="5" name="Rectángulo 4">
            <a:extLst>
              <a:ext uri="{FF2B5EF4-FFF2-40B4-BE49-F238E27FC236}">
                <a16:creationId xmlns:a16="http://schemas.microsoft.com/office/drawing/2014/main" xmlns="" id="{8FD9F494-380B-4040-8EB7-A2C89D182062}"/>
              </a:ext>
            </a:extLst>
          </p:cNvPr>
          <p:cNvSpPr/>
          <p:nvPr/>
        </p:nvSpPr>
        <p:spPr>
          <a:xfrm>
            <a:off x="0" y="2385147"/>
            <a:ext cx="1300767" cy="461665"/>
          </a:xfrm>
          <a:prstGeom prst="rect">
            <a:avLst/>
          </a:prstGeom>
        </p:spPr>
        <p:txBody>
          <a:bodyPr wrap="square">
            <a:spAutoFit/>
          </a:bodyPr>
          <a:lstStyle/>
          <a:p>
            <a:pPr marL="0" lvl="1"/>
            <a:r>
              <a:rPr lang="es-ES" sz="2400" b="1" dirty="0">
                <a:solidFill>
                  <a:srgbClr val="FF0000"/>
                </a:solidFill>
              </a:rPr>
              <a:t>Solución</a:t>
            </a:r>
            <a:endParaRPr lang="es-MX" sz="2400" b="1" dirty="0">
              <a:solidFill>
                <a:srgbClr val="FF0000"/>
              </a:solidFill>
            </a:endParaRPr>
          </a:p>
        </p:txBody>
      </p:sp>
      <p:sp>
        <p:nvSpPr>
          <p:cNvPr id="6" name="Rectángulo 5">
            <a:extLst>
              <a:ext uri="{FF2B5EF4-FFF2-40B4-BE49-F238E27FC236}">
                <a16:creationId xmlns:a16="http://schemas.microsoft.com/office/drawing/2014/main" xmlns="" id="{700BE58A-34A9-445D-B6FB-812E96B55133}"/>
              </a:ext>
            </a:extLst>
          </p:cNvPr>
          <p:cNvSpPr/>
          <p:nvPr/>
        </p:nvSpPr>
        <p:spPr>
          <a:xfrm>
            <a:off x="-2" y="3052115"/>
            <a:ext cx="12190818" cy="830997"/>
          </a:xfrm>
          <a:prstGeom prst="rect">
            <a:avLst/>
          </a:prstGeom>
        </p:spPr>
        <p:txBody>
          <a:bodyPr wrap="square">
            <a:spAutoFit/>
          </a:bodyPr>
          <a:lstStyle/>
          <a:p>
            <a:pPr marL="0" lvl="1" algn="just"/>
            <a:r>
              <a:rPr lang="es-ES" sz="2400" b="1" dirty="0">
                <a:solidFill>
                  <a:schemeClr val="accent3">
                    <a:lumMod val="50000"/>
                  </a:schemeClr>
                </a:solidFill>
              </a:rPr>
              <a:t>Seleccionar la fila o columna que tenga el mayor número de ceros. En este caso, seleccionamos la tercera fila.</a:t>
            </a:r>
            <a:endParaRPr lang="es-MX" sz="2400" b="1" dirty="0">
              <a:solidFill>
                <a:schemeClr val="accent3">
                  <a:lumMod val="50000"/>
                </a:schemeClr>
              </a:solidFill>
            </a:endParaRPr>
          </a:p>
        </p:txBody>
      </p:sp>
      <mc:AlternateContent xmlns:mc="http://schemas.openxmlformats.org/markup-compatibility/2006" xmlns:a14="http://schemas.microsoft.com/office/drawing/2010/main">
        <mc:Choice Requires="a14">
          <p:sp>
            <p:nvSpPr>
              <p:cNvPr id="7" name="Rectángulo 6">
                <a:extLst>
                  <a:ext uri="{FF2B5EF4-FFF2-40B4-BE49-F238E27FC236}">
                    <a16:creationId xmlns:a16="http://schemas.microsoft.com/office/drawing/2014/main" xmlns="" id="{9C6923F6-2BFF-4A89-B2F0-9495A2E6EEFF}"/>
                  </a:ext>
                </a:extLst>
              </p:cNvPr>
              <p:cNvSpPr/>
              <p:nvPr/>
            </p:nvSpPr>
            <p:spPr>
              <a:xfrm>
                <a:off x="2" y="4027577"/>
                <a:ext cx="7306022" cy="1820050"/>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e>
                      </m:d>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𝟓</m:t>
                          </m:r>
                        </m:sup>
                      </m:sSup>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3"/>
                                    <m:mcJc m:val="center"/>
                                  </m:mcPr>
                                </m:mc>
                              </m:mcs>
                              <m:ctrlPr>
                                <a:rPr lang="es-MX" sz="2400" b="1" i="1" smtClean="0">
                                  <a:solidFill>
                                    <a:schemeClr val="accent3">
                                      <a:lumMod val="50000"/>
                                    </a:schemeClr>
                                  </a:solidFill>
                                  <a:latin typeface="Cambria Math" panose="02040503050406030204" pitchFamily="18" charset="0"/>
                                </a:rPr>
                              </m:ctrlPr>
                            </m:mPr>
                            <m:mr>
                              <m:e>
                                <m:eqArr>
                                  <m:eqArrPr>
                                    <m:ctrlPr>
                                      <a:rPr lang="es-MX" sz="2400" b="1" i="1" smtClean="0">
                                        <a:solidFill>
                                          <a:schemeClr val="accent3">
                                            <a:lumMod val="50000"/>
                                          </a:schemeClr>
                                        </a:solidFill>
                                        <a:latin typeface="Cambria Math" panose="02040503050406030204" pitchFamily="18" charset="0"/>
                                      </a:rPr>
                                    </m:ctrlPr>
                                  </m:eqArrPr>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𝟑</m:t>
                                    </m:r>
                                  </m:e>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eqArr>
                              </m:e>
                              <m:e>
                                <m:eqArr>
                                  <m:eqArrPr>
                                    <m:ctrlPr>
                                      <a:rPr lang="es-MX" sz="2400" b="1" i="1" smtClean="0">
                                        <a:solidFill>
                                          <a:schemeClr val="accent3">
                                            <a:lumMod val="50000"/>
                                          </a:schemeClr>
                                        </a:solidFill>
                                        <a:latin typeface="Cambria Math" panose="02040503050406030204" pitchFamily="18" charset="0"/>
                                      </a:rPr>
                                    </m:ctrlPr>
                                  </m:eqArrPr>
                                  <m:e>
                                    <m:r>
                                      <a:rPr lang="es-MX" sz="2400" b="1" i="1" smtClean="0">
                                        <a:solidFill>
                                          <a:schemeClr val="accent3">
                                            <a:lumMod val="50000"/>
                                          </a:schemeClr>
                                        </a:solidFill>
                                        <a:latin typeface="Cambria Math" panose="02040503050406030204" pitchFamily="18" charset="0"/>
                                      </a:rPr>
                                      <m:t>𝟒</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𝟒</m:t>
                                    </m:r>
                                  </m:e>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eqArr>
                              </m:e>
                              <m:e>
                                <m:eqArr>
                                  <m:eqArrPr>
                                    <m:ctrlPr>
                                      <a:rPr lang="es-MX" sz="2400" b="1" i="1" smtClean="0">
                                        <a:solidFill>
                                          <a:schemeClr val="accent3">
                                            <a:lumMod val="50000"/>
                                          </a:schemeClr>
                                        </a:solidFill>
                                        <a:latin typeface="Cambria Math" panose="02040503050406030204" pitchFamily="18" charset="0"/>
                                      </a:rPr>
                                    </m:ctrlPr>
                                  </m:eqArrPr>
                                  <m:e>
                                    <m:r>
                                      <a:rPr lang="es-MX" sz="2400" b="1" i="1" smtClean="0">
                                        <a:solidFill>
                                          <a:schemeClr val="accent3">
                                            <a:lumMod val="50000"/>
                                          </a:schemeClr>
                                        </a:solidFill>
                                        <a:latin typeface="Cambria Math" panose="02040503050406030204" pitchFamily="18" charset="0"/>
                                      </a:rPr>
                                      <m:t>𝟓</m:t>
                                    </m:r>
                                  </m:e>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𝟓</m:t>
                                    </m:r>
                                  </m:e>
                                  <m:e>
                                    <m:r>
                                      <a:rPr lang="es-MX" sz="2400" b="1" i="1" smtClean="0">
                                        <a:solidFill>
                                          <a:schemeClr val="accent3">
                                            <a:lumMod val="50000"/>
                                          </a:schemeClr>
                                        </a:solidFill>
                                        <a:latin typeface="Cambria Math" panose="02040503050406030204" pitchFamily="18" charset="0"/>
                                      </a:rPr>
                                      <m:t>𝟐</m:t>
                                    </m:r>
                                  </m:e>
                                </m:eqArr>
                              </m:e>
                            </m:mr>
                          </m:m>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sSup>
                        <m:sSupPr>
                          <m:ctrlPr>
                            <a:rPr lang="es-MX" sz="2400" b="1" i="1" smtClean="0">
                              <a:solidFill>
                                <a:schemeClr val="accent3">
                                  <a:lumMod val="50000"/>
                                </a:schemeClr>
                              </a:solidFill>
                              <a:latin typeface="Cambria Math" panose="02040503050406030204" pitchFamily="18" charset="0"/>
                            </a:rPr>
                          </m:ctrlPr>
                        </m:sSup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e>
                          </m:d>
                        </m:e>
                        <m:sup>
                          <m:r>
                            <a:rPr lang="es-MX" sz="2400" b="1" i="1" smtClean="0">
                              <a:solidFill>
                                <a:schemeClr val="accent3">
                                  <a:lumMod val="50000"/>
                                </a:schemeClr>
                              </a:solidFill>
                              <a:latin typeface="Cambria Math" panose="02040503050406030204" pitchFamily="18" charset="0"/>
                            </a:rPr>
                            <m:t>𝟔</m:t>
                          </m:r>
                        </m:sup>
                      </m:sSup>
                      <m:d>
                        <m:dPr>
                          <m:begChr m:val="|"/>
                          <m:endChr m:val="|"/>
                          <m:ctrlPr>
                            <a:rPr lang="es-MX" sz="2400" b="1" i="1">
                              <a:solidFill>
                                <a:schemeClr val="accent3">
                                  <a:lumMod val="50000"/>
                                </a:schemeClr>
                              </a:solidFill>
                              <a:latin typeface="Cambria Math" panose="02040503050406030204" pitchFamily="18" charset="0"/>
                            </a:rPr>
                          </m:ctrlPr>
                        </m:dPr>
                        <m:e>
                          <m:m>
                            <m:mPr>
                              <m:mcs>
                                <m:mc>
                                  <m:mcPr>
                                    <m:count m:val="3"/>
                                    <m:mcJc m:val="center"/>
                                  </m:mcPr>
                                </m:mc>
                              </m:mcs>
                              <m:ctrlPr>
                                <a:rPr lang="es-MX" sz="2400" b="1" i="1">
                                  <a:solidFill>
                                    <a:schemeClr val="accent3">
                                      <a:lumMod val="50000"/>
                                    </a:schemeClr>
                                  </a:solidFill>
                                  <a:latin typeface="Cambria Math" panose="02040503050406030204" pitchFamily="18" charset="0"/>
                                </a:rPr>
                              </m:ctrlPr>
                            </m:mPr>
                            <m:mr>
                              <m:e>
                                <m:eqArr>
                                  <m:eqArrPr>
                                    <m:ctrlPr>
                                      <a:rPr lang="es-MX" sz="2400" b="1" i="1">
                                        <a:solidFill>
                                          <a:schemeClr val="accent3">
                                            <a:lumMod val="50000"/>
                                          </a:schemeClr>
                                        </a:solidFill>
                                        <a:latin typeface="Cambria Math" panose="02040503050406030204" pitchFamily="18" charset="0"/>
                                      </a:rPr>
                                    </m:ctrlPr>
                                  </m:eqArrPr>
                                  <m:e>
                                    <m:r>
                                      <a:rPr lang="es-MX" sz="2400" b="1" i="1">
                                        <a:solidFill>
                                          <a:schemeClr val="accent3">
                                            <a:lumMod val="50000"/>
                                          </a:schemeClr>
                                        </a:solidFill>
                                        <a:latin typeface="Cambria Math" panose="02040503050406030204" pitchFamily="18" charset="0"/>
                                      </a:rPr>
                                      <m:t>𝟐</m:t>
                                    </m:r>
                                  </m:e>
                                  <m:e>
                                    <m: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𝟑</m:t>
                                    </m:r>
                                  </m:e>
                                  <m:e>
                                    <m:r>
                                      <a:rPr lang="es-MX" sz="2400" b="1" i="1">
                                        <a:solidFill>
                                          <a:schemeClr val="accent3">
                                            <a:lumMod val="50000"/>
                                          </a:schemeClr>
                                        </a:solidFill>
                                        <a:latin typeface="Cambria Math" panose="02040503050406030204" pitchFamily="18" charset="0"/>
                                      </a:rPr>
                                      <m:t>𝟐</m:t>
                                    </m:r>
                                  </m:e>
                                  <m:e>
                                    <m:r>
                                      <a:rPr lang="es-MX" sz="2400" b="1" i="1">
                                        <a:solidFill>
                                          <a:schemeClr val="accent3">
                                            <a:lumMod val="50000"/>
                                          </a:schemeClr>
                                        </a:solidFill>
                                        <a:latin typeface="Cambria Math" panose="02040503050406030204" pitchFamily="18" charset="0"/>
                                      </a:rPr>
                                      <m:t>𝟏</m:t>
                                    </m:r>
                                  </m:e>
                                </m:eqArr>
                              </m:e>
                              <m:e>
                                <m:eqArr>
                                  <m:eqArrPr>
                                    <m:ctrlPr>
                                      <a:rPr lang="es-MX" sz="2400" b="1" i="1">
                                        <a:solidFill>
                                          <a:schemeClr val="accent3">
                                            <a:lumMod val="50000"/>
                                          </a:schemeClr>
                                        </a:solidFill>
                                        <a:latin typeface="Cambria Math" panose="02040503050406030204" pitchFamily="18" charset="0"/>
                                      </a:rPr>
                                    </m:ctrlPr>
                                  </m:eqArrPr>
                                  <m:e>
                                    <m:r>
                                      <a:rPr lang="es-MX" sz="2400" b="1" i="1" smtClean="0">
                                        <a:solidFill>
                                          <a:schemeClr val="accent3">
                                            <a:lumMod val="50000"/>
                                          </a:schemeClr>
                                        </a:solidFill>
                                        <a:latin typeface="Cambria Math" panose="02040503050406030204" pitchFamily="18" charset="0"/>
                                      </a:rPr>
                                      <m:t>𝟑</m:t>
                                    </m:r>
                                  </m:e>
                                  <m:e>
                                    <m:r>
                                      <a:rPr lang="es-MX" sz="2400" b="1" i="1" smtClean="0">
                                        <a:solidFill>
                                          <a:schemeClr val="accent3">
                                            <a:lumMod val="50000"/>
                                          </a:schemeClr>
                                        </a:solidFill>
                                        <a:latin typeface="Cambria Math" panose="02040503050406030204" pitchFamily="18" charset="0"/>
                                      </a:rPr>
                                      <m:t>𝟎</m:t>
                                    </m:r>
                                  </m:e>
                                  <m:e>
                                    <m:r>
                                      <a:rPr lang="es-MX" sz="2400" b="1" i="1" smtClean="0">
                                        <a:solidFill>
                                          <a:schemeClr val="accent3">
                                            <a:lumMod val="50000"/>
                                          </a:schemeClr>
                                        </a:solidFill>
                                        <a:latin typeface="Cambria Math" panose="02040503050406030204" pitchFamily="18" charset="0"/>
                                      </a:rPr>
                                      <m:t>𝟎</m:t>
                                    </m:r>
                                  </m:e>
                                  <m:e>
                                    <m:r>
                                      <a:rPr lang="es-MX" sz="2400" b="1" i="1" smtClean="0">
                                        <a:solidFill>
                                          <a:schemeClr val="accent3">
                                            <a:lumMod val="50000"/>
                                          </a:schemeClr>
                                        </a:solidFill>
                                        <a:latin typeface="Cambria Math" panose="02040503050406030204" pitchFamily="18" charset="0"/>
                                      </a:rPr>
                                      <m:t>𝟑</m:t>
                                    </m:r>
                                  </m:e>
                                  <m:e>
                                    <m:r>
                                      <a:rPr lang="es-MX" sz="2400" b="1" i="1" smtClean="0">
                                        <a:solidFill>
                                          <a:schemeClr val="accent3">
                                            <a:lumMod val="50000"/>
                                          </a:schemeClr>
                                        </a:solidFill>
                                        <a:latin typeface="Cambria Math" panose="02040503050406030204" pitchFamily="18" charset="0"/>
                                      </a:rPr>
                                      <m:t>𝟎</m:t>
                                    </m:r>
                                  </m:e>
                                </m:eqArr>
                              </m:e>
                              <m:e>
                                <m:eqArr>
                                  <m:eqArrPr>
                                    <m:ctrlPr>
                                      <a:rPr lang="es-MX" sz="2400" b="1" i="1">
                                        <a:solidFill>
                                          <a:schemeClr val="accent3">
                                            <a:lumMod val="50000"/>
                                          </a:schemeClr>
                                        </a:solidFill>
                                        <a:latin typeface="Cambria Math" panose="02040503050406030204" pitchFamily="18" charset="0"/>
                                      </a:rPr>
                                    </m:ctrlPr>
                                  </m:eqArrPr>
                                  <m:e>
                                    <m:r>
                                      <a:rPr lang="es-MX" sz="2400" b="1" i="1">
                                        <a:solidFill>
                                          <a:schemeClr val="accent3">
                                            <a:lumMod val="50000"/>
                                          </a:schemeClr>
                                        </a:solidFill>
                                        <a:latin typeface="Cambria Math" panose="02040503050406030204" pitchFamily="18" charset="0"/>
                                      </a:rPr>
                                      <m:t>𝟓</m:t>
                                    </m:r>
                                  </m:e>
                                  <m:e>
                                    <m:r>
                                      <a:rPr lang="es-MX" sz="2400" b="1" i="1">
                                        <a:solidFill>
                                          <a:schemeClr val="accent3">
                                            <a:lumMod val="50000"/>
                                          </a:schemeClr>
                                        </a:solidFill>
                                        <a:latin typeface="Cambria Math" panose="02040503050406030204" pitchFamily="18" charset="0"/>
                                      </a:rPr>
                                      <m:t>𝟐</m:t>
                                    </m:r>
                                  </m:e>
                                  <m:e>
                                    <m:r>
                                      <a:rPr lang="es-MX" sz="2400" b="1" i="1">
                                        <a:solidFill>
                                          <a:schemeClr val="accent3">
                                            <a:lumMod val="50000"/>
                                          </a:schemeClr>
                                        </a:solidFill>
                                        <a:latin typeface="Cambria Math" panose="02040503050406030204" pitchFamily="18" charset="0"/>
                                      </a:rPr>
                                      <m:t>𝟏</m:t>
                                    </m:r>
                                  </m:e>
                                  <m:e>
                                    <m:r>
                                      <a:rPr lang="es-MX" sz="2400" b="1" i="1">
                                        <a:solidFill>
                                          <a:schemeClr val="accent3">
                                            <a:lumMod val="50000"/>
                                          </a:schemeClr>
                                        </a:solidFill>
                                        <a:latin typeface="Cambria Math" panose="02040503050406030204" pitchFamily="18" charset="0"/>
                                      </a:rPr>
                                      <m:t>𝟓</m:t>
                                    </m:r>
                                  </m:e>
                                  <m:e>
                                    <m:r>
                                      <a:rPr lang="es-MX" sz="2400" b="1" i="1">
                                        <a:solidFill>
                                          <a:schemeClr val="accent3">
                                            <a:lumMod val="50000"/>
                                          </a:schemeClr>
                                        </a:solidFill>
                                        <a:latin typeface="Cambria Math" panose="02040503050406030204" pitchFamily="18" charset="0"/>
                                      </a:rPr>
                                      <m:t>𝟐</m:t>
                                    </m:r>
                                  </m:e>
                                </m:eqArr>
                              </m:e>
                            </m:mr>
                          </m:m>
                        </m:e>
                      </m:d>
                    </m:oMath>
                  </m:oMathPara>
                </a14:m>
                <a:endParaRPr lang="es-MX" sz="2400" b="1" dirty="0">
                  <a:solidFill>
                    <a:schemeClr val="accent3">
                      <a:lumMod val="50000"/>
                    </a:schemeClr>
                  </a:solidFill>
                </a:endParaRPr>
              </a:p>
            </p:txBody>
          </p:sp>
        </mc:Choice>
        <mc:Fallback xmlns="">
          <p:sp>
            <p:nvSpPr>
              <p:cNvPr id="7" name="Rectángulo 6">
                <a:extLst>
                  <a:ext uri="{FF2B5EF4-FFF2-40B4-BE49-F238E27FC236}">
                    <a16:creationId xmlns="" xmlns:a16="http://schemas.microsoft.com/office/drawing/2014/main" xmlns:a14="http://schemas.microsoft.com/office/drawing/2010/main" id="{9C6923F6-2BFF-4A89-B2F0-9495A2E6EEFF}"/>
                  </a:ext>
                </a:extLst>
              </p:cNvPr>
              <p:cNvSpPr>
                <a:spLocks noRot="1" noChangeAspect="1" noMove="1" noResize="1" noEditPoints="1" noAdjustHandles="1" noChangeArrowheads="1" noChangeShapeType="1" noTextEdit="1"/>
              </p:cNvSpPr>
              <p:nvPr/>
            </p:nvSpPr>
            <p:spPr>
              <a:xfrm>
                <a:off x="2" y="4027577"/>
                <a:ext cx="7306022" cy="1820050"/>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xmlns="" id="{4038EF61-8AE7-4A15-9877-F44EACF055AA}"/>
                  </a:ext>
                </a:extLst>
              </p:cNvPr>
              <p:cNvSpPr/>
              <p:nvPr/>
            </p:nvSpPr>
            <p:spPr>
              <a:xfrm>
                <a:off x="2" y="5992767"/>
                <a:ext cx="10212946"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d>
                        <m:dPr>
                          <m:begChr m:val="["/>
                          <m:endChr m:val="]"/>
                          <m:ctrlPr>
                            <a:rPr lang="es-MX" sz="2400" b="1" i="1" smtClean="0">
                              <a:solidFill>
                                <a:schemeClr val="accent3">
                                  <a:lumMod val="50000"/>
                                </a:schemeClr>
                              </a:solidFill>
                              <a:latin typeface="Cambria Math" panose="02040503050406030204" pitchFamily="18" charset="0"/>
                            </a:rPr>
                          </m:ctrlPr>
                        </m:d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𝟐𝟒</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𝟏𝟓</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𝟖</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𝟒</m:t>
                          </m:r>
                          <m:r>
                            <a:rPr lang="es-MX" sz="2400" b="1" i="1" smtClean="0">
                              <a:solidFill>
                                <a:schemeClr val="accent3">
                                  <a:lumMod val="50000"/>
                                </a:schemeClr>
                              </a:solidFill>
                              <a:latin typeface="Cambria Math" panose="02040503050406030204" pitchFamily="18" charset="0"/>
                            </a:rPr>
                            <m:t>)</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m:t>
                      </m:r>
                      <m:d>
                        <m:dPr>
                          <m:begChr m:val="["/>
                          <m:endChr m:val="]"/>
                          <m:ctrlPr>
                            <a:rPr lang="es-MX" sz="2400" b="1" i="1" smtClean="0">
                              <a:solidFill>
                                <a:schemeClr val="accent3">
                                  <a:lumMod val="50000"/>
                                </a:schemeClr>
                              </a:solidFill>
                              <a:latin typeface="Cambria Math" panose="02040503050406030204" pitchFamily="18" charset="0"/>
                            </a:rPr>
                          </m:ctrlPr>
                        </m:dPr>
                        <m:e>
                          <m:d>
                            <m:dPr>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𝟏𝟖</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𝟎</m:t>
                          </m:r>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𝟑</m:t>
                          </m:r>
                          <m:r>
                            <a:rPr lang="es-MX" sz="2400" b="1" i="1" smtClean="0">
                              <a:solidFill>
                                <a:schemeClr val="accent3">
                                  <a:lumMod val="50000"/>
                                </a:schemeClr>
                              </a:solidFill>
                              <a:latin typeface="Cambria Math" panose="02040503050406030204" pitchFamily="18" charset="0"/>
                            </a:rPr>
                            <m:t>)</m:t>
                          </m:r>
                        </m:e>
                      </m:d>
                    </m:oMath>
                  </m:oMathPara>
                </a14:m>
                <a:endParaRPr lang="es-MX" sz="2400" b="1" dirty="0">
                  <a:solidFill>
                    <a:schemeClr val="accent3">
                      <a:lumMod val="50000"/>
                    </a:schemeClr>
                  </a:solidFill>
                </a:endParaRPr>
              </a:p>
            </p:txBody>
          </p:sp>
        </mc:Choice>
        <mc:Fallback xmlns="">
          <p:sp>
            <p:nvSpPr>
              <p:cNvPr id="8" name="Rectángulo 7">
                <a:extLst>
                  <a:ext uri="{FF2B5EF4-FFF2-40B4-BE49-F238E27FC236}">
                    <a16:creationId xmlns="" xmlns:a16="http://schemas.microsoft.com/office/drawing/2014/main" xmlns:a14="http://schemas.microsoft.com/office/drawing/2010/main" id="{4038EF61-8AE7-4A15-9877-F44EACF055AA}"/>
                  </a:ext>
                </a:extLst>
              </p:cNvPr>
              <p:cNvSpPr>
                <a:spLocks noRot="1" noChangeAspect="1" noMove="1" noResize="1" noEditPoints="1" noAdjustHandles="1" noChangeArrowheads="1" noChangeShapeType="1" noTextEdit="1"/>
              </p:cNvSpPr>
              <p:nvPr/>
            </p:nvSpPr>
            <p:spPr>
              <a:xfrm>
                <a:off x="2" y="5992767"/>
                <a:ext cx="10212946" cy="461665"/>
              </a:xfrm>
              <a:prstGeom prst="rect">
                <a:avLst/>
              </a:prstGeom>
              <a:blipFill rotWithShape="0">
                <a:blip r:embed="rId4"/>
                <a:stretch>
                  <a:fillRect b="-1973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a:extLst>
                  <a:ext uri="{FF2B5EF4-FFF2-40B4-BE49-F238E27FC236}">
                    <a16:creationId xmlns:a16="http://schemas.microsoft.com/office/drawing/2014/main" xmlns="" id="{7B7B7D3E-54D0-499F-8056-6519D7C99BD4}"/>
                  </a:ext>
                </a:extLst>
              </p:cNvPr>
              <p:cNvSpPr/>
              <p:nvPr/>
            </p:nvSpPr>
            <p:spPr>
              <a:xfrm>
                <a:off x="10212948" y="5992766"/>
                <a:ext cx="1452683" cy="461665"/>
              </a:xfrm>
              <a:prstGeom prst="rect">
                <a:avLst/>
              </a:prstGeom>
            </p:spPr>
            <p:txBody>
              <a:bodyPr wrap="square">
                <a:spAutoFit/>
              </a:bodyPr>
              <a:lstStyle/>
              <a:p>
                <a:pPr marL="0" lvl="1"/>
                <a14:m>
                  <m:oMathPara xmlns:m="http://schemas.openxmlformats.org/officeDocument/2006/math">
                    <m:oMathParaPr>
                      <m:jc m:val="left"/>
                    </m:oMathParaPr>
                    <m:oMath xmlns:m="http://schemas.openxmlformats.org/officeDocument/2006/math">
                      <m:d>
                        <m:dPr>
                          <m:begChr m:val="|"/>
                          <m:endChr m:val="|"/>
                          <m:ctrlPr>
                            <a:rPr lang="es-MX" sz="2400" b="1" i="1" smtClean="0">
                              <a:solidFill>
                                <a:schemeClr val="accent3">
                                  <a:lumMod val="50000"/>
                                </a:schemeClr>
                              </a:solidFill>
                              <a:latin typeface="Cambria Math" panose="02040503050406030204" pitchFamily="18" charset="0"/>
                            </a:rPr>
                          </m:ctrlPr>
                        </m:dPr>
                        <m:e>
                          <m:r>
                            <a:rPr lang="es-MX" sz="2400" b="1" i="1" smtClean="0">
                              <a:solidFill>
                                <a:schemeClr val="accent3">
                                  <a:lumMod val="50000"/>
                                </a:schemeClr>
                              </a:solidFill>
                              <a:latin typeface="Cambria Math" panose="02040503050406030204" pitchFamily="18" charset="0"/>
                            </a:rPr>
                            <m:t>𝑨</m:t>
                          </m:r>
                        </m:e>
                      </m:d>
                      <m:r>
                        <a:rPr lang="es-MX" sz="2400" b="1" i="1" smtClean="0">
                          <a:solidFill>
                            <a:schemeClr val="accent3">
                              <a:lumMod val="50000"/>
                            </a:schemeClr>
                          </a:solidFill>
                          <a:latin typeface="Cambria Math" panose="02040503050406030204" pitchFamily="18" charset="0"/>
                        </a:rPr>
                        <m:t>=</m:t>
                      </m:r>
                      <m:r>
                        <a:rPr lang="es-MX" sz="2400" b="1" i="1" smtClean="0">
                          <a:solidFill>
                            <a:schemeClr val="accent3">
                              <a:lumMod val="50000"/>
                            </a:schemeClr>
                          </a:solidFill>
                          <a:latin typeface="Cambria Math" panose="02040503050406030204" pitchFamily="18" charset="0"/>
                        </a:rPr>
                        <m:t>𝟖𝟓</m:t>
                      </m:r>
                    </m:oMath>
                  </m:oMathPara>
                </a14:m>
                <a:endParaRPr lang="es-MX" sz="2400" b="1" dirty="0">
                  <a:solidFill>
                    <a:schemeClr val="accent3">
                      <a:lumMod val="50000"/>
                    </a:schemeClr>
                  </a:solidFill>
                </a:endParaRPr>
              </a:p>
            </p:txBody>
          </p:sp>
        </mc:Choice>
        <mc:Fallback xmlns="">
          <p:sp>
            <p:nvSpPr>
              <p:cNvPr id="9" name="Rectángulo 8">
                <a:extLst>
                  <a:ext uri="{FF2B5EF4-FFF2-40B4-BE49-F238E27FC236}">
                    <a16:creationId xmlns="" xmlns:a16="http://schemas.microsoft.com/office/drawing/2014/main" xmlns:a14="http://schemas.microsoft.com/office/drawing/2010/main" id="{7B7B7D3E-54D0-499F-8056-6519D7C99BD4}"/>
                  </a:ext>
                </a:extLst>
              </p:cNvPr>
              <p:cNvSpPr>
                <a:spLocks noRot="1" noChangeAspect="1" noMove="1" noResize="1" noEditPoints="1" noAdjustHandles="1" noChangeArrowheads="1" noChangeShapeType="1" noTextEdit="1"/>
              </p:cNvSpPr>
              <p:nvPr/>
            </p:nvSpPr>
            <p:spPr>
              <a:xfrm>
                <a:off x="10212948" y="5992766"/>
                <a:ext cx="1452683" cy="461665"/>
              </a:xfrm>
              <a:prstGeom prst="rect">
                <a:avLst/>
              </a:prstGeom>
              <a:blipFill rotWithShape="0">
                <a:blip r:embed="rId5"/>
                <a:stretch>
                  <a:fillRect/>
                </a:stretch>
              </a:blipFill>
            </p:spPr>
            <p:txBody>
              <a:bodyPr/>
              <a:lstStyle/>
              <a:p>
                <a:r>
                  <a:rPr lang="es-MX">
                    <a:noFill/>
                  </a:rPr>
                  <a:t> </a:t>
                </a:r>
              </a:p>
            </p:txBody>
          </p:sp>
        </mc:Fallback>
      </mc:AlternateContent>
      <p:cxnSp>
        <p:nvCxnSpPr>
          <p:cNvPr id="10" name="Conector recto 9">
            <a:extLst>
              <a:ext uri="{FF2B5EF4-FFF2-40B4-BE49-F238E27FC236}">
                <a16:creationId xmlns:a16="http://schemas.microsoft.com/office/drawing/2014/main" xmlns="" id="{A365937D-48B8-435E-8452-1DB63BC2338D}"/>
              </a:ext>
            </a:extLst>
          </p:cNvPr>
          <p:cNvCxnSpPr/>
          <p:nvPr/>
        </p:nvCxnSpPr>
        <p:spPr>
          <a:xfrm>
            <a:off x="5429997" y="2115934"/>
            <a:ext cx="1725769" cy="0"/>
          </a:xfrm>
          <a:prstGeom prst="line">
            <a:avLst/>
          </a:prstGeom>
          <a:ln w="28575">
            <a:solidFill>
              <a:schemeClr val="tx1"/>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6905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par>
                                <p:cTn id="18" presetID="6" presetClass="entr" presetSubtype="16"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in)">
                                      <p:cBhvr>
                                        <p:cTn id="25" dur="2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circle(in)">
                                      <p:cBhvr>
                                        <p:cTn id="30" dur="2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circle(in)">
                                      <p:cBhvr>
                                        <p:cTn id="35" dur="20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circle(in)">
                                      <p:cBhvr>
                                        <p:cTn id="4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0" y="1167615"/>
            <a:ext cx="1403797" cy="390729"/>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200" b="1" dirty="0" smtClean="0">
                <a:solidFill>
                  <a:srgbClr val="FF0000"/>
                </a:solidFill>
                <a:latin typeface="Arial" panose="020B0604020202020204" pitchFamily="34" charset="0"/>
                <a:cs typeface="Arial" panose="020B0604020202020204" pitchFamily="34" charset="0"/>
              </a:rPr>
              <a:t>Teorema</a:t>
            </a:r>
            <a:endParaRPr kumimoji="0" lang="es-NI" sz="22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itle 1"/>
              <p:cNvSpPr txBox="1">
                <a:spLocks/>
              </p:cNvSpPr>
              <p:nvPr/>
            </p:nvSpPr>
            <p:spPr>
              <a:xfrm rot="10800000" flipV="1">
                <a:off x="0" y="1571223"/>
                <a:ext cx="12192000" cy="72121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100" b="1" dirty="0">
                    <a:solidFill>
                      <a:schemeClr val="accent3">
                        <a:lumMod val="50000"/>
                      </a:schemeClr>
                    </a:solidFill>
                    <a:latin typeface="Arial" panose="020B0604020202020204" pitchFamily="34" charset="0"/>
                    <a:cs typeface="Arial" panose="020B0604020202020204" pitchFamily="34" charset="0"/>
                  </a:rPr>
                  <a:t>Si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es una matriz triangular, entonces </a:t>
                </a:r>
                <a14:m>
                  <m:oMath xmlns:m="http://schemas.openxmlformats.org/officeDocument/2006/math">
                    <m:r>
                      <m:rPr>
                        <m:sty m:val="p"/>
                      </m:rPr>
                      <a:rPr lang="es-MX" sz="2100" b="1" i="1" dirty="0" smtClean="0">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𝑨</m:t>
                    </m:r>
                    <m:r>
                      <a:rPr lang="es-MX" sz="2100" b="1" i="1" dirty="0">
                        <a:solidFill>
                          <a:schemeClr val="accent3">
                            <a:lumMod val="50000"/>
                          </a:schemeClr>
                        </a:solidFill>
                        <a:latin typeface="Cambria Math" panose="02040503050406030204" pitchFamily="18" charset="0"/>
                        <a:cs typeface="Arial" panose="020B0604020202020204" pitchFamily="34" charset="0"/>
                      </a:rPr>
                      <m:t> </m:t>
                    </m:r>
                  </m:oMath>
                </a14:m>
                <a:r>
                  <a:rPr lang="es-MX" sz="2100" b="1" dirty="0">
                    <a:solidFill>
                      <a:schemeClr val="accent3">
                        <a:lumMod val="50000"/>
                      </a:schemeClr>
                    </a:solidFill>
                    <a:latin typeface="Arial" panose="020B0604020202020204" pitchFamily="34" charset="0"/>
                    <a:cs typeface="Arial" panose="020B0604020202020204" pitchFamily="34" charset="0"/>
                  </a:rPr>
                  <a:t>es el producto de las entradas sobre la diagonal principal de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smtClean="0">
                    <a:solidFill>
                      <a:schemeClr val="accent3">
                        <a:lumMod val="50000"/>
                      </a:schemeClr>
                    </a:solidFill>
                    <a:latin typeface="Arial" panose="020B0604020202020204" pitchFamily="34" charset="0"/>
                    <a:cs typeface="Arial" panose="020B0604020202020204" pitchFamily="34" charset="0"/>
                  </a:rPr>
                  <a:t>.</a:t>
                </a:r>
                <a:endParaRPr lang="es-MX"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rot="10800000" flipV="1">
                <a:off x="0" y="1571223"/>
                <a:ext cx="12192000" cy="721217"/>
              </a:xfrm>
              <a:prstGeom prst="rect">
                <a:avLst/>
              </a:prstGeom>
              <a:blipFill rotWithShape="0">
                <a:blip r:embed="rId2"/>
                <a:stretch>
                  <a:fillRect l="-600" t="-5932" r="-600" b="-1694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 name="Rectángulo 1"/>
              <p:cNvSpPr/>
              <p:nvPr/>
            </p:nvSpPr>
            <p:spPr>
              <a:xfrm>
                <a:off x="0" y="2421229"/>
                <a:ext cx="12192000" cy="1384995"/>
              </a:xfrm>
              <a:prstGeom prst="rect">
                <a:avLst/>
              </a:prstGeom>
            </p:spPr>
            <p:txBody>
              <a:bodyPr wrap="square">
                <a:spAutoFit/>
              </a:bodyPr>
              <a:lstStyle/>
              <a:p>
                <a:pPr lvl="0" algn="just">
                  <a:defRPr/>
                </a:pPr>
                <a:r>
                  <a:rPr lang="es-MX" sz="2100" b="1" dirty="0" smtClean="0">
                    <a:solidFill>
                      <a:srgbClr val="FF0000"/>
                    </a:solidFill>
                    <a:latin typeface="Arial" panose="020B0604020202020204" pitchFamily="34" charset="0"/>
                    <a:cs typeface="Arial" panose="020B0604020202020204" pitchFamily="34" charset="0"/>
                  </a:rPr>
                  <a:t>Nota: </a:t>
                </a:r>
                <a:r>
                  <a:rPr lang="es-MX" sz="2100" b="1" dirty="0">
                    <a:solidFill>
                      <a:schemeClr val="accent3">
                        <a:lumMod val="50000"/>
                      </a:schemeClr>
                    </a:solidFill>
                    <a:latin typeface="Arial" panose="020B0604020202020204" pitchFamily="34" charset="0"/>
                    <a:cs typeface="Arial" panose="020B0604020202020204" pitchFamily="34" charset="0"/>
                  </a:rPr>
                  <a:t>En la actualidad, una matriz de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𝒙</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oMath>
                </a14:m>
                <a:r>
                  <a:rPr lang="es-MX" sz="2100" b="1" dirty="0">
                    <a:solidFill>
                      <a:schemeClr val="accent3">
                        <a:lumMod val="50000"/>
                      </a:schemeClr>
                    </a:solidFill>
                    <a:latin typeface="Arial" panose="020B0604020202020204" pitchFamily="34" charset="0"/>
                    <a:cs typeface="Arial" panose="020B0604020202020204" pitchFamily="34" charset="0"/>
                  </a:rPr>
                  <a:t>se considera pequeña. Sin embargo, sería imposible calcular un determinante de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𝒙</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oMath>
                </a14:m>
                <a:r>
                  <a:rPr lang="es-MX" sz="2100" b="1" dirty="0">
                    <a:solidFill>
                      <a:schemeClr val="accent3">
                        <a:lumMod val="50000"/>
                      </a:schemeClr>
                    </a:solidFill>
                    <a:latin typeface="Arial" panose="020B0604020202020204" pitchFamily="34" charset="0"/>
                    <a:cs typeface="Arial" panose="020B0604020202020204" pitchFamily="34" charset="0"/>
                  </a:rPr>
                  <a:t>con un desarrollo por cofactores. En general, un desarrollo por cofactores requiere alrededor de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𝒏</m:t>
                    </m:r>
                    <m:r>
                      <a:rPr lang="es-MX" sz="2100" b="1" i="1" dirty="0" smtClean="0">
                        <a:solidFill>
                          <a:schemeClr val="accent3">
                            <a:lumMod val="50000"/>
                          </a:schemeClr>
                        </a:solidFill>
                        <a:latin typeface="Cambria Math" panose="02040503050406030204" pitchFamily="18" charset="0"/>
                        <a:cs typeface="Arial" panose="020B0604020202020204" pitchFamily="34" charset="0"/>
                      </a:rPr>
                      <m:t>!</m:t>
                    </m:r>
                  </m:oMath>
                </a14:m>
                <a:r>
                  <a:rPr lang="es-MX" sz="2100" b="1" dirty="0">
                    <a:solidFill>
                      <a:schemeClr val="accent3">
                        <a:lumMod val="50000"/>
                      </a:schemeClr>
                    </a:solidFill>
                    <a:latin typeface="Arial" panose="020B0604020202020204" pitchFamily="34" charset="0"/>
                    <a:cs typeface="Arial" panose="020B0604020202020204" pitchFamily="34" charset="0"/>
                  </a:rPr>
                  <a:t> multiplicaciones, y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m:t>
                    </m:r>
                  </m:oMath>
                </a14:m>
                <a:r>
                  <a:rPr lang="es-MX" sz="2100" b="1" dirty="0">
                    <a:solidFill>
                      <a:schemeClr val="accent3">
                        <a:lumMod val="50000"/>
                      </a:schemeClr>
                    </a:solidFill>
                    <a:latin typeface="Arial" panose="020B0604020202020204" pitchFamily="34" charset="0"/>
                    <a:cs typeface="Arial" panose="020B0604020202020204" pitchFamily="34" charset="0"/>
                  </a:rPr>
                  <a:t>es aproximadamente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𝟏</m:t>
                    </m:r>
                    <m:r>
                      <a:rPr lang="es-MX" sz="2100" b="1" i="1" dirty="0" smtClean="0">
                        <a:solidFill>
                          <a:schemeClr val="accent3">
                            <a:lumMod val="50000"/>
                          </a:schemeClr>
                        </a:solidFill>
                        <a:latin typeface="Cambria Math" panose="02040503050406030204" pitchFamily="18" charset="0"/>
                        <a:cs typeface="Arial" panose="020B0604020202020204" pitchFamily="34" charset="0"/>
                      </a:rPr>
                      <m:t>.</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𝟓</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𝑬</m:t>
                    </m:r>
                    <m:r>
                      <a:rPr lang="es-MX" sz="2100" b="1" i="1" dirty="0" smtClean="0">
                        <a:solidFill>
                          <a:schemeClr val="accent3">
                            <a:lumMod val="50000"/>
                          </a:schemeClr>
                        </a:solidFill>
                        <a:latin typeface="Cambria Math" panose="02040503050406030204" pitchFamily="18" charset="0"/>
                        <a:cs typeface="Arial" panose="020B0604020202020204" pitchFamily="34" charset="0"/>
                      </a:rPr>
                      <m:t> </m:t>
                    </m:r>
                    <m:r>
                      <a:rPr lang="es-MX" sz="2100" b="1" i="1" dirty="0" smtClean="0">
                        <a:solidFill>
                          <a:schemeClr val="accent3">
                            <a:lumMod val="50000"/>
                          </a:schemeClr>
                        </a:solidFill>
                        <a:latin typeface="Cambria Math" panose="02040503050406030204" pitchFamily="18" charset="0"/>
                        <a:cs typeface="Arial" panose="020B0604020202020204" pitchFamily="34" charset="0"/>
                      </a:rPr>
                      <m:t>𝟐𝟓</m:t>
                    </m:r>
                  </m:oMath>
                </a14:m>
                <a:r>
                  <a:rPr lang="es-MX" sz="2100" b="1" dirty="0" smtClean="0">
                    <a:solidFill>
                      <a:schemeClr val="accent3">
                        <a:lumMod val="50000"/>
                      </a:schemeClr>
                    </a:solidFill>
                    <a:latin typeface="Arial" panose="020B0604020202020204" pitchFamily="34" charset="0"/>
                    <a:cs typeface="Arial" panose="020B0604020202020204" pitchFamily="34" charset="0"/>
                  </a:rPr>
                  <a:t>.</a:t>
                </a:r>
                <a:endParaRPr lang="es-MX"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 name="Rectángulo 1"/>
              <p:cNvSpPr>
                <a:spLocks noRot="1" noChangeAspect="1" noMove="1" noResize="1" noEditPoints="1" noAdjustHandles="1" noChangeArrowheads="1" noChangeShapeType="1" noTextEdit="1"/>
              </p:cNvSpPr>
              <p:nvPr/>
            </p:nvSpPr>
            <p:spPr>
              <a:xfrm>
                <a:off x="0" y="2421229"/>
                <a:ext cx="12192000" cy="1384995"/>
              </a:xfrm>
              <a:prstGeom prst="rect">
                <a:avLst/>
              </a:prstGeom>
              <a:blipFill rotWithShape="0">
                <a:blip r:embed="rId3"/>
                <a:stretch>
                  <a:fillRect l="-600" t="-2643" r="-600" b="-793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0" y="3935012"/>
                <a:ext cx="12192000" cy="738664"/>
              </a:xfrm>
              <a:prstGeom prst="rect">
                <a:avLst/>
              </a:prstGeom>
            </p:spPr>
            <p:txBody>
              <a:bodyPr wrap="square">
                <a:spAutoFit/>
              </a:bodyPr>
              <a:lstStyle/>
              <a:p>
                <a:pPr lvl="0" algn="just">
                  <a:defRPr/>
                </a:pPr>
                <a:r>
                  <a:rPr lang="es-MX" sz="2100" b="1" dirty="0">
                    <a:solidFill>
                      <a:schemeClr val="accent3">
                        <a:lumMod val="50000"/>
                      </a:schemeClr>
                    </a:solidFill>
                    <a:latin typeface="Arial" panose="020B0604020202020204" pitchFamily="34" charset="0"/>
                    <a:cs typeface="Arial" panose="020B0604020202020204" pitchFamily="34" charset="0"/>
                  </a:rPr>
                  <a:t>Si una computadora efectúa un billón de multiplicaciones por segundo, tendría que trabajar unos 500,000 años para calcular un determinante de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𝟐𝟓</m:t>
                    </m:r>
                    <m:r>
                      <a:rPr lang="es-MX" sz="2100" b="1" i="1" dirty="0">
                        <a:solidFill>
                          <a:schemeClr val="accent3">
                            <a:lumMod val="50000"/>
                          </a:schemeClr>
                        </a:solidFill>
                        <a:latin typeface="Cambria Math" panose="02040503050406030204" pitchFamily="18" charset="0"/>
                        <a:cs typeface="Arial" panose="020B0604020202020204" pitchFamily="34" charset="0"/>
                      </a:rPr>
                      <m:t> </m:t>
                    </m:r>
                    <m:r>
                      <a:rPr lang="es-MX" sz="2100" b="1" i="1" dirty="0">
                        <a:solidFill>
                          <a:schemeClr val="accent3">
                            <a:lumMod val="50000"/>
                          </a:schemeClr>
                        </a:solidFill>
                        <a:latin typeface="Cambria Math" panose="02040503050406030204" pitchFamily="18" charset="0"/>
                        <a:cs typeface="Arial" panose="020B0604020202020204" pitchFamily="34" charset="0"/>
                      </a:rPr>
                      <m:t>𝒙</m:t>
                    </m:r>
                    <m:r>
                      <a:rPr lang="es-MX" sz="2100" b="1" i="1" dirty="0">
                        <a:solidFill>
                          <a:schemeClr val="accent3">
                            <a:lumMod val="50000"/>
                          </a:schemeClr>
                        </a:solidFill>
                        <a:latin typeface="Cambria Math" panose="02040503050406030204" pitchFamily="18" charset="0"/>
                        <a:cs typeface="Arial" panose="020B0604020202020204" pitchFamily="34" charset="0"/>
                      </a:rPr>
                      <m:t> </m:t>
                    </m:r>
                    <m:r>
                      <a:rPr lang="es-MX" sz="2100" b="1" i="1" dirty="0">
                        <a:solidFill>
                          <a:schemeClr val="accent3">
                            <a:lumMod val="50000"/>
                          </a:schemeClr>
                        </a:solidFill>
                        <a:latin typeface="Cambria Math" panose="02040503050406030204" pitchFamily="18" charset="0"/>
                        <a:cs typeface="Arial" panose="020B0604020202020204" pitchFamily="34" charset="0"/>
                      </a:rPr>
                      <m:t>𝟐𝟓</m:t>
                    </m:r>
                    <m:r>
                      <a:rPr lang="es-MX" sz="2100" b="1" i="1" dirty="0">
                        <a:solidFill>
                          <a:schemeClr val="accent3">
                            <a:lumMod val="50000"/>
                          </a:schemeClr>
                        </a:solidFill>
                        <a:latin typeface="Cambria Math" panose="02040503050406030204" pitchFamily="18" charset="0"/>
                        <a:cs typeface="Arial" panose="020B0604020202020204" pitchFamily="34" charset="0"/>
                      </a:rPr>
                      <m:t> </m:t>
                    </m:r>
                  </m:oMath>
                </a14:m>
                <a:r>
                  <a:rPr lang="es-MX" sz="2100" b="1" dirty="0">
                    <a:solidFill>
                      <a:schemeClr val="accent3">
                        <a:lumMod val="50000"/>
                      </a:schemeClr>
                    </a:solidFill>
                    <a:latin typeface="Arial" panose="020B0604020202020204" pitchFamily="34" charset="0"/>
                    <a:cs typeface="Arial" panose="020B0604020202020204" pitchFamily="34" charset="0"/>
                  </a:rPr>
                  <a:t>utilizando </a:t>
                </a:r>
                <a:r>
                  <a:rPr lang="es-MX" sz="2100" b="1" dirty="0" smtClean="0">
                    <a:solidFill>
                      <a:schemeClr val="accent3">
                        <a:lumMod val="50000"/>
                      </a:schemeClr>
                    </a:solidFill>
                    <a:latin typeface="Arial" panose="020B0604020202020204" pitchFamily="34" charset="0"/>
                    <a:cs typeface="Arial" panose="020B0604020202020204" pitchFamily="34" charset="0"/>
                  </a:rPr>
                  <a:t>este método</a:t>
                </a:r>
                <a:r>
                  <a:rPr lang="es-MX" sz="2100" b="1" dirty="0">
                    <a:solidFill>
                      <a:schemeClr val="accent3">
                        <a:lumMod val="50000"/>
                      </a:schemeClr>
                    </a:solidFill>
                    <a:latin typeface="Arial" panose="020B0604020202020204" pitchFamily="34" charset="0"/>
                    <a:cs typeface="Arial" panose="020B0604020202020204" pitchFamily="34" charset="0"/>
                  </a:rPr>
                  <a:t>. </a:t>
                </a:r>
              </a:p>
            </p:txBody>
          </p:sp>
        </mc:Choice>
        <mc:Fallback xmlns="">
          <p:sp>
            <p:nvSpPr>
              <p:cNvPr id="3" name="Rectángulo 2"/>
              <p:cNvSpPr>
                <a:spLocks noRot="1" noChangeAspect="1" noMove="1" noResize="1" noEditPoints="1" noAdjustHandles="1" noChangeArrowheads="1" noChangeShapeType="1" noTextEdit="1"/>
              </p:cNvSpPr>
              <p:nvPr/>
            </p:nvSpPr>
            <p:spPr>
              <a:xfrm>
                <a:off x="0" y="3935012"/>
                <a:ext cx="12192000" cy="738664"/>
              </a:xfrm>
              <a:prstGeom prst="rect">
                <a:avLst/>
              </a:prstGeom>
              <a:blipFill rotWithShape="0">
                <a:blip r:embed="rId4"/>
                <a:stretch>
                  <a:fillRect l="-600" t="-5785" r="-600" b="-14876"/>
                </a:stretch>
              </a:blipFill>
            </p:spPr>
            <p:txBody>
              <a:bodyPr/>
              <a:lstStyle/>
              <a:p>
                <a:r>
                  <a:rPr lang="es-MX">
                    <a:noFill/>
                  </a:rPr>
                  <a:t> </a:t>
                </a:r>
              </a:p>
            </p:txBody>
          </p:sp>
        </mc:Fallback>
      </mc:AlternateContent>
    </p:spTree>
    <p:extLst>
      <p:ext uri="{BB962C8B-B14F-4D97-AF65-F5344CB8AC3E}">
        <p14:creationId xmlns:p14="http://schemas.microsoft.com/office/powerpoint/2010/main" val="125596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2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circle(in)">
                                      <p:cBhvr>
                                        <p:cTn id="15" dur="2000"/>
                                        <p:tgtEl>
                                          <p:spTgt spid="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circle(in)">
                                      <p:cBhvr>
                                        <p:cTn id="20"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txBox="1"/>
          <p:nvPr/>
        </p:nvSpPr>
        <p:spPr>
          <a:xfrm>
            <a:off x="0" y="1160129"/>
            <a:ext cx="6013185" cy="430887"/>
          </a:xfrm>
          <a:prstGeom prst="rect">
            <a:avLst/>
          </a:prstGeom>
          <a:noFill/>
        </p:spPr>
        <p:txBody>
          <a:bodyPr wrap="none">
            <a:spAutoFit/>
          </a:bodyPr>
          <a:lstStyle/>
          <a:p>
            <a:pPr>
              <a:defRPr sz="2700" b="1">
                <a:solidFill>
                  <a:srgbClr val="232D34"/>
                </a:solidFill>
                <a:latin typeface="Arial"/>
              </a:defRPr>
            </a:pPr>
            <a:r>
              <a:rPr sz="2200" dirty="0"/>
              <a:t>¿</a:t>
            </a:r>
            <a:r>
              <a:rPr sz="2200" dirty="0" err="1"/>
              <a:t>Por</a:t>
            </a:r>
            <a:r>
              <a:rPr sz="2200" dirty="0"/>
              <a:t> </a:t>
            </a:r>
            <a:r>
              <a:rPr sz="2200" dirty="0" err="1"/>
              <a:t>qué</a:t>
            </a:r>
            <a:r>
              <a:rPr sz="2200" dirty="0"/>
              <a:t> </a:t>
            </a:r>
            <a:r>
              <a:rPr sz="2200" dirty="0" err="1"/>
              <a:t>necesitamos</a:t>
            </a:r>
            <a:r>
              <a:rPr sz="2200" dirty="0"/>
              <a:t> </a:t>
            </a:r>
            <a:r>
              <a:rPr sz="2200" dirty="0" err="1"/>
              <a:t>métodos</a:t>
            </a:r>
            <a:r>
              <a:rPr sz="2200" dirty="0"/>
              <a:t> </a:t>
            </a:r>
            <a:r>
              <a:rPr sz="2200" dirty="0" err="1"/>
              <a:t>eficientes</a:t>
            </a:r>
            <a:r>
              <a:rPr sz="2200" dirty="0"/>
              <a:t>?</a:t>
            </a:r>
          </a:p>
        </p:txBody>
      </p:sp>
      <p:sp>
        <p:nvSpPr>
          <p:cNvPr id="7" name="TextBox 3"/>
          <p:cNvSpPr txBox="1"/>
          <p:nvPr/>
        </p:nvSpPr>
        <p:spPr>
          <a:xfrm>
            <a:off x="18288" y="1663049"/>
            <a:ext cx="6763390" cy="430887"/>
          </a:xfrm>
          <a:prstGeom prst="rect">
            <a:avLst/>
          </a:prstGeom>
          <a:noFill/>
        </p:spPr>
        <p:txBody>
          <a:bodyPr wrap="none">
            <a:spAutoFit/>
          </a:bodyPr>
          <a:lstStyle/>
          <a:p>
            <a:pPr>
              <a:defRPr sz="1400">
                <a:solidFill>
                  <a:srgbClr val="00A6A6"/>
                </a:solidFill>
                <a:latin typeface="Arial"/>
              </a:defRPr>
            </a:pPr>
            <a:r>
              <a:rPr sz="2200" b="1"/>
              <a:t>El desarrollo por cofactores crece factorialmente</a:t>
            </a:r>
          </a:p>
        </p:txBody>
      </p:sp>
      <p:sp>
        <p:nvSpPr>
          <p:cNvPr id="10" name="Rectangle 4"/>
          <p:cNvSpPr/>
          <p:nvPr/>
        </p:nvSpPr>
        <p:spPr>
          <a:xfrm>
            <a:off x="647807" y="5820605"/>
            <a:ext cx="658368" cy="137161"/>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5"/>
          <p:cNvSpPr txBox="1"/>
          <p:nvPr/>
        </p:nvSpPr>
        <p:spPr>
          <a:xfrm>
            <a:off x="853490" y="6003486"/>
            <a:ext cx="274434" cy="276999"/>
          </a:xfrm>
          <a:prstGeom prst="rect">
            <a:avLst/>
          </a:prstGeom>
          <a:noFill/>
        </p:spPr>
        <p:txBody>
          <a:bodyPr wrap="none">
            <a:spAutoFit/>
          </a:bodyPr>
          <a:lstStyle/>
          <a:p>
            <a:pPr algn="ctr">
              <a:defRPr sz="1200"/>
            </a:pPr>
            <a:r>
              <a:rPr b="1" dirty="0"/>
              <a:t>2</a:t>
            </a:r>
          </a:p>
        </p:txBody>
      </p:sp>
      <p:sp>
        <p:nvSpPr>
          <p:cNvPr id="12" name="Rectangle 6"/>
          <p:cNvSpPr/>
          <p:nvPr/>
        </p:nvSpPr>
        <p:spPr>
          <a:xfrm>
            <a:off x="1699367" y="5820602"/>
            <a:ext cx="658368" cy="1371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7"/>
          <p:cNvSpPr txBox="1"/>
          <p:nvPr/>
        </p:nvSpPr>
        <p:spPr>
          <a:xfrm>
            <a:off x="1905050" y="6003486"/>
            <a:ext cx="274434" cy="276999"/>
          </a:xfrm>
          <a:prstGeom prst="rect">
            <a:avLst/>
          </a:prstGeom>
          <a:noFill/>
        </p:spPr>
        <p:txBody>
          <a:bodyPr wrap="none">
            <a:spAutoFit/>
          </a:bodyPr>
          <a:lstStyle/>
          <a:p>
            <a:pPr algn="ctr">
              <a:defRPr sz="1200"/>
            </a:pPr>
            <a:r>
              <a:rPr b="1"/>
              <a:t>3</a:t>
            </a:r>
          </a:p>
        </p:txBody>
      </p:sp>
      <p:sp>
        <p:nvSpPr>
          <p:cNvPr id="14" name="Rectangle 8"/>
          <p:cNvSpPr/>
          <p:nvPr/>
        </p:nvSpPr>
        <p:spPr>
          <a:xfrm>
            <a:off x="2750927" y="5820587"/>
            <a:ext cx="658368" cy="137179"/>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9"/>
          <p:cNvSpPr txBox="1"/>
          <p:nvPr/>
        </p:nvSpPr>
        <p:spPr>
          <a:xfrm>
            <a:off x="2956610" y="6003486"/>
            <a:ext cx="274434" cy="276999"/>
          </a:xfrm>
          <a:prstGeom prst="rect">
            <a:avLst/>
          </a:prstGeom>
          <a:noFill/>
        </p:spPr>
        <p:txBody>
          <a:bodyPr wrap="none">
            <a:spAutoFit/>
          </a:bodyPr>
          <a:lstStyle/>
          <a:p>
            <a:pPr algn="ctr">
              <a:defRPr sz="1200"/>
            </a:pPr>
            <a:r>
              <a:rPr b="1"/>
              <a:t>4</a:t>
            </a:r>
          </a:p>
        </p:txBody>
      </p:sp>
      <p:sp>
        <p:nvSpPr>
          <p:cNvPr id="16" name="Rectangle 10"/>
          <p:cNvSpPr/>
          <p:nvPr/>
        </p:nvSpPr>
        <p:spPr>
          <a:xfrm>
            <a:off x="3802486" y="5820510"/>
            <a:ext cx="658368" cy="137256"/>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1"/>
          <p:cNvSpPr txBox="1"/>
          <p:nvPr/>
        </p:nvSpPr>
        <p:spPr>
          <a:xfrm>
            <a:off x="4008169" y="6003486"/>
            <a:ext cx="274434" cy="276999"/>
          </a:xfrm>
          <a:prstGeom prst="rect">
            <a:avLst/>
          </a:prstGeom>
          <a:noFill/>
        </p:spPr>
        <p:txBody>
          <a:bodyPr wrap="none">
            <a:spAutoFit/>
          </a:bodyPr>
          <a:lstStyle/>
          <a:p>
            <a:pPr algn="ctr">
              <a:defRPr sz="1200"/>
            </a:pPr>
            <a:r>
              <a:rPr b="1"/>
              <a:t>5</a:t>
            </a:r>
          </a:p>
        </p:txBody>
      </p:sp>
      <p:sp>
        <p:nvSpPr>
          <p:cNvPr id="18" name="Rectangle 12"/>
          <p:cNvSpPr/>
          <p:nvPr/>
        </p:nvSpPr>
        <p:spPr>
          <a:xfrm>
            <a:off x="4854047" y="5820026"/>
            <a:ext cx="658368" cy="1377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3"/>
          <p:cNvSpPr txBox="1"/>
          <p:nvPr/>
        </p:nvSpPr>
        <p:spPr>
          <a:xfrm>
            <a:off x="5059730" y="6003486"/>
            <a:ext cx="274434" cy="276999"/>
          </a:xfrm>
          <a:prstGeom prst="rect">
            <a:avLst/>
          </a:prstGeom>
          <a:noFill/>
        </p:spPr>
        <p:txBody>
          <a:bodyPr wrap="none">
            <a:spAutoFit/>
          </a:bodyPr>
          <a:lstStyle/>
          <a:p>
            <a:pPr algn="ctr">
              <a:defRPr sz="1200"/>
            </a:pPr>
            <a:r>
              <a:rPr b="1"/>
              <a:t>6</a:t>
            </a:r>
          </a:p>
        </p:txBody>
      </p:sp>
      <p:sp>
        <p:nvSpPr>
          <p:cNvPr id="20" name="Rectangle 14"/>
          <p:cNvSpPr/>
          <p:nvPr/>
        </p:nvSpPr>
        <p:spPr>
          <a:xfrm>
            <a:off x="5905607" y="2894526"/>
            <a:ext cx="658368" cy="30632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5"/>
          <p:cNvSpPr txBox="1"/>
          <p:nvPr/>
        </p:nvSpPr>
        <p:spPr>
          <a:xfrm>
            <a:off x="6068874" y="6003486"/>
            <a:ext cx="359265" cy="276999"/>
          </a:xfrm>
          <a:prstGeom prst="rect">
            <a:avLst/>
          </a:prstGeom>
          <a:noFill/>
        </p:spPr>
        <p:txBody>
          <a:bodyPr wrap="none">
            <a:spAutoFit/>
          </a:bodyPr>
          <a:lstStyle/>
          <a:p>
            <a:pPr algn="ctr">
              <a:defRPr sz="1200"/>
            </a:pPr>
            <a:r>
              <a:rPr b="1"/>
              <a:t>10</a:t>
            </a:r>
          </a:p>
        </p:txBody>
      </p:sp>
      <mc:AlternateContent xmlns:mc="http://schemas.openxmlformats.org/markup-compatibility/2006">
        <mc:Choice xmlns:a14="http://schemas.microsoft.com/office/drawing/2010/main" Requires="a14">
          <p:sp>
            <p:nvSpPr>
              <p:cNvPr id="22" name="Rounded Rectangle 16"/>
              <p:cNvSpPr/>
              <p:nvPr/>
            </p:nvSpPr>
            <p:spPr>
              <a:xfrm>
                <a:off x="7414367" y="2345887"/>
                <a:ext cx="3657600" cy="3657600"/>
              </a:xfrm>
              <a:prstGeom prst="roundRect">
                <a:avLst/>
              </a:prstGeom>
              <a:solidFill>
                <a:srgbClr val="FFFFFF"/>
              </a:solidFill>
              <a:ln w="19050">
                <a:solidFill>
                  <a:srgbClr val="BE464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BE4646"/>
                    </a:solidFill>
                    <a:latin typeface="Arial"/>
                  </a:defRPr>
                </a:pPr>
                <a:r>
                  <a:rPr lang="es-MX" dirty="0" smtClean="0">
                    <a:solidFill>
                      <a:srgbClr val="FF0000"/>
                    </a:solidFill>
                  </a:rPr>
                  <a:t>Idea clave</a:t>
                </a:r>
              </a:p>
              <a:p>
                <a:pPr algn="just">
                  <a:spcAft>
                    <a:spcPts val="400"/>
                  </a:spcAft>
                  <a:defRPr sz="1500">
                    <a:solidFill>
                      <a:srgbClr val="232D34"/>
                    </a:solidFill>
                    <a:latin typeface="Arial"/>
                  </a:defRPr>
                </a:pPr>
                <a:r>
                  <a:rPr lang="es-MX" sz="1300" b="1" dirty="0">
                    <a:solidFill>
                      <a:schemeClr val="accent3">
                        <a:lumMod val="50000"/>
                      </a:schemeClr>
                    </a:solidFill>
                  </a:rPr>
                  <a:t>Para </a:t>
                </a:r>
                <a:r>
                  <a:rPr lang="es-MX" sz="1300" b="1" dirty="0" err="1">
                    <a:solidFill>
                      <a:schemeClr val="accent3">
                        <a:lumMod val="50000"/>
                      </a:schemeClr>
                    </a:solidFill>
                  </a:rPr>
                  <a:t>una</a:t>
                </a:r>
                <a:r>
                  <a:rPr lang="es-MX" sz="1300" b="1" dirty="0">
                    <a:solidFill>
                      <a:schemeClr val="accent3">
                        <a:lumMod val="50000"/>
                      </a:schemeClr>
                    </a:solidFill>
                  </a:rPr>
                  <a:t> </a:t>
                </a:r>
                <a:r>
                  <a:rPr lang="es-MX" sz="1300" b="1" dirty="0" err="1">
                    <a:solidFill>
                      <a:schemeClr val="accent3">
                        <a:lumMod val="50000"/>
                      </a:schemeClr>
                    </a:solidFill>
                  </a:rPr>
                  <a:t>matriz</a:t>
                </a:r>
                <a:r>
                  <a:rPr lang="es-MX" sz="1300" b="1" dirty="0">
                    <a:solidFill>
                      <a:schemeClr val="accent3">
                        <a:lumMod val="50000"/>
                      </a:schemeClr>
                    </a:solidFill>
                  </a:rPr>
                  <a:t> </a:t>
                </a:r>
                <a14:m>
                  <m:oMath xmlns:m="http://schemas.openxmlformats.org/officeDocument/2006/math">
                    <m:r>
                      <a:rPr lang="es-MX" sz="1300" b="1" i="1" dirty="0" smtClean="0">
                        <a:solidFill>
                          <a:schemeClr val="accent3">
                            <a:lumMod val="50000"/>
                          </a:schemeClr>
                        </a:solidFill>
                        <a:latin typeface="Cambria Math" panose="02040503050406030204" pitchFamily="18" charset="0"/>
                      </a:rPr>
                      <m:t>𝒏</m:t>
                    </m:r>
                    <m:r>
                      <a:rPr lang="es-MX" sz="1300" b="1" i="1" dirty="0" smtClean="0">
                        <a:solidFill>
                          <a:schemeClr val="accent3">
                            <a:lumMod val="50000"/>
                          </a:schemeClr>
                        </a:solidFill>
                        <a:latin typeface="Cambria Math" panose="02040503050406030204" pitchFamily="18" charset="0"/>
                      </a:rPr>
                      <m:t> × </m:t>
                    </m:r>
                    <m:r>
                      <a:rPr lang="es-MX" sz="1300" b="1" i="1" dirty="0" smtClean="0">
                        <a:solidFill>
                          <a:schemeClr val="accent3">
                            <a:lumMod val="50000"/>
                          </a:schemeClr>
                        </a:solidFill>
                        <a:latin typeface="Cambria Math" panose="02040503050406030204" pitchFamily="18" charset="0"/>
                      </a:rPr>
                      <m:t>𝒏</m:t>
                    </m:r>
                  </m:oMath>
                </a14:m>
                <a:r>
                  <a:rPr lang="es-MX" sz="1300" b="1" dirty="0">
                    <a:solidFill>
                      <a:schemeClr val="accent3">
                        <a:lumMod val="50000"/>
                      </a:schemeClr>
                    </a:solidFill>
                  </a:rPr>
                  <a:t>, el </a:t>
                </a:r>
                <a:r>
                  <a:rPr lang="es-MX" sz="1300" b="1" dirty="0" err="1">
                    <a:solidFill>
                      <a:schemeClr val="accent3">
                        <a:lumMod val="50000"/>
                      </a:schemeClr>
                    </a:solidFill>
                  </a:rPr>
                  <a:t>desarrollo</a:t>
                </a:r>
                <a:r>
                  <a:rPr lang="es-MX" sz="1300" b="1" dirty="0">
                    <a:solidFill>
                      <a:schemeClr val="accent3">
                        <a:lumMod val="50000"/>
                      </a:schemeClr>
                    </a:solidFill>
                  </a:rPr>
                  <a:t> </a:t>
                </a:r>
                <a:r>
                  <a:rPr lang="es-MX" sz="1300" b="1" dirty="0" err="1">
                    <a:solidFill>
                      <a:schemeClr val="accent3">
                        <a:lumMod val="50000"/>
                      </a:schemeClr>
                    </a:solidFill>
                  </a:rPr>
                  <a:t>por</a:t>
                </a:r>
                <a:r>
                  <a:rPr lang="es-MX" sz="1300" b="1" dirty="0">
                    <a:solidFill>
                      <a:schemeClr val="accent3">
                        <a:lumMod val="50000"/>
                      </a:schemeClr>
                    </a:solidFill>
                  </a:rPr>
                  <a:t> </a:t>
                </a:r>
                <a:r>
                  <a:rPr lang="es-MX" sz="1300" b="1" dirty="0" err="1">
                    <a:solidFill>
                      <a:schemeClr val="accent3">
                        <a:lumMod val="50000"/>
                      </a:schemeClr>
                    </a:solidFill>
                  </a:rPr>
                  <a:t>cofactores</a:t>
                </a:r>
                <a:r>
                  <a:rPr lang="es-MX" sz="1300" b="1" dirty="0">
                    <a:solidFill>
                      <a:schemeClr val="accent3">
                        <a:lumMod val="50000"/>
                      </a:schemeClr>
                    </a:solidFill>
                  </a:rPr>
                  <a:t> </a:t>
                </a:r>
                <a:r>
                  <a:rPr lang="es-MX" sz="1300" b="1" dirty="0" err="1">
                    <a:solidFill>
                      <a:schemeClr val="accent3">
                        <a:lumMod val="50000"/>
                      </a:schemeClr>
                    </a:solidFill>
                  </a:rPr>
                  <a:t>requiere</a:t>
                </a:r>
                <a:r>
                  <a:rPr lang="es-MX" sz="1300" b="1" dirty="0">
                    <a:solidFill>
                      <a:schemeClr val="accent3">
                        <a:lumMod val="50000"/>
                      </a:schemeClr>
                    </a:solidFill>
                  </a:rPr>
                  <a:t> </a:t>
                </a:r>
                <a:r>
                  <a:rPr lang="es-MX" sz="1300" b="1" dirty="0" err="1">
                    <a:solidFill>
                      <a:schemeClr val="accent3">
                        <a:lumMod val="50000"/>
                      </a:schemeClr>
                    </a:solidFill>
                  </a:rPr>
                  <a:t>aproximadamente</a:t>
                </a:r>
                <a:r>
                  <a:rPr lang="es-MX" sz="1300" b="1" dirty="0">
                    <a:solidFill>
                      <a:schemeClr val="accent3">
                        <a:lumMod val="50000"/>
                      </a:schemeClr>
                    </a:solidFill>
                  </a:rPr>
                  <a:t> </a:t>
                </a:r>
                <a14:m>
                  <m:oMath xmlns:m="http://schemas.openxmlformats.org/officeDocument/2006/math">
                    <m:r>
                      <a:rPr lang="es-MX" sz="1300" b="1" i="1" dirty="0" smtClean="0">
                        <a:solidFill>
                          <a:schemeClr val="accent3">
                            <a:lumMod val="50000"/>
                          </a:schemeClr>
                        </a:solidFill>
                        <a:latin typeface="Cambria Math" panose="02040503050406030204" pitchFamily="18" charset="0"/>
                      </a:rPr>
                      <m:t>𝒏</m:t>
                    </m:r>
                    <m:r>
                      <a:rPr lang="es-MX" sz="1300" b="1" i="1" dirty="0" smtClean="0">
                        <a:solidFill>
                          <a:schemeClr val="accent3">
                            <a:lumMod val="50000"/>
                          </a:schemeClr>
                        </a:solidFill>
                        <a:latin typeface="Cambria Math" panose="02040503050406030204" pitchFamily="18" charset="0"/>
                      </a:rPr>
                      <m:t>!</m:t>
                    </m:r>
                    <m:r>
                      <a:rPr lang="es-MX" sz="1300" b="1" i="0" dirty="0" smtClean="0">
                        <a:solidFill>
                          <a:schemeClr val="accent3">
                            <a:lumMod val="50000"/>
                          </a:schemeClr>
                        </a:solidFill>
                        <a:latin typeface="Cambria Math" panose="02040503050406030204" pitchFamily="18" charset="0"/>
                      </a:rPr>
                      <m:t> </m:t>
                    </m:r>
                  </m:oMath>
                </a14:m>
                <a:r>
                  <a:rPr lang="es-MX" sz="1300" b="1" dirty="0" err="1">
                    <a:solidFill>
                      <a:schemeClr val="accent3">
                        <a:lumMod val="50000"/>
                      </a:schemeClr>
                    </a:solidFill>
                  </a:rPr>
                  <a:t>multiplicaciones</a:t>
                </a:r>
                <a:r>
                  <a:rPr lang="es-MX" sz="1300" b="1" dirty="0">
                    <a:solidFill>
                      <a:schemeClr val="accent3">
                        <a:lumMod val="50000"/>
                      </a:schemeClr>
                    </a:solidFill>
                  </a:rPr>
                  <a:t>.</a:t>
                </a:r>
              </a:p>
              <a:p>
                <a:pPr>
                  <a:spcAft>
                    <a:spcPts val="400"/>
                  </a:spcAft>
                  <a:defRPr sz="1500">
                    <a:solidFill>
                      <a:srgbClr val="232D34"/>
                    </a:solidFill>
                    <a:latin typeface="Arial"/>
                  </a:defRPr>
                </a:pPr>
                <a:endParaRPr lang="es-MX" dirty="0">
                  <a:solidFill>
                    <a:schemeClr val="accent3">
                      <a:lumMod val="50000"/>
                    </a:schemeClr>
                  </a:solidFill>
                </a:endParaRPr>
              </a:p>
              <a:p>
                <a:pPr>
                  <a:spcAft>
                    <a:spcPts val="400"/>
                  </a:spcAft>
                  <a:defRPr sz="15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solidFill>
                            <a:schemeClr val="accent3">
                              <a:lumMod val="50000"/>
                            </a:schemeClr>
                          </a:solidFill>
                          <a:latin typeface="Cambria Math" panose="02040503050406030204" pitchFamily="18" charset="0"/>
                        </a:rPr>
                        <m:t>𝟐𝟓</m:t>
                      </m:r>
                      <m:r>
                        <a:rPr lang="es-MX" b="1" i="1" dirty="0" smtClean="0">
                          <a:solidFill>
                            <a:schemeClr val="accent3">
                              <a:lumMod val="50000"/>
                            </a:schemeClr>
                          </a:solidFill>
                          <a:latin typeface="Cambria Math" panose="02040503050406030204" pitchFamily="18" charset="0"/>
                        </a:rPr>
                        <m:t>! ≈ </m:t>
                      </m:r>
                      <m:r>
                        <a:rPr lang="es-MX" b="1" i="1" dirty="0" smtClean="0">
                          <a:solidFill>
                            <a:schemeClr val="accent3">
                              <a:lumMod val="50000"/>
                            </a:schemeClr>
                          </a:solidFill>
                          <a:latin typeface="Cambria Math" panose="02040503050406030204" pitchFamily="18" charset="0"/>
                        </a:rPr>
                        <m:t>𝟏</m:t>
                      </m:r>
                      <m:r>
                        <a:rPr lang="es-MX" b="1" i="1" dirty="0" smtClean="0">
                          <a:solidFill>
                            <a:schemeClr val="accent3">
                              <a:lumMod val="50000"/>
                            </a:schemeClr>
                          </a:solidFill>
                          <a:latin typeface="Cambria Math" panose="02040503050406030204" pitchFamily="18" charset="0"/>
                        </a:rPr>
                        <m:t>.</m:t>
                      </m:r>
                      <m:r>
                        <a:rPr lang="es-MX" b="1" i="1" dirty="0" smtClean="0">
                          <a:solidFill>
                            <a:schemeClr val="accent3">
                              <a:lumMod val="50000"/>
                            </a:schemeClr>
                          </a:solidFill>
                          <a:latin typeface="Cambria Math" panose="02040503050406030204" pitchFamily="18" charset="0"/>
                        </a:rPr>
                        <m:t>𝟓</m:t>
                      </m:r>
                      <m:r>
                        <a:rPr lang="es-MX" b="1" i="1" dirty="0" smtClean="0">
                          <a:solidFill>
                            <a:schemeClr val="accent3">
                              <a:lumMod val="50000"/>
                            </a:schemeClr>
                          </a:solidFill>
                          <a:latin typeface="Cambria Math" panose="02040503050406030204" pitchFamily="18" charset="0"/>
                        </a:rPr>
                        <m:t> × </m:t>
                      </m:r>
                      <m:r>
                        <a:rPr lang="es-MX" b="1" i="1" dirty="0" smtClean="0">
                          <a:solidFill>
                            <a:schemeClr val="accent3">
                              <a:lumMod val="50000"/>
                            </a:schemeClr>
                          </a:solidFill>
                          <a:latin typeface="Cambria Math" panose="02040503050406030204" pitchFamily="18" charset="0"/>
                        </a:rPr>
                        <m:t>𝟏𝟎</m:t>
                      </m:r>
                      <m:r>
                        <a:rPr lang="es-MX" b="1" i="1" dirty="0" smtClean="0">
                          <a:solidFill>
                            <a:schemeClr val="accent3">
                              <a:lumMod val="50000"/>
                            </a:schemeClr>
                          </a:solidFill>
                          <a:latin typeface="Cambria Math" panose="02040503050406030204" pitchFamily="18" charset="0"/>
                        </a:rPr>
                        <m:t>²⁵</m:t>
                      </m:r>
                    </m:oMath>
                  </m:oMathPara>
                </a14:m>
                <a:endParaRPr lang="es-MX" b="1" dirty="0">
                  <a:solidFill>
                    <a:schemeClr val="accent3">
                      <a:lumMod val="50000"/>
                    </a:schemeClr>
                  </a:solidFill>
                </a:endParaRPr>
              </a:p>
              <a:p>
                <a:pPr>
                  <a:spcAft>
                    <a:spcPts val="400"/>
                  </a:spcAft>
                  <a:defRPr sz="1500">
                    <a:solidFill>
                      <a:srgbClr val="232D34"/>
                    </a:solidFill>
                    <a:latin typeface="Arial"/>
                  </a:defRPr>
                </a:pPr>
                <a:endParaRPr lang="es-MX" dirty="0">
                  <a:solidFill>
                    <a:schemeClr val="accent3">
                      <a:lumMod val="50000"/>
                    </a:schemeClr>
                  </a:solidFill>
                </a:endParaRPr>
              </a:p>
              <a:p>
                <a:pPr algn="just">
                  <a:spcAft>
                    <a:spcPts val="400"/>
                  </a:spcAft>
                  <a:defRPr sz="1500">
                    <a:solidFill>
                      <a:srgbClr val="232D34"/>
                    </a:solidFill>
                    <a:latin typeface="Arial"/>
                  </a:defRPr>
                </a:pPr>
                <a:r>
                  <a:rPr lang="es-MX" sz="1300" b="1" dirty="0">
                    <a:solidFill>
                      <a:schemeClr val="accent3">
                        <a:lumMod val="50000"/>
                      </a:schemeClr>
                    </a:solidFill>
                    <a:latin typeface="Arial"/>
                  </a:rPr>
                  <a:t>El material original </a:t>
                </a:r>
                <a:r>
                  <a:rPr lang="es-MX" sz="1300" b="1" dirty="0" err="1">
                    <a:solidFill>
                      <a:schemeClr val="accent3">
                        <a:lumMod val="50000"/>
                      </a:schemeClr>
                    </a:solidFill>
                    <a:latin typeface="Arial"/>
                  </a:rPr>
                  <a:t>destaca</a:t>
                </a:r>
                <a:r>
                  <a:rPr lang="es-MX" sz="1300" b="1" dirty="0">
                    <a:solidFill>
                      <a:schemeClr val="accent3">
                        <a:lumMod val="50000"/>
                      </a:schemeClr>
                    </a:solidFill>
                    <a:latin typeface="Arial"/>
                  </a:rPr>
                  <a:t> </a:t>
                </a:r>
                <a:r>
                  <a:rPr lang="es-MX" sz="1300" b="1" dirty="0" err="1">
                    <a:solidFill>
                      <a:schemeClr val="accent3">
                        <a:lumMod val="50000"/>
                      </a:schemeClr>
                    </a:solidFill>
                    <a:latin typeface="Arial"/>
                  </a:rPr>
                  <a:t>que</a:t>
                </a:r>
                <a:r>
                  <a:rPr lang="es-MX" sz="1300" b="1" dirty="0">
                    <a:solidFill>
                      <a:schemeClr val="accent3">
                        <a:lumMod val="50000"/>
                      </a:schemeClr>
                    </a:solidFill>
                    <a:latin typeface="Arial"/>
                  </a:rPr>
                  <a:t> </a:t>
                </a:r>
                <a:r>
                  <a:rPr lang="es-MX" sz="1300" b="1" dirty="0" err="1">
                    <a:solidFill>
                      <a:schemeClr val="accent3">
                        <a:lumMod val="50000"/>
                      </a:schemeClr>
                    </a:solidFill>
                    <a:latin typeface="Arial"/>
                  </a:rPr>
                  <a:t>este</a:t>
                </a:r>
                <a:r>
                  <a:rPr lang="es-MX" sz="1300" b="1" dirty="0">
                    <a:solidFill>
                      <a:schemeClr val="accent3">
                        <a:lumMod val="50000"/>
                      </a:schemeClr>
                    </a:solidFill>
                    <a:latin typeface="Arial"/>
                  </a:rPr>
                  <a:t> </a:t>
                </a:r>
                <a:r>
                  <a:rPr lang="es-MX" sz="1300" b="1" dirty="0" err="1">
                    <a:solidFill>
                      <a:schemeClr val="accent3">
                        <a:lumMod val="50000"/>
                      </a:schemeClr>
                    </a:solidFill>
                    <a:latin typeface="Arial"/>
                  </a:rPr>
                  <a:t>crecimiento</a:t>
                </a:r>
                <a:r>
                  <a:rPr lang="es-MX" sz="1300" b="1" dirty="0">
                    <a:solidFill>
                      <a:schemeClr val="accent3">
                        <a:lumMod val="50000"/>
                      </a:schemeClr>
                    </a:solidFill>
                    <a:latin typeface="Arial"/>
                  </a:rPr>
                  <a:t> </a:t>
                </a:r>
                <a:r>
                  <a:rPr lang="es-MX" sz="1300" b="1" dirty="0" err="1">
                    <a:solidFill>
                      <a:schemeClr val="accent3">
                        <a:lumMod val="50000"/>
                      </a:schemeClr>
                    </a:solidFill>
                    <a:latin typeface="Arial"/>
                  </a:rPr>
                  <a:t>hace</a:t>
                </a:r>
                <a:r>
                  <a:rPr lang="es-MX" sz="1300" b="1" dirty="0">
                    <a:solidFill>
                      <a:schemeClr val="accent3">
                        <a:lumMod val="50000"/>
                      </a:schemeClr>
                    </a:solidFill>
                    <a:latin typeface="Arial"/>
                  </a:rPr>
                  <a:t> </a:t>
                </a:r>
                <a:r>
                  <a:rPr lang="es-MX" sz="1300" b="1" dirty="0" err="1">
                    <a:solidFill>
                      <a:schemeClr val="accent3">
                        <a:lumMod val="50000"/>
                      </a:schemeClr>
                    </a:solidFill>
                    <a:latin typeface="Arial"/>
                  </a:rPr>
                  <a:t>inviable</a:t>
                </a:r>
                <a:r>
                  <a:rPr lang="es-MX" sz="1300" b="1" dirty="0">
                    <a:solidFill>
                      <a:schemeClr val="accent3">
                        <a:lumMod val="50000"/>
                      </a:schemeClr>
                    </a:solidFill>
                    <a:latin typeface="Arial"/>
                  </a:rPr>
                  <a:t> el </a:t>
                </a:r>
                <a:r>
                  <a:rPr lang="es-MX" sz="1300" b="1" dirty="0" err="1">
                    <a:solidFill>
                      <a:schemeClr val="accent3">
                        <a:lumMod val="50000"/>
                      </a:schemeClr>
                    </a:solidFill>
                    <a:latin typeface="Arial"/>
                  </a:rPr>
                  <a:t>método</a:t>
                </a:r>
                <a:r>
                  <a:rPr lang="es-MX" sz="1300" b="1" dirty="0">
                    <a:solidFill>
                      <a:schemeClr val="accent3">
                        <a:lumMod val="50000"/>
                      </a:schemeClr>
                    </a:solidFill>
                    <a:latin typeface="Arial"/>
                  </a:rPr>
                  <a:t> para matrices </a:t>
                </a:r>
                <a:r>
                  <a:rPr lang="es-MX" sz="1300" b="1" dirty="0" err="1">
                    <a:solidFill>
                      <a:schemeClr val="accent3">
                        <a:lumMod val="50000"/>
                      </a:schemeClr>
                    </a:solidFill>
                    <a:latin typeface="Arial"/>
                  </a:rPr>
                  <a:t>grandes</a:t>
                </a:r>
                <a:r>
                  <a:rPr lang="es-MX" sz="1300" b="1" dirty="0">
                    <a:solidFill>
                      <a:schemeClr val="accent3">
                        <a:lumMod val="50000"/>
                      </a:schemeClr>
                    </a:solidFill>
                    <a:latin typeface="Arial"/>
                  </a:rPr>
                  <a:t>.</a:t>
                </a:r>
                <a:endParaRPr sz="1300" b="1" dirty="0">
                  <a:solidFill>
                    <a:schemeClr val="accent3">
                      <a:lumMod val="50000"/>
                    </a:schemeClr>
                  </a:solidFill>
                  <a:latin typeface="Arial"/>
                </a:endParaRPr>
              </a:p>
            </p:txBody>
          </p:sp>
        </mc:Choice>
        <mc:Fallback>
          <p:sp>
            <p:nvSpPr>
              <p:cNvPr id="22" name="Rounded Rectangle 16"/>
              <p:cNvSpPr>
                <a:spLocks noRot="1" noChangeAspect="1" noMove="1" noResize="1" noEditPoints="1" noAdjustHandles="1" noChangeArrowheads="1" noChangeShapeType="1" noTextEdit="1"/>
              </p:cNvSpPr>
              <p:nvPr/>
            </p:nvSpPr>
            <p:spPr>
              <a:xfrm>
                <a:off x="7414367" y="2345887"/>
                <a:ext cx="3657600" cy="3657600"/>
              </a:xfrm>
              <a:prstGeom prst="roundRect">
                <a:avLst/>
              </a:prstGeom>
              <a:blipFill rotWithShape="0">
                <a:blip r:embed="rId2"/>
                <a:stretch>
                  <a:fillRect/>
                </a:stretch>
              </a:blipFill>
              <a:ln w="19050">
                <a:solidFill>
                  <a:srgbClr val="BE4646"/>
                </a:solidFill>
              </a:ln>
            </p:spPr>
            <p:txBody>
              <a:bodyPr/>
              <a:lstStyle/>
              <a:p>
                <a:r>
                  <a:rPr lang="es-MX">
                    <a:noFill/>
                  </a:rPr>
                  <a:t> </a:t>
                </a:r>
              </a:p>
            </p:txBody>
          </p:sp>
        </mc:Fallback>
      </mc:AlternateContent>
    </p:spTree>
    <p:extLst>
      <p:ext uri="{BB962C8B-B14F-4D97-AF65-F5344CB8AC3E}">
        <p14:creationId xmlns:p14="http://schemas.microsoft.com/office/powerpoint/2010/main" val="24732912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631842" y="1167615"/>
            <a:ext cx="5293217" cy="540039"/>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500" b="1" dirty="0">
                <a:solidFill>
                  <a:srgbClr val="FF0000"/>
                </a:solidFill>
                <a:latin typeface="Arial" panose="020B0604020202020204" pitchFamily="34" charset="0"/>
                <a:cs typeface="Arial" panose="020B0604020202020204" pitchFamily="34" charset="0"/>
              </a:rPr>
              <a:t>Propiedades de los determinantes</a:t>
            </a:r>
            <a:endParaRPr kumimoji="0" lang="es-NI" sz="25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p:sp>
        <p:nvSpPr>
          <p:cNvPr id="9" name="Title 1"/>
          <p:cNvSpPr txBox="1">
            <a:spLocks/>
          </p:cNvSpPr>
          <p:nvPr/>
        </p:nvSpPr>
        <p:spPr>
          <a:xfrm>
            <a:off x="0" y="1707654"/>
            <a:ext cx="4082603" cy="45599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100" b="1" dirty="0" smtClean="0">
                <a:solidFill>
                  <a:srgbClr val="FF0000"/>
                </a:solidFill>
                <a:latin typeface="Arial" panose="020B0604020202020204" pitchFamily="34" charset="0"/>
                <a:cs typeface="Arial" panose="020B0604020202020204" pitchFamily="34" charset="0"/>
              </a:rPr>
              <a:t>Teorema</a:t>
            </a:r>
            <a:r>
              <a:rPr lang="es-MX" sz="2100" b="1" dirty="0">
                <a:solidFill>
                  <a:schemeClr val="accent3">
                    <a:lumMod val="50000"/>
                  </a:schemeClr>
                </a:solidFill>
                <a:latin typeface="Arial" panose="020B0604020202020204" pitchFamily="34" charset="0"/>
                <a:cs typeface="Arial" panose="020B0604020202020204" pitchFamily="34" charset="0"/>
              </a:rPr>
              <a:t> </a:t>
            </a:r>
            <a:r>
              <a:rPr lang="es-MX" sz="2100" b="1" dirty="0" smtClean="0">
                <a:solidFill>
                  <a:schemeClr val="accent3">
                    <a:lumMod val="50000"/>
                  </a:schemeClr>
                </a:solidFill>
                <a:latin typeface="Arial" panose="020B0604020202020204" pitchFamily="34" charset="0"/>
                <a:cs typeface="Arial" panose="020B0604020202020204" pitchFamily="34" charset="0"/>
              </a:rPr>
              <a:t>(</a:t>
            </a:r>
            <a:r>
              <a:rPr lang="es-MX" sz="2100" b="1" dirty="0" smtClean="0">
                <a:solidFill>
                  <a:schemeClr val="accent3">
                    <a:lumMod val="50000"/>
                  </a:schemeClr>
                </a:solidFill>
                <a:latin typeface="Arial" panose="020B0604020202020204" pitchFamily="34" charset="0"/>
                <a:cs typeface="Arial" panose="020B0604020202020204" pitchFamily="34" charset="0"/>
              </a:rPr>
              <a:t>Operaciones </a:t>
            </a:r>
            <a:r>
              <a:rPr lang="es-MX" sz="2100" b="1" dirty="0">
                <a:solidFill>
                  <a:schemeClr val="accent3">
                    <a:lumMod val="50000"/>
                  </a:schemeClr>
                </a:solidFill>
                <a:latin typeface="Arial" panose="020B0604020202020204" pitchFamily="34" charset="0"/>
                <a:cs typeface="Arial" panose="020B0604020202020204" pitchFamily="34" charset="0"/>
              </a:rPr>
              <a:t>de </a:t>
            </a:r>
            <a:r>
              <a:rPr lang="es-MX" sz="2100" b="1" dirty="0" smtClean="0">
                <a:solidFill>
                  <a:schemeClr val="accent3">
                    <a:lumMod val="50000"/>
                  </a:schemeClr>
                </a:solidFill>
                <a:latin typeface="Arial" panose="020B0604020202020204" pitchFamily="34" charset="0"/>
                <a:cs typeface="Arial" panose="020B0604020202020204" pitchFamily="34" charset="0"/>
              </a:rPr>
              <a:t>Fila)</a:t>
            </a:r>
            <a:endParaRPr lang="es-MX" sz="2100" b="1" dirty="0">
              <a:solidFill>
                <a:schemeClr val="accent3">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Rectángulo 1"/>
              <p:cNvSpPr/>
              <p:nvPr/>
            </p:nvSpPr>
            <p:spPr>
              <a:xfrm>
                <a:off x="-12879" y="2247693"/>
                <a:ext cx="3863662" cy="415498"/>
              </a:xfrm>
              <a:prstGeom prst="rect">
                <a:avLst/>
              </a:prstGeom>
            </p:spPr>
            <p:txBody>
              <a:bodyPr wrap="square">
                <a:spAutoFit/>
              </a:bodyPr>
              <a:lstStyle/>
              <a:p>
                <a:pPr lvl="0" algn="just">
                  <a:defRPr/>
                </a:pPr>
                <a:r>
                  <a:rPr lang="es-MX" sz="2100" b="1" dirty="0">
                    <a:solidFill>
                      <a:schemeClr val="accent3">
                        <a:lumMod val="50000"/>
                      </a:schemeClr>
                    </a:solidFill>
                    <a:latin typeface="Arial" panose="020B0604020202020204" pitchFamily="34" charset="0"/>
                    <a:cs typeface="Arial" panose="020B0604020202020204" pitchFamily="34" charset="0"/>
                  </a:rPr>
                  <a:t>Sea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una matriz </a:t>
                </a:r>
                <a:r>
                  <a:rPr lang="es-MX" sz="2100" b="1" dirty="0" smtClean="0">
                    <a:solidFill>
                      <a:schemeClr val="accent3">
                        <a:lumMod val="50000"/>
                      </a:schemeClr>
                    </a:solidFill>
                    <a:latin typeface="Arial" panose="020B0604020202020204" pitchFamily="34" charset="0"/>
                    <a:cs typeface="Arial" panose="020B0604020202020204" pitchFamily="34" charset="0"/>
                  </a:rPr>
                  <a:t>cuadrada.</a:t>
                </a:r>
              </a:p>
            </p:txBody>
          </p:sp>
        </mc:Choice>
        <mc:Fallback xmlns="">
          <p:sp>
            <p:nvSpPr>
              <p:cNvPr id="2" name="Rectángulo 1"/>
              <p:cNvSpPr>
                <a:spLocks noRot="1" noChangeAspect="1" noMove="1" noResize="1" noEditPoints="1" noAdjustHandles="1" noChangeArrowheads="1" noChangeShapeType="1" noTextEdit="1"/>
              </p:cNvSpPr>
              <p:nvPr/>
            </p:nvSpPr>
            <p:spPr>
              <a:xfrm>
                <a:off x="-12879" y="2247693"/>
                <a:ext cx="3863662" cy="415498"/>
              </a:xfrm>
              <a:prstGeom prst="rect">
                <a:avLst/>
              </a:prstGeom>
              <a:blipFill rotWithShape="0">
                <a:blip r:embed="rId2"/>
                <a:stretch>
                  <a:fillRect l="-1893" t="-10294" b="-2794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0" y="2740732"/>
                <a:ext cx="12192000" cy="738664"/>
              </a:xfrm>
              <a:prstGeom prst="rect">
                <a:avLst/>
              </a:prstGeom>
            </p:spPr>
            <p:txBody>
              <a:bodyPr wrap="square">
                <a:spAutoFit/>
              </a:bodyPr>
              <a:lstStyle/>
              <a:p>
                <a:pPr lvl="0" algn="just">
                  <a:defRPr/>
                </a:pPr>
                <a:r>
                  <a:rPr lang="es-MX" sz="2100" b="1" dirty="0">
                    <a:solidFill>
                      <a:srgbClr val="FF0000"/>
                    </a:solidFill>
                    <a:latin typeface="Arial" panose="020B0604020202020204" pitchFamily="34" charset="0"/>
                    <a:cs typeface="Arial" panose="020B0604020202020204" pitchFamily="34" charset="0"/>
                  </a:rPr>
                  <a:t>a) </a:t>
                </a:r>
                <a:r>
                  <a:rPr lang="es-MX" sz="2100" b="1" dirty="0">
                    <a:solidFill>
                      <a:schemeClr val="accent3">
                        <a:lumMod val="50000"/>
                      </a:schemeClr>
                    </a:solidFill>
                    <a:latin typeface="Arial" panose="020B0604020202020204" pitchFamily="34" charset="0"/>
                    <a:cs typeface="Arial" panose="020B0604020202020204" pitchFamily="34" charset="0"/>
                  </a:rPr>
                  <a:t>Si un múltiplo de una fila de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se suma a otra fila para producir una matriz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𝑩</m:t>
                    </m:r>
                  </m:oMath>
                </a14:m>
                <a:r>
                  <a:rPr lang="es-MX" sz="2100" b="1" dirty="0">
                    <a:solidFill>
                      <a:schemeClr val="accent3">
                        <a:lumMod val="50000"/>
                      </a:schemeClr>
                    </a:solidFill>
                    <a:latin typeface="Arial" panose="020B0604020202020204" pitchFamily="34" charset="0"/>
                    <a:cs typeface="Arial" panose="020B0604020202020204" pitchFamily="34" charset="0"/>
                  </a:rPr>
                  <a:t>, entonces </a:t>
                </a:r>
                <a14:m>
                  <m:oMath xmlns:m="http://schemas.openxmlformats.org/officeDocument/2006/math">
                    <m:r>
                      <m:rPr>
                        <m:sty m:val="p"/>
                      </m:rPr>
                      <a:rPr lang="es-MX" sz="2100" b="1" i="1" dirty="0">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𝑩</m:t>
                    </m:r>
                    <m:r>
                      <a:rPr lang="es-MX" sz="2100" b="1" i="1" dirty="0">
                        <a:solidFill>
                          <a:schemeClr val="accent3">
                            <a:lumMod val="50000"/>
                          </a:schemeClr>
                        </a:solidFill>
                        <a:latin typeface="Cambria Math" panose="02040503050406030204" pitchFamily="18" charset="0"/>
                        <a:cs typeface="Arial" panose="020B0604020202020204" pitchFamily="34" charset="0"/>
                      </a:rPr>
                      <m:t> = </m:t>
                    </m:r>
                    <m:r>
                      <m:rPr>
                        <m:sty m:val="p"/>
                      </m:rPr>
                      <a:rPr lang="es-MX" sz="2100" b="1" i="1" dirty="0" err="1">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smtClean="0">
                    <a:solidFill>
                      <a:schemeClr val="accent3">
                        <a:lumMod val="50000"/>
                      </a:schemeClr>
                    </a:solidFill>
                    <a:latin typeface="Arial" panose="020B0604020202020204" pitchFamily="34" charset="0"/>
                    <a:cs typeface="Arial" panose="020B0604020202020204" pitchFamily="34" charset="0"/>
                  </a:rPr>
                  <a:t>.</a:t>
                </a:r>
                <a:endParaRPr lang="es-MX"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0" y="2740732"/>
                <a:ext cx="12192000" cy="738664"/>
              </a:xfrm>
              <a:prstGeom prst="rect">
                <a:avLst/>
              </a:prstGeom>
              <a:blipFill rotWithShape="0">
                <a:blip r:embed="rId3"/>
                <a:stretch>
                  <a:fillRect l="-600" t="-5785" r="-600" b="-1487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0" y="3556937"/>
                <a:ext cx="10212946" cy="415498"/>
              </a:xfrm>
              <a:prstGeom prst="rect">
                <a:avLst/>
              </a:prstGeom>
            </p:spPr>
            <p:txBody>
              <a:bodyPr wrap="square">
                <a:spAutoFit/>
              </a:bodyPr>
              <a:lstStyle/>
              <a:p>
                <a:pPr lvl="0" algn="just">
                  <a:defRPr/>
                </a:pPr>
                <a:r>
                  <a:rPr lang="es-MX" sz="2100" b="1" dirty="0" smtClean="0">
                    <a:solidFill>
                      <a:srgbClr val="FF0000"/>
                    </a:solidFill>
                    <a:latin typeface="Arial" panose="020B0604020202020204" pitchFamily="34" charset="0"/>
                    <a:cs typeface="Arial" panose="020B0604020202020204" pitchFamily="34" charset="0"/>
                  </a:rPr>
                  <a:t>b) </a:t>
                </a:r>
                <a:r>
                  <a:rPr lang="es-MX" sz="2100" b="1" dirty="0">
                    <a:solidFill>
                      <a:schemeClr val="accent3">
                        <a:lumMod val="50000"/>
                      </a:schemeClr>
                    </a:solidFill>
                    <a:latin typeface="Arial" panose="020B0604020202020204" pitchFamily="34" charset="0"/>
                    <a:cs typeface="Arial" panose="020B0604020202020204" pitchFamily="34" charset="0"/>
                  </a:rPr>
                  <a:t>Si dos filas de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se intercambian para producir</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 </m:t>
                    </m:r>
                    <m:r>
                      <a:rPr lang="es-MX" sz="2100" b="1" i="1" dirty="0">
                        <a:solidFill>
                          <a:schemeClr val="accent3">
                            <a:lumMod val="50000"/>
                          </a:schemeClr>
                        </a:solidFill>
                        <a:latin typeface="Cambria Math" panose="02040503050406030204" pitchFamily="18" charset="0"/>
                        <a:cs typeface="Arial" panose="020B0604020202020204" pitchFamily="34" charset="0"/>
                      </a:rPr>
                      <m:t>𝑩</m:t>
                    </m:r>
                  </m:oMath>
                </a14:m>
                <a:r>
                  <a:rPr lang="es-MX" sz="2100" b="1" dirty="0">
                    <a:solidFill>
                      <a:schemeClr val="accent3">
                        <a:lumMod val="50000"/>
                      </a:schemeClr>
                    </a:solidFill>
                    <a:latin typeface="Arial" panose="020B0604020202020204" pitchFamily="34" charset="0"/>
                    <a:cs typeface="Arial" panose="020B0604020202020204" pitchFamily="34" charset="0"/>
                  </a:rPr>
                  <a:t>, entonces </a:t>
                </a:r>
                <a14:m>
                  <m:oMath xmlns:m="http://schemas.openxmlformats.org/officeDocument/2006/math">
                    <m:func>
                      <m:funcPr>
                        <m:ctrlPr>
                          <a:rPr lang="es-MX" sz="2100" b="1" i="1" dirty="0">
                            <a:solidFill>
                              <a:schemeClr val="accent3">
                                <a:lumMod val="50000"/>
                              </a:schemeClr>
                            </a:solidFill>
                            <a:latin typeface="Cambria Math" panose="02040503050406030204" pitchFamily="18" charset="0"/>
                            <a:cs typeface="Arial" panose="020B0604020202020204" pitchFamily="34" charset="0"/>
                          </a:rPr>
                        </m:ctrlPr>
                      </m:funcPr>
                      <m:fName>
                        <m:r>
                          <m:rPr>
                            <m:sty m:val="p"/>
                          </m:rPr>
                          <a:rPr lang="es-MX" sz="2100" b="0" i="0" dirty="0">
                            <a:solidFill>
                              <a:schemeClr val="accent3">
                                <a:lumMod val="50000"/>
                              </a:schemeClr>
                            </a:solidFill>
                            <a:latin typeface="Cambria Math" panose="02040503050406030204" pitchFamily="18" charset="0"/>
                            <a:cs typeface="Arial" panose="020B0604020202020204" pitchFamily="34" charset="0"/>
                          </a:rPr>
                          <m:t>det</m:t>
                        </m:r>
                      </m:fName>
                      <m:e>
                        <m:r>
                          <a:rPr lang="es-MX" sz="2100" b="1" i="1" dirty="0">
                            <a:solidFill>
                              <a:schemeClr val="accent3">
                                <a:lumMod val="50000"/>
                              </a:schemeClr>
                            </a:solidFill>
                            <a:latin typeface="Cambria Math" panose="02040503050406030204" pitchFamily="18" charset="0"/>
                            <a:cs typeface="Arial" panose="020B0604020202020204" pitchFamily="34" charset="0"/>
                          </a:rPr>
                          <m:t>𝑩</m:t>
                        </m:r>
                      </m:e>
                    </m:func>
                    <m:r>
                      <a:rPr lang="es-NI" sz="2100" b="1" i="1" dirty="0" smtClean="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 </m:t>
                    </m:r>
                    <m:r>
                      <m:rPr>
                        <m:sty m:val="p"/>
                      </m:rPr>
                      <a:rPr lang="es-MX" sz="2100" b="1" i="1" dirty="0" err="1">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smtClean="0">
                    <a:solidFill>
                      <a:schemeClr val="accent3">
                        <a:lumMod val="50000"/>
                      </a:schemeClr>
                    </a:solidFill>
                    <a:latin typeface="Arial" panose="020B0604020202020204" pitchFamily="34" charset="0"/>
                    <a:cs typeface="Arial" panose="020B0604020202020204" pitchFamily="34" charset="0"/>
                  </a:rPr>
                  <a:t>.</a:t>
                </a:r>
                <a:endParaRPr lang="es-MX"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0" y="3556937"/>
                <a:ext cx="10212946" cy="415498"/>
              </a:xfrm>
              <a:prstGeom prst="rect">
                <a:avLst/>
              </a:prstGeom>
              <a:blipFill rotWithShape="0">
                <a:blip r:embed="rId4"/>
                <a:stretch>
                  <a:fillRect l="-716" t="-8696" b="-2753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12879" y="4056477"/>
                <a:ext cx="10431887" cy="415498"/>
              </a:xfrm>
              <a:prstGeom prst="rect">
                <a:avLst/>
              </a:prstGeom>
            </p:spPr>
            <p:txBody>
              <a:bodyPr wrap="square">
                <a:spAutoFit/>
              </a:bodyPr>
              <a:lstStyle/>
              <a:p>
                <a:pPr lvl="0" algn="just">
                  <a:defRPr/>
                </a:pPr>
                <a:r>
                  <a:rPr lang="es-MX" sz="2100" b="1" dirty="0">
                    <a:solidFill>
                      <a:srgbClr val="FF0000"/>
                    </a:solidFill>
                    <a:latin typeface="Arial" panose="020B0604020202020204" pitchFamily="34" charset="0"/>
                    <a:cs typeface="Arial" panose="020B0604020202020204" pitchFamily="34" charset="0"/>
                  </a:rPr>
                  <a:t>c) </a:t>
                </a:r>
                <a:r>
                  <a:rPr lang="es-MX" sz="2100" b="1" dirty="0">
                    <a:solidFill>
                      <a:schemeClr val="accent3">
                        <a:lumMod val="50000"/>
                      </a:schemeClr>
                    </a:solidFill>
                    <a:latin typeface="Arial" panose="020B0604020202020204" pitchFamily="34" charset="0"/>
                    <a:cs typeface="Arial" panose="020B0604020202020204" pitchFamily="34" charset="0"/>
                  </a:rPr>
                  <a:t>Si una fila de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se multiplica por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𝒌</m:t>
                    </m:r>
                  </m:oMath>
                </a14:m>
                <a:r>
                  <a:rPr lang="es-MX" sz="2100" b="1" dirty="0">
                    <a:solidFill>
                      <a:schemeClr val="accent3">
                        <a:lumMod val="50000"/>
                      </a:schemeClr>
                    </a:solidFill>
                    <a:latin typeface="Arial" panose="020B0604020202020204" pitchFamily="34" charset="0"/>
                    <a:cs typeface="Arial" panose="020B0604020202020204" pitchFamily="34" charset="0"/>
                  </a:rPr>
                  <a:t> para producir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𝑩</m:t>
                    </m:r>
                  </m:oMath>
                </a14:m>
                <a:r>
                  <a:rPr lang="es-MX" sz="2100" b="1" dirty="0">
                    <a:solidFill>
                      <a:schemeClr val="accent3">
                        <a:lumMod val="50000"/>
                      </a:schemeClr>
                    </a:solidFill>
                    <a:latin typeface="Arial" panose="020B0604020202020204" pitchFamily="34" charset="0"/>
                    <a:cs typeface="Arial" panose="020B0604020202020204" pitchFamily="34" charset="0"/>
                  </a:rPr>
                  <a:t>, entonces </a:t>
                </a:r>
                <a14:m>
                  <m:oMath xmlns:m="http://schemas.openxmlformats.org/officeDocument/2006/math">
                    <m:r>
                      <m:rPr>
                        <m:sty m:val="p"/>
                      </m:rPr>
                      <a:rPr lang="es-MX" sz="2100" b="1" i="1" dirty="0">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𝑩</m:t>
                    </m:r>
                    <m:r>
                      <a:rPr lang="es-MX" sz="2100" b="1" i="1" dirty="0">
                        <a:solidFill>
                          <a:schemeClr val="accent3">
                            <a:lumMod val="50000"/>
                          </a:schemeClr>
                        </a:solidFill>
                        <a:latin typeface="Cambria Math" panose="02040503050406030204" pitchFamily="18" charset="0"/>
                        <a:cs typeface="Arial" panose="020B0604020202020204" pitchFamily="34" charset="0"/>
                      </a:rPr>
                      <m:t> =</m:t>
                    </m:r>
                    <m:r>
                      <a:rPr lang="es-MX" sz="2100" b="1" i="1" dirty="0">
                        <a:solidFill>
                          <a:schemeClr val="accent3">
                            <a:lumMod val="50000"/>
                          </a:schemeClr>
                        </a:solidFill>
                        <a:latin typeface="Cambria Math" panose="02040503050406030204" pitchFamily="18" charset="0"/>
                        <a:cs typeface="Arial" panose="020B0604020202020204" pitchFamily="34" charset="0"/>
                      </a:rPr>
                      <m:t>𝒌</m:t>
                    </m:r>
                    <m:r>
                      <a:rPr lang="es-MX" sz="2100" b="1" i="1" dirty="0">
                        <a:solidFill>
                          <a:schemeClr val="accent3">
                            <a:lumMod val="50000"/>
                          </a:schemeClr>
                        </a:solidFill>
                        <a:latin typeface="Cambria Math" panose="02040503050406030204" pitchFamily="18" charset="0"/>
                        <a:cs typeface="Arial" panose="020B0604020202020204" pitchFamily="34" charset="0"/>
                      </a:rPr>
                      <m:t>. </m:t>
                    </m:r>
                    <m:r>
                      <m:rPr>
                        <m:sty m:val="p"/>
                      </m:rPr>
                      <a:rPr lang="es-MX" sz="2100" b="1" i="1" dirty="0" err="1">
                        <a:solidFill>
                          <a:schemeClr val="accent3">
                            <a:lumMod val="50000"/>
                          </a:schemeClr>
                        </a:solidFill>
                        <a:latin typeface="Cambria Math" panose="02040503050406030204" pitchFamily="18" charset="0"/>
                        <a:cs typeface="Arial" panose="020B0604020202020204" pitchFamily="34" charset="0"/>
                      </a:rPr>
                      <m:t>det</m:t>
                    </m:r>
                    <m:r>
                      <a:rPr lang="es-MX" sz="2100" b="1" i="1" dirty="0">
                        <a:solidFill>
                          <a:schemeClr val="accent3">
                            <a:lumMod val="50000"/>
                          </a:schemeClr>
                        </a:solidFill>
                        <a:latin typeface="Cambria Math" panose="02040503050406030204" pitchFamily="18" charset="0"/>
                        <a:cs typeface="Arial" panose="020B0604020202020204" pitchFamily="34" charset="0"/>
                      </a:rPr>
                      <m:t>⁡</m:t>
                    </m:r>
                    <m:r>
                      <a:rPr lang="es-MX" sz="2100" b="1" i="1" dirty="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a:t>
                </a:r>
                <a:endParaRPr lang="es-MX" sz="2100" dirty="0"/>
              </a:p>
            </p:txBody>
          </p:sp>
        </mc:Choice>
        <mc:Fallback xmlns="">
          <p:sp>
            <p:nvSpPr>
              <p:cNvPr id="5" name="Rectángulo 4"/>
              <p:cNvSpPr>
                <a:spLocks noRot="1" noChangeAspect="1" noMove="1" noResize="1" noEditPoints="1" noAdjustHandles="1" noChangeArrowheads="1" noChangeShapeType="1" noTextEdit="1"/>
              </p:cNvSpPr>
              <p:nvPr/>
            </p:nvSpPr>
            <p:spPr>
              <a:xfrm>
                <a:off x="-12879" y="4056477"/>
                <a:ext cx="10431887" cy="415498"/>
              </a:xfrm>
              <a:prstGeom prst="rect">
                <a:avLst/>
              </a:prstGeom>
              <a:blipFill rotWithShape="0">
                <a:blip r:embed="rId5"/>
                <a:stretch>
                  <a:fillRect l="-701" t="-10145" b="-26087"/>
                </a:stretch>
              </a:blipFill>
            </p:spPr>
            <p:txBody>
              <a:bodyPr/>
              <a:lstStyle/>
              <a:p>
                <a:r>
                  <a:rPr lang="es-MX">
                    <a:noFill/>
                  </a:rPr>
                  <a:t> </a:t>
                </a:r>
              </a:p>
            </p:txBody>
          </p:sp>
        </mc:Fallback>
      </mc:AlternateContent>
    </p:spTree>
    <p:extLst>
      <p:ext uri="{BB962C8B-B14F-4D97-AF65-F5344CB8AC3E}">
        <p14:creationId xmlns:p14="http://schemas.microsoft.com/office/powerpoint/2010/main" val="375668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ircle(in)">
                                      <p:cBhvr>
                                        <p:cTn id="21" dur="2000"/>
                                        <p:tgtEl>
                                          <p:spTgt spid="4"/>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 grpId="0"/>
      <p:bldP spid="3" grpId="0"/>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0" y="1222633"/>
            <a:ext cx="4770858" cy="430887"/>
          </a:xfrm>
          <a:prstGeom prst="rect">
            <a:avLst/>
          </a:prstGeom>
          <a:noFill/>
        </p:spPr>
        <p:txBody>
          <a:bodyPr wrap="none">
            <a:spAutoFit/>
          </a:bodyPr>
          <a:lstStyle/>
          <a:p>
            <a:pPr>
              <a:defRPr sz="2700" b="1">
                <a:solidFill>
                  <a:srgbClr val="232D34"/>
                </a:solidFill>
                <a:latin typeface="Arial"/>
              </a:defRPr>
            </a:pPr>
            <a:r>
              <a:rPr sz="2200" dirty="0"/>
              <a:t>¿</a:t>
            </a:r>
            <a:r>
              <a:rPr sz="2200" dirty="0" err="1"/>
              <a:t>Qué</a:t>
            </a:r>
            <a:r>
              <a:rPr sz="2200" dirty="0"/>
              <a:t> </a:t>
            </a:r>
            <a:r>
              <a:rPr sz="2200" dirty="0" err="1"/>
              <a:t>ocurre</a:t>
            </a:r>
            <a:r>
              <a:rPr sz="2200" dirty="0"/>
              <a:t> al </a:t>
            </a:r>
            <a:r>
              <a:rPr sz="2200" dirty="0" err="1"/>
              <a:t>modificar</a:t>
            </a:r>
            <a:r>
              <a:rPr sz="2200" dirty="0"/>
              <a:t> </a:t>
            </a:r>
            <a:r>
              <a:rPr sz="2200" dirty="0" err="1"/>
              <a:t>una</a:t>
            </a:r>
            <a:r>
              <a:rPr sz="2200" dirty="0"/>
              <a:t> </a:t>
            </a:r>
            <a:r>
              <a:rPr sz="2200" dirty="0" err="1"/>
              <a:t>fila</a:t>
            </a:r>
            <a:r>
              <a:rPr sz="2200" dirty="0"/>
              <a:t>?</a:t>
            </a:r>
          </a:p>
        </p:txBody>
      </p:sp>
      <p:sp>
        <p:nvSpPr>
          <p:cNvPr id="8" name="TextBox 3"/>
          <p:cNvSpPr txBox="1"/>
          <p:nvPr/>
        </p:nvSpPr>
        <p:spPr>
          <a:xfrm>
            <a:off x="0" y="1820610"/>
            <a:ext cx="4568879" cy="415498"/>
          </a:xfrm>
          <a:prstGeom prst="rect">
            <a:avLst/>
          </a:prstGeom>
          <a:noFill/>
        </p:spPr>
        <p:txBody>
          <a:bodyPr wrap="none">
            <a:spAutoFit/>
          </a:bodyPr>
          <a:lstStyle/>
          <a:p>
            <a:pPr>
              <a:defRPr sz="1400">
                <a:solidFill>
                  <a:srgbClr val="00A6A6"/>
                </a:solidFill>
                <a:latin typeface="Arial"/>
              </a:defRPr>
            </a:pPr>
            <a:r>
              <a:rPr sz="2100" b="1" dirty="0" err="1"/>
              <a:t>Propiedades</a:t>
            </a:r>
            <a:r>
              <a:rPr sz="2100" b="1" dirty="0"/>
              <a:t> de los </a:t>
            </a:r>
            <a:r>
              <a:rPr sz="2100" b="1" dirty="0" err="1"/>
              <a:t>determinantes</a:t>
            </a:r>
            <a:endParaRPr sz="2100" b="1" dirty="0"/>
          </a:p>
        </p:txBody>
      </p:sp>
      <mc:AlternateContent xmlns:mc="http://schemas.openxmlformats.org/markup-compatibility/2006">
        <mc:Choice xmlns:a14="http://schemas.microsoft.com/office/drawing/2010/main" Requires="a14">
          <p:sp>
            <p:nvSpPr>
              <p:cNvPr id="9" name="Rounded Rectangle 4"/>
              <p:cNvSpPr/>
              <p:nvPr/>
            </p:nvSpPr>
            <p:spPr>
              <a:xfrm>
                <a:off x="437882" y="2544866"/>
                <a:ext cx="3520440" cy="3566160"/>
              </a:xfrm>
              <a:prstGeom prst="roundRect">
                <a:avLst/>
              </a:prstGeom>
              <a:solidFill>
                <a:srgbClr val="EBF8F8"/>
              </a:solidFill>
              <a:ln w="19050">
                <a:solidFill>
                  <a:srgbClr val="DCAF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DCAF2D"/>
                    </a:solidFill>
                    <a:latin typeface="Arial"/>
                  </a:defRPr>
                </a:pPr>
                <a:r>
                  <a:rPr lang="es-MX" dirty="0" smtClean="0">
                    <a:solidFill>
                      <a:srgbClr val="FF0000"/>
                    </a:solidFill>
                  </a:rPr>
                  <a:t>1. </a:t>
                </a:r>
                <a:r>
                  <a:rPr lang="es-MX" dirty="0" err="1">
                    <a:solidFill>
                      <a:srgbClr val="FF0000"/>
                    </a:solidFill>
                  </a:rPr>
                  <a:t>Intercambio</a:t>
                </a:r>
                <a:endParaRPr lang="es-MX" dirty="0">
                  <a:solidFill>
                    <a:srgbClr val="FF0000"/>
                  </a:solidFill>
                </a:endParaRPr>
              </a:p>
              <a:p>
                <a:pPr>
                  <a:spcAft>
                    <a:spcPts val="400"/>
                  </a:spcAft>
                  <a:defRPr sz="1800">
                    <a:solidFill>
                      <a:srgbClr val="232D34"/>
                    </a:solidFill>
                    <a:latin typeface="Arial"/>
                  </a:defRPr>
                </a:pPr>
                <a:endParaRPr lang="es-MX" i="1" dirty="0" smtClean="0">
                  <a:latin typeface="Cambria Math" panose="02040503050406030204" pitchFamily="18" charset="0"/>
                </a:endParaRPr>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𝑭</m:t>
                      </m:r>
                      <m:r>
                        <a:rPr lang="es-MX" b="1" i="1" dirty="0" smtClean="0">
                          <a:latin typeface="Cambria Math" panose="02040503050406030204" pitchFamily="18" charset="0"/>
                        </a:rPr>
                        <m:t>ᵢ ↔ </m:t>
                      </m:r>
                      <m:r>
                        <a:rPr lang="es-MX" b="1" i="1" dirty="0" smtClean="0">
                          <a:latin typeface="Cambria Math" panose="02040503050406030204" pitchFamily="18" charset="0"/>
                        </a:rPr>
                        <m:t>𝑭</m:t>
                      </m:r>
                      <m:r>
                        <a:rPr lang="es-MX" b="1" i="1" dirty="0" smtClean="0">
                          <a:latin typeface="Cambria Math" panose="02040503050406030204" pitchFamily="18" charset="0"/>
                        </a:rPr>
                        <m:t>ⱼ</m:t>
                      </m:r>
                    </m:oMath>
                  </m:oMathPara>
                </a14:m>
                <a:endParaRPr lang="es-MX" b="1" dirty="0"/>
              </a:p>
              <a:p>
                <a:pPr>
                  <a:spcAft>
                    <a:spcPts val="400"/>
                  </a:spcAft>
                  <a:defRPr sz="1800">
                    <a:solidFill>
                      <a:srgbClr val="232D34"/>
                    </a:solidFill>
                    <a:latin typeface="Arial"/>
                  </a:defRPr>
                </a:pPr>
                <a:endParaRPr lang="es-MX" dirty="0"/>
              </a:p>
              <a:p>
                <a:pPr algn="just">
                  <a:spcAft>
                    <a:spcPts val="400"/>
                  </a:spcAft>
                  <a:defRPr sz="1800">
                    <a:solidFill>
                      <a:srgbClr val="232D34"/>
                    </a:solidFill>
                    <a:latin typeface="Arial"/>
                  </a:defRPr>
                </a:pPr>
                <a:r>
                  <a:rPr lang="es-MX" b="1" dirty="0" err="1">
                    <a:solidFill>
                      <a:schemeClr val="accent3">
                        <a:lumMod val="50000"/>
                      </a:schemeClr>
                    </a:solidFill>
                    <a:latin typeface="Arial"/>
                  </a:rPr>
                  <a:t>Determinante</a:t>
                </a:r>
                <a:r>
                  <a:rPr lang="es-MX" b="1" dirty="0">
                    <a:solidFill>
                      <a:schemeClr val="accent3">
                        <a:lumMod val="50000"/>
                      </a:schemeClr>
                    </a:solidFill>
                    <a:latin typeface="Arial"/>
                  </a:rPr>
                  <a:t> cambia de </a:t>
                </a:r>
                <a:r>
                  <a:rPr lang="es-MX" b="1" dirty="0" err="1">
                    <a:solidFill>
                      <a:schemeClr val="accent3">
                        <a:lumMod val="50000"/>
                      </a:schemeClr>
                    </a:solidFill>
                    <a:latin typeface="Arial"/>
                  </a:rPr>
                  <a:t>signo</a:t>
                </a:r>
                <a:r>
                  <a:rPr lang="es-MX" b="1" dirty="0">
                    <a:solidFill>
                      <a:schemeClr val="accent3">
                        <a:lumMod val="50000"/>
                      </a:schemeClr>
                    </a:solidFill>
                    <a:latin typeface="Arial"/>
                  </a:rPr>
                  <a:t>.</a:t>
                </a:r>
              </a:p>
              <a:p>
                <a:pPr>
                  <a:spcAft>
                    <a:spcPts val="400"/>
                  </a:spcAft>
                  <a:defRPr sz="1800">
                    <a:solidFill>
                      <a:srgbClr val="232D34"/>
                    </a:solidFill>
                    <a:latin typeface="Arial"/>
                  </a:defRPr>
                </a:pPr>
                <a:endParaRPr lang="es-MX" dirty="0"/>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func>
                        <m:funcPr>
                          <m:ctrlPr>
                            <a:rPr lang="ar-AE" b="1" i="1" dirty="0" smtClean="0">
                              <a:latin typeface="Cambria Math" panose="02040503050406030204" pitchFamily="18" charset="0"/>
                            </a:rPr>
                          </m:ctrlPr>
                        </m:funcPr>
                        <m:fName>
                          <m:r>
                            <a:rPr lang="es-MX" b="1" i="0" dirty="0" smtClean="0">
                              <a:latin typeface="Cambria Math" panose="02040503050406030204" pitchFamily="18" charset="0"/>
                            </a:rPr>
                            <m:t>𝐝𝐞𝐭</m:t>
                          </m:r>
                        </m:fName>
                        <m:e>
                          <m:r>
                            <a:rPr lang="es-NI" b="1" i="1" dirty="0" smtClean="0">
                              <a:latin typeface="Cambria Math" panose="02040503050406030204" pitchFamily="18" charset="0"/>
                            </a:rPr>
                            <m:t> </m:t>
                          </m:r>
                          <m:d>
                            <m:dPr>
                              <m:ctrlPr>
                                <a:rPr lang="ar-AE" b="1" i="1" dirty="0" smtClean="0">
                                  <a:latin typeface="Cambria Math" panose="02040503050406030204" pitchFamily="18" charset="0"/>
                                </a:rPr>
                              </m:ctrlPr>
                            </m:dPr>
                            <m:e>
                              <m:r>
                                <a:rPr lang="ar-AE" b="1" i="1" dirty="0">
                                  <a:latin typeface="Cambria Math" panose="02040503050406030204" pitchFamily="18" charset="0"/>
                                </a:rPr>
                                <m:t>𝑩</m:t>
                              </m:r>
                            </m:e>
                          </m:d>
                        </m:e>
                      </m:func>
                      <m:r>
                        <a:rPr lang="ar-AE" b="1" i="1" dirty="0">
                          <a:latin typeface="Cambria Math" panose="02040503050406030204" pitchFamily="18" charset="0"/>
                        </a:rPr>
                        <m:t>= −</m:t>
                      </m:r>
                      <m:r>
                        <a:rPr lang="es-MX" b="1" i="1" dirty="0" err="1">
                          <a:latin typeface="Cambria Math" panose="02040503050406030204" pitchFamily="18" charset="0"/>
                        </a:rPr>
                        <m:t>𝒅𝒆𝒕</m:t>
                      </m:r>
                      <m:r>
                        <a:rPr lang="es-NI" b="1" i="1" dirty="0" smtClean="0">
                          <a:latin typeface="Cambria Math" panose="02040503050406030204" pitchFamily="18" charset="0"/>
                        </a:rPr>
                        <m:t> </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m:t>
                      </m:r>
                    </m:oMath>
                  </m:oMathPara>
                </a14:m>
                <a:endParaRPr b="1" dirty="0"/>
              </a:p>
            </p:txBody>
          </p:sp>
        </mc:Choice>
        <mc:Fallback>
          <p:sp>
            <p:nvSpPr>
              <p:cNvPr id="9" name="Rounded Rectangle 4"/>
              <p:cNvSpPr>
                <a:spLocks noRot="1" noChangeAspect="1" noMove="1" noResize="1" noEditPoints="1" noAdjustHandles="1" noChangeArrowheads="1" noChangeShapeType="1" noTextEdit="1"/>
              </p:cNvSpPr>
              <p:nvPr/>
            </p:nvSpPr>
            <p:spPr>
              <a:xfrm>
                <a:off x="437882" y="2544866"/>
                <a:ext cx="3520440" cy="3566160"/>
              </a:xfrm>
              <a:prstGeom prst="roundRect">
                <a:avLst/>
              </a:prstGeom>
              <a:blipFill rotWithShape="0">
                <a:blip r:embed="rId2"/>
                <a:stretch>
                  <a:fillRect/>
                </a:stretch>
              </a:blipFill>
              <a:ln w="19050">
                <a:solidFill>
                  <a:srgbClr val="DCAF2D"/>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Rounded Rectangle 5"/>
              <p:cNvSpPr/>
              <p:nvPr/>
            </p:nvSpPr>
            <p:spPr>
              <a:xfrm>
                <a:off x="4232642" y="2544866"/>
                <a:ext cx="3520440" cy="356616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00A6A6"/>
                    </a:solidFill>
                    <a:latin typeface="Arial"/>
                  </a:defRPr>
                </a:pPr>
                <a:r>
                  <a:rPr lang="es-MX" dirty="0" smtClean="0">
                    <a:solidFill>
                      <a:srgbClr val="FF0000"/>
                    </a:solidFill>
                  </a:rPr>
                  <a:t>2. </a:t>
                </a:r>
                <a:r>
                  <a:rPr lang="es-MX" dirty="0" err="1">
                    <a:solidFill>
                      <a:srgbClr val="FF0000"/>
                    </a:solidFill>
                  </a:rPr>
                  <a:t>Reemplazo</a:t>
                </a:r>
                <a:endParaRPr lang="es-MX" dirty="0">
                  <a:solidFill>
                    <a:srgbClr val="FF0000"/>
                  </a:solidFill>
                </a:endParaRPr>
              </a:p>
              <a:p>
                <a:pPr>
                  <a:spcAft>
                    <a:spcPts val="400"/>
                  </a:spcAft>
                  <a:defRPr sz="1800">
                    <a:solidFill>
                      <a:srgbClr val="232D34"/>
                    </a:solidFill>
                    <a:latin typeface="Arial"/>
                  </a:defRPr>
                </a:pPr>
                <a:endParaRPr lang="es-MX" i="1" dirty="0" smtClean="0">
                  <a:latin typeface="Cambria Math" panose="02040503050406030204" pitchFamily="18" charset="0"/>
                </a:endParaRPr>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𝑭</m:t>
                      </m:r>
                      <m:r>
                        <a:rPr lang="es-MX" b="1" i="1" dirty="0" smtClean="0">
                          <a:latin typeface="Cambria Math" panose="02040503050406030204" pitchFamily="18" charset="0"/>
                        </a:rPr>
                        <m:t>ᵢ → </m:t>
                      </m:r>
                      <m:r>
                        <a:rPr lang="es-MX" b="1" i="1" dirty="0" smtClean="0">
                          <a:latin typeface="Cambria Math" panose="02040503050406030204" pitchFamily="18" charset="0"/>
                        </a:rPr>
                        <m:t>𝑭</m:t>
                      </m:r>
                      <m:r>
                        <a:rPr lang="es-MX" b="1" i="1" dirty="0" smtClean="0">
                          <a:latin typeface="Cambria Math" panose="02040503050406030204" pitchFamily="18" charset="0"/>
                        </a:rPr>
                        <m:t>ᵢ + </m:t>
                      </m:r>
                      <m:r>
                        <a:rPr lang="es-MX" b="1" i="1" dirty="0" err="1">
                          <a:latin typeface="Cambria Math" panose="02040503050406030204" pitchFamily="18" charset="0"/>
                        </a:rPr>
                        <m:t>𝒌𝑭</m:t>
                      </m:r>
                      <m:r>
                        <a:rPr lang="es-MX" b="1" i="1" dirty="0">
                          <a:latin typeface="Cambria Math" panose="02040503050406030204" pitchFamily="18" charset="0"/>
                        </a:rPr>
                        <m:t>ⱼ</m:t>
                      </m:r>
                    </m:oMath>
                  </m:oMathPara>
                </a14:m>
                <a:endParaRPr lang="es-MX" b="1" dirty="0"/>
              </a:p>
              <a:p>
                <a:pPr>
                  <a:spcAft>
                    <a:spcPts val="400"/>
                  </a:spcAft>
                  <a:defRPr sz="1800">
                    <a:solidFill>
                      <a:srgbClr val="232D34"/>
                    </a:solidFill>
                    <a:latin typeface="Arial"/>
                  </a:defRPr>
                </a:pPr>
                <a:endParaRPr lang="es-MX" dirty="0"/>
              </a:p>
              <a:p>
                <a:pPr algn="just">
                  <a:spcAft>
                    <a:spcPts val="400"/>
                  </a:spcAft>
                  <a:defRPr sz="1800">
                    <a:solidFill>
                      <a:srgbClr val="232D34"/>
                    </a:solidFill>
                    <a:latin typeface="Arial"/>
                  </a:defRPr>
                </a:pPr>
                <a:r>
                  <a:rPr lang="es-MX" b="1" dirty="0" err="1">
                    <a:solidFill>
                      <a:schemeClr val="accent3">
                        <a:lumMod val="50000"/>
                      </a:schemeClr>
                    </a:solidFill>
                    <a:latin typeface="Arial"/>
                  </a:rPr>
                  <a:t>Determinante</a:t>
                </a:r>
                <a:r>
                  <a:rPr lang="es-MX" b="1" dirty="0">
                    <a:solidFill>
                      <a:schemeClr val="accent3">
                        <a:lumMod val="50000"/>
                      </a:schemeClr>
                    </a:solidFill>
                    <a:latin typeface="Arial"/>
                  </a:rPr>
                  <a:t> se </a:t>
                </a:r>
                <a:r>
                  <a:rPr lang="es-MX" b="1" dirty="0" err="1">
                    <a:solidFill>
                      <a:schemeClr val="accent3">
                        <a:lumMod val="50000"/>
                      </a:schemeClr>
                    </a:solidFill>
                    <a:latin typeface="Arial"/>
                  </a:rPr>
                  <a:t>conserva</a:t>
                </a:r>
                <a:r>
                  <a:rPr lang="es-MX" b="1" dirty="0">
                    <a:solidFill>
                      <a:schemeClr val="accent3">
                        <a:lumMod val="50000"/>
                      </a:schemeClr>
                    </a:solidFill>
                    <a:latin typeface="Arial"/>
                  </a:rPr>
                  <a:t>.</a:t>
                </a:r>
              </a:p>
              <a:p>
                <a:pPr>
                  <a:spcAft>
                    <a:spcPts val="400"/>
                  </a:spcAft>
                  <a:defRPr sz="1800">
                    <a:solidFill>
                      <a:srgbClr val="232D34"/>
                    </a:solidFill>
                    <a:latin typeface="Arial"/>
                  </a:defRPr>
                </a:pPr>
                <a:endParaRPr lang="es-MX" dirty="0"/>
              </a:p>
              <a:p>
                <a:pPr>
                  <a:spcAft>
                    <a:spcPts val="400"/>
                  </a:spcAft>
                  <a:defRPr sz="1800">
                    <a:solidFill>
                      <a:srgbClr val="232D34"/>
                    </a:solidFill>
                    <a:latin typeface="Arial"/>
                  </a:defRPr>
                </a:pPr>
                <a:endParaRPr lang="es-MX" dirty="0" smtClean="0"/>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func>
                        <m:funcPr>
                          <m:ctrlPr>
                            <a:rPr lang="ar-AE" b="1" i="1" dirty="0" smtClean="0">
                              <a:latin typeface="Cambria Math" panose="02040503050406030204" pitchFamily="18" charset="0"/>
                            </a:rPr>
                          </m:ctrlPr>
                        </m:funcPr>
                        <m:fName>
                          <m:r>
                            <a:rPr lang="es-MX" b="1" i="0" dirty="0" smtClean="0">
                              <a:latin typeface="Cambria Math" panose="02040503050406030204" pitchFamily="18" charset="0"/>
                            </a:rPr>
                            <m:t>𝐝𝐞𝐭</m:t>
                          </m:r>
                          <m:r>
                            <a:rPr lang="es-NI" b="1" i="0" dirty="0" smtClean="0">
                              <a:latin typeface="Cambria Math" panose="02040503050406030204" pitchFamily="18" charset="0"/>
                            </a:rPr>
                            <m:t> </m:t>
                          </m:r>
                        </m:fName>
                        <m:e>
                          <m:d>
                            <m:dPr>
                              <m:ctrlPr>
                                <a:rPr lang="ar-AE" b="1" i="1" dirty="0" smtClean="0">
                                  <a:latin typeface="Cambria Math" panose="02040503050406030204" pitchFamily="18" charset="0"/>
                                </a:rPr>
                              </m:ctrlPr>
                            </m:dPr>
                            <m:e>
                              <m:r>
                                <a:rPr lang="ar-AE" b="1" i="1" dirty="0" smtClean="0">
                                  <a:latin typeface="Cambria Math" panose="02040503050406030204" pitchFamily="18" charset="0"/>
                                </a:rPr>
                                <m:t>𝑩</m:t>
                              </m:r>
                            </m:e>
                          </m:d>
                        </m:e>
                      </m:func>
                      <m:r>
                        <a:rPr lang="ar-AE" b="1" i="1" dirty="0">
                          <a:latin typeface="Cambria Math" panose="02040503050406030204" pitchFamily="18" charset="0"/>
                        </a:rPr>
                        <m:t>= </m:t>
                      </m:r>
                      <m:r>
                        <a:rPr lang="es-MX" b="1" i="1" dirty="0" err="1">
                          <a:latin typeface="Cambria Math" panose="02040503050406030204" pitchFamily="18" charset="0"/>
                        </a:rPr>
                        <m:t>𝒅𝒆𝒕</m:t>
                      </m:r>
                      <m:r>
                        <a:rPr lang="es-NI" b="1" i="1" dirty="0" smtClean="0">
                          <a:latin typeface="Cambria Math" panose="02040503050406030204" pitchFamily="18" charset="0"/>
                        </a:rPr>
                        <m:t> </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m:t>
                      </m:r>
                    </m:oMath>
                  </m:oMathPara>
                </a14:m>
                <a:endParaRPr b="1" dirty="0"/>
              </a:p>
            </p:txBody>
          </p:sp>
        </mc:Choice>
        <mc:Fallback>
          <p:sp>
            <p:nvSpPr>
              <p:cNvPr id="10" name="Rounded Rectangle 5"/>
              <p:cNvSpPr>
                <a:spLocks noRot="1" noChangeAspect="1" noMove="1" noResize="1" noEditPoints="1" noAdjustHandles="1" noChangeArrowheads="1" noChangeShapeType="1" noTextEdit="1"/>
              </p:cNvSpPr>
              <p:nvPr/>
            </p:nvSpPr>
            <p:spPr>
              <a:xfrm>
                <a:off x="4232642" y="2544866"/>
                <a:ext cx="3520440" cy="3566160"/>
              </a:xfrm>
              <a:prstGeom prst="roundRect">
                <a:avLst/>
              </a:prstGeom>
              <a:blipFill rotWithShape="0">
                <a:blip r:embed="rId3"/>
                <a:stretch>
                  <a:fillRect/>
                </a:stretch>
              </a:blipFill>
              <a:ln w="19050">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Rounded Rectangle 6"/>
              <p:cNvSpPr/>
              <p:nvPr/>
            </p:nvSpPr>
            <p:spPr>
              <a:xfrm>
                <a:off x="8027402" y="2544866"/>
                <a:ext cx="3520440" cy="3566160"/>
              </a:xfrm>
              <a:prstGeom prst="roundRect">
                <a:avLst/>
              </a:prstGeom>
              <a:solidFill>
                <a:srgbClr val="EBF8F8"/>
              </a:solidFill>
              <a:ln w="19050">
                <a:solidFill>
                  <a:srgbClr val="BE464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BE4646"/>
                    </a:solidFill>
                    <a:latin typeface="Arial"/>
                  </a:defRPr>
                </a:pPr>
                <a:endParaRPr lang="es-MX" dirty="0" smtClean="0">
                  <a:solidFill>
                    <a:srgbClr val="FF0000"/>
                  </a:solidFill>
                </a:endParaRPr>
              </a:p>
              <a:p>
                <a:pPr algn="ctr">
                  <a:defRPr sz="1900" b="1">
                    <a:solidFill>
                      <a:srgbClr val="BE4646"/>
                    </a:solidFill>
                    <a:latin typeface="Arial"/>
                  </a:defRPr>
                </a:pPr>
                <a:r>
                  <a:rPr lang="es-MX" dirty="0" smtClean="0">
                    <a:solidFill>
                      <a:srgbClr val="FF0000"/>
                    </a:solidFill>
                  </a:rPr>
                  <a:t>3</a:t>
                </a:r>
                <a:r>
                  <a:rPr lang="es-MX" dirty="0">
                    <a:solidFill>
                      <a:srgbClr val="FF0000"/>
                    </a:solidFill>
                  </a:rPr>
                  <a:t>. </a:t>
                </a:r>
                <a:r>
                  <a:rPr lang="es-MX" dirty="0" err="1">
                    <a:solidFill>
                      <a:srgbClr val="FF0000"/>
                    </a:solidFill>
                  </a:rPr>
                  <a:t>Multiplicación</a:t>
                </a:r>
                <a:endParaRPr lang="es-MX" dirty="0">
                  <a:solidFill>
                    <a:srgbClr val="FF0000"/>
                  </a:solidFill>
                </a:endParaRPr>
              </a:p>
              <a:p>
                <a:pPr>
                  <a:spcAft>
                    <a:spcPts val="400"/>
                  </a:spcAft>
                  <a:defRPr sz="1800">
                    <a:solidFill>
                      <a:srgbClr val="232D34"/>
                    </a:solidFill>
                    <a:latin typeface="Arial"/>
                  </a:defRPr>
                </a:pPr>
                <a:endParaRPr lang="es-MX" i="1" dirty="0" smtClean="0">
                  <a:latin typeface="Cambria Math" panose="02040503050406030204" pitchFamily="18" charset="0"/>
                </a:endParaRPr>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𝑭</m:t>
                      </m:r>
                      <m:r>
                        <a:rPr lang="es-MX" b="1" i="1" dirty="0" smtClean="0">
                          <a:latin typeface="Cambria Math" panose="02040503050406030204" pitchFamily="18" charset="0"/>
                        </a:rPr>
                        <m:t>ᵢ → </m:t>
                      </m:r>
                      <m:r>
                        <a:rPr lang="es-MX" b="1" i="1" dirty="0" err="1">
                          <a:latin typeface="Cambria Math" panose="02040503050406030204" pitchFamily="18" charset="0"/>
                        </a:rPr>
                        <m:t>𝒌𝑭</m:t>
                      </m:r>
                      <m:r>
                        <a:rPr lang="es-MX" b="1" i="1" dirty="0">
                          <a:latin typeface="Cambria Math" panose="02040503050406030204" pitchFamily="18" charset="0"/>
                        </a:rPr>
                        <m:t>ᵢ</m:t>
                      </m:r>
                    </m:oMath>
                  </m:oMathPara>
                </a14:m>
                <a:endParaRPr lang="es-MX" b="1" dirty="0"/>
              </a:p>
              <a:p>
                <a:pPr>
                  <a:spcAft>
                    <a:spcPts val="400"/>
                  </a:spcAft>
                  <a:defRPr sz="1800">
                    <a:solidFill>
                      <a:srgbClr val="232D34"/>
                    </a:solidFill>
                    <a:latin typeface="Arial"/>
                  </a:defRPr>
                </a:pPr>
                <a:endParaRPr lang="es-MX" dirty="0"/>
              </a:p>
              <a:p>
                <a:pPr algn="just">
                  <a:spcAft>
                    <a:spcPts val="400"/>
                  </a:spcAft>
                  <a:defRPr sz="1800">
                    <a:solidFill>
                      <a:srgbClr val="232D34"/>
                    </a:solidFill>
                    <a:latin typeface="Arial"/>
                  </a:defRPr>
                </a:pPr>
                <a:r>
                  <a:rPr lang="es-MX" b="1" dirty="0" err="1">
                    <a:solidFill>
                      <a:schemeClr val="accent3">
                        <a:lumMod val="50000"/>
                      </a:schemeClr>
                    </a:solidFill>
                  </a:rPr>
                  <a:t>Determinante</a:t>
                </a:r>
                <a:r>
                  <a:rPr lang="es-MX" b="1" dirty="0">
                    <a:solidFill>
                      <a:schemeClr val="accent3">
                        <a:lumMod val="50000"/>
                      </a:schemeClr>
                    </a:solidFill>
                  </a:rPr>
                  <a:t> se </a:t>
                </a:r>
                <a:r>
                  <a:rPr lang="es-MX" b="1" dirty="0" err="1">
                    <a:solidFill>
                      <a:schemeClr val="accent3">
                        <a:lumMod val="50000"/>
                      </a:schemeClr>
                    </a:solidFill>
                  </a:rPr>
                  <a:t>multiplica</a:t>
                </a:r>
                <a:r>
                  <a:rPr lang="es-MX" b="1" dirty="0">
                    <a:solidFill>
                      <a:schemeClr val="accent3">
                        <a:lumMod val="50000"/>
                      </a:schemeClr>
                    </a:solidFill>
                  </a:rPr>
                  <a:t> </a:t>
                </a:r>
                <a:r>
                  <a:rPr lang="es-MX" b="1" dirty="0" err="1">
                    <a:solidFill>
                      <a:schemeClr val="accent3">
                        <a:lumMod val="50000"/>
                      </a:schemeClr>
                    </a:solidFill>
                  </a:rPr>
                  <a:t>por</a:t>
                </a:r>
                <a:r>
                  <a:rPr lang="es-MX" b="1" dirty="0">
                    <a:solidFill>
                      <a:schemeClr val="accent3">
                        <a:lumMod val="50000"/>
                      </a:schemeClr>
                    </a:solidFill>
                  </a:rPr>
                  <a:t> k.</a:t>
                </a:r>
              </a:p>
              <a:p>
                <a:pPr>
                  <a:spcAft>
                    <a:spcPts val="400"/>
                  </a:spcAft>
                  <a:defRPr sz="1800">
                    <a:solidFill>
                      <a:srgbClr val="232D34"/>
                    </a:solidFill>
                    <a:latin typeface="Arial"/>
                  </a:defRPr>
                </a:pPr>
                <a:endParaRPr lang="es-MX" dirty="0"/>
              </a:p>
              <a:p>
                <a:pPr>
                  <a:spcAft>
                    <a:spcPts val="400"/>
                  </a:spcAft>
                  <a:defRPr sz="1800">
                    <a:solidFill>
                      <a:srgbClr val="232D34"/>
                    </a:solidFill>
                    <a:latin typeface="Arial"/>
                  </a:defRPr>
                </a:pP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𝒅𝒆𝒕</m:t>
                      </m:r>
                      <m:r>
                        <a:rPr lang="es-MX" b="1" i="1" dirty="0" smtClean="0">
                          <a:latin typeface="Cambria Math" panose="02040503050406030204" pitchFamily="18" charset="0"/>
                        </a:rPr>
                        <m:t> ⁡(</m:t>
                      </m:r>
                      <m:r>
                        <a:rPr lang="es-MX" b="1" i="1" dirty="0">
                          <a:latin typeface="Cambria Math" panose="02040503050406030204" pitchFamily="18" charset="0"/>
                        </a:rPr>
                        <m:t>𝑩</m:t>
                      </m:r>
                      <m:r>
                        <a:rPr lang="es-MX" b="1" i="1" dirty="0">
                          <a:latin typeface="Cambria Math" panose="02040503050406030204" pitchFamily="18" charset="0"/>
                        </a:rPr>
                        <m:t>) = </m:t>
                      </m:r>
                      <m:r>
                        <a:rPr lang="es-MX" b="1" i="1" dirty="0">
                          <a:latin typeface="Cambria Math" panose="02040503050406030204" pitchFamily="18" charset="0"/>
                        </a:rPr>
                        <m:t>𝒌</m:t>
                      </m:r>
                      <m:r>
                        <a:rPr lang="es-MX" b="1" i="1" dirty="0">
                          <a:latin typeface="Cambria Math" panose="02040503050406030204" pitchFamily="18" charset="0"/>
                        </a:rPr>
                        <m:t> </m:t>
                      </m:r>
                      <m:r>
                        <a:rPr lang="es-MX" b="1" i="1" dirty="0" err="1">
                          <a:latin typeface="Cambria Math" panose="02040503050406030204" pitchFamily="18" charset="0"/>
                        </a:rPr>
                        <m:t>𝒅𝒆𝒕</m:t>
                      </m:r>
                      <m:r>
                        <a:rPr lang="es-NI" b="1" i="1" dirty="0" smtClean="0">
                          <a:latin typeface="Cambria Math" panose="02040503050406030204" pitchFamily="18" charset="0"/>
                        </a:rPr>
                        <m:t> </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m:t>
                      </m:r>
                    </m:oMath>
                  </m:oMathPara>
                </a14:m>
                <a:endParaRPr b="1" dirty="0"/>
              </a:p>
            </p:txBody>
          </p:sp>
        </mc:Choice>
        <mc:Fallback>
          <p:sp>
            <p:nvSpPr>
              <p:cNvPr id="11" name="Rounded Rectangle 6"/>
              <p:cNvSpPr>
                <a:spLocks noRot="1" noChangeAspect="1" noMove="1" noResize="1" noEditPoints="1" noAdjustHandles="1" noChangeArrowheads="1" noChangeShapeType="1" noTextEdit="1"/>
              </p:cNvSpPr>
              <p:nvPr/>
            </p:nvSpPr>
            <p:spPr>
              <a:xfrm>
                <a:off x="8027402" y="2544866"/>
                <a:ext cx="3520440" cy="3566160"/>
              </a:xfrm>
              <a:prstGeom prst="roundRect">
                <a:avLst/>
              </a:prstGeom>
              <a:blipFill rotWithShape="0">
                <a:blip r:embed="rId4"/>
                <a:stretch>
                  <a:fillRect/>
                </a:stretch>
              </a:blipFill>
              <a:ln w="19050">
                <a:solidFill>
                  <a:srgbClr val="BE4646"/>
                </a:solidFill>
              </a:ln>
            </p:spPr>
            <p:txBody>
              <a:bodyPr/>
              <a:lstStyle/>
              <a:p>
                <a:r>
                  <a:rPr lang="es-MX">
                    <a:noFill/>
                  </a:rPr>
                  <a:t> </a:t>
                </a:r>
              </a:p>
            </p:txBody>
          </p:sp>
        </mc:Fallback>
      </mc:AlternateContent>
    </p:spTree>
    <p:extLst>
      <p:ext uri="{BB962C8B-B14F-4D97-AF65-F5344CB8AC3E}">
        <p14:creationId xmlns:p14="http://schemas.microsoft.com/office/powerpoint/2010/main" val="422078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ircle(in)">
                                      <p:cBhvr>
                                        <p:cTn id="22" dur="2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151372"/>
            <a:ext cx="1674254"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latin typeface="Arial" panose="020B0604020202020204" pitchFamily="34" charset="0"/>
                <a:cs typeface="Arial" panose="020B0604020202020204" pitchFamily="34" charset="0"/>
              </a:rPr>
              <a:t>Ejemplo 1.</a:t>
            </a:r>
            <a:endParaRPr lang="es-NI" sz="21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Title 1"/>
              <p:cNvSpPr txBox="1">
                <a:spLocks/>
              </p:cNvSpPr>
              <p:nvPr/>
            </p:nvSpPr>
            <p:spPr>
              <a:xfrm>
                <a:off x="0" y="2833945"/>
                <a:ext cx="12179121" cy="76258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100" b="1" dirty="0" smtClean="0">
                    <a:solidFill>
                      <a:schemeClr val="accent3">
                        <a:lumMod val="50000"/>
                      </a:schemeClr>
                    </a:solidFill>
                    <a:latin typeface="Arial" panose="020B0604020202020204" pitchFamily="34" charset="0"/>
                    <a:cs typeface="Arial" panose="020B0604020202020204" pitchFamily="34" charset="0"/>
                  </a:rPr>
                  <a:t>La </a:t>
                </a:r>
                <a:r>
                  <a:rPr lang="es-MX" sz="2100" b="1" dirty="0">
                    <a:solidFill>
                      <a:schemeClr val="accent3">
                        <a:lumMod val="50000"/>
                      </a:schemeClr>
                    </a:solidFill>
                    <a:latin typeface="Arial" panose="020B0604020202020204" pitchFamily="34" charset="0"/>
                    <a:cs typeface="Arial" panose="020B0604020202020204" pitchFamily="34" charset="0"/>
                  </a:rPr>
                  <a:t>estrategia es reducir </a:t>
                </a:r>
                <a14:m>
                  <m:oMath xmlns:m="http://schemas.openxmlformats.org/officeDocument/2006/math">
                    <m:r>
                      <a:rPr lang="es-MX" sz="21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MX" sz="2100" b="1" dirty="0">
                    <a:solidFill>
                      <a:schemeClr val="accent3">
                        <a:lumMod val="50000"/>
                      </a:schemeClr>
                    </a:solidFill>
                    <a:latin typeface="Arial" panose="020B0604020202020204" pitchFamily="34" charset="0"/>
                    <a:cs typeface="Arial" panose="020B0604020202020204" pitchFamily="34" charset="0"/>
                  </a:rPr>
                  <a:t> </a:t>
                </a:r>
                <a:r>
                  <a:rPr lang="es-MX" sz="2100" b="1" dirty="0" err="1">
                    <a:solidFill>
                      <a:schemeClr val="accent3">
                        <a:lumMod val="50000"/>
                      </a:schemeClr>
                    </a:solidFill>
                    <a:latin typeface="Arial" panose="020B0604020202020204" pitchFamily="34" charset="0"/>
                    <a:cs typeface="Arial" panose="020B0604020202020204" pitchFamily="34" charset="0"/>
                  </a:rPr>
                  <a:t>a</a:t>
                </a:r>
                <a:r>
                  <a:rPr lang="es-MX" sz="2100" b="1" dirty="0">
                    <a:solidFill>
                      <a:schemeClr val="accent3">
                        <a:lumMod val="50000"/>
                      </a:schemeClr>
                    </a:solidFill>
                    <a:latin typeface="Arial" panose="020B0604020202020204" pitchFamily="34" charset="0"/>
                    <a:cs typeface="Arial" panose="020B0604020202020204" pitchFamily="34" charset="0"/>
                  </a:rPr>
                  <a:t> la forma escalonada y luego usar el hecho de que el determinante de una matriz triangular es el producto de las entradas diagonales.</a:t>
                </a:r>
              </a:p>
            </p:txBody>
          </p:sp>
        </mc:Choice>
        <mc:Fallback xmlns="">
          <p:sp>
            <p:nvSpPr>
              <p:cNvPr id="5" name="Title 1"/>
              <p:cNvSpPr txBox="1">
                <a:spLocks noRot="1" noChangeAspect="1" noMove="1" noResize="1" noEditPoints="1" noAdjustHandles="1" noChangeArrowheads="1" noChangeShapeType="1" noTextEdit="1"/>
              </p:cNvSpPr>
              <p:nvPr/>
            </p:nvSpPr>
            <p:spPr>
              <a:xfrm>
                <a:off x="0" y="2833945"/>
                <a:ext cx="12179121" cy="762589"/>
              </a:xfrm>
              <a:prstGeom prst="rect">
                <a:avLst/>
              </a:prstGeom>
              <a:blipFill rotWithShape="0">
                <a:blip r:embed="rId2"/>
                <a:stretch>
                  <a:fillRect l="-601" t="-3200" r="-601" b="-136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Title 1"/>
              <p:cNvSpPr txBox="1">
                <a:spLocks/>
              </p:cNvSpPr>
              <p:nvPr/>
            </p:nvSpPr>
            <p:spPr>
              <a:xfrm>
                <a:off x="0" y="1585577"/>
                <a:ext cx="2047741" cy="51564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defRPr/>
                </a:pPr>
                <a:r>
                  <a:rPr lang="es-MX" sz="2100" b="1" dirty="0">
                    <a:solidFill>
                      <a:schemeClr val="accent3">
                        <a:lumMod val="50000"/>
                      </a:schemeClr>
                    </a:solidFill>
                    <a:latin typeface="Arial" panose="020B0604020202020204" pitchFamily="34" charset="0"/>
                    <a:cs typeface="Arial" panose="020B0604020202020204" pitchFamily="34" charset="0"/>
                  </a:rPr>
                  <a:t>Calcular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𝒅𝒆𝒕𝑨</m:t>
                    </m:r>
                  </m:oMath>
                </a14:m>
                <a:r>
                  <a:rPr lang="es-MX" sz="2100" b="1" dirty="0">
                    <a:solidFill>
                      <a:schemeClr val="accent3">
                        <a:lumMod val="50000"/>
                      </a:schemeClr>
                    </a:solidFill>
                    <a:latin typeface="Arial" panose="020B0604020202020204" pitchFamily="34" charset="0"/>
                    <a:cs typeface="Arial" panose="020B0604020202020204" pitchFamily="34" charset="0"/>
                  </a:rPr>
                  <a:t>. </a:t>
                </a:r>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7" name="Title 1"/>
              <p:cNvSpPr txBox="1">
                <a:spLocks noRot="1" noChangeAspect="1" noMove="1" noResize="1" noEditPoints="1" noAdjustHandles="1" noChangeArrowheads="1" noChangeShapeType="1" noTextEdit="1"/>
              </p:cNvSpPr>
              <p:nvPr/>
            </p:nvSpPr>
            <p:spPr>
              <a:xfrm>
                <a:off x="0" y="1585577"/>
                <a:ext cx="2047741" cy="515648"/>
              </a:xfrm>
              <a:prstGeom prst="rect">
                <a:avLst/>
              </a:prstGeom>
              <a:blipFill rotWithShape="0">
                <a:blip r:embed="rId3"/>
                <a:stretch>
                  <a:fillRect l="-3571" r="-595" b="-12941"/>
                </a:stretch>
              </a:blipFill>
            </p:spPr>
            <p:txBody>
              <a:bodyPr/>
              <a:lstStyle/>
              <a:p>
                <a:r>
                  <a:rPr lang="es-MX">
                    <a:noFill/>
                  </a:rPr>
                  <a:t> </a:t>
                </a:r>
              </a:p>
            </p:txBody>
          </p:sp>
        </mc:Fallback>
      </mc:AlternateContent>
      <p:sp>
        <p:nvSpPr>
          <p:cNvPr id="8" name="Title 1"/>
          <p:cNvSpPr txBox="1">
            <a:spLocks/>
          </p:cNvSpPr>
          <p:nvPr/>
        </p:nvSpPr>
        <p:spPr>
          <a:xfrm>
            <a:off x="0" y="2356266"/>
            <a:ext cx="1442434"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latin typeface="Arial" panose="020B0604020202020204" pitchFamily="34" charset="0"/>
                <a:cs typeface="Arial" panose="020B0604020202020204" pitchFamily="34" charset="0"/>
              </a:rPr>
              <a:t>Solución</a:t>
            </a:r>
            <a:endParaRPr lang="es-NI" sz="21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itle 1"/>
              <p:cNvSpPr txBox="1">
                <a:spLocks/>
              </p:cNvSpPr>
              <p:nvPr/>
            </p:nvSpPr>
            <p:spPr>
              <a:xfrm>
                <a:off x="341290" y="3712535"/>
                <a:ext cx="3412901" cy="104276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100" b="1" i="1" smtClean="0">
                          <a:solidFill>
                            <a:schemeClr val="accent3">
                              <a:lumMod val="50000"/>
                            </a:schemeClr>
                          </a:solidFill>
                          <a:latin typeface="Cambria Math" panose="02040503050406030204" pitchFamily="18" charset="0"/>
                          <a:cs typeface="Arial" panose="020B0604020202020204" pitchFamily="34" charset="0"/>
                        </a:rPr>
                        <m:t> </m:t>
                      </m:r>
                      <m:r>
                        <a:rPr lang="es-NI" sz="2100" b="1" i="1" smtClean="0">
                          <a:solidFill>
                            <a:schemeClr val="accent3">
                              <a:lumMod val="50000"/>
                            </a:schemeClr>
                          </a:solidFill>
                          <a:latin typeface="Cambria Math" panose="02040503050406030204" pitchFamily="18" charset="0"/>
                          <a:cs typeface="Arial" panose="020B0604020202020204" pitchFamily="34" charset="0"/>
                        </a:rPr>
                        <m:t>𝑨</m:t>
                      </m:r>
                      <m:r>
                        <a:rPr lang="es-NI" sz="21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𝟐</m:t>
                                </m:r>
                              </m:e>
                              <m:e>
                                <m:r>
                                  <a:rPr lang="es-NI" sz="2100" b="1" i="1">
                                    <a:solidFill>
                                      <a:schemeClr val="accent3">
                                        <a:lumMod val="50000"/>
                                      </a:schemeClr>
                                    </a:solidFill>
                                    <a:latin typeface="Cambria Math" panose="02040503050406030204" pitchFamily="18" charset="0"/>
                                    <a:cs typeface="Arial" panose="020B0604020202020204" pitchFamily="34" charset="0"/>
                                  </a:rPr>
                                  <m:t>𝟖</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𝟗</m:t>
                                </m:r>
                              </m:e>
                            </m:mr>
                            <m:mr>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𝟕</m:t>
                                </m:r>
                              </m:e>
                              <m:e>
                                <m:r>
                                  <a:rPr lang="es-NI" sz="2100" b="1" i="1">
                                    <a:solidFill>
                                      <a:schemeClr val="accent3">
                                        <a:lumMod val="50000"/>
                                      </a:schemeClr>
                                    </a:solidFill>
                                    <a:latin typeface="Cambria Math" panose="02040503050406030204" pitchFamily="18" charset="0"/>
                                    <a:cs typeface="Arial" panose="020B0604020202020204" pitchFamily="34" charset="0"/>
                                  </a:rPr>
                                  <m:t>𝟎</m:t>
                                </m:r>
                              </m:e>
                            </m:mr>
                          </m:m>
                        </m:e>
                      </m:d>
                      <m:r>
                        <a:rPr lang="es-NI" sz="2100" b="1" i="1" smtClean="0">
                          <a:solidFill>
                            <a:schemeClr val="accent3">
                              <a:lumMod val="50000"/>
                            </a:schemeClr>
                          </a:solidFill>
                          <a:latin typeface="Cambria Math" panose="02040503050406030204" pitchFamily="18" charset="0"/>
                          <a:cs typeface="Arial" panose="020B0604020202020204" pitchFamily="34" charset="0"/>
                        </a:rPr>
                        <m:t>=</m:t>
                      </m:r>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a:off x="341290" y="3712535"/>
                <a:ext cx="3412901" cy="1042760"/>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4605790" y="3760452"/>
                <a:ext cx="2340769" cy="946926"/>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𝟓</m:t>
                                </m:r>
                              </m:e>
                            </m:mr>
                            <m:mr>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𝟕</m:t>
                                </m:r>
                              </m:e>
                              <m:e>
                                <m:r>
                                  <a:rPr lang="es-NI" sz="2100" b="1" i="1">
                                    <a:solidFill>
                                      <a:schemeClr val="accent3">
                                        <a:lumMod val="50000"/>
                                      </a:schemeClr>
                                    </a:solidFill>
                                    <a:latin typeface="Cambria Math" panose="02040503050406030204" pitchFamily="18" charset="0"/>
                                    <a:cs typeface="Arial" panose="020B0604020202020204" pitchFamily="34" charset="0"/>
                                  </a:rPr>
                                  <m:t>𝟎</m:t>
                                </m:r>
                              </m:e>
                            </m:mr>
                          </m:m>
                        </m:e>
                      </m:d>
                      <m:r>
                        <a:rPr lang="es-NI" sz="2100" b="1" i="1">
                          <a:solidFill>
                            <a:schemeClr val="accent3">
                              <a:lumMod val="50000"/>
                            </a:schemeClr>
                          </a:solidFill>
                          <a:latin typeface="Cambria Math" panose="02040503050406030204" pitchFamily="18" charset="0"/>
                          <a:cs typeface="Arial" panose="020B0604020202020204" pitchFamily="34" charset="0"/>
                        </a:rPr>
                        <m:t>=</m:t>
                      </m:r>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0" name="Rectángulo 9"/>
              <p:cNvSpPr>
                <a:spLocks noRot="1" noChangeAspect="1" noMove="1" noResize="1" noEditPoints="1" noAdjustHandles="1" noChangeArrowheads="1" noChangeShapeType="1" noTextEdit="1"/>
              </p:cNvSpPr>
              <p:nvPr/>
            </p:nvSpPr>
            <p:spPr>
              <a:xfrm>
                <a:off x="4605790" y="3760452"/>
                <a:ext cx="2340769" cy="946926"/>
              </a:xfrm>
              <a:prstGeom prst="rect">
                <a:avLst/>
              </a:prstGeom>
              <a:blipFill rotWithShape="0">
                <a:blip r:embed="rId5"/>
                <a:stretch>
                  <a:fillRect/>
                </a:stretch>
              </a:blipFill>
            </p:spPr>
            <p:txBody>
              <a:bodyPr/>
              <a:lstStyle/>
              <a:p>
                <a:r>
                  <a:rPr lang="es-MX">
                    <a:noFill/>
                  </a:rPr>
                  <a:t> </a:t>
                </a:r>
              </a:p>
            </p:txBody>
          </p:sp>
        </mc:Fallback>
      </mc:AlternateContent>
      <p:cxnSp>
        <p:nvCxnSpPr>
          <p:cNvPr id="12" name="Conector recto de flecha 11"/>
          <p:cNvCxnSpPr>
            <a:endCxn id="10" idx="1"/>
          </p:cNvCxnSpPr>
          <p:nvPr/>
        </p:nvCxnSpPr>
        <p:spPr>
          <a:xfrm>
            <a:off x="3612525" y="4233915"/>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itle 1"/>
              <p:cNvSpPr txBox="1">
                <a:spLocks/>
              </p:cNvSpPr>
              <p:nvPr/>
            </p:nvSpPr>
            <p:spPr>
              <a:xfrm>
                <a:off x="3365387" y="3831677"/>
                <a:ext cx="1410266"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𝟐</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MX" sz="14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𝟐</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𝟐</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3" name="Title 1"/>
              <p:cNvSpPr txBox="1">
                <a:spLocks noRot="1" noChangeAspect="1" noMove="1" noResize="1" noEditPoints="1" noAdjustHandles="1" noChangeArrowheads="1" noChangeShapeType="1" noTextEdit="1"/>
              </p:cNvSpPr>
              <p:nvPr/>
            </p:nvSpPr>
            <p:spPr>
              <a:xfrm>
                <a:off x="3365387" y="3831677"/>
                <a:ext cx="1410266" cy="40223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8046888" y="3760452"/>
                <a:ext cx="1861985" cy="946926"/>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𝟓</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𝟐</m:t>
                                </m:r>
                              </m:e>
                            </m:mr>
                          </m:m>
                        </m:e>
                      </m:d>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4" name="Rectángulo 13"/>
              <p:cNvSpPr>
                <a:spLocks noRot="1" noChangeAspect="1" noMove="1" noResize="1" noEditPoints="1" noAdjustHandles="1" noChangeArrowheads="1" noChangeShapeType="1" noTextEdit="1"/>
              </p:cNvSpPr>
              <p:nvPr/>
            </p:nvSpPr>
            <p:spPr>
              <a:xfrm>
                <a:off x="8046888" y="3760452"/>
                <a:ext cx="1861985" cy="946926"/>
              </a:xfrm>
              <a:prstGeom prst="rect">
                <a:avLst/>
              </a:prstGeom>
              <a:blipFill rotWithShape="0">
                <a:blip r:embed="rId7"/>
                <a:stretch>
                  <a:fillRect/>
                </a:stretch>
              </a:blipFill>
            </p:spPr>
            <p:txBody>
              <a:bodyPr/>
              <a:lstStyle/>
              <a:p>
                <a:r>
                  <a:rPr lang="es-MX">
                    <a:noFill/>
                  </a:rPr>
                  <a:t> </a:t>
                </a:r>
              </a:p>
            </p:txBody>
          </p:sp>
        </mc:Fallback>
      </mc:AlternateContent>
      <p:cxnSp>
        <p:nvCxnSpPr>
          <p:cNvPr id="15" name="Conector recto de flecha 14"/>
          <p:cNvCxnSpPr>
            <a:endCxn id="14" idx="1"/>
          </p:cNvCxnSpPr>
          <p:nvPr/>
        </p:nvCxnSpPr>
        <p:spPr>
          <a:xfrm>
            <a:off x="6814231" y="4233915"/>
            <a:ext cx="123265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itle 1"/>
              <p:cNvSpPr txBox="1">
                <a:spLocks/>
              </p:cNvSpPr>
              <p:nvPr/>
            </p:nvSpPr>
            <p:spPr>
              <a:xfrm>
                <a:off x="6636622" y="3804082"/>
                <a:ext cx="1410266"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MX" sz="14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𝟐</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𝟑</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6" name="Title 1"/>
              <p:cNvSpPr txBox="1">
                <a:spLocks noRot="1" noChangeAspect="1" noMove="1" noResize="1" noEditPoints="1" noAdjustHandles="1" noChangeArrowheads="1" noChangeShapeType="1" noTextEdit="1"/>
              </p:cNvSpPr>
              <p:nvPr/>
            </p:nvSpPr>
            <p:spPr>
              <a:xfrm>
                <a:off x="6636622" y="3804082"/>
                <a:ext cx="1410266" cy="402238"/>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1139649" y="5521225"/>
                <a:ext cx="2138791" cy="946926"/>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𝟓</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𝟐</m:t>
                                </m:r>
                              </m:e>
                            </m:mr>
                          </m:m>
                        </m:e>
                      </m:d>
                      <m:r>
                        <a:rPr lang="es-NI" sz="2100" b="1" i="1" smtClean="0">
                          <a:solidFill>
                            <a:schemeClr val="accent3">
                              <a:lumMod val="50000"/>
                            </a:schemeClr>
                          </a:solidFill>
                          <a:latin typeface="Cambria Math" panose="02040503050406030204" pitchFamily="18" charset="0"/>
                          <a:cs typeface="Arial" panose="020B0604020202020204" pitchFamily="34" charset="0"/>
                        </a:rPr>
                        <m:t>=</m:t>
                      </m:r>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7" name="Rectángulo 16"/>
              <p:cNvSpPr>
                <a:spLocks noRot="1" noChangeAspect="1" noMove="1" noResize="1" noEditPoints="1" noAdjustHandles="1" noChangeArrowheads="1" noChangeShapeType="1" noTextEdit="1"/>
              </p:cNvSpPr>
              <p:nvPr/>
            </p:nvSpPr>
            <p:spPr>
              <a:xfrm>
                <a:off x="1139649" y="5521225"/>
                <a:ext cx="2138791" cy="946926"/>
              </a:xfrm>
              <a:prstGeom prst="rect">
                <a:avLst/>
              </a:prstGeom>
              <a:blipFill rotWithShape="0">
                <a:blip r:embed="rId9"/>
                <a:stretch>
                  <a:fillRect/>
                </a:stretch>
              </a:blipFill>
            </p:spPr>
            <p:txBody>
              <a:bodyPr/>
              <a:lstStyle/>
              <a:p>
                <a:r>
                  <a:rPr lang="es-MX">
                    <a:noFill/>
                  </a:rPr>
                  <a:t> </a:t>
                </a:r>
              </a:p>
            </p:txBody>
          </p:sp>
        </mc:Fallback>
      </mc:AlternateContent>
      <p:cxnSp>
        <p:nvCxnSpPr>
          <p:cNvPr id="18" name="Conector recto de flecha 17"/>
          <p:cNvCxnSpPr/>
          <p:nvPr/>
        </p:nvCxnSpPr>
        <p:spPr>
          <a:xfrm>
            <a:off x="3152237" y="6012623"/>
            <a:ext cx="123265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itle 1"/>
              <p:cNvSpPr txBox="1">
                <a:spLocks/>
              </p:cNvSpPr>
              <p:nvPr/>
            </p:nvSpPr>
            <p:spPr>
              <a:xfrm>
                <a:off x="2974628" y="5592450"/>
                <a:ext cx="1410266"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𝟐</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𝟑</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9" name="Title 1"/>
              <p:cNvSpPr txBox="1">
                <a:spLocks noRot="1" noChangeAspect="1" noMove="1" noResize="1" noEditPoints="1" noAdjustHandles="1" noChangeArrowheads="1" noChangeShapeType="1" noTextEdit="1"/>
              </p:cNvSpPr>
              <p:nvPr/>
            </p:nvSpPr>
            <p:spPr>
              <a:xfrm>
                <a:off x="2974628" y="5592450"/>
                <a:ext cx="1410266" cy="402238"/>
              </a:xfrm>
              <a:prstGeom prst="rect">
                <a:avLst/>
              </a:prstGeom>
              <a:blipFill rotWithShape="0">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4403337" y="5521225"/>
                <a:ext cx="3130537" cy="946926"/>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100" b="1" i="1" smtClean="0">
                          <a:solidFill>
                            <a:schemeClr val="accent3">
                              <a:lumMod val="50000"/>
                            </a:schemeClr>
                          </a:solidFill>
                          <a:latin typeface="Cambria Math" panose="02040503050406030204" pitchFamily="18" charset="0"/>
                          <a:cs typeface="Arial" panose="020B0604020202020204" pitchFamily="34" charset="0"/>
                        </a:rPr>
                        <m:t> </m:t>
                      </m:r>
                      <m:r>
                        <a:rPr lang="es-NI" sz="2100" b="1" i="1" smtClean="0">
                          <a:solidFill>
                            <a:schemeClr val="accent3">
                              <a:lumMod val="50000"/>
                            </a:schemeClr>
                          </a:solidFill>
                          <a:latin typeface="Cambria Math" panose="02040503050406030204" pitchFamily="18" charset="0"/>
                          <a:cs typeface="Arial" panose="020B0604020202020204" pitchFamily="34" charset="0"/>
                        </a:rPr>
                        <m:t>𝑨</m:t>
                      </m:r>
                      <m:r>
                        <a:rPr lang="es-NI" sz="21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𝟓</m:t>
                                </m:r>
                              </m:e>
                            </m:mr>
                          </m:m>
                        </m:e>
                      </m:d>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0" name="Rectángulo 19"/>
              <p:cNvSpPr>
                <a:spLocks noRot="1" noChangeAspect="1" noMove="1" noResize="1" noEditPoints="1" noAdjustHandles="1" noChangeArrowheads="1" noChangeShapeType="1" noTextEdit="1"/>
              </p:cNvSpPr>
              <p:nvPr/>
            </p:nvSpPr>
            <p:spPr>
              <a:xfrm>
                <a:off x="4403337" y="5521225"/>
                <a:ext cx="3130537" cy="946926"/>
              </a:xfrm>
              <a:prstGeom prst="rect">
                <a:avLst/>
              </a:prstGeom>
              <a:blipFill rotWithShape="0">
                <a:blip r:embed="rId11"/>
                <a:stretch>
                  <a:fillRect/>
                </a:stretch>
              </a:blipFill>
            </p:spPr>
            <p:txBody>
              <a:bodyPr/>
              <a:lstStyle/>
              <a:p>
                <a:r>
                  <a:rPr lang="es-MX">
                    <a:noFill/>
                  </a:rPr>
                  <a:t> </a:t>
                </a:r>
              </a:p>
            </p:txBody>
          </p:sp>
        </mc:Fallback>
      </mc:AlternateContent>
      <p:sp>
        <p:nvSpPr>
          <p:cNvPr id="21" name="Rectángulo 20"/>
          <p:cNvSpPr/>
          <p:nvPr/>
        </p:nvSpPr>
        <p:spPr>
          <a:xfrm>
            <a:off x="12879" y="4914926"/>
            <a:ext cx="10024247" cy="415498"/>
          </a:xfrm>
          <a:prstGeom prst="rect">
            <a:avLst/>
          </a:prstGeom>
        </p:spPr>
        <p:txBody>
          <a:bodyPr wrap="square">
            <a:spAutoFit/>
          </a:bodyPr>
          <a:lstStyle/>
          <a:p>
            <a:pPr algn="just"/>
            <a:r>
              <a:rPr lang="en-US" sz="2100" b="1" dirty="0">
                <a:solidFill>
                  <a:schemeClr val="accent3">
                    <a:lumMod val="50000"/>
                  </a:schemeClr>
                </a:solidFill>
                <a:latin typeface="Arial" panose="020B0604020202020204" pitchFamily="34" charset="0"/>
                <a:ea typeface="+mj-ea"/>
                <a:cs typeface="Arial" panose="020B0604020202020204" pitchFamily="34" charset="0"/>
              </a:rPr>
              <a:t>Un </a:t>
            </a:r>
            <a:r>
              <a:rPr lang="en-US" sz="2100" b="1" dirty="0" err="1" smtClean="0">
                <a:solidFill>
                  <a:schemeClr val="accent3">
                    <a:lumMod val="50000"/>
                  </a:schemeClr>
                </a:solidFill>
                <a:latin typeface="Arial" panose="020B0604020202020204" pitchFamily="34" charset="0"/>
                <a:ea typeface="+mj-ea"/>
                <a:cs typeface="Arial" panose="020B0604020202020204" pitchFamily="34" charset="0"/>
              </a:rPr>
              <a:t>intercambio</a:t>
            </a:r>
            <a:r>
              <a:rPr lang="en-US" sz="2100" b="1" dirty="0" smtClean="0">
                <a:solidFill>
                  <a:schemeClr val="accent3">
                    <a:lumMod val="50000"/>
                  </a:schemeClr>
                </a:solidFill>
                <a:latin typeface="Arial" panose="020B0604020202020204" pitchFamily="34" charset="0"/>
                <a:ea typeface="+mj-ea"/>
                <a:cs typeface="Arial" panose="020B0604020202020204" pitchFamily="34" charset="0"/>
              </a:rPr>
              <a:t> </a:t>
            </a:r>
            <a:r>
              <a:rPr lang="en-US" sz="2100" b="1" dirty="0">
                <a:solidFill>
                  <a:schemeClr val="accent3">
                    <a:lumMod val="50000"/>
                  </a:schemeClr>
                </a:solidFill>
                <a:latin typeface="Arial" panose="020B0604020202020204" pitchFamily="34" charset="0"/>
                <a:ea typeface="+mj-ea"/>
                <a:cs typeface="Arial" panose="020B0604020202020204" pitchFamily="34" charset="0"/>
              </a:rPr>
              <a:t>de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las</a:t>
            </a:r>
            <a:r>
              <a:rPr lang="en-US" sz="2100" b="1" dirty="0">
                <a:solidFill>
                  <a:schemeClr val="accent3">
                    <a:lumMod val="50000"/>
                  </a:schemeClr>
                </a:solidFill>
                <a:latin typeface="Arial" panose="020B0604020202020204" pitchFamily="34" charset="0"/>
                <a:ea typeface="+mj-ea"/>
                <a:cs typeface="Arial" panose="020B0604020202020204" pitchFamily="34" charset="0"/>
              </a:rPr>
              <a:t>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filas</a:t>
            </a:r>
            <a:r>
              <a:rPr lang="en-US" sz="2100" b="1" dirty="0">
                <a:solidFill>
                  <a:schemeClr val="accent3">
                    <a:lumMod val="50000"/>
                  </a:schemeClr>
                </a:solidFill>
                <a:latin typeface="Arial" panose="020B0604020202020204" pitchFamily="34" charset="0"/>
                <a:ea typeface="+mj-ea"/>
                <a:cs typeface="Arial" panose="020B0604020202020204" pitchFamily="34" charset="0"/>
              </a:rPr>
              <a:t> 2 y 3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invierte</a:t>
            </a:r>
            <a:r>
              <a:rPr lang="en-US" sz="2100" b="1" dirty="0">
                <a:solidFill>
                  <a:schemeClr val="accent3">
                    <a:lumMod val="50000"/>
                  </a:schemeClr>
                </a:solidFill>
                <a:latin typeface="Arial" panose="020B0604020202020204" pitchFamily="34" charset="0"/>
                <a:ea typeface="+mj-ea"/>
                <a:cs typeface="Arial" panose="020B0604020202020204" pitchFamily="34" charset="0"/>
              </a:rPr>
              <a:t> el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signo</a:t>
            </a:r>
            <a:r>
              <a:rPr lang="en-US" sz="2100" b="1" dirty="0">
                <a:solidFill>
                  <a:schemeClr val="accent3">
                    <a:lumMod val="50000"/>
                  </a:schemeClr>
                </a:solidFill>
                <a:latin typeface="Arial" panose="020B0604020202020204" pitchFamily="34" charset="0"/>
                <a:ea typeface="+mj-ea"/>
                <a:cs typeface="Arial" panose="020B0604020202020204" pitchFamily="34" charset="0"/>
              </a:rPr>
              <a:t> del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determinante</a:t>
            </a:r>
            <a:r>
              <a:rPr lang="en-US" sz="2100" b="1" dirty="0">
                <a:solidFill>
                  <a:schemeClr val="accent3">
                    <a:lumMod val="50000"/>
                  </a:schemeClr>
                </a:solidFill>
                <a:latin typeface="Arial" panose="020B0604020202020204" pitchFamily="34" charset="0"/>
                <a:ea typeface="+mj-ea"/>
                <a:cs typeface="Arial" panose="020B0604020202020204" pitchFamily="34" charset="0"/>
              </a:rPr>
              <a:t>,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asi</a:t>
            </a:r>
            <a:r>
              <a:rPr lang="en-US" sz="2100" b="1" dirty="0">
                <a:solidFill>
                  <a:schemeClr val="accent3">
                    <a:lumMod val="50000"/>
                  </a:schemeClr>
                </a:solidFill>
                <a:latin typeface="Arial" panose="020B0604020202020204" pitchFamily="34" charset="0"/>
                <a:ea typeface="+mj-ea"/>
                <a:cs typeface="Arial" panose="020B0604020202020204" pitchFamily="34" charset="0"/>
              </a:rPr>
              <a:t> </a:t>
            </a:r>
            <a:r>
              <a:rPr lang="en-US" sz="2100" b="1" dirty="0" err="1">
                <a:solidFill>
                  <a:schemeClr val="accent3">
                    <a:lumMod val="50000"/>
                  </a:schemeClr>
                </a:solidFill>
                <a:latin typeface="Arial" panose="020B0604020202020204" pitchFamily="34" charset="0"/>
                <a:ea typeface="+mj-ea"/>
                <a:cs typeface="Arial" panose="020B0604020202020204" pitchFamily="34" charset="0"/>
              </a:rPr>
              <a:t>que</a:t>
            </a:r>
            <a:endParaRPr lang="en-US" sz="2100" b="1" dirty="0">
              <a:solidFill>
                <a:schemeClr val="accent3">
                  <a:lumMod val="50000"/>
                </a:schemeClr>
              </a:solidFill>
              <a:latin typeface="Arial" panose="020B0604020202020204" pitchFamily="34" charset="0"/>
              <a:ea typeface="+mj-ea"/>
              <a:cs typeface="Arial" panose="020B0604020202020204" pitchFamily="34" charset="0"/>
            </a:endParaRPr>
          </a:p>
        </p:txBody>
      </p:sp>
      <mc:AlternateContent xmlns:mc="http://schemas.openxmlformats.org/markup-compatibility/2006" xmlns:a14="http://schemas.microsoft.com/office/drawing/2010/main">
        <mc:Choice Requires="a14">
          <p:sp>
            <p:nvSpPr>
              <p:cNvPr id="22" name="Rectángulo 21"/>
              <p:cNvSpPr/>
              <p:nvPr/>
            </p:nvSpPr>
            <p:spPr>
              <a:xfrm>
                <a:off x="2047741" y="1414584"/>
                <a:ext cx="3107517" cy="946926"/>
              </a:xfrm>
              <a:prstGeom prst="rect">
                <a:avLst/>
              </a:prstGeom>
            </p:spPr>
            <p:txBody>
              <a:bodyPr wrap="none">
                <a:spAutoFit/>
              </a:bodyPr>
              <a:lstStyle/>
              <a:p>
                <a:r>
                  <a:rPr lang="es-MX" sz="2100" b="1" dirty="0">
                    <a:solidFill>
                      <a:schemeClr val="accent3">
                        <a:lumMod val="50000"/>
                      </a:schemeClr>
                    </a:solidFill>
                    <a:latin typeface="Arial" panose="020B0604020202020204" pitchFamily="34" charset="0"/>
                    <a:cs typeface="Arial" panose="020B0604020202020204" pitchFamily="34" charset="0"/>
                  </a:rPr>
                  <a:t>Sea </a:t>
                </a:r>
                <a14:m>
                  <m:oMath xmlns:m="http://schemas.openxmlformats.org/officeDocument/2006/math">
                    <m:r>
                      <a:rPr lang="es-NI" sz="2100" b="1" i="1">
                        <a:solidFill>
                          <a:schemeClr val="accent3">
                            <a:lumMod val="50000"/>
                          </a:schemeClr>
                        </a:solidFill>
                        <a:latin typeface="Cambria Math" panose="02040503050406030204" pitchFamily="18" charset="0"/>
                        <a:cs typeface="Arial" panose="020B0604020202020204" pitchFamily="34" charset="0"/>
                      </a:rPr>
                      <m:t>𝑨</m:t>
                    </m:r>
                    <m:r>
                      <a:rPr lang="es-NI" sz="2100" b="1" i="1">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100" b="1" i="1">
                            <a:solidFill>
                              <a:schemeClr val="accent3">
                                <a:lumMod val="50000"/>
                              </a:scheme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𝟒</m:t>
                              </m:r>
                            </m:e>
                            <m:e>
                              <m:r>
                                <a:rPr lang="es-NI" sz="2100" b="1" i="1">
                                  <a:solidFill>
                                    <a:schemeClr val="accent3">
                                      <a:lumMod val="50000"/>
                                    </a:schemeClr>
                                  </a:solidFill>
                                  <a:latin typeface="Cambria Math" panose="02040503050406030204" pitchFamily="18" charset="0"/>
                                  <a:cs typeface="Arial" panose="020B0604020202020204" pitchFamily="34" charset="0"/>
                                </a:rPr>
                                <m:t>𝟐</m:t>
                              </m:r>
                            </m:e>
                          </m:mr>
                          <m:mr>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𝟐</m:t>
                              </m:r>
                            </m:e>
                            <m:e>
                              <m:r>
                                <a:rPr lang="es-NI" sz="2100" b="1" i="1">
                                  <a:solidFill>
                                    <a:schemeClr val="accent3">
                                      <a:lumMod val="50000"/>
                                    </a:schemeClr>
                                  </a:solidFill>
                                  <a:latin typeface="Cambria Math" panose="02040503050406030204" pitchFamily="18" charset="0"/>
                                  <a:cs typeface="Arial" panose="020B0604020202020204" pitchFamily="34" charset="0"/>
                                </a:rPr>
                                <m:t>𝟖</m:t>
                              </m:r>
                            </m:e>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𝟗</m:t>
                              </m:r>
                            </m:e>
                          </m:mr>
                          <m:mr>
                            <m:e>
                              <m:r>
                                <a:rPr lang="es-NI" sz="2100" b="1" i="1">
                                  <a:solidFill>
                                    <a:schemeClr val="accent3">
                                      <a:lumMod val="50000"/>
                                    </a:schemeClr>
                                  </a:solidFill>
                                  <a:latin typeface="Cambria Math" panose="02040503050406030204" pitchFamily="18" charset="0"/>
                                  <a:cs typeface="Arial" panose="020B0604020202020204" pitchFamily="34" charset="0"/>
                                </a:rPr>
                                <m:t>−</m:t>
                              </m:r>
                              <m:r>
                                <a:rPr lang="es-NI" sz="2100" b="1" i="1">
                                  <a:solidFill>
                                    <a:schemeClr val="accent3">
                                      <a:lumMod val="50000"/>
                                    </a:schemeClr>
                                  </a:solidFill>
                                  <a:latin typeface="Cambria Math" panose="02040503050406030204" pitchFamily="18" charset="0"/>
                                  <a:cs typeface="Arial" panose="020B0604020202020204" pitchFamily="34" charset="0"/>
                                </a:rPr>
                                <m:t>𝟏</m:t>
                              </m:r>
                            </m:e>
                            <m:e>
                              <m:r>
                                <a:rPr lang="es-NI" sz="2100" b="1" i="1">
                                  <a:solidFill>
                                    <a:schemeClr val="accent3">
                                      <a:lumMod val="50000"/>
                                    </a:schemeClr>
                                  </a:solidFill>
                                  <a:latin typeface="Cambria Math" panose="02040503050406030204" pitchFamily="18" charset="0"/>
                                  <a:cs typeface="Arial" panose="020B0604020202020204" pitchFamily="34" charset="0"/>
                                </a:rPr>
                                <m:t>𝟕</m:t>
                              </m:r>
                            </m:e>
                            <m:e>
                              <m:r>
                                <a:rPr lang="es-NI" sz="2100" b="1" i="1">
                                  <a:solidFill>
                                    <a:schemeClr val="accent3">
                                      <a:lumMod val="50000"/>
                                    </a:schemeClr>
                                  </a:solidFill>
                                  <a:latin typeface="Cambria Math" panose="02040503050406030204" pitchFamily="18" charset="0"/>
                                  <a:cs typeface="Arial" panose="020B0604020202020204" pitchFamily="34" charset="0"/>
                                </a:rPr>
                                <m:t>𝟎</m:t>
                              </m:r>
                            </m:e>
                          </m:mr>
                        </m:m>
                      </m:e>
                    </m:d>
                  </m:oMath>
                </a14:m>
                <a:endParaRPr lang="es-MX" sz="2100" dirty="0"/>
              </a:p>
            </p:txBody>
          </p:sp>
        </mc:Choice>
        <mc:Fallback xmlns="">
          <p:sp>
            <p:nvSpPr>
              <p:cNvPr id="22" name="Rectángulo 21"/>
              <p:cNvSpPr>
                <a:spLocks noRot="1" noChangeAspect="1" noMove="1" noResize="1" noEditPoints="1" noAdjustHandles="1" noChangeArrowheads="1" noChangeShapeType="1" noTextEdit="1"/>
              </p:cNvSpPr>
              <p:nvPr/>
            </p:nvSpPr>
            <p:spPr>
              <a:xfrm>
                <a:off x="2047741" y="1414584"/>
                <a:ext cx="3107517" cy="946926"/>
              </a:xfrm>
              <a:prstGeom prst="rect">
                <a:avLst/>
              </a:prstGeom>
              <a:blipFill rotWithShape="0">
                <a:blip r:embed="rId12"/>
                <a:stretch>
                  <a:fillRect l="-235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Rectángulo 23"/>
              <p:cNvSpPr/>
              <p:nvPr/>
            </p:nvSpPr>
            <p:spPr>
              <a:xfrm>
                <a:off x="7262888" y="5803685"/>
                <a:ext cx="2092239" cy="415498"/>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m:t>
                      </m:r>
                      <m:d>
                        <m:d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𝟏</m:t>
                          </m:r>
                        </m:e>
                      </m:d>
                      <m:d>
                        <m:d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d>
                      <m:d>
                        <m:d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𝟓</m:t>
                          </m:r>
                        </m:e>
                      </m:d>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262888" y="5803685"/>
                <a:ext cx="2092239" cy="415498"/>
              </a:xfrm>
              <a:prstGeom prst="rect">
                <a:avLst/>
              </a:prstGeom>
              <a:blipFill rotWithShape="0">
                <a:blip r:embed="rId1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6" name="Rectángulo 25"/>
              <p:cNvSpPr/>
              <p:nvPr/>
            </p:nvSpPr>
            <p:spPr>
              <a:xfrm>
                <a:off x="9179712" y="5803685"/>
                <a:ext cx="857414" cy="415498"/>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𝟏𝟓</m:t>
                      </m:r>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6" name="Rectángulo 25"/>
              <p:cNvSpPr>
                <a:spLocks noRot="1" noChangeAspect="1" noMove="1" noResize="1" noEditPoints="1" noAdjustHandles="1" noChangeArrowheads="1" noChangeShapeType="1" noTextEdit="1"/>
              </p:cNvSpPr>
              <p:nvPr/>
            </p:nvSpPr>
            <p:spPr>
              <a:xfrm>
                <a:off x="9179712" y="5803685"/>
                <a:ext cx="857414" cy="415498"/>
              </a:xfrm>
              <a:prstGeom prst="rect">
                <a:avLst/>
              </a:prstGeom>
              <a:blipFill rotWithShape="0">
                <a:blip r:embed="rId14"/>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1904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circle(in)">
                                      <p:cBhvr>
                                        <p:cTn id="13" dur="2000"/>
                                        <p:tgtEl>
                                          <p:spTgt spid="22"/>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circle(in)">
                                      <p:cBhvr>
                                        <p:cTn id="21" dur="2000"/>
                                        <p:tgtEl>
                                          <p:spTgt spid="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ircle(in)">
                                      <p:cBhvr>
                                        <p:cTn id="26" dur="2000"/>
                                        <p:tgtEl>
                                          <p:spTgt spid="9"/>
                                        </p:tgtEl>
                                      </p:cBhvr>
                                    </p:animEffect>
                                  </p:childTnLst>
                                </p:cTn>
                              </p:par>
                              <p:par>
                                <p:cTn id="27" presetID="6"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circle(in)">
                                      <p:cBhvr>
                                        <p:cTn id="29" dur="2000"/>
                                        <p:tgtEl>
                                          <p:spTgt spid="12"/>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ircle(in)">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circle(in)">
                                      <p:cBhvr>
                                        <p:cTn id="37" dur="2000"/>
                                        <p:tgtEl>
                                          <p:spTgt spid="10"/>
                                        </p:tgtEl>
                                      </p:cBhvr>
                                    </p:animEffect>
                                  </p:childTnLst>
                                </p:cTn>
                              </p:par>
                              <p:par>
                                <p:cTn id="38" presetID="6" presetClass="entr" presetSubtype="16"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ircle(in)">
                                      <p:cBhvr>
                                        <p:cTn id="40" dur="2000"/>
                                        <p:tgtEl>
                                          <p:spTgt spid="15"/>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ircle(in)">
                                      <p:cBhvr>
                                        <p:cTn id="43" dur="20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circle(in)">
                                      <p:cBhvr>
                                        <p:cTn id="48" dur="20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21">
                                            <p:txEl>
                                              <p:pRg st="0" end="0"/>
                                            </p:txEl>
                                          </p:spTgt>
                                        </p:tgtEl>
                                        <p:attrNameLst>
                                          <p:attrName>style.visibility</p:attrName>
                                        </p:attrNameLst>
                                      </p:cBhvr>
                                      <p:to>
                                        <p:strVal val="visible"/>
                                      </p:to>
                                    </p:set>
                                    <p:animEffect transition="in" filter="circle(in)">
                                      <p:cBhvr>
                                        <p:cTn id="53" dur="2000"/>
                                        <p:tgtEl>
                                          <p:spTgt spid="21">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circle(in)">
                                      <p:cBhvr>
                                        <p:cTn id="58" dur="2000"/>
                                        <p:tgtEl>
                                          <p:spTgt spid="17"/>
                                        </p:tgtEl>
                                      </p:cBhvr>
                                    </p:animEffect>
                                  </p:childTnLst>
                                </p:cTn>
                              </p:par>
                              <p:par>
                                <p:cTn id="59" presetID="6" presetClass="entr" presetSubtype="16"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circle(in)">
                                      <p:cBhvr>
                                        <p:cTn id="61" dur="2000"/>
                                        <p:tgtEl>
                                          <p:spTgt spid="18"/>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circle(in)">
                                      <p:cBhvr>
                                        <p:cTn id="64" dur="20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6" presetClass="entr" presetSubtype="16"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circle(in)">
                                      <p:cBhvr>
                                        <p:cTn id="69" dur="20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6" presetClass="entr" presetSubtype="16" fill="hold" grpId="0"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circle(in)">
                                      <p:cBhvr>
                                        <p:cTn id="74" dur="20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nodeType="clickEffect">
                                  <p:stCondLst>
                                    <p:cond delay="0"/>
                                  </p:stCondLst>
                                  <p:childTnLst>
                                    <p:set>
                                      <p:cBhvr>
                                        <p:cTn id="78" dur="1" fill="hold">
                                          <p:stCondLst>
                                            <p:cond delay="0"/>
                                          </p:stCondLst>
                                        </p:cTn>
                                        <p:tgtEl>
                                          <p:spTgt spid="26">
                                            <p:txEl>
                                              <p:pRg st="0" end="0"/>
                                            </p:txEl>
                                          </p:spTgt>
                                        </p:tgtEl>
                                        <p:attrNameLst>
                                          <p:attrName>style.visibility</p:attrName>
                                        </p:attrNameLst>
                                      </p:cBhvr>
                                      <p:to>
                                        <p:strVal val="visible"/>
                                      </p:to>
                                    </p:set>
                                    <p:animEffect transition="in" filter="circle(in)">
                                      <p:cBhvr>
                                        <p:cTn id="79" dur="20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P spid="13" grpId="0"/>
      <p:bldP spid="14" grpId="0"/>
      <p:bldP spid="16" grpId="0"/>
      <p:bldP spid="17" grpId="0"/>
      <p:bldP spid="19" grpId="0"/>
      <p:bldP spid="20" grpId="0"/>
      <p:bldP spid="22"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 y="1151372"/>
            <a:ext cx="1661375"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latin typeface="Arial" panose="020B0604020202020204" pitchFamily="34" charset="0"/>
                <a:cs typeface="Arial" panose="020B0604020202020204" pitchFamily="34" charset="0"/>
              </a:rPr>
              <a:t>Ejemplo 2.</a:t>
            </a:r>
            <a:endParaRPr lang="es-NI" sz="2100" b="1" dirty="0">
              <a:solidFill>
                <a:srgbClr val="FF0000"/>
              </a:solidFill>
              <a:latin typeface="Arial" panose="020B0604020202020204" pitchFamily="34" charset="0"/>
              <a:cs typeface="Arial" panose="020B0604020202020204" pitchFamily="34" charset="0"/>
            </a:endParaRPr>
          </a:p>
        </p:txBody>
      </p:sp>
      <p:sp>
        <p:nvSpPr>
          <p:cNvPr id="5" name="Title 1"/>
          <p:cNvSpPr txBox="1">
            <a:spLocks/>
          </p:cNvSpPr>
          <p:nvPr/>
        </p:nvSpPr>
        <p:spPr>
          <a:xfrm>
            <a:off x="0" y="2833945"/>
            <a:ext cx="12179121" cy="76258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100" b="1" dirty="0">
                <a:solidFill>
                  <a:schemeClr val="accent3">
                    <a:lumMod val="50000"/>
                  </a:schemeClr>
                </a:solidFill>
                <a:latin typeface="Arial" panose="020B0604020202020204" pitchFamily="34" charset="0"/>
                <a:cs typeface="Arial" panose="020B0604020202020204" pitchFamily="34" charset="0"/>
              </a:rPr>
              <a:t>Para simplificar la aritmética, queremos un 1 en la esquina superior izquierda. En cambio, </a:t>
            </a:r>
            <a:r>
              <a:rPr lang="es-MX" sz="2100" b="1" dirty="0" err="1">
                <a:solidFill>
                  <a:schemeClr val="accent3">
                    <a:lumMod val="50000"/>
                  </a:schemeClr>
                </a:solidFill>
                <a:latin typeface="Arial" panose="020B0604020202020204" pitchFamily="34" charset="0"/>
                <a:cs typeface="Arial" panose="020B0604020202020204" pitchFamily="34" charset="0"/>
              </a:rPr>
              <a:t>factorizamos</a:t>
            </a:r>
            <a:r>
              <a:rPr lang="es-MX" sz="2100" b="1" dirty="0">
                <a:solidFill>
                  <a:schemeClr val="accent3">
                    <a:lumMod val="50000"/>
                  </a:schemeClr>
                </a:solidFill>
                <a:latin typeface="Arial" panose="020B0604020202020204" pitchFamily="34" charset="0"/>
                <a:cs typeface="Arial" panose="020B0604020202020204" pitchFamily="34" charset="0"/>
              </a:rPr>
              <a:t> 2 de la fila superior,</a:t>
            </a:r>
          </a:p>
        </p:txBody>
      </p:sp>
      <mc:AlternateContent xmlns:mc="http://schemas.openxmlformats.org/markup-compatibility/2006" xmlns:a14="http://schemas.microsoft.com/office/drawing/2010/main">
        <mc:Choice Requires="a14">
          <p:sp>
            <p:nvSpPr>
              <p:cNvPr id="7" name="Title 1"/>
              <p:cNvSpPr txBox="1">
                <a:spLocks/>
              </p:cNvSpPr>
              <p:nvPr/>
            </p:nvSpPr>
            <p:spPr>
              <a:xfrm>
                <a:off x="0" y="1585577"/>
                <a:ext cx="2047741" cy="51564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defRPr/>
                </a:pPr>
                <a:r>
                  <a:rPr lang="es-MX" sz="2100" b="1" dirty="0">
                    <a:solidFill>
                      <a:schemeClr val="accent3">
                        <a:lumMod val="50000"/>
                      </a:schemeClr>
                    </a:solidFill>
                    <a:latin typeface="Arial" panose="020B0604020202020204" pitchFamily="34" charset="0"/>
                    <a:cs typeface="Arial" panose="020B0604020202020204" pitchFamily="34" charset="0"/>
                  </a:rPr>
                  <a:t>Calcular </a:t>
                </a:r>
                <a14:m>
                  <m:oMath xmlns:m="http://schemas.openxmlformats.org/officeDocument/2006/math">
                    <m:r>
                      <a:rPr lang="es-MX" sz="2100" b="1" i="1" dirty="0">
                        <a:solidFill>
                          <a:schemeClr val="accent3">
                            <a:lumMod val="50000"/>
                          </a:schemeClr>
                        </a:solidFill>
                        <a:latin typeface="Cambria Math" panose="02040503050406030204" pitchFamily="18" charset="0"/>
                        <a:cs typeface="Arial" panose="020B0604020202020204" pitchFamily="34" charset="0"/>
                      </a:rPr>
                      <m:t>𝒅𝒆𝒕𝑨</m:t>
                    </m:r>
                  </m:oMath>
                </a14:m>
                <a:r>
                  <a:rPr lang="es-MX" sz="2100" b="1" dirty="0">
                    <a:solidFill>
                      <a:schemeClr val="accent3">
                        <a:lumMod val="50000"/>
                      </a:schemeClr>
                    </a:solidFill>
                    <a:latin typeface="Arial" panose="020B0604020202020204" pitchFamily="34" charset="0"/>
                    <a:cs typeface="Arial" panose="020B0604020202020204" pitchFamily="34" charset="0"/>
                  </a:rPr>
                  <a:t>. </a:t>
                </a:r>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7" name="Title 1"/>
              <p:cNvSpPr txBox="1">
                <a:spLocks noRot="1" noChangeAspect="1" noMove="1" noResize="1" noEditPoints="1" noAdjustHandles="1" noChangeArrowheads="1" noChangeShapeType="1" noTextEdit="1"/>
              </p:cNvSpPr>
              <p:nvPr/>
            </p:nvSpPr>
            <p:spPr>
              <a:xfrm>
                <a:off x="0" y="1585577"/>
                <a:ext cx="2047741" cy="515648"/>
              </a:xfrm>
              <a:prstGeom prst="rect">
                <a:avLst/>
              </a:prstGeom>
              <a:blipFill rotWithShape="0">
                <a:blip r:embed="rId2"/>
                <a:stretch>
                  <a:fillRect l="-3571" r="-595" b="-12941"/>
                </a:stretch>
              </a:blipFill>
            </p:spPr>
            <p:txBody>
              <a:bodyPr/>
              <a:lstStyle/>
              <a:p>
                <a:r>
                  <a:rPr lang="es-MX">
                    <a:noFill/>
                  </a:rPr>
                  <a:t> </a:t>
                </a:r>
              </a:p>
            </p:txBody>
          </p:sp>
        </mc:Fallback>
      </mc:AlternateContent>
      <p:sp>
        <p:nvSpPr>
          <p:cNvPr id="8" name="Title 1"/>
          <p:cNvSpPr txBox="1">
            <a:spLocks/>
          </p:cNvSpPr>
          <p:nvPr/>
        </p:nvSpPr>
        <p:spPr>
          <a:xfrm>
            <a:off x="0" y="2356266"/>
            <a:ext cx="1442434"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latin typeface="Arial" panose="020B0604020202020204" pitchFamily="34" charset="0"/>
                <a:cs typeface="Arial" panose="020B0604020202020204" pitchFamily="34" charset="0"/>
              </a:rPr>
              <a:t>Solución</a:t>
            </a:r>
            <a:endParaRPr lang="es-NI" sz="21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itle 1"/>
              <p:cNvSpPr txBox="1">
                <a:spLocks/>
              </p:cNvSpPr>
              <p:nvPr/>
            </p:nvSpPr>
            <p:spPr>
              <a:xfrm>
                <a:off x="341290" y="3712535"/>
                <a:ext cx="3702676" cy="146477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defRPr/>
                </a:pPr>
                <a14:m>
                  <m:oMathPara xmlns:m="http://schemas.openxmlformats.org/officeDocument/2006/math">
                    <m:oMathParaPr>
                      <m:jc m:val="left"/>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𝟐</m:t>
                                    </m:r>
                                  </m:e>
                                  <m:e>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𝟏</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a:solidFill>
                                                <a:schemeClr val="accent3">
                                                  <a:lumMod val="50000"/>
                                                </a:schemeClr>
                                              </a:solidFill>
                                              <a:latin typeface="Cambria Math" panose="02040503050406030204" pitchFamily="18" charset="0"/>
                                              <a:cs typeface="Arial" panose="020B0604020202020204" pitchFamily="34" charset="0"/>
                                            </a:rPr>
                                            <m:t>𝟖</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𝟗</m:t>
                                          </m:r>
                                        </m:e>
                                        <m:e>
                                          <m:r>
                                            <a:rPr lang="es-NI" sz="2000" b="1" i="1">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𝟒</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𝟔</m:t>
                                                </m:r>
                                              </m:e>
                                              <m:e>
                                                <m:r>
                                                  <a:rPr lang="es-NI" sz="2000" b="1" i="1">
                                                    <a:solidFill>
                                                      <a:schemeClr val="accent3">
                                                        <a:lumMod val="50000"/>
                                                      </a:schemeClr>
                                                    </a:solidFill>
                                                    <a:latin typeface="Cambria Math" panose="02040503050406030204" pitchFamily="18" charset="0"/>
                                                  </a:rPr>
                                                  <m:t>𝟓</m:t>
                                                </m:r>
                                              </m:e>
                                              <m:e>
                                                <m:r>
                                                  <a:rPr lang="es-NI" sz="2000" b="1" i="1">
                                                    <a:solidFill>
                                                      <a:schemeClr val="accent3">
                                                        <a:lumMod val="50000"/>
                                                      </a:schemeClr>
                                                    </a:solidFill>
                                                    <a:latin typeface="Cambria Math" panose="02040503050406030204" pitchFamily="18" charset="0"/>
                                                  </a:rPr>
                                                  <m:t>𝟏</m:t>
                                                </m:r>
                                              </m:e>
                                              <m:e>
                                                <m:r>
                                                  <a:rPr lang="es-NI" sz="2000" b="1" i="1">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𝟖</m:t>
                                                </m:r>
                                              </m:e>
                                              <m:e>
                                                <m:r>
                                                  <a:rPr lang="es-NI" sz="2000" b="1" i="1">
                                                    <a:solidFill>
                                                      <a:schemeClr val="accent3">
                                                        <a:lumMod val="50000"/>
                                                      </a:schemeClr>
                                                    </a:solidFill>
                                                    <a:latin typeface="Cambria Math" panose="02040503050406030204" pitchFamily="18" charset="0"/>
                                                  </a:rPr>
                                                  <m:t>𝟏𝟎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𝟐</m:t>
                                                </m:r>
                                              </m:e>
                                              <m:e>
                                                <m:r>
                                                  <a:rPr lang="es-NI" sz="2000" b="1" i="1">
                                                    <a:solidFill>
                                                      <a:schemeClr val="accent3">
                                                        <a:lumMod val="50000"/>
                                                      </a:schemeClr>
                                                    </a:solidFill>
                                                    <a:latin typeface="Cambria Math" panose="02040503050406030204" pitchFamily="18" charset="0"/>
                                                  </a:rPr>
                                                  <m:t>𝟔</m:t>
                                                </m:r>
                                              </m:e>
                                            </m:eqArr>
                                          </m:e>
                                        </m:mr>
                                      </m:m>
                                    </m:e>
                                  </m:mr>
                                </m:m>
                              </m:e>
                            </m:mr>
                          </m:m>
                        </m:e>
                      </m:d>
                      <m:r>
                        <a:rPr lang="es-NI" sz="2000" b="1" i="1" smtClean="0">
                          <a:solidFill>
                            <a:schemeClr val="accent3">
                              <a:lumMod val="50000"/>
                            </a:schemeClr>
                          </a:solidFill>
                          <a:latin typeface="Cambria Math" panose="02040503050406030204" pitchFamily="18" charset="0"/>
                          <a:cs typeface="Arial" panose="020B0604020202020204" pitchFamily="34" charset="0"/>
                        </a:rPr>
                        <m:t>=</m:t>
                      </m:r>
                    </m:oMath>
                  </m:oMathPara>
                </a14:m>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a:off x="341290" y="3712535"/>
                <a:ext cx="3702676" cy="1464772"/>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2020415" y="1264545"/>
                <a:ext cx="3467552" cy="1282915"/>
              </a:xfrm>
              <a:prstGeom prst="rect">
                <a:avLst/>
              </a:prstGeom>
            </p:spPr>
            <p:txBody>
              <a:bodyPr wrap="none">
                <a:spAutoFit/>
              </a:bodyPr>
              <a:lstStyle/>
              <a:p>
                <a:r>
                  <a:rPr lang="es-MX" sz="2100" b="1" dirty="0" smtClean="0">
                    <a:solidFill>
                      <a:schemeClr val="accent3">
                        <a:lumMod val="50000"/>
                      </a:schemeClr>
                    </a:solidFill>
                    <a:latin typeface="Arial" panose="020B0604020202020204" pitchFamily="34" charset="0"/>
                    <a:cs typeface="Arial" panose="020B0604020202020204" pitchFamily="34" charset="0"/>
                  </a:rPr>
                  <a:t>Sea </a:t>
                </a:r>
                <a14:m>
                  <m:oMath xmlns:m="http://schemas.openxmlformats.org/officeDocument/2006/math">
                    <m:r>
                      <a:rPr lang="es-NI" sz="2100" b="1" i="1">
                        <a:solidFill>
                          <a:schemeClr val="accent3">
                            <a:lumMod val="50000"/>
                          </a:schemeClr>
                        </a:solidFill>
                        <a:latin typeface="Cambria Math" panose="02040503050406030204" pitchFamily="18" charset="0"/>
                        <a:cs typeface="Arial" panose="020B0604020202020204" pitchFamily="34" charset="0"/>
                      </a:rPr>
                      <m:t>𝑨</m:t>
                    </m:r>
                    <m:r>
                      <a:rPr lang="es-NI" sz="2100" b="1" i="1">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1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eqArrPr>
                                <m:e>
                                  <m:r>
                                    <a:rPr lang="es-NI" sz="2100" b="1" i="1" smtClean="0">
                                      <a:solidFill>
                                        <a:schemeClr val="accent3">
                                          <a:lumMod val="50000"/>
                                        </a:schemeClr>
                                      </a:solidFill>
                                      <a:latin typeface="Cambria Math" panose="02040503050406030204" pitchFamily="18" charset="0"/>
                                      <a:cs typeface="Arial" panose="020B0604020202020204" pitchFamily="34" charset="0"/>
                                    </a:rPr>
                                    <m:t>𝟐</m:t>
                                  </m:r>
                                </m:e>
                                <m:e>
                                  <m:r>
                                    <a:rPr lang="es-NI" b="1" i="1" smtClean="0">
                                      <a:solidFill>
                                        <a:schemeClr val="accent3">
                                          <a:lumMod val="50000"/>
                                        </a:schemeClr>
                                      </a:solidFill>
                                      <a:latin typeface="Cambria Math" panose="02040503050406030204" pitchFamily="18" charset="0"/>
                                    </a:rPr>
                                    <m:t>𝟑</m:t>
                                  </m:r>
                                </m:e>
                                <m:e>
                                  <m:r>
                                    <a:rPr lang="es-NI" b="1" i="1" smtClean="0">
                                      <a:solidFill>
                                        <a:schemeClr val="accent3">
                                          <a:lumMod val="50000"/>
                                        </a:schemeClr>
                                      </a:solidFill>
                                      <a:latin typeface="Cambria Math" panose="02040503050406030204" pitchFamily="18" charset="0"/>
                                    </a:rPr>
                                    <m:t>−</m:t>
                                  </m:r>
                                  <m:r>
                                    <a:rPr lang="es-NI" b="1" i="1" smtClean="0">
                                      <a:solidFill>
                                        <a:schemeClr val="accent3">
                                          <a:lumMod val="50000"/>
                                        </a:schemeClr>
                                      </a:solidFill>
                                      <a:latin typeface="Cambria Math" panose="02040503050406030204" pitchFamily="18" charset="0"/>
                                    </a:rPr>
                                    <m:t>𝟑</m:t>
                                  </m:r>
                                </m:e>
                                <m:e>
                                  <m:r>
                                    <a:rPr lang="es-NI" b="1" i="1" smtClean="0">
                                      <a:solidFill>
                                        <a:schemeClr val="accent3">
                                          <a:lumMod val="50000"/>
                                        </a:schemeClr>
                                      </a:solidFill>
                                      <a:latin typeface="Cambria Math" panose="02040503050406030204" pitchFamily="18" charset="0"/>
                                    </a:rPr>
                                    <m:t>𝟏</m:t>
                                  </m:r>
                                </m:e>
                              </m:eqArr>
                            </m:e>
                            <m:e>
                              <m:m>
                                <m:mPr>
                                  <m:mcs>
                                    <m:mc>
                                      <m:mcPr>
                                        <m:count m:val="2"/>
                                        <m:mcJc m:val="center"/>
                                      </m:mcPr>
                                    </m:mc>
                                  </m:mcs>
                                  <m:ctrlPr>
                                    <a:rPr lang="es-NI" sz="21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eqArrPr>
                                      <m:e>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𝟖</m:t>
                                        </m:r>
                                      </m:e>
                                      <m:e>
                                        <m:r>
                                          <a:rPr lang="es-NI" b="1" i="1" smtClean="0">
                                            <a:solidFill>
                                              <a:schemeClr val="accent3">
                                                <a:lumMod val="50000"/>
                                              </a:schemeClr>
                                            </a:solidFill>
                                            <a:latin typeface="Cambria Math" panose="02040503050406030204" pitchFamily="18" charset="0"/>
                                          </a:rPr>
                                          <m:t>−</m:t>
                                        </m:r>
                                        <m:r>
                                          <a:rPr lang="es-NI" b="1" i="1" smtClean="0">
                                            <a:solidFill>
                                              <a:schemeClr val="accent3">
                                                <a:lumMod val="50000"/>
                                              </a:schemeClr>
                                            </a:solidFill>
                                            <a:latin typeface="Cambria Math" panose="02040503050406030204" pitchFamily="18" charset="0"/>
                                          </a:rPr>
                                          <m:t>𝟗</m:t>
                                        </m:r>
                                      </m:e>
                                      <m:e>
                                        <m:r>
                                          <a:rPr lang="es-NI" b="1" i="1" smtClean="0">
                                            <a:solidFill>
                                              <a:schemeClr val="accent3">
                                                <a:lumMod val="50000"/>
                                              </a:schemeClr>
                                            </a:solidFill>
                                            <a:latin typeface="Cambria Math" panose="02040503050406030204" pitchFamily="18" charset="0"/>
                                          </a:rPr>
                                          <m:t>𝟎</m:t>
                                        </m:r>
                                      </m:e>
                                      <m:e>
                                        <m:r>
                                          <a:rPr lang="es-NI" b="1" i="1" smtClean="0">
                                            <a:solidFill>
                                              <a:schemeClr val="accent3">
                                                <a:lumMod val="50000"/>
                                              </a:schemeClr>
                                            </a:solidFill>
                                            <a:latin typeface="Cambria Math" panose="02040503050406030204" pitchFamily="18" charset="0"/>
                                          </a:rPr>
                                          <m:t>−</m:t>
                                        </m:r>
                                        <m:r>
                                          <a:rPr lang="es-NI" b="1" i="1" smtClean="0">
                                            <a:solidFill>
                                              <a:schemeClr val="accent3">
                                                <a:lumMod val="50000"/>
                                              </a:schemeClr>
                                            </a:solidFill>
                                            <a:latin typeface="Cambria Math" panose="02040503050406030204" pitchFamily="18" charset="0"/>
                                          </a:rPr>
                                          <m:t>𝟒</m:t>
                                        </m:r>
                                      </m:e>
                                    </m:eqArr>
                                  </m:e>
                                  <m:e>
                                    <m:m>
                                      <m:mPr>
                                        <m:mcs>
                                          <m:mc>
                                            <m:mcPr>
                                              <m:count m:val="2"/>
                                              <m:mcJc m:val="center"/>
                                            </m:mcPr>
                                          </m:mc>
                                        </m:mcs>
                                        <m:ctrlPr>
                                          <a:rPr lang="es-NI" sz="21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eqArrPr>
                                            <m:e>
                                              <m:r>
                                                <a:rPr lang="es-NI" sz="2100" b="1" i="1" smtClean="0">
                                                  <a:solidFill>
                                                    <a:schemeClr val="accent3">
                                                      <a:lumMod val="50000"/>
                                                    </a:schemeClr>
                                                  </a:solidFill>
                                                  <a:latin typeface="Cambria Math" panose="02040503050406030204" pitchFamily="18" charset="0"/>
                                                  <a:cs typeface="Arial" panose="020B0604020202020204" pitchFamily="34" charset="0"/>
                                                </a:rPr>
                                                <m:t>𝟔</m:t>
                                              </m:r>
                                            </m:e>
                                            <m:e>
                                              <m:r>
                                                <a:rPr lang="es-NI" b="1" i="1" smtClean="0">
                                                  <a:solidFill>
                                                    <a:schemeClr val="accent3">
                                                      <a:lumMod val="50000"/>
                                                    </a:schemeClr>
                                                  </a:solidFill>
                                                  <a:latin typeface="Cambria Math" panose="02040503050406030204" pitchFamily="18" charset="0"/>
                                                </a:rPr>
                                                <m:t>𝟓</m:t>
                                              </m:r>
                                            </m:e>
                                            <m:e>
                                              <m:r>
                                                <a:rPr lang="es-NI" b="1" i="1" smtClean="0">
                                                  <a:solidFill>
                                                    <a:schemeClr val="accent3">
                                                      <a:lumMod val="50000"/>
                                                    </a:schemeClr>
                                                  </a:solidFill>
                                                  <a:latin typeface="Cambria Math" panose="02040503050406030204" pitchFamily="18" charset="0"/>
                                                </a:rPr>
                                                <m:t>𝟏</m:t>
                                              </m:r>
                                            </m:e>
                                            <m:e>
                                              <m:r>
                                                <a:rPr lang="es-NI" b="1" i="1" smtClean="0">
                                                  <a:solidFill>
                                                    <a:schemeClr val="accent3">
                                                      <a:lumMod val="50000"/>
                                                    </a:schemeClr>
                                                  </a:solidFill>
                                                  <a:latin typeface="Cambria Math" panose="02040503050406030204" pitchFamily="18" charset="0"/>
                                                </a:rPr>
                                                <m:t>𝟎</m:t>
                                              </m:r>
                                            </m:e>
                                          </m:eqArr>
                                        </m:e>
                                        <m:e>
                                          <m:eqArr>
                                            <m:eqArr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eqArrPr>
                                            <m:e>
                                              <m:r>
                                                <a:rPr lang="es-NI" sz="2100" b="1" i="1" smtClean="0">
                                                  <a:solidFill>
                                                    <a:schemeClr val="accent3">
                                                      <a:lumMod val="50000"/>
                                                    </a:schemeClr>
                                                  </a:solidFill>
                                                  <a:latin typeface="Cambria Math" panose="02040503050406030204" pitchFamily="18" charset="0"/>
                                                  <a:cs typeface="Arial" panose="020B0604020202020204" pitchFamily="34" charset="0"/>
                                                </a:rPr>
                                                <m:t>𝟖</m:t>
                                              </m:r>
                                            </m:e>
                                            <m:e>
                                              <m:r>
                                                <a:rPr lang="es-NI" b="1" i="1" smtClean="0">
                                                  <a:solidFill>
                                                    <a:schemeClr val="accent3">
                                                      <a:lumMod val="50000"/>
                                                    </a:schemeClr>
                                                  </a:solidFill>
                                                  <a:latin typeface="Cambria Math" panose="02040503050406030204" pitchFamily="18" charset="0"/>
                                                </a:rPr>
                                                <m:t>𝟏𝟎</m:t>
                                              </m:r>
                                            </m:e>
                                            <m:e>
                                              <m:r>
                                                <a:rPr lang="es-NI" b="1" i="1" smtClean="0">
                                                  <a:solidFill>
                                                    <a:schemeClr val="accent3">
                                                      <a:lumMod val="50000"/>
                                                    </a:schemeClr>
                                                  </a:solidFill>
                                                  <a:latin typeface="Cambria Math" panose="02040503050406030204" pitchFamily="18" charset="0"/>
                                                </a:rPr>
                                                <m:t>−</m:t>
                                              </m:r>
                                              <m:r>
                                                <a:rPr lang="es-NI" b="1" i="1" smtClean="0">
                                                  <a:solidFill>
                                                    <a:schemeClr val="accent3">
                                                      <a:lumMod val="50000"/>
                                                    </a:schemeClr>
                                                  </a:solidFill>
                                                  <a:latin typeface="Cambria Math" panose="02040503050406030204" pitchFamily="18" charset="0"/>
                                                </a:rPr>
                                                <m:t>𝟐</m:t>
                                              </m:r>
                                            </m:e>
                                            <m:e>
                                              <m:r>
                                                <a:rPr lang="es-NI" b="1" i="1" smtClean="0">
                                                  <a:solidFill>
                                                    <a:schemeClr val="accent3">
                                                      <a:lumMod val="50000"/>
                                                    </a:schemeClr>
                                                  </a:solidFill>
                                                  <a:latin typeface="Cambria Math" panose="02040503050406030204" pitchFamily="18" charset="0"/>
                                                </a:rPr>
                                                <m:t>𝟔</m:t>
                                              </m:r>
                                            </m:e>
                                          </m:eqArr>
                                        </m:e>
                                      </m:mr>
                                    </m:m>
                                  </m:e>
                                </m:mr>
                              </m:m>
                            </m:e>
                          </m:mr>
                        </m:m>
                      </m:e>
                    </m:d>
                  </m:oMath>
                </a14:m>
                <a:endParaRPr lang="es-MX" sz="2100" dirty="0">
                  <a:solidFill>
                    <a:schemeClr val="accent3">
                      <a:lumMod val="50000"/>
                    </a:schemeClr>
                  </a:solidFill>
                </a:endParaRPr>
              </a:p>
            </p:txBody>
          </p:sp>
        </mc:Choice>
        <mc:Fallback xmlns="">
          <p:sp>
            <p:nvSpPr>
              <p:cNvPr id="22" name="Rectángulo 21"/>
              <p:cNvSpPr>
                <a:spLocks noRot="1" noChangeAspect="1" noMove="1" noResize="1" noEditPoints="1" noAdjustHandles="1" noChangeArrowheads="1" noChangeShapeType="1" noTextEdit="1"/>
              </p:cNvSpPr>
              <p:nvPr/>
            </p:nvSpPr>
            <p:spPr>
              <a:xfrm>
                <a:off x="2020415" y="1264545"/>
                <a:ext cx="3467552" cy="1282915"/>
              </a:xfrm>
              <a:prstGeom prst="rect">
                <a:avLst/>
              </a:prstGeom>
              <a:blipFill rotWithShape="0">
                <a:blip r:embed="rId4"/>
                <a:stretch>
                  <a:fillRect l="-210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 name="Rectángulo 1"/>
              <p:cNvSpPr/>
              <p:nvPr/>
            </p:nvSpPr>
            <p:spPr>
              <a:xfrm>
                <a:off x="3652752" y="3809165"/>
                <a:ext cx="2930482" cy="1233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𝟏</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𝟗</m:t>
                                          </m:r>
                                        </m:e>
                                        <m:e>
                                          <m:r>
                                            <a:rPr lang="es-NI" sz="2000" b="1" i="1">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𝟒</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a:solidFill>
                                                      <a:schemeClr val="accent3">
                                                        <a:lumMod val="50000"/>
                                                      </a:schemeClr>
                                                    </a:solidFill>
                                                    <a:latin typeface="Cambria Math" panose="02040503050406030204" pitchFamily="18" charset="0"/>
                                                  </a:rPr>
                                                  <m:t>𝟓</m:t>
                                                </m:r>
                                              </m:e>
                                              <m:e>
                                                <m:r>
                                                  <a:rPr lang="es-NI" sz="2000" b="1" i="1">
                                                    <a:solidFill>
                                                      <a:schemeClr val="accent3">
                                                        <a:lumMod val="50000"/>
                                                      </a:schemeClr>
                                                    </a:solidFill>
                                                    <a:latin typeface="Cambria Math" panose="02040503050406030204" pitchFamily="18" charset="0"/>
                                                  </a:rPr>
                                                  <m:t>𝟏</m:t>
                                                </m:r>
                                              </m:e>
                                              <m:e>
                                                <m:r>
                                                  <a:rPr lang="es-NI" sz="2000" b="1" i="1">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𝟐</m:t>
                                                </m:r>
                                              </m:e>
                                              <m:e>
                                                <m:r>
                                                  <a:rPr lang="es-NI" sz="2000" b="1" i="1">
                                                    <a:solidFill>
                                                      <a:schemeClr val="accent3">
                                                        <a:lumMod val="50000"/>
                                                      </a:schemeClr>
                                                    </a:solidFill>
                                                    <a:latin typeface="Cambria Math" panose="02040503050406030204" pitchFamily="18" charset="0"/>
                                                  </a:rPr>
                                                  <m:t>𝟔</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2" name="Rectángulo 1"/>
              <p:cNvSpPr>
                <a:spLocks noRot="1" noChangeAspect="1" noMove="1" noResize="1" noEditPoints="1" noAdjustHandles="1" noChangeArrowheads="1" noChangeShapeType="1" noTextEdit="1"/>
              </p:cNvSpPr>
              <p:nvPr/>
            </p:nvSpPr>
            <p:spPr>
              <a:xfrm>
                <a:off x="3652752" y="3809165"/>
                <a:ext cx="2930482" cy="1233415"/>
              </a:xfrm>
              <a:prstGeom prst="rect">
                <a:avLst/>
              </a:prstGeom>
              <a:blipFill rotWithShape="0">
                <a:blip r:embed="rId5"/>
                <a:stretch>
                  <a:fillRect/>
                </a:stretch>
              </a:blipFill>
            </p:spPr>
            <p:txBody>
              <a:bodyPr/>
              <a:lstStyle/>
              <a:p>
                <a:r>
                  <a:rPr lang="es-MX">
                    <a:noFill/>
                  </a:rPr>
                  <a:t> </a:t>
                </a:r>
              </a:p>
            </p:txBody>
          </p:sp>
        </mc:Fallback>
      </mc:AlternateContent>
      <p:cxnSp>
        <p:nvCxnSpPr>
          <p:cNvPr id="25" name="Conector recto de flecha 24"/>
          <p:cNvCxnSpPr/>
          <p:nvPr/>
        </p:nvCxnSpPr>
        <p:spPr>
          <a:xfrm>
            <a:off x="6424410" y="4427098"/>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itle 1"/>
              <p:cNvSpPr txBox="1">
                <a:spLocks/>
              </p:cNvSpPr>
              <p:nvPr/>
            </p:nvSpPr>
            <p:spPr>
              <a:xfrm>
                <a:off x="6089560" y="4023633"/>
                <a:ext cx="1588689"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m:t>
                          </m:r>
                          <m:r>
                            <a:rPr lang="es-NI" sz="1400" b="1" i="1" smtClean="0">
                              <a:solidFill>
                                <a:schemeClr val="accent3">
                                  <a:lumMod val="50000"/>
                                </a:schemeClr>
                              </a:solidFill>
                              <a:latin typeface="Cambria Math" panose="02040503050406030204" pitchFamily="18" charset="0"/>
                              <a:cs typeface="Arial" panose="020B0604020202020204" pitchFamily="34" charset="0"/>
                            </a:rPr>
                            <m:t>𝟑</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MX" sz="14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𝟐</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𝟐</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27" name="Title 1"/>
              <p:cNvSpPr txBox="1">
                <a:spLocks noRot="1" noChangeAspect="1" noMove="1" noResize="1" noEditPoints="1" noAdjustHandles="1" noChangeArrowheads="1" noChangeShapeType="1" noTextEdit="1"/>
              </p:cNvSpPr>
              <p:nvPr/>
            </p:nvSpPr>
            <p:spPr>
              <a:xfrm>
                <a:off x="6089560" y="4023633"/>
                <a:ext cx="1588689" cy="40223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8" name="Rectángulo 27"/>
              <p:cNvSpPr/>
              <p:nvPr/>
            </p:nvSpPr>
            <p:spPr>
              <a:xfrm>
                <a:off x="7417675" y="3809164"/>
                <a:ext cx="2777491"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𝟏</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𝟒</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m:t>
                                                </m:r>
                                              </m:e>
                                              <m:e>
                                                <m:r>
                                                  <a:rPr lang="es-NI" sz="2000" b="1" i="1">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𝟐</m:t>
                                                </m:r>
                                              </m:e>
                                              <m:e>
                                                <m:r>
                                                  <a:rPr lang="es-NI" sz="2000" b="1" i="1">
                                                    <a:solidFill>
                                                      <a:schemeClr val="accent3">
                                                        <a:lumMod val="50000"/>
                                                      </a:schemeClr>
                                                    </a:solidFill>
                                                    <a:latin typeface="Cambria Math" panose="02040503050406030204" pitchFamily="18" charset="0"/>
                                                  </a:rPr>
                                                  <m:t>𝟔</m:t>
                                                </m:r>
                                              </m:e>
                                            </m:eqArr>
                                          </m:e>
                                        </m:mr>
                                      </m:m>
                                    </m:e>
                                  </m:mr>
                                </m:m>
                              </m:e>
                            </m:mr>
                          </m:m>
                        </m:e>
                      </m:d>
                    </m:oMath>
                  </m:oMathPara>
                </a14:m>
                <a:endParaRPr lang="es-MX" sz="2000" dirty="0"/>
              </a:p>
            </p:txBody>
          </p:sp>
        </mc:Choice>
        <mc:Fallback xmlns="">
          <p:sp>
            <p:nvSpPr>
              <p:cNvPr id="28" name="Rectángulo 27"/>
              <p:cNvSpPr>
                <a:spLocks noRot="1" noChangeAspect="1" noMove="1" noResize="1" noEditPoints="1" noAdjustHandles="1" noChangeArrowheads="1" noChangeShapeType="1" noTextEdit="1"/>
              </p:cNvSpPr>
              <p:nvPr/>
            </p:nvSpPr>
            <p:spPr>
              <a:xfrm>
                <a:off x="7417675" y="3809164"/>
                <a:ext cx="2777491" cy="1226361"/>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Rectángulo 28"/>
              <p:cNvSpPr/>
              <p:nvPr/>
            </p:nvSpPr>
            <p:spPr>
              <a:xfrm>
                <a:off x="1040849" y="5389938"/>
                <a:ext cx="3304687"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𝟑</m:t>
                                    </m:r>
                                  </m:e>
                                  <m:e>
                                    <m:r>
                                      <a:rPr lang="es-NI" sz="2000" b="1" i="1">
                                        <a:solidFill>
                                          <a:schemeClr val="accent3">
                                            <a:lumMod val="50000"/>
                                          </a:schemeClr>
                                        </a:solidFill>
                                        <a:latin typeface="Cambria Math" panose="02040503050406030204" pitchFamily="18" charset="0"/>
                                      </a:rPr>
                                      <m:t>𝟏</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𝟒</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m:t>
                                                </m:r>
                                              </m:e>
                                              <m:e>
                                                <m:r>
                                                  <a:rPr lang="es-NI" sz="2000" b="1" i="1">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𝟐</m:t>
                                                </m:r>
                                              </m:e>
                                              <m:e>
                                                <m:r>
                                                  <a:rPr lang="es-NI" sz="2000" b="1" i="1">
                                                    <a:solidFill>
                                                      <a:schemeClr val="accent3">
                                                        <a:lumMod val="50000"/>
                                                      </a:schemeClr>
                                                    </a:solidFill>
                                                    <a:latin typeface="Cambria Math" panose="02040503050406030204" pitchFamily="18" charset="0"/>
                                                  </a:rPr>
                                                  <m:t>𝟔</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29" name="Rectángulo 28"/>
              <p:cNvSpPr>
                <a:spLocks noRot="1" noChangeAspect="1" noMove="1" noResize="1" noEditPoints="1" noAdjustHandles="1" noChangeArrowheads="1" noChangeShapeType="1" noTextEdit="1"/>
              </p:cNvSpPr>
              <p:nvPr/>
            </p:nvSpPr>
            <p:spPr>
              <a:xfrm>
                <a:off x="1040849" y="5389938"/>
                <a:ext cx="3304687" cy="1226361"/>
              </a:xfrm>
              <a:prstGeom prst="rect">
                <a:avLst/>
              </a:prstGeom>
              <a:blipFill rotWithShape="0">
                <a:blip r:embed="rId8"/>
                <a:stretch>
                  <a:fillRect/>
                </a:stretch>
              </a:blipFill>
            </p:spPr>
            <p:txBody>
              <a:bodyPr/>
              <a:lstStyle/>
              <a:p>
                <a:r>
                  <a:rPr lang="es-MX">
                    <a:noFill/>
                  </a:rPr>
                  <a:t> </a:t>
                </a:r>
              </a:p>
            </p:txBody>
          </p:sp>
        </mc:Fallback>
      </mc:AlternateContent>
      <p:cxnSp>
        <p:nvCxnSpPr>
          <p:cNvPr id="30" name="Conector recto de flecha 29"/>
          <p:cNvCxnSpPr/>
          <p:nvPr/>
        </p:nvCxnSpPr>
        <p:spPr>
          <a:xfrm>
            <a:off x="4201223" y="6007872"/>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itle 1"/>
              <p:cNvSpPr txBox="1">
                <a:spLocks/>
              </p:cNvSpPr>
              <p:nvPr/>
            </p:nvSpPr>
            <p:spPr>
              <a:xfrm>
                <a:off x="3866373" y="5604407"/>
                <a:ext cx="1588689"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𝟑</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MX" sz="14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𝟑</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𝟑</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31" name="Title 1"/>
              <p:cNvSpPr txBox="1">
                <a:spLocks noRot="1" noChangeAspect="1" noMove="1" noResize="1" noEditPoints="1" noAdjustHandles="1" noChangeArrowheads="1" noChangeShapeType="1" noTextEdit="1"/>
              </p:cNvSpPr>
              <p:nvPr/>
            </p:nvSpPr>
            <p:spPr>
              <a:xfrm>
                <a:off x="3866373" y="5604407"/>
                <a:ext cx="1588689" cy="402238"/>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2" name="Rectángulo 31"/>
              <p:cNvSpPr/>
              <p:nvPr/>
            </p:nvSpPr>
            <p:spPr>
              <a:xfrm>
                <a:off x="5194488" y="5389938"/>
                <a:ext cx="3002617"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𝟏</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𝟏𝟐</m:t>
                                          </m:r>
                                        </m:e>
                                        <m:e>
                                          <m:r>
                                            <a:rPr lang="es-NI" sz="2000" b="1" i="1">
                                              <a:solidFill>
                                                <a:schemeClr val="accent3">
                                                  <a:lumMod val="50000"/>
                                                </a:schemeClr>
                                              </a:solidFill>
                                              <a:latin typeface="Cambria Math" panose="02040503050406030204" pitchFamily="18" charset="0"/>
                                            </a:rPr>
                                            <m:t>−</m:t>
                                          </m:r>
                                          <m:r>
                                            <a:rPr lang="es-NI" sz="2000" b="1" i="1">
                                              <a:solidFill>
                                                <a:schemeClr val="accent3">
                                                  <a:lumMod val="50000"/>
                                                </a:schemeClr>
                                              </a:solidFill>
                                              <a:latin typeface="Cambria Math" panose="02040503050406030204" pitchFamily="18" charset="0"/>
                                            </a:rPr>
                                            <m:t>𝟒</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m:t>
                                                </m:r>
                                                <m:r>
                                                  <a:rPr lang="es-NI" sz="2000" b="1" i="1" smtClean="0">
                                                    <a:solidFill>
                                                      <a:schemeClr val="accent3">
                                                        <a:lumMod val="50000"/>
                                                      </a:schemeClr>
                                                    </a:solidFill>
                                                    <a:latin typeface="Cambria Math" panose="02040503050406030204" pitchFamily="18" charset="0"/>
                                                  </a:rPr>
                                                  <m:t>𝟎</m:t>
                                                </m:r>
                                              </m:e>
                                              <m:e>
                                                <m:r>
                                                  <a:rPr lang="es-NI" sz="2000" b="1" i="1">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𝟏𝟎</m:t>
                                                </m:r>
                                              </m:e>
                                              <m:e>
                                                <m:r>
                                                  <a:rPr lang="es-NI" sz="2000" b="1" i="1">
                                                    <a:solidFill>
                                                      <a:schemeClr val="accent3">
                                                        <a:lumMod val="50000"/>
                                                      </a:schemeClr>
                                                    </a:solidFill>
                                                    <a:latin typeface="Cambria Math" panose="02040503050406030204" pitchFamily="18" charset="0"/>
                                                  </a:rPr>
                                                  <m:t>𝟔</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32" name="Rectángulo 31"/>
              <p:cNvSpPr>
                <a:spLocks noRot="1" noChangeAspect="1" noMove="1" noResize="1" noEditPoints="1" noAdjustHandles="1" noChangeArrowheads="1" noChangeShapeType="1" noTextEdit="1"/>
              </p:cNvSpPr>
              <p:nvPr/>
            </p:nvSpPr>
            <p:spPr>
              <a:xfrm>
                <a:off x="5194488" y="5389938"/>
                <a:ext cx="3002617" cy="1226361"/>
              </a:xfrm>
              <a:prstGeom prst="rect">
                <a:avLst/>
              </a:prstGeom>
              <a:blipFill rotWithShape="0">
                <a:blip r:embed="rId10"/>
                <a:stretch>
                  <a:fillRect/>
                </a:stretch>
              </a:blipFill>
            </p:spPr>
            <p:txBody>
              <a:bodyPr/>
              <a:lstStyle/>
              <a:p>
                <a:r>
                  <a:rPr lang="es-MX">
                    <a:noFill/>
                  </a:rPr>
                  <a:t> </a:t>
                </a:r>
              </a:p>
            </p:txBody>
          </p:sp>
        </mc:Fallback>
      </mc:AlternateContent>
      <p:cxnSp>
        <p:nvCxnSpPr>
          <p:cNvPr id="33" name="Conector recto de flecha 32"/>
          <p:cNvCxnSpPr/>
          <p:nvPr/>
        </p:nvCxnSpPr>
        <p:spPr>
          <a:xfrm>
            <a:off x="8154211" y="6011398"/>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itle 1"/>
              <p:cNvSpPr txBox="1">
                <a:spLocks/>
              </p:cNvSpPr>
              <p:nvPr/>
            </p:nvSpPr>
            <p:spPr>
              <a:xfrm>
                <a:off x="7819361" y="5607933"/>
                <a:ext cx="1588689"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m:t>
                          </m:r>
                          <m:r>
                            <a:rPr lang="es-NI" sz="1400" b="1" i="1" smtClean="0">
                              <a:solidFill>
                                <a:schemeClr val="accent3">
                                  <a:lumMod val="50000"/>
                                </a:schemeClr>
                              </a:solidFill>
                              <a:latin typeface="Cambria Math" panose="02040503050406030204" pitchFamily="18" charset="0"/>
                              <a:cs typeface="Arial" panose="020B0604020202020204" pitchFamily="34" charset="0"/>
                            </a:rPr>
                            <m:t>𝟏</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MX" sz="14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𝟒</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𝟒</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34" name="Title 1"/>
              <p:cNvSpPr txBox="1">
                <a:spLocks noRot="1" noChangeAspect="1" noMove="1" noResize="1" noEditPoints="1" noAdjustHandles="1" noChangeArrowheads="1" noChangeShapeType="1" noTextEdit="1"/>
              </p:cNvSpPr>
              <p:nvPr/>
            </p:nvSpPr>
            <p:spPr>
              <a:xfrm>
                <a:off x="7819361" y="5607933"/>
                <a:ext cx="1588689" cy="402238"/>
              </a:xfrm>
              <a:prstGeom prst="rect">
                <a:avLst/>
              </a:prstGeom>
              <a:blipFill rotWithShape="0">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5" name="Rectángulo 34"/>
              <p:cNvSpPr/>
              <p:nvPr/>
            </p:nvSpPr>
            <p:spPr>
              <a:xfrm>
                <a:off x="9147476" y="5393464"/>
                <a:ext cx="2820772"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𝟏𝟐</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m:t>
                                                </m:r>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𝟏𝟎</m:t>
                                                </m:r>
                                              </m:e>
                                              <m:e>
                                                <m:r>
                                                  <a:rPr lang="es-NI" sz="2000" b="1" i="1" smtClean="0">
                                                    <a:solidFill>
                                                      <a:schemeClr val="accent3">
                                                        <a:lumMod val="50000"/>
                                                      </a:schemeClr>
                                                    </a:solidFill>
                                                    <a:latin typeface="Cambria Math" panose="02040503050406030204" pitchFamily="18" charset="0"/>
                                                  </a:rPr>
                                                  <m:t>𝟐</m:t>
                                                </m:r>
                                              </m:e>
                                            </m:eqArr>
                                          </m:e>
                                        </m:mr>
                                      </m:m>
                                    </m:e>
                                  </m:mr>
                                </m:m>
                              </m:e>
                            </m:mr>
                          </m:m>
                        </m:e>
                      </m:d>
                    </m:oMath>
                  </m:oMathPara>
                </a14:m>
                <a:endParaRPr lang="es-MX" sz="2000" dirty="0"/>
              </a:p>
            </p:txBody>
          </p:sp>
        </mc:Choice>
        <mc:Fallback xmlns="">
          <p:sp>
            <p:nvSpPr>
              <p:cNvPr id="35" name="Rectángulo 34"/>
              <p:cNvSpPr>
                <a:spLocks noRot="1" noChangeAspect="1" noMove="1" noResize="1" noEditPoints="1" noAdjustHandles="1" noChangeArrowheads="1" noChangeShapeType="1" noTextEdit="1"/>
              </p:cNvSpPr>
              <p:nvPr/>
            </p:nvSpPr>
            <p:spPr>
              <a:xfrm>
                <a:off x="9147476" y="5393464"/>
                <a:ext cx="2820772" cy="1226361"/>
              </a:xfrm>
              <a:prstGeom prst="rect">
                <a:avLst/>
              </a:prstGeom>
              <a:blipFill rotWithShape="0">
                <a:blip r:embed="rId12"/>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99852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circle(in)">
                                      <p:cBhvr>
                                        <p:cTn id="13" dur="2000"/>
                                        <p:tgtEl>
                                          <p:spTgt spid="22"/>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circle(in)">
                                      <p:cBhvr>
                                        <p:cTn id="21" dur="20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ircle(in)">
                                      <p:cBhvr>
                                        <p:cTn id="26" dur="20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circle(in)">
                                      <p:cBhvr>
                                        <p:cTn id="31" dur="2000"/>
                                        <p:tgtEl>
                                          <p:spTgt spid="2"/>
                                        </p:tgtEl>
                                      </p:cBhvr>
                                    </p:animEffect>
                                  </p:childTnLst>
                                </p:cTn>
                              </p:par>
                              <p:par>
                                <p:cTn id="32" presetID="6" presetClass="entr" presetSubtype="16"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circle(in)">
                                      <p:cBhvr>
                                        <p:cTn id="34" dur="2000"/>
                                        <p:tgtEl>
                                          <p:spTgt spid="25"/>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circle(in)">
                                      <p:cBhvr>
                                        <p:cTn id="37" dur="20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circle(in)">
                                      <p:cBhvr>
                                        <p:cTn id="42" dur="20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circle(in)">
                                      <p:cBhvr>
                                        <p:cTn id="47" dur="2000"/>
                                        <p:tgtEl>
                                          <p:spTgt spid="29"/>
                                        </p:tgtEl>
                                      </p:cBhvr>
                                    </p:animEffect>
                                  </p:childTnLst>
                                </p:cTn>
                              </p:par>
                              <p:par>
                                <p:cTn id="48" presetID="6" presetClass="entr" presetSubtype="16"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circle(in)">
                                      <p:cBhvr>
                                        <p:cTn id="50" dur="2000"/>
                                        <p:tgtEl>
                                          <p:spTgt spid="30"/>
                                        </p:tgtEl>
                                      </p:cBhvr>
                                    </p:animEffect>
                                  </p:childTnLst>
                                </p:cTn>
                              </p:par>
                              <p:par>
                                <p:cTn id="51" presetID="6" presetClass="entr" presetSubtype="16"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circle(in)">
                                      <p:cBhvr>
                                        <p:cTn id="53" dur="2000"/>
                                        <p:tgtEl>
                                          <p:spTgt spid="31"/>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circle(in)">
                                      <p:cBhvr>
                                        <p:cTn id="58" dur="2000"/>
                                        <p:tgtEl>
                                          <p:spTgt spid="32"/>
                                        </p:tgtEl>
                                      </p:cBhvr>
                                    </p:animEffect>
                                  </p:childTnLst>
                                </p:cTn>
                              </p:par>
                              <p:par>
                                <p:cTn id="59" presetID="6" presetClass="entr" presetSubtype="16"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circle(in)">
                                      <p:cBhvr>
                                        <p:cTn id="61" dur="2000"/>
                                        <p:tgtEl>
                                          <p:spTgt spid="33"/>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circle(in)">
                                      <p:cBhvr>
                                        <p:cTn id="64" dur="2000"/>
                                        <p:tgtEl>
                                          <p:spTgt spid="34"/>
                                        </p:tgtEl>
                                      </p:cBhvr>
                                    </p:animEffect>
                                  </p:childTnLst>
                                </p:cTn>
                              </p:par>
                            </p:childTnLst>
                          </p:cTn>
                        </p:par>
                      </p:childTnLst>
                    </p:cTn>
                  </p:par>
                  <p:par>
                    <p:cTn id="65" fill="hold">
                      <p:stCondLst>
                        <p:cond delay="indefinite"/>
                      </p:stCondLst>
                      <p:childTnLst>
                        <p:par>
                          <p:cTn id="66" fill="hold">
                            <p:stCondLst>
                              <p:cond delay="0"/>
                            </p:stCondLst>
                            <p:childTnLst>
                              <p:par>
                                <p:cTn id="67" presetID="6" presetClass="entr" presetSubtype="16"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circle(in)">
                                      <p:cBhvr>
                                        <p:cTn id="69"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22" grpId="0"/>
      <p:bldP spid="2" grpId="0"/>
      <p:bldP spid="27" grpId="0"/>
      <p:bldP spid="28" grpId="0"/>
      <p:bldP spid="29" grpId="0"/>
      <p:bldP spid="31" grpId="0"/>
      <p:bldP spid="32" grpId="0"/>
      <p:bldP spid="34" grpId="0"/>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ectángulo 9"/>
              <p:cNvSpPr/>
              <p:nvPr/>
            </p:nvSpPr>
            <p:spPr>
              <a:xfrm>
                <a:off x="364084" y="1710106"/>
                <a:ext cx="3089179" cy="1226361"/>
              </a:xfrm>
              <a:prstGeom prst="rect">
                <a:avLst/>
              </a:prstGeom>
            </p:spPr>
            <p:txBody>
              <a:bodyPr wrap="none">
                <a:spAutoFit/>
              </a:bodyPr>
              <a:lstStyle/>
              <a:p>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𝟏𝟐</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rPr>
                                                <m:t>𝟏</m:t>
                                              </m:r>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𝟏𝟎</m:t>
                                              </m:r>
                                            </m:e>
                                            <m:e>
                                              <m:r>
                                                <a:rPr lang="es-NI" sz="2000" b="1" i="1" smtClean="0">
                                                  <a:solidFill>
                                                    <a:schemeClr val="accent3">
                                                      <a:lumMod val="50000"/>
                                                    </a:schemeClr>
                                                  </a:solidFill>
                                                  <a:latin typeface="Cambria Math" panose="02040503050406030204" pitchFamily="18" charset="0"/>
                                                </a:rPr>
                                                <m:t>𝟐</m:t>
                                              </m:r>
                                            </m:e>
                                          </m:eqArr>
                                        </m:e>
                                      </m:mr>
                                    </m:m>
                                  </m:e>
                                </m:mr>
                              </m:m>
                            </m:e>
                          </m:mr>
                        </m:m>
                      </m:e>
                    </m:d>
                  </m:oMath>
                </a14:m>
                <a:r>
                  <a:rPr lang="es-MX" sz="2000" dirty="0" smtClean="0"/>
                  <a:t>=</a:t>
                </a:r>
                <a:endParaRPr lang="es-MX" sz="2000" dirty="0"/>
              </a:p>
            </p:txBody>
          </p:sp>
        </mc:Choice>
        <mc:Fallback xmlns="">
          <p:sp>
            <p:nvSpPr>
              <p:cNvPr id="10" name="Rectángulo 9"/>
              <p:cNvSpPr>
                <a:spLocks noRot="1" noChangeAspect="1" noMove="1" noResize="1" noEditPoints="1" noAdjustHandles="1" noChangeArrowheads="1" noChangeShapeType="1" noTextEdit="1"/>
              </p:cNvSpPr>
              <p:nvPr/>
            </p:nvSpPr>
            <p:spPr>
              <a:xfrm>
                <a:off x="364084" y="1710106"/>
                <a:ext cx="3089179" cy="1226361"/>
              </a:xfrm>
              <a:prstGeom prst="rect">
                <a:avLst/>
              </a:prstGeom>
              <a:blipFill rotWithShape="0">
                <a:blip r:embed="rId2"/>
                <a:stretch>
                  <a:fillRect r="-1186"/>
                </a:stretch>
              </a:blipFill>
            </p:spPr>
            <p:txBody>
              <a:bodyPr/>
              <a:lstStyle/>
              <a:p>
                <a:r>
                  <a:rPr lang="es-MX">
                    <a:noFill/>
                  </a:rPr>
                  <a:t> </a:t>
                </a:r>
              </a:p>
            </p:txBody>
          </p:sp>
        </mc:Fallback>
      </mc:AlternateContent>
      <p:cxnSp>
        <p:nvCxnSpPr>
          <p:cNvPr id="11" name="Conector recto de flecha 10"/>
          <p:cNvCxnSpPr/>
          <p:nvPr/>
        </p:nvCxnSpPr>
        <p:spPr>
          <a:xfrm>
            <a:off x="3427665" y="2328040"/>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itle 1"/>
              <p:cNvSpPr txBox="1">
                <a:spLocks/>
              </p:cNvSpPr>
              <p:nvPr/>
            </p:nvSpPr>
            <p:spPr>
              <a:xfrm>
                <a:off x="3092815" y="1924575"/>
                <a:ext cx="1588689"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𝟒</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𝟐</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𝟑</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𝟑</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2" name="Title 1"/>
              <p:cNvSpPr txBox="1">
                <a:spLocks noRot="1" noChangeAspect="1" noMove="1" noResize="1" noEditPoints="1" noAdjustHandles="1" noChangeArrowheads="1" noChangeShapeType="1" noTextEdit="1"/>
              </p:cNvSpPr>
              <p:nvPr/>
            </p:nvSpPr>
            <p:spPr>
              <a:xfrm>
                <a:off x="3092815" y="1924575"/>
                <a:ext cx="1588689" cy="402238"/>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4420930" y="1710106"/>
                <a:ext cx="2848729"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𝟔</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𝟐</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13" name="Rectángulo 12"/>
              <p:cNvSpPr>
                <a:spLocks noRot="1" noChangeAspect="1" noMove="1" noResize="1" noEditPoints="1" noAdjustHandles="1" noChangeArrowheads="1" noChangeShapeType="1" noTextEdit="1"/>
              </p:cNvSpPr>
              <p:nvPr/>
            </p:nvSpPr>
            <p:spPr>
              <a:xfrm>
                <a:off x="4420930" y="1710106"/>
                <a:ext cx="2848729" cy="1226361"/>
              </a:xfrm>
              <a:prstGeom prst="rect">
                <a:avLst/>
              </a:prstGeom>
              <a:blipFill rotWithShape="0">
                <a:blip r:embed="rId4"/>
                <a:stretch>
                  <a:fillRect/>
                </a:stretch>
              </a:blipFill>
            </p:spPr>
            <p:txBody>
              <a:bodyPr/>
              <a:lstStyle/>
              <a:p>
                <a:r>
                  <a:rPr lang="es-MX">
                    <a:noFill/>
                  </a:rPr>
                  <a:t> </a:t>
                </a:r>
              </a:p>
            </p:txBody>
          </p:sp>
        </mc:Fallback>
      </mc:AlternateContent>
      <p:cxnSp>
        <p:nvCxnSpPr>
          <p:cNvPr id="14" name="Conector recto de flecha 13"/>
          <p:cNvCxnSpPr/>
          <p:nvPr/>
        </p:nvCxnSpPr>
        <p:spPr>
          <a:xfrm>
            <a:off x="7244061" y="2331566"/>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itle 1"/>
              <p:cNvSpPr txBox="1">
                <a:spLocks/>
              </p:cNvSpPr>
              <p:nvPr/>
            </p:nvSpPr>
            <p:spPr>
              <a:xfrm>
                <a:off x="7187393" y="1921048"/>
                <a:ext cx="1049933"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𝟑</m:t>
                          </m:r>
                        </m:sub>
                      </m:s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𝟒</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5" name="Title 1"/>
              <p:cNvSpPr txBox="1">
                <a:spLocks noRot="1" noChangeAspect="1" noMove="1" noResize="1" noEditPoints="1" noAdjustHandles="1" noChangeArrowheads="1" noChangeShapeType="1" noTextEdit="1"/>
              </p:cNvSpPr>
              <p:nvPr/>
            </p:nvSpPr>
            <p:spPr>
              <a:xfrm>
                <a:off x="7187393" y="1921048"/>
                <a:ext cx="1049933" cy="402238"/>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Rectángulo 15"/>
              <p:cNvSpPr/>
              <p:nvPr/>
            </p:nvSpPr>
            <p:spPr>
              <a:xfrm>
                <a:off x="8121416" y="1710106"/>
                <a:ext cx="2777492"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𝟔</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𝟐</m:t>
                                                </m:r>
                                              </m:e>
                                            </m:eqArr>
                                          </m:e>
                                        </m:mr>
                                      </m:m>
                                    </m:e>
                                  </m:mr>
                                </m:m>
                              </m:e>
                            </m:mr>
                          </m:m>
                        </m:e>
                      </m:d>
                    </m:oMath>
                  </m:oMathPara>
                </a14:m>
                <a:endParaRPr lang="es-MX" sz="2000" dirty="0"/>
              </a:p>
            </p:txBody>
          </p:sp>
        </mc:Choice>
        <mc:Fallback xmlns="">
          <p:sp>
            <p:nvSpPr>
              <p:cNvPr id="16" name="Rectángulo 15"/>
              <p:cNvSpPr>
                <a:spLocks noRot="1" noChangeAspect="1" noMove="1" noResize="1" noEditPoints="1" noAdjustHandles="1" noChangeArrowheads="1" noChangeShapeType="1" noTextEdit="1"/>
              </p:cNvSpPr>
              <p:nvPr/>
            </p:nvSpPr>
            <p:spPr>
              <a:xfrm>
                <a:off x="8121416" y="1710106"/>
                <a:ext cx="2777492" cy="1226361"/>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364084" y="3359981"/>
                <a:ext cx="3304687"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𝟔</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𝟐</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17" name="Rectángulo 16"/>
              <p:cNvSpPr>
                <a:spLocks noRot="1" noChangeAspect="1" noMove="1" noResize="1" noEditPoints="1" noAdjustHandles="1" noChangeArrowheads="1" noChangeShapeType="1" noTextEdit="1"/>
              </p:cNvSpPr>
              <p:nvPr/>
            </p:nvSpPr>
            <p:spPr>
              <a:xfrm>
                <a:off x="364084" y="3359981"/>
                <a:ext cx="3304687" cy="1226361"/>
              </a:xfrm>
              <a:prstGeom prst="rect">
                <a:avLst/>
              </a:prstGeom>
              <a:blipFill rotWithShape="0">
                <a:blip r:embed="rId7"/>
                <a:stretch>
                  <a:fillRect/>
                </a:stretch>
              </a:blipFill>
            </p:spPr>
            <p:txBody>
              <a:bodyPr/>
              <a:lstStyle/>
              <a:p>
                <a:r>
                  <a:rPr lang="es-MX">
                    <a:noFill/>
                  </a:rPr>
                  <a:t> </a:t>
                </a:r>
              </a:p>
            </p:txBody>
          </p:sp>
        </mc:Fallback>
      </mc:AlternateContent>
      <p:cxnSp>
        <p:nvCxnSpPr>
          <p:cNvPr id="18" name="Conector recto de flecha 17"/>
          <p:cNvCxnSpPr/>
          <p:nvPr/>
        </p:nvCxnSpPr>
        <p:spPr>
          <a:xfrm>
            <a:off x="3595091" y="3969634"/>
            <a:ext cx="9932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itle 1"/>
              <p:cNvSpPr txBox="1">
                <a:spLocks/>
              </p:cNvSpPr>
              <p:nvPr/>
            </p:nvSpPr>
            <p:spPr>
              <a:xfrm>
                <a:off x="3260241" y="3566169"/>
                <a:ext cx="1588689" cy="4022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MX"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m:t>
                          </m:r>
                          <m:r>
                            <a:rPr lang="es-NI" sz="1400" b="1" i="1" smtClean="0">
                              <a:solidFill>
                                <a:schemeClr val="accent3">
                                  <a:lumMod val="50000"/>
                                </a:schemeClr>
                              </a:solidFill>
                              <a:latin typeface="Cambria Math" panose="02040503050406030204" pitchFamily="18" charset="0"/>
                              <a:cs typeface="Arial" panose="020B0604020202020204" pitchFamily="34" charset="0"/>
                            </a:rPr>
                            <m:t>𝟐</m:t>
                          </m:r>
                          <m:r>
                            <a:rPr lang="es-MX"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𝟑</m:t>
                          </m:r>
                        </m:sub>
                      </m:sSub>
                      <m:r>
                        <a:rPr lang="es-NI" sz="1400" b="1" i="1" smtClean="0">
                          <a:solidFill>
                            <a:schemeClr val="accent3">
                              <a:lumMod val="50000"/>
                            </a:schemeClr>
                          </a:solidFill>
                          <a:latin typeface="Cambria Math" panose="02040503050406030204" pitchFamily="18" charset="0"/>
                          <a:cs typeface="Arial" panose="020B0604020202020204" pitchFamily="34" charset="0"/>
                        </a:rPr>
                        <m:t>+</m:t>
                      </m:r>
                      <m:sSub>
                        <m:sSubPr>
                          <m:ctrlPr>
                            <a:rPr lang="es-NI" sz="14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cs typeface="Arial" panose="020B0604020202020204" pitchFamily="34" charset="0"/>
                            </a:rPr>
                            <m:t>𝟒</m:t>
                          </m:r>
                        </m:sub>
                      </m:sSub>
                      <m: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MX"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𝑭</m:t>
                          </m:r>
                        </m:e>
                        <m:sub>
                          <m:r>
                            <a:rPr lang="es-NI" sz="14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𝟒</m:t>
                          </m:r>
                        </m:sub>
                      </m:sSub>
                    </m:oMath>
                  </m:oMathPara>
                </a14:m>
                <a:endParaRPr lang="es-NI" sz="1400" b="1" dirty="0">
                  <a:solidFill>
                    <a:schemeClr val="accent3">
                      <a:lumMod val="50000"/>
                    </a:schemeClr>
                  </a:solidFill>
                  <a:cs typeface="Arial" panose="020B0604020202020204" pitchFamily="34" charset="0"/>
                </a:endParaRPr>
              </a:p>
            </p:txBody>
          </p:sp>
        </mc:Choice>
        <mc:Fallback xmlns="">
          <p:sp>
            <p:nvSpPr>
              <p:cNvPr id="19" name="Title 1"/>
              <p:cNvSpPr txBox="1">
                <a:spLocks noRot="1" noChangeAspect="1" noMove="1" noResize="1" noEditPoints="1" noAdjustHandles="1" noChangeArrowheads="1" noChangeShapeType="1" noTextEdit="1"/>
              </p:cNvSpPr>
              <p:nvPr/>
            </p:nvSpPr>
            <p:spPr>
              <a:xfrm>
                <a:off x="3260241" y="3566169"/>
                <a:ext cx="1588689" cy="402238"/>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4588356" y="3359981"/>
                <a:ext cx="2777491"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
                                                <m:r>
                                                  <a:rPr lang="es-NI" sz="2000" b="1" i="1" smtClean="0">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𝟐</m:t>
                                                </m:r>
                                              </m:e>
                                            </m:eqArr>
                                          </m:e>
                                        </m:mr>
                                      </m:m>
                                    </m:e>
                                  </m:mr>
                                </m:m>
                              </m:e>
                            </m:mr>
                          </m:m>
                        </m:e>
                      </m:d>
                    </m:oMath>
                  </m:oMathPara>
                </a14:m>
                <a:endParaRPr lang="es-MX" sz="2000" dirty="0"/>
              </a:p>
            </p:txBody>
          </p:sp>
        </mc:Choice>
        <mc:Fallback xmlns="">
          <p:sp>
            <p:nvSpPr>
              <p:cNvPr id="20" name="Rectángulo 19"/>
              <p:cNvSpPr>
                <a:spLocks noRot="1" noChangeAspect="1" noMove="1" noResize="1" noEditPoints="1" noAdjustHandles="1" noChangeArrowheads="1" noChangeShapeType="1" noTextEdit="1"/>
              </p:cNvSpPr>
              <p:nvPr/>
            </p:nvSpPr>
            <p:spPr>
              <a:xfrm>
                <a:off x="4588356" y="3359981"/>
                <a:ext cx="2777491" cy="1226361"/>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1443764" y="5005101"/>
                <a:ext cx="4015523" cy="12263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𝟎</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𝟎</m:t>
                                          </m:r>
                                        </m:e>
                                      </m:eqArr>
                                    </m:e>
                                    <m:e>
                                      <m:m>
                                        <m:mPr>
                                          <m:mcs>
                                            <m:mc>
                                              <m:mcPr>
                                                <m:count m:val="2"/>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
                                                <m:r>
                                                  <a:rPr lang="es-NI" sz="2000" b="1" i="1" smtClean="0">
                                                    <a:solidFill>
                                                      <a:schemeClr val="accent3">
                                                        <a:lumMod val="50000"/>
                                                      </a:schemeClr>
                                                    </a:solidFill>
                                                    <a:latin typeface="Cambria Math" panose="02040503050406030204" pitchFamily="18" charset="0"/>
                                                  </a:rPr>
                                                  <m:t>𝟎</m:t>
                                                </m:r>
                                              </m:e>
                                            </m:eqArr>
                                          </m:e>
                                          <m:e>
                                            <m:eqArr>
                                              <m:eqArrPr>
                                                <m:ctrlPr>
                                                  <a:rPr lang="es-NI" sz="2000" b="1" i="1">
                                                    <a:solidFill>
                                                      <a:schemeClr val="accent3">
                                                        <a:lumMod val="50000"/>
                                                      </a:schemeClr>
                                                    </a:solidFill>
                                                    <a:latin typeface="Cambria Math" panose="02040503050406030204" pitchFamily="18" charset="0"/>
                                                    <a:cs typeface="Arial" panose="020B0604020202020204" pitchFamily="34" charset="0"/>
                                                  </a:rPr>
                                                </m:ctrlPr>
                                              </m:eqArrPr>
                                              <m:e>
                                                <m:r>
                                                  <a:rPr lang="es-NI" sz="2000" b="1" i="1" smtClean="0">
                                                    <a:solidFill>
                                                      <a:schemeClr val="accent3">
                                                        <a:lumMod val="50000"/>
                                                      </a:schemeClr>
                                                    </a:solidFill>
                                                    <a:latin typeface="Cambria Math" panose="02040503050406030204" pitchFamily="18" charset="0"/>
                                                    <a:cs typeface="Arial" panose="020B0604020202020204" pitchFamily="34" charset="0"/>
                                                  </a:rPr>
                                                  <m:t>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𝟐</m:t>
                                                </m:r>
                                              </m:e>
                                            </m:eqArr>
                                          </m:e>
                                        </m:mr>
                                      </m:m>
                                    </m:e>
                                  </m:mr>
                                </m:m>
                              </m:e>
                            </m:mr>
                          </m:m>
                        </m:e>
                      </m:d>
                      <m:r>
                        <a:rPr lang="es-NI" sz="2000" b="1" i="1" smtClean="0">
                          <a:solidFill>
                            <a:schemeClr val="accent3">
                              <a:lumMod val="50000"/>
                            </a:schemeClr>
                          </a:solidFill>
                          <a:latin typeface="Cambria Math" panose="02040503050406030204" pitchFamily="18" charset="0"/>
                        </a:rPr>
                        <m:t>=</m:t>
                      </m:r>
                    </m:oMath>
                  </m:oMathPara>
                </a14:m>
                <a:endParaRPr lang="es-MX" sz="2000" dirty="0"/>
              </a:p>
            </p:txBody>
          </p:sp>
        </mc:Choice>
        <mc:Fallback xmlns="">
          <p:sp>
            <p:nvSpPr>
              <p:cNvPr id="21" name="Rectángulo 20"/>
              <p:cNvSpPr>
                <a:spLocks noRot="1" noChangeAspect="1" noMove="1" noResize="1" noEditPoints="1" noAdjustHandles="1" noChangeArrowheads="1" noChangeShapeType="1" noTextEdit="1"/>
              </p:cNvSpPr>
              <p:nvPr/>
            </p:nvSpPr>
            <p:spPr>
              <a:xfrm>
                <a:off x="1443764" y="5005101"/>
                <a:ext cx="4015523" cy="1226361"/>
              </a:xfrm>
              <a:prstGeom prst="rect">
                <a:avLst/>
              </a:prstGeom>
              <a:blipFill rotWithShape="0">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5348234" y="5414059"/>
                <a:ext cx="2590705" cy="415498"/>
              </a:xfrm>
              <a:prstGeom prst="rect">
                <a:avLst/>
              </a:prstGeom>
            </p:spPr>
            <p:txBody>
              <a:bodyPr wrap="square">
                <a:spAutoFit/>
              </a:body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𝟐</m:t>
                      </m:r>
                      <m:d>
                        <m:d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𝟏</m:t>
                          </m:r>
                        </m:e>
                      </m:d>
                      <m:d>
                        <m:dPr>
                          <m:ctrlPr>
                            <a:rPr lang="es-NI" sz="2100" b="1" i="1" smtClean="0">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d>
                      <m:d>
                        <m:dPr>
                          <m:ctrlPr>
                            <a:rPr lang="es-NI" sz="2100" b="1" i="1">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𝟑</m:t>
                          </m:r>
                        </m:e>
                      </m:d>
                      <m:d>
                        <m:dPr>
                          <m:ctrlPr>
                            <a:rPr lang="es-NI" sz="2100" b="1" i="1">
                              <a:solidFill>
                                <a:schemeClr val="accent3">
                                  <a:lumMod val="50000"/>
                                </a:schemeClr>
                              </a:solidFill>
                              <a:latin typeface="Cambria Math" panose="02040503050406030204" pitchFamily="18" charset="0"/>
                              <a:cs typeface="Arial" panose="020B0604020202020204" pitchFamily="34" charset="0"/>
                            </a:rPr>
                          </m:ctrlPr>
                        </m:dPr>
                        <m:e>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𝟐</m:t>
                          </m:r>
                        </m:e>
                      </m:d>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2" name="Rectángulo 21"/>
              <p:cNvSpPr>
                <a:spLocks noRot="1" noChangeAspect="1" noMove="1" noResize="1" noEditPoints="1" noAdjustHandles="1" noChangeArrowheads="1" noChangeShapeType="1" noTextEdit="1"/>
              </p:cNvSpPr>
              <p:nvPr/>
            </p:nvSpPr>
            <p:spPr>
              <a:xfrm>
                <a:off x="5348234" y="5414059"/>
                <a:ext cx="2590705" cy="415498"/>
              </a:xfrm>
              <a:prstGeom prst="rect">
                <a:avLst/>
              </a:prstGeom>
              <a:blipFill rotWithShape="0">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Rectángulo 22"/>
              <p:cNvSpPr/>
              <p:nvPr/>
            </p:nvSpPr>
            <p:spPr>
              <a:xfrm>
                <a:off x="7740693" y="5405778"/>
                <a:ext cx="1059393" cy="415498"/>
              </a:xfrm>
              <a:prstGeom prst="rect">
                <a:avLst/>
              </a:prstGeom>
            </p:spPr>
            <p:txBody>
              <a:bodyPr wrap="none">
                <a:spAutoFit/>
              </a:bodyPr>
              <a:lstStyle/>
              <a:p>
                <a:pPr algn="just">
                  <a:defRPr/>
                </a:pPr>
                <a14:m>
                  <m:oMathPara xmlns:m="http://schemas.openxmlformats.org/officeDocument/2006/math">
                    <m:oMathParaPr>
                      <m:jc m:val="left"/>
                    </m:oMathParaPr>
                    <m:oMath xmlns:m="http://schemas.openxmlformats.org/officeDocument/2006/math">
                      <m:r>
                        <a:rPr lang="es-NI" sz="2100" b="1" i="1" smtClean="0">
                          <a:solidFill>
                            <a:schemeClr val="accent3">
                              <a:lumMod val="50000"/>
                            </a:schemeClr>
                          </a:solidFill>
                          <a:latin typeface="Cambria Math" panose="02040503050406030204" pitchFamily="18" charset="0"/>
                          <a:cs typeface="Arial" panose="020B0604020202020204" pitchFamily="34" charset="0"/>
                        </a:rPr>
                        <m:t>=−</m:t>
                      </m:r>
                      <m:r>
                        <a:rPr lang="es-NI" sz="2100" b="1" i="1" smtClean="0">
                          <a:solidFill>
                            <a:schemeClr val="accent3">
                              <a:lumMod val="50000"/>
                            </a:schemeClr>
                          </a:solidFill>
                          <a:latin typeface="Cambria Math" panose="02040503050406030204" pitchFamily="18" charset="0"/>
                          <a:cs typeface="Arial" panose="020B0604020202020204" pitchFamily="34" charset="0"/>
                        </a:rPr>
                        <m:t>𝟑𝟔</m:t>
                      </m:r>
                    </m:oMath>
                  </m:oMathPara>
                </a14:m>
                <a:endParaRPr lang="es-NI" sz="21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3" name="Rectángulo 22"/>
              <p:cNvSpPr>
                <a:spLocks noRot="1" noChangeAspect="1" noMove="1" noResize="1" noEditPoints="1" noAdjustHandles="1" noChangeArrowheads="1" noChangeShapeType="1" noTextEdit="1"/>
              </p:cNvSpPr>
              <p:nvPr/>
            </p:nvSpPr>
            <p:spPr>
              <a:xfrm>
                <a:off x="7740693" y="5405778"/>
                <a:ext cx="1059393" cy="415498"/>
              </a:xfrm>
              <a:prstGeom prst="rect">
                <a:avLst/>
              </a:prstGeom>
              <a:blipFill rotWithShape="0">
                <a:blip r:embed="rId12"/>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14307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circle(in)">
                                      <p:cBhvr>
                                        <p:cTn id="10" dur="2000"/>
                                        <p:tgtEl>
                                          <p:spTgt spid="11"/>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ircle(in)">
                                      <p:cBhvr>
                                        <p:cTn id="13" dur="2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2000"/>
                                        <p:tgtEl>
                                          <p:spTgt spid="13"/>
                                        </p:tgtEl>
                                      </p:cBhvr>
                                    </p:animEffect>
                                  </p:childTnLst>
                                </p:cTn>
                              </p:par>
                              <p:par>
                                <p:cTn id="19" presetID="6" presetClass="entr" presetSubtype="16"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circle(in)">
                                      <p:cBhvr>
                                        <p:cTn id="21" dur="2000"/>
                                        <p:tgtEl>
                                          <p:spTgt spid="14"/>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circle(in)">
                                      <p:cBhvr>
                                        <p:cTn id="24" dur="20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circle(in)">
                                      <p:cBhvr>
                                        <p:cTn id="29" dur="20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ircle(in)">
                                      <p:cBhvr>
                                        <p:cTn id="34" dur="2000"/>
                                        <p:tgtEl>
                                          <p:spTgt spid="17"/>
                                        </p:tgtEl>
                                      </p:cBhvr>
                                    </p:animEffect>
                                  </p:childTnLst>
                                </p:cTn>
                              </p:par>
                              <p:par>
                                <p:cTn id="35" presetID="6" presetClass="entr" presetSubtype="16"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circle(in)">
                                      <p:cBhvr>
                                        <p:cTn id="37" dur="2000"/>
                                        <p:tgtEl>
                                          <p:spTgt spid="18"/>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circle(in)">
                                      <p:cBhvr>
                                        <p:cTn id="40" dur="20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20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circle(in)">
                                      <p:cBhvr>
                                        <p:cTn id="50" dur="20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circle(in)">
                                      <p:cBhvr>
                                        <p:cTn id="55" dur="20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circle(in)">
                                      <p:cBhvr>
                                        <p:cTn id="60"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5" grpId="0"/>
      <p:bldP spid="16" grpId="0"/>
      <p:bldP spid="17" grpId="0"/>
      <p:bldP spid="19" grpId="0"/>
      <p:bldP spid="20" grpId="0"/>
      <p:bldP spid="21" grpId="0"/>
      <p:bldP spid="22"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 y="1115279"/>
            <a:ext cx="336138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Operaciones de columna</a:t>
            </a:r>
            <a:endParaRPr kumimoji="0" lang="es-NI" sz="20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p:sp>
        <p:nvSpPr>
          <p:cNvPr id="5" name="Title 1"/>
          <p:cNvSpPr txBox="1">
            <a:spLocks/>
          </p:cNvSpPr>
          <p:nvPr/>
        </p:nvSpPr>
        <p:spPr>
          <a:xfrm>
            <a:off x="12882" y="1625409"/>
            <a:ext cx="1468188" cy="45775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chemeClr val="accent3">
                    <a:lumMod val="50000"/>
                  </a:schemeClr>
                </a:solidFill>
                <a:effectLst/>
                <a:latin typeface="Arial" panose="020B0604020202020204" pitchFamily="34" charset="0"/>
                <a:cs typeface="Arial" panose="020B0604020202020204" pitchFamily="34" charset="0"/>
              </a:rPr>
              <a:t>Teorema</a:t>
            </a:r>
            <a:endParaRPr kumimoji="0" lang="es-NI" sz="20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itle 1"/>
              <p:cNvSpPr txBox="1">
                <a:spLocks/>
              </p:cNvSpPr>
              <p:nvPr/>
            </p:nvSpPr>
            <p:spPr>
              <a:xfrm>
                <a:off x="12882" y="2110744"/>
                <a:ext cx="6787164" cy="45775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chemeClr val="accent3">
                        <a:lumMod val="50000"/>
                      </a:schemeClr>
                    </a:solidFill>
                    <a:effectLst/>
                    <a:latin typeface="Arial" panose="020B0604020202020204" pitchFamily="34" charset="0"/>
                    <a:cs typeface="Arial" panose="020B0604020202020204" pitchFamily="34" charset="0"/>
                  </a:rPr>
                  <a:t>Si </a:t>
                </a:r>
                <a14:m>
                  <m:oMath xmlns:m="http://schemas.openxmlformats.org/officeDocument/2006/math">
                    <m:r>
                      <a:rPr lang="es-NI" sz="2000" b="1" i="1" smtClean="0">
                        <a:solidFill>
                          <a:schemeClr val="accent3">
                            <a:lumMod val="50000"/>
                          </a:schemeClr>
                        </a:solidFill>
                        <a:effectLst/>
                        <a:latin typeface="Cambria Math" panose="02040503050406030204" pitchFamily="18" charset="0"/>
                        <a:cs typeface="Arial" panose="020B0604020202020204" pitchFamily="34" charset="0"/>
                      </a:rPr>
                      <m:t>𝑨</m:t>
                    </m:r>
                  </m:oMath>
                </a14:m>
                <a:r>
                  <a:rPr kumimoji="0" lang="es-NI" sz="20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es una matriz de </a:t>
                </a: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𝒏𝒙𝒏</m:t>
                    </m:r>
                  </m:oMath>
                </a14:m>
                <a:r>
                  <a:rPr kumimoji="0" lang="es-NI" sz="2000" b="1" i="0" u="none" strike="noStrike" kern="1200" cap="none" spc="0" normalizeH="0" baseline="0" noProof="0" dirty="0" smtClean="0">
                    <a:ln>
                      <a:noFill/>
                    </a:ln>
                    <a:solidFill>
                      <a:schemeClr val="accent3">
                        <a:lumMod val="50000"/>
                      </a:schemeClr>
                    </a:solidFill>
                    <a:effectLst/>
                    <a:uLnTx/>
                    <a:uFillTx/>
                    <a:latin typeface="Arial" panose="020B0604020202020204" pitchFamily="34" charset="0"/>
                    <a:cs typeface="Arial" panose="020B0604020202020204" pitchFamily="34" charset="0"/>
                  </a:rPr>
                  <a:t>, entonces </a:t>
                </a: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𝒅𝒆𝒕</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 </m:t>
                    </m:r>
                    <m:sSup>
                      <m:sSupPr>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sSupPr>
                      <m:e>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m:t>
                        </m:r>
                      </m:e>
                      <m:sup>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𝑻</m:t>
                        </m:r>
                      </m:sup>
                    </m:sSup>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𝒅𝒆𝒕</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 </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m:t>
                    </m:r>
                  </m:oMath>
                </a14:m>
                <a:endParaRPr kumimoji="0" lang="es-NI" sz="20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Choice>
        <mc:Fallback xmlns="">
          <p:sp>
            <p:nvSpPr>
              <p:cNvPr id="11" name="Title 1"/>
              <p:cNvSpPr txBox="1">
                <a:spLocks noRot="1" noChangeAspect="1" noMove="1" noResize="1" noEditPoints="1" noAdjustHandles="1" noChangeArrowheads="1" noChangeShapeType="1" noTextEdit="1"/>
              </p:cNvSpPr>
              <p:nvPr/>
            </p:nvSpPr>
            <p:spPr>
              <a:xfrm>
                <a:off x="12882" y="2110744"/>
                <a:ext cx="6787164" cy="457751"/>
              </a:xfrm>
              <a:prstGeom prst="rect">
                <a:avLst/>
              </a:prstGeom>
              <a:blipFill rotWithShape="0">
                <a:blip r:embed="rId2"/>
                <a:stretch>
                  <a:fillRect l="-898" b="-18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Title 1"/>
              <p:cNvSpPr txBox="1">
                <a:spLocks/>
              </p:cNvSpPr>
              <p:nvPr/>
            </p:nvSpPr>
            <p:spPr>
              <a:xfrm>
                <a:off x="12882" y="2695178"/>
                <a:ext cx="12179118" cy="7194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a:solidFill>
                      <a:srgbClr val="FF0000"/>
                    </a:solidFill>
                    <a:latin typeface="Arial" panose="020B0604020202020204" pitchFamily="34" charset="0"/>
                    <a:cs typeface="Arial" panose="020B0604020202020204" pitchFamily="34" charset="0"/>
                  </a:rPr>
                  <a:t>Propiedad multiplicativa</a:t>
                </a:r>
                <a:r>
                  <a:rPr lang="es-MX" sz="2000" b="1" dirty="0">
                    <a:solidFill>
                      <a:schemeClr val="accent3">
                        <a:lumMod val="50000"/>
                      </a:schemeClr>
                    </a:solidFill>
                    <a:latin typeface="Arial" panose="020B0604020202020204" pitchFamily="34" charset="0"/>
                    <a:cs typeface="Arial" panose="020B0604020202020204" pitchFamily="34" charset="0"/>
                  </a:rPr>
                  <a:t>: Si </a:t>
                </a:r>
                <a14:m>
                  <m:oMath xmlns:m="http://schemas.openxmlformats.org/officeDocument/2006/math">
                    <m:r>
                      <a:rPr lang="es-MX" sz="2000" b="1" i="1" dirty="0" smtClean="0">
                        <a:solidFill>
                          <a:schemeClr val="accent3">
                            <a:lumMod val="50000"/>
                          </a:schemeClr>
                        </a:solidFill>
                        <a:latin typeface="Cambria Math" panose="02040503050406030204" pitchFamily="18" charset="0"/>
                        <a:cs typeface="Arial" panose="020B0604020202020204" pitchFamily="34" charset="0"/>
                      </a:rPr>
                      <m:t>𝑨</m:t>
                    </m:r>
                  </m:oMath>
                </a14:m>
                <a:r>
                  <a:rPr lang="es-MX" sz="2000" b="1" dirty="0">
                    <a:solidFill>
                      <a:schemeClr val="accent3">
                        <a:lumMod val="50000"/>
                      </a:schemeClr>
                    </a:solidFill>
                    <a:latin typeface="Arial" panose="020B0604020202020204" pitchFamily="34" charset="0"/>
                    <a:cs typeface="Arial" panose="020B0604020202020204" pitchFamily="34" charset="0"/>
                  </a:rPr>
                  <a:t> y </a:t>
                </a:r>
                <a14:m>
                  <m:oMath xmlns:m="http://schemas.openxmlformats.org/officeDocument/2006/math">
                    <m:r>
                      <a:rPr lang="es-MX" sz="2000" b="1" i="1" dirty="0" smtClean="0">
                        <a:solidFill>
                          <a:schemeClr val="accent3">
                            <a:lumMod val="50000"/>
                          </a:schemeClr>
                        </a:solidFill>
                        <a:latin typeface="Cambria Math" panose="02040503050406030204" pitchFamily="18" charset="0"/>
                        <a:cs typeface="Arial" panose="020B0604020202020204" pitchFamily="34" charset="0"/>
                      </a:rPr>
                      <m:t>𝑩</m:t>
                    </m:r>
                  </m:oMath>
                </a14:m>
                <a:r>
                  <a:rPr lang="es-MX" sz="2000" b="1" dirty="0">
                    <a:solidFill>
                      <a:schemeClr val="accent3">
                        <a:lumMod val="50000"/>
                      </a:schemeClr>
                    </a:solidFill>
                    <a:latin typeface="Arial" panose="020B0604020202020204" pitchFamily="34" charset="0"/>
                    <a:cs typeface="Arial" panose="020B0604020202020204" pitchFamily="34" charset="0"/>
                  </a:rPr>
                  <a:t> son matrices de </a:t>
                </a:r>
                <a14:m>
                  <m:oMath xmlns:m="http://schemas.openxmlformats.org/officeDocument/2006/math">
                    <m:r>
                      <a:rPr lang="es-MX" sz="2000" b="1" i="1" dirty="0" smtClean="0">
                        <a:solidFill>
                          <a:schemeClr val="accent3">
                            <a:lumMod val="50000"/>
                          </a:schemeClr>
                        </a:solidFill>
                        <a:latin typeface="Cambria Math" panose="02040503050406030204" pitchFamily="18" charset="0"/>
                        <a:cs typeface="Arial" panose="020B0604020202020204" pitchFamily="34" charset="0"/>
                      </a:rPr>
                      <m:t>𝒏</m:t>
                    </m:r>
                    <m:r>
                      <a:rPr lang="es-MX" sz="2000" b="1" i="1" dirty="0" smtClean="0">
                        <a:solidFill>
                          <a:schemeClr val="accent3">
                            <a:lumMod val="50000"/>
                          </a:schemeClr>
                        </a:solidFill>
                        <a:latin typeface="Cambria Math" panose="02040503050406030204" pitchFamily="18" charset="0"/>
                        <a:cs typeface="Arial" panose="020B0604020202020204" pitchFamily="34" charset="0"/>
                      </a:rPr>
                      <m:t> </m:t>
                    </m:r>
                    <m:r>
                      <a:rPr lang="es-MX" sz="2000" b="1" i="1" dirty="0" smtClean="0">
                        <a:solidFill>
                          <a:schemeClr val="accent3">
                            <a:lumMod val="50000"/>
                          </a:schemeClr>
                        </a:solidFill>
                        <a:latin typeface="Cambria Math" panose="02040503050406030204" pitchFamily="18" charset="0"/>
                        <a:cs typeface="Arial" panose="020B0604020202020204" pitchFamily="34" charset="0"/>
                      </a:rPr>
                      <m:t>𝒙</m:t>
                    </m:r>
                    <m:r>
                      <a:rPr lang="es-MX" sz="2000" b="1" i="1" dirty="0" smtClean="0">
                        <a:solidFill>
                          <a:schemeClr val="accent3">
                            <a:lumMod val="50000"/>
                          </a:schemeClr>
                        </a:solidFill>
                        <a:latin typeface="Cambria Math" panose="02040503050406030204" pitchFamily="18" charset="0"/>
                        <a:cs typeface="Arial" panose="020B0604020202020204" pitchFamily="34" charset="0"/>
                      </a:rPr>
                      <m:t> </m:t>
                    </m:r>
                    <m:r>
                      <a:rPr lang="es-MX" sz="2000" b="1" i="1" dirty="0" smtClean="0">
                        <a:solidFill>
                          <a:schemeClr val="accent3">
                            <a:lumMod val="50000"/>
                          </a:schemeClr>
                        </a:solidFill>
                        <a:latin typeface="Cambria Math" panose="02040503050406030204" pitchFamily="18" charset="0"/>
                        <a:cs typeface="Arial" panose="020B0604020202020204" pitchFamily="34" charset="0"/>
                      </a:rPr>
                      <m:t>𝒏</m:t>
                    </m:r>
                  </m:oMath>
                </a14:m>
                <a:r>
                  <a:rPr lang="es-MX" sz="2000" b="1" dirty="0">
                    <a:solidFill>
                      <a:schemeClr val="accent3">
                        <a:lumMod val="50000"/>
                      </a:schemeClr>
                    </a:solidFill>
                    <a:latin typeface="Arial" panose="020B0604020202020204" pitchFamily="34" charset="0"/>
                    <a:cs typeface="Arial" panose="020B0604020202020204" pitchFamily="34" charset="0"/>
                  </a:rPr>
                  <a:t>, entonces </a:t>
                </a:r>
                <a14:m>
                  <m:oMath xmlns:m="http://schemas.openxmlformats.org/officeDocument/2006/math">
                    <m:r>
                      <m:rPr>
                        <m:sty m:val="p"/>
                      </m:rPr>
                      <a:rPr lang="es-MX" sz="2000" b="1" i="1" dirty="0" smtClean="0">
                        <a:solidFill>
                          <a:schemeClr val="accent3">
                            <a:lumMod val="50000"/>
                          </a:schemeClr>
                        </a:solidFill>
                        <a:latin typeface="Cambria Math" panose="02040503050406030204" pitchFamily="18" charset="0"/>
                        <a:cs typeface="Arial" panose="020B0604020202020204" pitchFamily="34" charset="0"/>
                      </a:rPr>
                      <m:t>det</m:t>
                    </m:r>
                    <m:r>
                      <a:rPr lang="es-MX" sz="2000" b="1" i="1" dirty="0">
                        <a:solidFill>
                          <a:schemeClr val="accent3">
                            <a:lumMod val="50000"/>
                          </a:schemeClr>
                        </a:solidFill>
                        <a:latin typeface="Cambria Math" panose="02040503050406030204" pitchFamily="18" charset="0"/>
                        <a:cs typeface="Arial" panose="020B0604020202020204" pitchFamily="34" charset="0"/>
                      </a:rPr>
                      <m:t>⁡</m:t>
                    </m:r>
                    <m:r>
                      <a:rPr lang="es-MX" sz="2000" b="1" i="1" dirty="0">
                        <a:solidFill>
                          <a:schemeClr val="accent3">
                            <a:lumMod val="50000"/>
                          </a:schemeClr>
                        </a:solidFill>
                        <a:latin typeface="Cambria Math" panose="02040503050406030204" pitchFamily="18" charset="0"/>
                        <a:cs typeface="Arial" panose="020B0604020202020204" pitchFamily="34" charset="0"/>
                      </a:rPr>
                      <m:t>𝑨𝑩</m:t>
                    </m:r>
                    <m:r>
                      <a:rPr lang="es-MX" sz="2000" b="1" i="1" dirty="0" smtClean="0">
                        <a:solidFill>
                          <a:schemeClr val="accent3">
                            <a:lumMod val="50000"/>
                          </a:schemeClr>
                        </a:solidFill>
                        <a:latin typeface="Cambria Math" panose="02040503050406030204" pitchFamily="18" charset="0"/>
                        <a:cs typeface="Arial" panose="020B0604020202020204" pitchFamily="34" charset="0"/>
                      </a:rPr>
                      <m:t> =(</m:t>
                    </m:r>
                    <m:r>
                      <m:rPr>
                        <m:sty m:val="p"/>
                      </m:rPr>
                      <a:rPr lang="es-MX" sz="2000" b="1" i="1" dirty="0" err="1">
                        <a:solidFill>
                          <a:schemeClr val="accent3">
                            <a:lumMod val="50000"/>
                          </a:schemeClr>
                        </a:solidFill>
                        <a:latin typeface="Cambria Math" panose="02040503050406030204" pitchFamily="18" charset="0"/>
                        <a:cs typeface="Arial" panose="020B0604020202020204" pitchFamily="34" charset="0"/>
                      </a:rPr>
                      <m:t>det</m:t>
                    </m:r>
                    <m:r>
                      <a:rPr lang="es-MX" sz="2000" b="1" i="1" dirty="0">
                        <a:solidFill>
                          <a:schemeClr val="accent3">
                            <a:lumMod val="50000"/>
                          </a:schemeClr>
                        </a:solidFill>
                        <a:latin typeface="Cambria Math" panose="02040503050406030204" pitchFamily="18" charset="0"/>
                        <a:cs typeface="Arial" panose="020B0604020202020204" pitchFamily="34" charset="0"/>
                      </a:rPr>
                      <m:t>⁡</m:t>
                    </m:r>
                    <m:r>
                      <a:rPr lang="es-MX" sz="2000" b="1" i="1" dirty="0">
                        <a:solidFill>
                          <a:schemeClr val="accent3">
                            <a:lumMod val="50000"/>
                          </a:schemeClr>
                        </a:solidFill>
                        <a:latin typeface="Cambria Math" panose="02040503050406030204" pitchFamily="18" charset="0"/>
                        <a:cs typeface="Arial" panose="020B0604020202020204" pitchFamily="34" charset="0"/>
                      </a:rPr>
                      <m:t>𝑨</m:t>
                    </m:r>
                    <m:r>
                      <a:rPr lang="es-MX" sz="2000" b="1" i="1" dirty="0">
                        <a:solidFill>
                          <a:schemeClr val="accent3">
                            <a:lumMod val="50000"/>
                          </a:schemeClr>
                        </a:solidFill>
                        <a:latin typeface="Cambria Math" panose="02040503050406030204" pitchFamily="18" charset="0"/>
                        <a:cs typeface="Arial" panose="020B0604020202020204" pitchFamily="34" charset="0"/>
                      </a:rPr>
                      <m:t>)(</m:t>
                    </m:r>
                    <m:r>
                      <m:rPr>
                        <m:sty m:val="p"/>
                      </m:rPr>
                      <a:rPr lang="es-MX" sz="2000" b="1" i="1" dirty="0" err="1">
                        <a:solidFill>
                          <a:schemeClr val="accent3">
                            <a:lumMod val="50000"/>
                          </a:schemeClr>
                        </a:solidFill>
                        <a:latin typeface="Cambria Math" panose="02040503050406030204" pitchFamily="18" charset="0"/>
                        <a:cs typeface="Arial" panose="020B0604020202020204" pitchFamily="34" charset="0"/>
                      </a:rPr>
                      <m:t>det</m:t>
                    </m:r>
                    <m:r>
                      <a:rPr lang="es-MX" sz="2000" b="1" i="1" dirty="0">
                        <a:solidFill>
                          <a:schemeClr val="accent3">
                            <a:lumMod val="50000"/>
                          </a:schemeClr>
                        </a:solidFill>
                        <a:latin typeface="Cambria Math" panose="02040503050406030204" pitchFamily="18" charset="0"/>
                        <a:cs typeface="Arial" panose="020B0604020202020204" pitchFamily="34" charset="0"/>
                      </a:rPr>
                      <m:t>⁡</m:t>
                    </m:r>
                    <m:r>
                      <a:rPr lang="es-MX" sz="2000" b="1" i="1" dirty="0">
                        <a:solidFill>
                          <a:schemeClr val="accent3">
                            <a:lumMod val="50000"/>
                          </a:schemeClr>
                        </a:solidFill>
                        <a:latin typeface="Cambria Math" panose="02040503050406030204" pitchFamily="18" charset="0"/>
                        <a:cs typeface="Arial" panose="020B0604020202020204" pitchFamily="34" charset="0"/>
                      </a:rPr>
                      <m:t>𝑩</m:t>
                    </m:r>
                    <m:r>
                      <a:rPr lang="es-MX" sz="2000" b="1" i="1" dirty="0">
                        <a:solidFill>
                          <a:schemeClr val="accent3">
                            <a:lumMod val="50000"/>
                          </a:schemeClr>
                        </a:solidFill>
                        <a:latin typeface="Cambria Math" panose="02040503050406030204" pitchFamily="18" charset="0"/>
                        <a:cs typeface="Arial" panose="020B0604020202020204" pitchFamily="34" charset="0"/>
                      </a:rPr>
                      <m:t>).</m:t>
                    </m:r>
                  </m:oMath>
                </a14:m>
                <a:endParaRPr lang="es-MX" sz="2000" b="1" dirty="0">
                  <a:solidFill>
                    <a:schemeClr val="accent3">
                      <a:lumMod val="50000"/>
                    </a:schemeClr>
                  </a:solidFill>
                  <a:latin typeface="Arial" panose="020B0604020202020204" pitchFamily="34" charset="0"/>
                  <a:cs typeface="Arial" panose="020B0604020202020204" pitchFamily="34" charset="0"/>
                </a:endParaRPr>
              </a:p>
              <a:p>
                <a:pPr lvl="0" algn="just">
                  <a:defRPr/>
                </a:pPr>
                <a:r>
                  <a:rPr lang="es-MX" sz="2000" b="1" dirty="0">
                    <a:solidFill>
                      <a:schemeClr val="accent3">
                        <a:lumMod val="50000"/>
                      </a:schemeClr>
                    </a:solidFill>
                    <a:latin typeface="Arial" panose="020B0604020202020204" pitchFamily="34" charset="0"/>
                    <a:cs typeface="Arial" panose="020B0604020202020204" pitchFamily="34" charset="0"/>
                  </a:rPr>
                  <a:t>Compruebe la propiedad para </a:t>
                </a:r>
              </a:p>
            </p:txBody>
          </p:sp>
        </mc:Choice>
        <mc:Fallback xmlns="">
          <p:sp>
            <p:nvSpPr>
              <p:cNvPr id="12" name="Title 1"/>
              <p:cNvSpPr txBox="1">
                <a:spLocks noRot="1" noChangeAspect="1" noMove="1" noResize="1" noEditPoints="1" noAdjustHandles="1" noChangeArrowheads="1" noChangeShapeType="1" noTextEdit="1"/>
              </p:cNvSpPr>
              <p:nvPr/>
            </p:nvSpPr>
            <p:spPr>
              <a:xfrm>
                <a:off x="12882" y="2695178"/>
                <a:ext cx="12179118" cy="719462"/>
              </a:xfrm>
              <a:prstGeom prst="rect">
                <a:avLst/>
              </a:prstGeom>
              <a:blipFill rotWithShape="0">
                <a:blip r:embed="rId3"/>
                <a:stretch>
                  <a:fillRect l="-501" t="-2542" b="-152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5" name="Title 1"/>
              <p:cNvSpPr txBox="1">
                <a:spLocks/>
              </p:cNvSpPr>
              <p:nvPr/>
            </p:nvSpPr>
            <p:spPr>
              <a:xfrm>
                <a:off x="3902618" y="3315271"/>
                <a:ext cx="3140328" cy="84891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𝑨</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begChr m:val="["/>
                        <m:endChr m:val="]"/>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m>
                          <m:mPr>
                            <m:mcs>
                              <m:mc>
                                <m:mcPr>
                                  <m:count m:val="2"/>
                                  <m:mcJc m:val="center"/>
                                </m:mcPr>
                              </m:mc>
                            </m:mcs>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mPr>
                          <m:mr>
                            <m:e>
                              <m:r>
                                <m:rPr>
                                  <m:brk m:alnAt="7"/>
                                </m:r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𝟔</m:t>
                              </m:r>
                            </m:e>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𝟏</m:t>
                              </m:r>
                            </m:e>
                          </m:mr>
                          <m:m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𝟑</m:t>
                              </m:r>
                            </m:e>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𝟐</m:t>
                              </m:r>
                            </m:e>
                          </m:mr>
                        </m:m>
                      </m:e>
                    </m:d>
                  </m:oMath>
                </a14:m>
                <a:r>
                  <a:rPr kumimoji="0" lang="es-NI" sz="2000" b="1" i="0" u="none" strike="noStrike" kern="1200" cap="none" spc="0" normalizeH="0" baseline="0" noProof="0" dirty="0" smtClean="0">
                    <a:ln>
                      <a:noFill/>
                    </a:ln>
                    <a:solidFill>
                      <a:schemeClr val="accent3">
                        <a:lumMod val="50000"/>
                      </a:schemeClr>
                    </a:solidFill>
                    <a:uLnTx/>
                    <a:uFillTx/>
                    <a:latin typeface="Arial" panose="020B0604020202020204" pitchFamily="34" charset="0"/>
                    <a:cs typeface="Arial" panose="020B0604020202020204" pitchFamily="34" charset="0"/>
                  </a:rPr>
                  <a:t> y </a:t>
                </a: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𝑩</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begChr m:val="["/>
                        <m:endChr m:val="]"/>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m>
                          <m:mPr>
                            <m:mcs>
                              <m:mc>
                                <m:mcPr>
                                  <m:count m:val="2"/>
                                  <m:mcJc m:val="center"/>
                                </m:mcPr>
                              </m:mc>
                            </m:mcs>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mPr>
                          <m:mr>
                            <m:e>
                              <m:r>
                                <m:rPr>
                                  <m:brk m:alnAt="7"/>
                                </m:r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𝟒</m:t>
                              </m:r>
                            </m:e>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𝟑</m:t>
                              </m:r>
                            </m:e>
                          </m:mr>
                          <m:m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𝟏</m:t>
                              </m:r>
                            </m:e>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𝟐</m:t>
                              </m:r>
                            </m:e>
                          </m:mr>
                        </m:m>
                      </m:e>
                    </m:d>
                  </m:oMath>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15" name="Title 1"/>
              <p:cNvSpPr txBox="1">
                <a:spLocks noRot="1" noChangeAspect="1" noMove="1" noResize="1" noEditPoints="1" noAdjustHandles="1" noChangeArrowheads="1" noChangeShapeType="1" noTextEdit="1"/>
              </p:cNvSpPr>
              <p:nvPr/>
            </p:nvSpPr>
            <p:spPr>
              <a:xfrm>
                <a:off x="3902618" y="3315271"/>
                <a:ext cx="3140328" cy="848913"/>
              </a:xfrm>
              <a:prstGeom prst="rect">
                <a:avLst/>
              </a:prstGeom>
              <a:blipFill rotWithShape="0">
                <a:blip r:embed="rId4"/>
                <a:stretch>
                  <a:fillRect/>
                </a:stretch>
              </a:blipFill>
            </p:spPr>
            <p:txBody>
              <a:bodyPr/>
              <a:lstStyle/>
              <a:p>
                <a:r>
                  <a:rPr lang="es-MX">
                    <a:noFill/>
                  </a:rPr>
                  <a:t> </a:t>
                </a:r>
              </a:p>
            </p:txBody>
          </p:sp>
        </mc:Fallback>
      </mc:AlternateContent>
      <p:sp>
        <p:nvSpPr>
          <p:cNvPr id="16" name="Title 1"/>
          <p:cNvSpPr txBox="1">
            <a:spLocks/>
          </p:cNvSpPr>
          <p:nvPr/>
        </p:nvSpPr>
        <p:spPr>
          <a:xfrm>
            <a:off x="-1" y="3908884"/>
            <a:ext cx="1303014"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Solución</a:t>
            </a:r>
            <a:endParaRPr kumimoji="0" lang="es-NI" sz="20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Title 1"/>
              <p:cNvSpPr txBox="1">
                <a:spLocks/>
              </p:cNvSpPr>
              <p:nvPr/>
            </p:nvSpPr>
            <p:spPr>
              <a:xfrm>
                <a:off x="1815921" y="4219351"/>
                <a:ext cx="2780612" cy="89677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𝑨𝑩</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d>
                        <m:dPr>
                          <m:begChr m:val="["/>
                          <m:endChr m:val="]"/>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a:solidFill>
                                      <a:schemeClr val="accent3">
                                        <a:lumMod val="50000"/>
                                      </a:schemeClr>
                                    </a:solidFill>
                                    <a:latin typeface="Cambria Math" panose="02040503050406030204" pitchFamily="18" charset="0"/>
                                    <a:cs typeface="Arial" panose="020B0604020202020204" pitchFamily="34" charset="0"/>
                                  </a:rPr>
                                  <m:t>𝟔</m:t>
                                </m:r>
                              </m:e>
                              <m:e>
                                <m:r>
                                  <a:rPr lang="es-NI" sz="2000" b="1" i="1">
                                    <a:solidFill>
                                      <a:schemeClr val="accent3">
                                        <a:lumMod val="50000"/>
                                      </a:schemeClr>
                                    </a:solidFill>
                                    <a:latin typeface="Cambria Math" panose="02040503050406030204" pitchFamily="18" charset="0"/>
                                    <a:cs typeface="Arial" panose="020B0604020202020204" pitchFamily="34" charset="0"/>
                                  </a:rPr>
                                  <m:t>𝟏</m:t>
                                </m:r>
                              </m:e>
                            </m:mr>
                            <m:mr>
                              <m:e>
                                <m:r>
                                  <a:rPr lang="es-NI" sz="2000" b="1" i="1">
                                    <a:solidFill>
                                      <a:schemeClr val="accent3">
                                        <a:lumMod val="50000"/>
                                      </a:schemeClr>
                                    </a:solidFill>
                                    <a:latin typeface="Cambria Math" panose="02040503050406030204" pitchFamily="18" charset="0"/>
                                    <a:cs typeface="Arial" panose="020B0604020202020204" pitchFamily="34" charset="0"/>
                                  </a:rPr>
                                  <m:t>𝟑</m:t>
                                </m:r>
                              </m:e>
                              <m:e>
                                <m:r>
                                  <a:rPr lang="es-NI" sz="2000" b="1" i="1">
                                    <a:solidFill>
                                      <a:schemeClr val="accent3">
                                        <a:lumMod val="50000"/>
                                      </a:schemeClr>
                                    </a:solidFill>
                                    <a:latin typeface="Cambria Math" panose="02040503050406030204" pitchFamily="18" charset="0"/>
                                    <a:cs typeface="Arial" panose="020B0604020202020204" pitchFamily="34" charset="0"/>
                                  </a:rPr>
                                  <m:t>𝟐</m:t>
                                </m:r>
                              </m:e>
                            </m:mr>
                          </m:m>
                        </m:e>
                      </m:d>
                      <m:d>
                        <m:dPr>
                          <m:begChr m:val="["/>
                          <m:endChr m:val="]"/>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a:solidFill>
                                      <a:schemeClr val="accent3">
                                        <a:lumMod val="50000"/>
                                      </a:schemeClr>
                                    </a:solidFill>
                                    <a:latin typeface="Cambria Math" panose="02040503050406030204" pitchFamily="18" charset="0"/>
                                    <a:cs typeface="Arial" panose="020B0604020202020204" pitchFamily="34" charset="0"/>
                                  </a:rPr>
                                  <m:t>𝟒</m:t>
                                </m:r>
                              </m:e>
                              <m:e>
                                <m:r>
                                  <a:rPr lang="es-NI" sz="2000" b="1" i="1">
                                    <a:solidFill>
                                      <a:schemeClr val="accent3">
                                        <a:lumMod val="50000"/>
                                      </a:schemeClr>
                                    </a:solidFill>
                                    <a:latin typeface="Cambria Math" panose="02040503050406030204" pitchFamily="18" charset="0"/>
                                    <a:cs typeface="Arial" panose="020B0604020202020204" pitchFamily="34" charset="0"/>
                                  </a:rPr>
                                  <m:t>𝟑</m:t>
                                </m:r>
                              </m:e>
                            </m:mr>
                            <m:mr>
                              <m:e>
                                <m:r>
                                  <a:rPr lang="es-NI" sz="2000" b="1" i="1">
                                    <a:solidFill>
                                      <a:schemeClr val="accent3">
                                        <a:lumMod val="50000"/>
                                      </a:schemeClr>
                                    </a:solidFill>
                                    <a:latin typeface="Cambria Math" panose="02040503050406030204" pitchFamily="18" charset="0"/>
                                    <a:cs typeface="Arial" panose="020B0604020202020204" pitchFamily="34" charset="0"/>
                                  </a:rPr>
                                  <m:t>𝟏</m:t>
                                </m:r>
                              </m:e>
                              <m:e>
                                <m:r>
                                  <a:rPr lang="es-NI" sz="2000" b="1" i="1">
                                    <a:solidFill>
                                      <a:schemeClr val="accent3">
                                        <a:lumMod val="50000"/>
                                      </a:schemeClr>
                                    </a:solidFill>
                                    <a:latin typeface="Cambria Math" panose="02040503050406030204" pitchFamily="18" charset="0"/>
                                    <a:cs typeface="Arial" panose="020B0604020202020204" pitchFamily="34" charset="0"/>
                                  </a:rPr>
                                  <m:t>𝟐</m:t>
                                </m:r>
                              </m:e>
                            </m:mr>
                          </m:m>
                        </m:e>
                      </m:d>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oMath>
                  </m:oMathPara>
                </a14:m>
                <a:endParaRPr kumimoji="0" lang="es-NI" sz="20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Choice>
        <mc:Fallback xmlns="">
          <p:sp>
            <p:nvSpPr>
              <p:cNvPr id="17" name="Title 1"/>
              <p:cNvSpPr txBox="1">
                <a:spLocks noRot="1" noChangeAspect="1" noMove="1" noResize="1" noEditPoints="1" noAdjustHandles="1" noChangeArrowheads="1" noChangeShapeType="1" noTextEdit="1"/>
              </p:cNvSpPr>
              <p:nvPr/>
            </p:nvSpPr>
            <p:spPr>
              <a:xfrm>
                <a:off x="1815921" y="4219351"/>
                <a:ext cx="2780612" cy="896772"/>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Title 1"/>
              <p:cNvSpPr txBox="1">
                <a:spLocks/>
              </p:cNvSpPr>
              <p:nvPr/>
            </p:nvSpPr>
            <p:spPr>
              <a:xfrm>
                <a:off x="4350912" y="4219351"/>
                <a:ext cx="1322902" cy="89677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d>
                        <m:dPr>
                          <m:begChr m:val="["/>
                          <m:endChr m:val="]"/>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dPr>
                        <m:e>
                          <m:m>
                            <m:mPr>
                              <m:mcs>
                                <m:mc>
                                  <m:mcPr>
                                    <m:count m:val="2"/>
                                    <m:mcJc m:val="center"/>
                                  </m:mcPr>
                                </m:mc>
                              </m:mcs>
                              <m:ctrlPr>
                                <a:rPr lang="es-NI" sz="2000" b="1" i="1">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smtClean="0">
                                    <a:solidFill>
                                      <a:schemeClr val="accent3">
                                        <a:lumMod val="50000"/>
                                      </a:schemeClr>
                                    </a:solidFill>
                                    <a:latin typeface="Cambria Math" panose="02040503050406030204" pitchFamily="18" charset="0"/>
                                    <a:cs typeface="Arial" panose="020B0604020202020204" pitchFamily="34" charset="0"/>
                                  </a:rPr>
                                  <m:t>𝟐</m:t>
                                </m:r>
                                <m:r>
                                  <a:rPr lang="es-NI" sz="2000" b="1" i="1" smtClean="0">
                                    <a:solidFill>
                                      <a:schemeClr val="accent3">
                                        <a:lumMod val="50000"/>
                                      </a:schemeClr>
                                    </a:solidFill>
                                    <a:latin typeface="Cambria Math" panose="02040503050406030204" pitchFamily="18" charset="0"/>
                                    <a:cs typeface="Arial" panose="020B0604020202020204" pitchFamily="34" charset="0"/>
                                  </a:rPr>
                                  <m:t>𝟓</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𝟐𝟎</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𝟏𝟒</m:t>
                                </m:r>
                              </m:e>
                              <m:e>
                                <m:r>
                                  <a:rPr lang="es-NI" sz="2000" b="1" i="1" smtClean="0">
                                    <a:solidFill>
                                      <a:schemeClr val="accent3">
                                        <a:lumMod val="50000"/>
                                      </a:schemeClr>
                                    </a:solidFill>
                                    <a:latin typeface="Cambria Math" panose="02040503050406030204" pitchFamily="18" charset="0"/>
                                    <a:cs typeface="Arial" panose="020B0604020202020204" pitchFamily="34" charset="0"/>
                                  </a:rPr>
                                  <m:t>𝟏𝟑</m:t>
                                </m:r>
                              </m:e>
                            </m:mr>
                          </m:m>
                        </m:e>
                      </m:d>
                    </m:oMath>
                  </m:oMathPara>
                </a14:m>
                <a:endParaRPr kumimoji="0" lang="es-NI" sz="20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Choice>
        <mc:Fallback xmlns="">
          <p:sp>
            <p:nvSpPr>
              <p:cNvPr id="18" name="Title 1"/>
              <p:cNvSpPr txBox="1">
                <a:spLocks noRot="1" noChangeAspect="1" noMove="1" noResize="1" noEditPoints="1" noAdjustHandles="1" noChangeArrowheads="1" noChangeShapeType="1" noTextEdit="1"/>
              </p:cNvSpPr>
              <p:nvPr/>
            </p:nvSpPr>
            <p:spPr>
              <a:xfrm>
                <a:off x="4350912" y="4219351"/>
                <a:ext cx="1322902" cy="896772"/>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Title 1"/>
              <p:cNvSpPr txBox="1">
                <a:spLocks/>
              </p:cNvSpPr>
              <p:nvPr/>
            </p:nvSpPr>
            <p:spPr>
              <a:xfrm>
                <a:off x="5673814" y="4429899"/>
                <a:ext cx="352170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𝒅𝒆𝒕</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 </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𝑨𝑩</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𝟐𝟓</m:t>
                        </m:r>
                      </m:e>
                    </m:d>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𝟏𝟑</m:t>
                        </m:r>
                      </m:e>
                    </m:d>
                  </m:oMath>
                </a14:m>
                <a:r>
                  <a:rPr kumimoji="0" lang="es-NI" sz="2000" b="1" i="0" u="none" strike="noStrike" kern="1200" cap="none" spc="0" normalizeH="0" baseline="0" noProof="0" dirty="0" smtClean="0">
                    <a:ln>
                      <a:noFill/>
                    </a:ln>
                    <a:solidFill>
                      <a:srgbClr val="FF0000"/>
                    </a:solidFill>
                    <a:uLnTx/>
                    <a:uFillTx/>
                    <a:latin typeface="Arial" panose="020B0604020202020204" pitchFamily="34" charset="0"/>
                    <a:cs typeface="Arial" panose="020B0604020202020204" pitchFamily="34" charset="0"/>
                  </a:rPr>
                  <a:t>-</a:t>
                </a:r>
                <a14:m>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𝟏𝟒</m:t>
                        </m:r>
                      </m:e>
                    </m:d>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𝟐𝟎</m:t>
                        </m:r>
                      </m:e>
                    </m:d>
                  </m:oMath>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0" name="Title 1"/>
              <p:cNvSpPr txBox="1">
                <a:spLocks noRot="1" noChangeAspect="1" noMove="1" noResize="1" noEditPoints="1" noAdjustHandles="1" noChangeArrowheads="1" noChangeShapeType="1" noTextEdit="1"/>
              </p:cNvSpPr>
              <p:nvPr/>
            </p:nvSpPr>
            <p:spPr>
              <a:xfrm>
                <a:off x="5673814" y="4429899"/>
                <a:ext cx="3521702" cy="540039"/>
              </a:xfrm>
              <a:prstGeom prst="rect">
                <a:avLst/>
              </a:prstGeom>
              <a:blipFill rotWithShape="0">
                <a:blip r:embed="rId7"/>
                <a:stretch>
                  <a:fillRect l="-173" b="-795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Title 1"/>
              <p:cNvSpPr txBox="1">
                <a:spLocks/>
              </p:cNvSpPr>
              <p:nvPr/>
            </p:nvSpPr>
            <p:spPr>
              <a:xfrm>
                <a:off x="9084151" y="4429898"/>
                <a:ext cx="77529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𝟒𝟓</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1" name="Title 1"/>
              <p:cNvSpPr txBox="1">
                <a:spLocks noRot="1" noChangeAspect="1" noMove="1" noResize="1" noEditPoints="1" noAdjustHandles="1" noChangeArrowheads="1" noChangeShapeType="1" noTextEdit="1"/>
              </p:cNvSpPr>
              <p:nvPr/>
            </p:nvSpPr>
            <p:spPr>
              <a:xfrm>
                <a:off x="9084151" y="4429898"/>
                <a:ext cx="775297" cy="540039"/>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Title 1"/>
              <p:cNvSpPr txBox="1">
                <a:spLocks/>
              </p:cNvSpPr>
              <p:nvPr/>
            </p:nvSpPr>
            <p:spPr>
              <a:xfrm>
                <a:off x="1815922" y="5262308"/>
                <a:ext cx="278061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𝒅𝒆𝒕</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 </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𝑨</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𝟔</m:t>
                        </m:r>
                      </m:e>
                    </m:d>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𝟐</m:t>
                        </m:r>
                      </m:e>
                    </m:d>
                  </m:oMath>
                </a14:m>
                <a:r>
                  <a:rPr kumimoji="0" lang="es-NI" sz="2000" b="1" i="0" u="none" strike="noStrike" kern="1200" cap="none" spc="0" normalizeH="0" baseline="0" noProof="0" dirty="0" smtClean="0">
                    <a:ln>
                      <a:noFill/>
                    </a:ln>
                    <a:solidFill>
                      <a:srgbClr val="FF0000"/>
                    </a:solidFill>
                    <a:uLnTx/>
                    <a:uFillTx/>
                    <a:latin typeface="Arial" panose="020B0604020202020204" pitchFamily="34" charset="0"/>
                    <a:cs typeface="Arial" panose="020B0604020202020204" pitchFamily="34" charset="0"/>
                  </a:rPr>
                  <a:t>-</a:t>
                </a:r>
                <a14:m>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𝟑</m:t>
                        </m:r>
                      </m:e>
                    </m:d>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𝟏</m:t>
                        </m:r>
                      </m:e>
                    </m:d>
                  </m:oMath>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2" name="Title 1"/>
              <p:cNvSpPr txBox="1">
                <a:spLocks noRot="1" noChangeAspect="1" noMove="1" noResize="1" noEditPoints="1" noAdjustHandles="1" noChangeArrowheads="1" noChangeShapeType="1" noTextEdit="1"/>
              </p:cNvSpPr>
              <p:nvPr/>
            </p:nvSpPr>
            <p:spPr>
              <a:xfrm>
                <a:off x="1815922" y="5262308"/>
                <a:ext cx="2780612" cy="540039"/>
              </a:xfrm>
              <a:prstGeom prst="rect">
                <a:avLst/>
              </a:prstGeom>
              <a:blipFill rotWithShape="0">
                <a:blip r:embed="rId9"/>
                <a:stretch>
                  <a:fillRect l="-219" b="-786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Title 1"/>
              <p:cNvSpPr txBox="1">
                <a:spLocks/>
              </p:cNvSpPr>
              <p:nvPr/>
            </p:nvSpPr>
            <p:spPr>
              <a:xfrm>
                <a:off x="4396658" y="5262308"/>
                <a:ext cx="77529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𝟗</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3" name="Title 1"/>
              <p:cNvSpPr txBox="1">
                <a:spLocks noRot="1" noChangeAspect="1" noMove="1" noResize="1" noEditPoints="1" noAdjustHandles="1" noChangeArrowheads="1" noChangeShapeType="1" noTextEdit="1"/>
              </p:cNvSpPr>
              <p:nvPr/>
            </p:nvSpPr>
            <p:spPr>
              <a:xfrm>
                <a:off x="4396658" y="5262308"/>
                <a:ext cx="775297" cy="540039"/>
              </a:xfrm>
              <a:prstGeom prst="rect">
                <a:avLst/>
              </a:prstGeom>
              <a:blipFill rotWithShape="0">
                <a:blip r:embed="rId10"/>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4" name="Title 1"/>
              <p:cNvSpPr txBox="1">
                <a:spLocks/>
              </p:cNvSpPr>
              <p:nvPr/>
            </p:nvSpPr>
            <p:spPr>
              <a:xfrm>
                <a:off x="5527242" y="5262308"/>
                <a:ext cx="278061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𝒅𝒆𝒕</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 </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𝑩</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𝟒</m:t>
                        </m:r>
                      </m:e>
                    </m:d>
                    <m:d>
                      <m:dPr>
                        <m:ctrlP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𝟐</m:t>
                        </m:r>
                      </m:e>
                    </m:d>
                  </m:oMath>
                </a14:m>
                <a:r>
                  <a:rPr kumimoji="0" lang="es-NI" sz="2000" b="1" i="0" u="none" strike="noStrike" kern="1200" cap="none" spc="0" normalizeH="0" baseline="0" noProof="0" dirty="0" smtClean="0">
                    <a:ln>
                      <a:noFill/>
                    </a:ln>
                    <a:solidFill>
                      <a:srgbClr val="FF0000"/>
                    </a:solidFill>
                    <a:uLnTx/>
                    <a:uFillTx/>
                    <a:latin typeface="Arial" panose="020B0604020202020204" pitchFamily="34" charset="0"/>
                    <a:cs typeface="Arial" panose="020B0604020202020204" pitchFamily="34" charset="0"/>
                  </a:rPr>
                  <a:t>-</a:t>
                </a:r>
                <a14:m>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𝟑</m:t>
                        </m:r>
                      </m:e>
                    </m:d>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𝟏</m:t>
                        </m:r>
                      </m:e>
                    </m:d>
                  </m:oMath>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p:sp>
            <p:nvSpPr>
              <p:cNvPr id="24" name="Title 1"/>
              <p:cNvSpPr txBox="1">
                <a:spLocks noRot="1" noChangeAspect="1" noMove="1" noResize="1" noEditPoints="1" noAdjustHandles="1" noChangeArrowheads="1" noChangeShapeType="1" noTextEdit="1"/>
              </p:cNvSpPr>
              <p:nvPr/>
            </p:nvSpPr>
            <p:spPr>
              <a:xfrm>
                <a:off x="5527242" y="5262308"/>
                <a:ext cx="2780612" cy="540039"/>
              </a:xfrm>
              <a:prstGeom prst="rect">
                <a:avLst/>
              </a:prstGeom>
              <a:blipFill rotWithShape="0">
                <a:blip r:embed="rId11"/>
                <a:stretch>
                  <a:fillRect l="-219" b="-786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Title 1"/>
              <p:cNvSpPr txBox="1">
                <a:spLocks/>
              </p:cNvSpPr>
              <p:nvPr/>
            </p:nvSpPr>
            <p:spPr>
              <a:xfrm>
                <a:off x="8160075" y="5262307"/>
                <a:ext cx="77529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𝟓</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5" name="Title 1"/>
              <p:cNvSpPr txBox="1">
                <a:spLocks noRot="1" noChangeAspect="1" noMove="1" noResize="1" noEditPoints="1" noAdjustHandles="1" noChangeArrowheads="1" noChangeShapeType="1" noTextEdit="1"/>
              </p:cNvSpPr>
              <p:nvPr/>
            </p:nvSpPr>
            <p:spPr>
              <a:xfrm>
                <a:off x="8160075" y="5262307"/>
                <a:ext cx="775297" cy="540039"/>
              </a:xfrm>
              <a:prstGeom prst="rect">
                <a:avLst/>
              </a:prstGeom>
              <a:blipFill rotWithShape="0">
                <a:blip r:embed="rId12"/>
                <a:stretch>
                  <a:fillRect/>
                </a:stretch>
              </a:blipFill>
            </p:spPr>
            <p:txBody>
              <a:bodyPr/>
              <a:lstStyle/>
              <a:p>
                <a:r>
                  <a:rPr lang="es-MX">
                    <a:noFill/>
                  </a:rPr>
                  <a:t> </a:t>
                </a:r>
              </a:p>
            </p:txBody>
          </p:sp>
        </mc:Fallback>
      </mc:AlternateContent>
      <p:sp>
        <p:nvSpPr>
          <p:cNvPr id="26" name="Title 1"/>
          <p:cNvSpPr txBox="1">
            <a:spLocks/>
          </p:cNvSpPr>
          <p:nvPr/>
        </p:nvSpPr>
        <p:spPr>
          <a:xfrm>
            <a:off x="5091935" y="5262308"/>
            <a:ext cx="45893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y</a:t>
            </a:r>
            <a:endParaRPr kumimoji="0" lang="es-NI" sz="20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p:sp>
        <p:nvSpPr>
          <p:cNvPr id="27" name="Title 1"/>
          <p:cNvSpPr txBox="1">
            <a:spLocks/>
          </p:cNvSpPr>
          <p:nvPr/>
        </p:nvSpPr>
        <p:spPr>
          <a:xfrm>
            <a:off x="-1" y="5920834"/>
            <a:ext cx="1815922" cy="417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Por lo tanto, </a:t>
            </a:r>
            <a:endParaRPr kumimoji="0" lang="es-NI" sz="20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8" name="Title 1"/>
              <p:cNvSpPr txBox="1">
                <a:spLocks/>
              </p:cNvSpPr>
              <p:nvPr/>
            </p:nvSpPr>
            <p:spPr>
              <a:xfrm>
                <a:off x="1481070" y="5889480"/>
                <a:ext cx="278061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centerGroup"/>
                    </m:oMathParaPr>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r>
                            <a:rPr lang="es-NI" sz="2000" b="1" i="1">
                              <a:solidFill>
                                <a:schemeClr val="accent3">
                                  <a:lumMod val="50000"/>
                                </a:schemeClr>
                              </a:solidFill>
                              <a:latin typeface="Cambria Math" panose="02040503050406030204" pitchFamily="18" charset="0"/>
                              <a:cs typeface="Arial" panose="020B0604020202020204" pitchFamily="34" charset="0"/>
                            </a:rPr>
                            <m:t>𝑨</m:t>
                          </m:r>
                          <m:r>
                            <m:rPr>
                              <m:nor/>
                            </m:rPr>
                            <a:rPr lang="es-NI" sz="2000" b="1" dirty="0">
                              <a:solidFill>
                                <a:schemeClr val="accent3">
                                  <a:lumMod val="50000"/>
                                </a:schemeClr>
                              </a:solidFill>
                              <a:latin typeface="Arial" panose="020B0604020202020204" pitchFamily="34" charset="0"/>
                              <a:cs typeface="Arial" panose="020B0604020202020204" pitchFamily="34" charset="0"/>
                            </a:rPr>
                            <m:t> </m:t>
                          </m:r>
                        </m:e>
                      </m:d>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𝑩</m:t>
                          </m:r>
                        </m:e>
                      </m:d>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8" name="Title 1"/>
              <p:cNvSpPr txBox="1">
                <a:spLocks noRot="1" noChangeAspect="1" noMove="1" noResize="1" noEditPoints="1" noAdjustHandles="1" noChangeArrowheads="1" noChangeShapeType="1" noTextEdit="1"/>
              </p:cNvSpPr>
              <p:nvPr/>
            </p:nvSpPr>
            <p:spPr>
              <a:xfrm>
                <a:off x="1481070" y="5889480"/>
                <a:ext cx="2780612" cy="540039"/>
              </a:xfrm>
              <a:prstGeom prst="rect">
                <a:avLst/>
              </a:prstGeom>
              <a:blipFill rotWithShape="0">
                <a:blip r:embed="rId1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Title 1"/>
              <p:cNvSpPr txBox="1">
                <a:spLocks/>
              </p:cNvSpPr>
              <p:nvPr/>
            </p:nvSpPr>
            <p:spPr>
              <a:xfrm>
                <a:off x="3824255" y="5889480"/>
                <a:ext cx="906678"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𝟗</m:t>
                          </m:r>
                        </m:e>
                      </m:d>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𝟓</m:t>
                          </m:r>
                        </m:e>
                      </m:d>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29" name="Title 1"/>
              <p:cNvSpPr txBox="1">
                <a:spLocks noRot="1" noChangeAspect="1" noMove="1" noResize="1" noEditPoints="1" noAdjustHandles="1" noChangeArrowheads="1" noChangeShapeType="1" noTextEdit="1"/>
              </p:cNvSpPr>
              <p:nvPr/>
            </p:nvSpPr>
            <p:spPr>
              <a:xfrm>
                <a:off x="3824255" y="5889480"/>
                <a:ext cx="906678" cy="540039"/>
              </a:xfrm>
              <a:prstGeom prst="rect">
                <a:avLst/>
              </a:prstGeom>
              <a:blipFill rotWithShape="0">
                <a:blip r:embed="rId1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0" name="Title 1"/>
              <p:cNvSpPr txBox="1">
                <a:spLocks/>
              </p:cNvSpPr>
              <p:nvPr/>
            </p:nvSpPr>
            <p:spPr>
              <a:xfrm>
                <a:off x="4629700" y="5883249"/>
                <a:ext cx="775297"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uLnTx/>
                          <a:uFillTx/>
                          <a:latin typeface="Cambria Math" panose="02040503050406030204" pitchFamily="18" charset="0"/>
                          <a:cs typeface="Arial" panose="020B0604020202020204" pitchFamily="34" charset="0"/>
                        </a:rPr>
                        <m:t>𝟒𝟓</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30" name="Title 1"/>
              <p:cNvSpPr txBox="1">
                <a:spLocks noRot="1" noChangeAspect="1" noMove="1" noResize="1" noEditPoints="1" noAdjustHandles="1" noChangeArrowheads="1" noChangeShapeType="1" noTextEdit="1"/>
              </p:cNvSpPr>
              <p:nvPr/>
            </p:nvSpPr>
            <p:spPr>
              <a:xfrm>
                <a:off x="4629700" y="5883249"/>
                <a:ext cx="775297" cy="540039"/>
              </a:xfrm>
              <a:prstGeom prst="rect">
                <a:avLst/>
              </a:prstGeom>
              <a:blipFill rotWithShape="0">
                <a:blip r:embed="rId1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1" name="Title 1"/>
              <p:cNvSpPr txBox="1">
                <a:spLocks/>
              </p:cNvSpPr>
              <p:nvPr/>
            </p:nvSpPr>
            <p:spPr>
              <a:xfrm>
                <a:off x="5237337" y="5883248"/>
                <a:ext cx="1276233"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m:t>
                      </m:r>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r>
                        <a:rPr lang="es-NI" sz="2000" b="1" i="1">
                          <a:solidFill>
                            <a:schemeClr val="accent3">
                              <a:lumMod val="50000"/>
                            </a:schemeClr>
                          </a:solidFill>
                          <a:latin typeface="Cambria Math" panose="02040503050406030204" pitchFamily="18" charset="0"/>
                          <a:cs typeface="Arial" panose="020B0604020202020204" pitchFamily="34" charset="0"/>
                        </a:rPr>
                        <m:t>𝑨𝑩</m:t>
                      </m:r>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31" name="Title 1"/>
              <p:cNvSpPr txBox="1">
                <a:spLocks noRot="1" noChangeAspect="1" noMove="1" noResize="1" noEditPoints="1" noAdjustHandles="1" noChangeArrowheads="1" noChangeShapeType="1" noTextEdit="1"/>
              </p:cNvSpPr>
              <p:nvPr/>
            </p:nvSpPr>
            <p:spPr>
              <a:xfrm>
                <a:off x="5237337" y="5883248"/>
                <a:ext cx="1276233" cy="540039"/>
              </a:xfrm>
              <a:prstGeom prst="rect">
                <a:avLst/>
              </a:prstGeom>
              <a:blipFill rotWithShape="0">
                <a:blip r:embed="rId1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2" name="Title 1"/>
              <p:cNvSpPr txBox="1">
                <a:spLocks/>
              </p:cNvSpPr>
              <p:nvPr/>
            </p:nvSpPr>
            <p:spPr>
              <a:xfrm>
                <a:off x="-18246" y="6440760"/>
                <a:ext cx="5423244" cy="417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Nota: </a:t>
                </a:r>
                <a:r>
                  <a:rPr lang="es-MX" sz="2000" b="1" dirty="0" smtClean="0">
                    <a:solidFill>
                      <a:schemeClr val="accent3">
                        <a:lumMod val="50000"/>
                      </a:schemeClr>
                    </a:solidFill>
                    <a:latin typeface="Arial" panose="020B0604020202020204" pitchFamily="34" charset="0"/>
                    <a:cs typeface="Arial" panose="020B0604020202020204" pitchFamily="34" charset="0"/>
                  </a:rPr>
                  <a:t>En general,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𝑩</m:t>
                        </m:r>
                      </m:e>
                    </m:d>
                  </m:oMath>
                </a14:m>
                <a:r>
                  <a:rPr lang="es-MX" sz="2000" b="1" dirty="0" smtClean="0">
                    <a:solidFill>
                      <a:schemeClr val="accent3">
                        <a:lumMod val="50000"/>
                      </a:schemeClr>
                    </a:solidFill>
                    <a:latin typeface="Arial" panose="020B0604020202020204" pitchFamily="34" charset="0"/>
                    <a:cs typeface="Arial" panose="020B0604020202020204" pitchFamily="34" charset="0"/>
                  </a:rPr>
                  <a:t> no es igual a  </a:t>
                </a:r>
                <a:endParaRPr kumimoji="0" lang="es-NI" sz="2000" b="1" i="0" u="none" strike="noStrike" kern="1200" cap="none" spc="0" normalizeH="0" baseline="0" noProof="0" dirty="0">
                  <a:ln>
                    <a:noFill/>
                  </a:ln>
                  <a:solidFill>
                    <a:srgbClr val="FF0000"/>
                  </a:solidFill>
                  <a:uLnTx/>
                  <a:uFillTx/>
                  <a:latin typeface="Arial" panose="020B0604020202020204" pitchFamily="34" charset="0"/>
                  <a:cs typeface="Arial" panose="020B0604020202020204" pitchFamily="34" charset="0"/>
                </a:endParaRPr>
              </a:p>
            </p:txBody>
          </p:sp>
        </mc:Choice>
        <mc:Fallback xmlns="">
          <p:sp>
            <p:nvSpPr>
              <p:cNvPr id="32" name="Title 1"/>
              <p:cNvSpPr txBox="1">
                <a:spLocks noRot="1" noChangeAspect="1" noMove="1" noResize="1" noEditPoints="1" noAdjustHandles="1" noChangeArrowheads="1" noChangeShapeType="1" noTextEdit="1"/>
              </p:cNvSpPr>
              <p:nvPr/>
            </p:nvSpPr>
            <p:spPr>
              <a:xfrm>
                <a:off x="-18246" y="6440760"/>
                <a:ext cx="5423244" cy="417240"/>
              </a:xfrm>
              <a:prstGeom prst="rect">
                <a:avLst/>
              </a:prstGeom>
              <a:blipFill rotWithShape="0">
                <a:blip r:embed="rId17"/>
                <a:stretch>
                  <a:fillRect l="-1124" t="-4412" b="-25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3" name="Title 1"/>
              <p:cNvSpPr txBox="1">
                <a:spLocks/>
              </p:cNvSpPr>
              <p:nvPr/>
            </p:nvSpPr>
            <p:spPr>
              <a:xfrm>
                <a:off x="5171955" y="6379360"/>
                <a:ext cx="2433652" cy="54003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r>
                            <a:rPr lang="es-NI" sz="2000" b="1" i="1">
                              <a:solidFill>
                                <a:schemeClr val="accent3">
                                  <a:lumMod val="50000"/>
                                </a:schemeClr>
                              </a:solidFill>
                              <a:latin typeface="Cambria Math" panose="02040503050406030204" pitchFamily="18" charset="0"/>
                              <a:cs typeface="Arial" panose="020B0604020202020204" pitchFamily="34" charset="0"/>
                            </a:rPr>
                            <m:t>𝑨</m:t>
                          </m:r>
                          <m:r>
                            <m:rPr>
                              <m:nor/>
                            </m:rPr>
                            <a:rPr lang="es-NI" sz="2000" b="1" dirty="0">
                              <a:solidFill>
                                <a:schemeClr val="accent3">
                                  <a:lumMod val="50000"/>
                                </a:schemeClr>
                              </a:solidFill>
                              <a:latin typeface="Arial" panose="020B0604020202020204" pitchFamily="34" charset="0"/>
                              <a:cs typeface="Arial" panose="020B0604020202020204" pitchFamily="34" charset="0"/>
                            </a:rPr>
                            <m:t> </m:t>
                          </m:r>
                        </m:e>
                      </m:d>
                      <m: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t>+</m:t>
                      </m:r>
                      <m:d>
                        <m:dPr>
                          <m:ctrlPr>
                            <a:rPr kumimoji="0" lang="es-NI" sz="2000" b="1" i="1" u="none" strike="noStrike" kern="1200" cap="none" spc="0" normalizeH="0" baseline="0" noProof="0" dirty="0" smtClean="0">
                              <a:ln>
                                <a:noFill/>
                              </a:ln>
                              <a:solidFill>
                                <a:schemeClr val="accent3">
                                  <a:lumMod val="50000"/>
                                </a:schemeClr>
                              </a:solidFill>
                              <a:uLnTx/>
                              <a:uFillTx/>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𝑩</m:t>
                          </m:r>
                        </m:e>
                      </m:d>
                    </m:oMath>
                  </m:oMathPara>
                </a14:m>
                <a:endParaRPr kumimoji="0" lang="es-NI" sz="2000" b="1" i="0" u="none" strike="noStrike" kern="1200" cap="none" spc="0" normalizeH="0" baseline="0" noProof="0" dirty="0">
                  <a:ln>
                    <a:noFill/>
                  </a:ln>
                  <a:solidFill>
                    <a:schemeClr val="accent3">
                      <a:lumMod val="50000"/>
                    </a:schemeClr>
                  </a:solidFill>
                  <a:uLnTx/>
                  <a:uFillTx/>
                  <a:latin typeface="Arial" panose="020B0604020202020204" pitchFamily="34" charset="0"/>
                  <a:cs typeface="Arial" panose="020B0604020202020204" pitchFamily="34" charset="0"/>
                </a:endParaRPr>
              </a:p>
            </p:txBody>
          </p:sp>
        </mc:Choice>
        <mc:Fallback xmlns="">
          <p:sp>
            <p:nvSpPr>
              <p:cNvPr id="33" name="Title 1"/>
              <p:cNvSpPr txBox="1">
                <a:spLocks noRot="1" noChangeAspect="1" noMove="1" noResize="1" noEditPoints="1" noAdjustHandles="1" noChangeArrowheads="1" noChangeShapeType="1" noTextEdit="1"/>
              </p:cNvSpPr>
              <p:nvPr/>
            </p:nvSpPr>
            <p:spPr>
              <a:xfrm>
                <a:off x="5171955" y="6379360"/>
                <a:ext cx="2433652" cy="540039"/>
              </a:xfrm>
              <a:prstGeom prst="rect">
                <a:avLst/>
              </a:prstGeom>
              <a:blipFill rotWithShape="0">
                <a:blip r:embed="rId18"/>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78430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ircle(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2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2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ircle(in)">
                                      <p:cBhvr>
                                        <p:cTn id="32" dur="2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circle(in)">
                                      <p:cBhvr>
                                        <p:cTn id="37" dur="20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circle(in)">
                                      <p:cBhvr>
                                        <p:cTn id="42" dur="20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circle(in)">
                                      <p:cBhvr>
                                        <p:cTn id="47" dur="20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circle(in)">
                                      <p:cBhvr>
                                        <p:cTn id="52" dur="20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circle(in)">
                                      <p:cBhvr>
                                        <p:cTn id="57" dur="20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circle(in)">
                                      <p:cBhvr>
                                        <p:cTn id="62" dur="20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circle(in)">
                                      <p:cBhvr>
                                        <p:cTn id="67" dur="20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circle(in)">
                                      <p:cBhvr>
                                        <p:cTn id="72" dur="20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circle(in)">
                                      <p:cBhvr>
                                        <p:cTn id="77" dur="20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circle(in)">
                                      <p:cBhvr>
                                        <p:cTn id="82" dur="2000"/>
                                        <p:tgtEl>
                                          <p:spTgt spid="27"/>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circle(in)">
                                      <p:cBhvr>
                                        <p:cTn id="87" dur="20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circle(in)">
                                      <p:cBhvr>
                                        <p:cTn id="92" dur="2000"/>
                                        <p:tgtEl>
                                          <p:spTgt spid="29"/>
                                        </p:tgtEl>
                                      </p:cBhvr>
                                    </p:animEffec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grpId="0" nodeType="click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circle(in)">
                                      <p:cBhvr>
                                        <p:cTn id="97" dur="200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circle(in)">
                                      <p:cBhvr>
                                        <p:cTn id="102" dur="2000"/>
                                        <p:tgtEl>
                                          <p:spTgt spid="31"/>
                                        </p:tgtEl>
                                      </p:cBhvr>
                                    </p:animEffec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circle(in)">
                                      <p:cBhvr>
                                        <p:cTn id="107" dur="2000"/>
                                        <p:tgtEl>
                                          <p:spTgt spid="32"/>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circle(in)">
                                      <p:cBhvr>
                                        <p:cTn id="112"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P spid="12" grpId="0"/>
      <p:bldP spid="15" grpId="0"/>
      <p:bldP spid="16" grpId="0"/>
      <p:bldP spid="17" grpId="0"/>
      <p:bldP spid="18"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1120804"/>
            <a:ext cx="5344733"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cs typeface="Arial" panose="020B0604020202020204" pitchFamily="34" charset="0"/>
              </a:rPr>
              <a:t>Sea la matriz de orden 3 (</a:t>
            </a:r>
            <a:r>
              <a:rPr lang="es-MX" sz="2100" b="1" dirty="0" smtClean="0">
                <a:solidFill>
                  <a:schemeClr val="accent3">
                    <a:lumMod val="50000"/>
                  </a:schemeClr>
                </a:solidFill>
                <a:cs typeface="Arial" panose="020B0604020202020204" pitchFamily="34" charset="0"/>
              </a:rPr>
              <a:t>Método de </a:t>
            </a:r>
            <a:r>
              <a:rPr lang="es-MX" sz="2100" b="1" dirty="0" err="1" smtClean="0">
                <a:solidFill>
                  <a:schemeClr val="accent3">
                    <a:lumMod val="50000"/>
                  </a:schemeClr>
                </a:solidFill>
                <a:cs typeface="Arial" panose="020B0604020202020204" pitchFamily="34" charset="0"/>
              </a:rPr>
              <a:t>Sarrus</a:t>
            </a:r>
            <a:r>
              <a:rPr lang="es-MX" sz="2100" b="1" dirty="0" smtClean="0">
                <a:solidFill>
                  <a:srgbClr val="FF0000"/>
                </a:solidFill>
                <a:cs typeface="Arial" panose="020B0604020202020204" pitchFamily="34" charset="0"/>
              </a:rPr>
              <a:t>)</a:t>
            </a:r>
            <a:endParaRPr lang="es-NI" sz="2100" b="1" dirty="0">
              <a:solidFill>
                <a:srgbClr val="FF0000"/>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3" name="Title 1"/>
              <p:cNvSpPr txBox="1">
                <a:spLocks/>
              </p:cNvSpPr>
              <p:nvPr/>
            </p:nvSpPr>
            <p:spPr>
              <a:xfrm>
                <a:off x="3044716" y="1612751"/>
                <a:ext cx="2827385" cy="115543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𝑨</m:t>
                      </m:r>
                      <m:r>
                        <a:rPr lang="es-NI" sz="2100" b="1" i="1" smtClean="0">
                          <a:solidFill>
                            <a:srgbClr val="A5A5A5">
                              <a:lumMod val="50000"/>
                            </a:srgbClr>
                          </a:solidFill>
                          <a:latin typeface="Cambria Math" panose="02040503050406030204" pitchFamily="18" charset="0"/>
                          <a:cs typeface="Arial" panose="020B0604020202020204" pitchFamily="34" charset="0"/>
                        </a:rPr>
                        <m:t>=</m:t>
                      </m:r>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smtClean="0">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𝟏𝟐</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𝟏𝟑</m:t>
                                    </m:r>
                                  </m:sub>
                                </m:sSub>
                              </m:e>
                            </m:m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𝟐𝟐</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𝟐𝟑</m:t>
                                    </m:r>
                                  </m:sub>
                                </m:sSub>
                              </m:e>
                            </m:mr>
                            <m:mr>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𝟑𝟏</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𝟑𝟐</m:t>
                                    </m:r>
                                  </m:sub>
                                </m:sSub>
                              </m:e>
                              <m:e>
                                <m:sSub>
                                  <m:sSubPr>
                                    <m:ctrlPr>
                                      <a:rPr lang="es-NI" sz="2100" b="1" i="1" smtClean="0">
                                        <a:solidFill>
                                          <a:srgbClr val="A5A5A5">
                                            <a:lumMod val="50000"/>
                                          </a:srgbClr>
                                        </a:solidFill>
                                        <a:latin typeface="Cambria Math" panose="02040503050406030204" pitchFamily="18" charset="0"/>
                                        <a:cs typeface="Arial" panose="020B0604020202020204" pitchFamily="34" charset="0"/>
                                      </a:rPr>
                                    </m:ctrlPr>
                                  </m:sSubPr>
                                  <m:e>
                                    <m:r>
                                      <a:rPr lang="es-NI" sz="2100" b="1" i="1" smtClean="0">
                                        <a:solidFill>
                                          <a:srgbClr val="A5A5A5">
                                            <a:lumMod val="50000"/>
                                          </a:srgbClr>
                                        </a:solidFill>
                                        <a:latin typeface="Cambria Math" panose="02040503050406030204" pitchFamily="18" charset="0"/>
                                        <a:cs typeface="Arial" panose="020B0604020202020204" pitchFamily="34" charset="0"/>
                                      </a:rPr>
                                      <m:t>𝒂</m:t>
                                    </m:r>
                                  </m:e>
                                  <m:sub>
                                    <m:r>
                                      <a:rPr lang="es-NI" sz="2100" b="1" i="1" smtClean="0">
                                        <a:solidFill>
                                          <a:srgbClr val="A5A5A5">
                                            <a:lumMod val="50000"/>
                                          </a:srgbClr>
                                        </a:solidFill>
                                        <a:latin typeface="Cambria Math" panose="02040503050406030204" pitchFamily="18" charset="0"/>
                                        <a:cs typeface="Arial" panose="020B0604020202020204" pitchFamily="34" charset="0"/>
                                      </a:rPr>
                                      <m:t>𝟑𝟑</m:t>
                                    </m:r>
                                  </m:sub>
                                </m:sSub>
                              </m:e>
                            </m:mr>
                          </m:m>
                        </m:e>
                      </m:d>
                    </m:oMath>
                  </m:oMathPara>
                </a14:m>
                <a:endParaRPr lang="es-NI" sz="2100" b="1" dirty="0">
                  <a:solidFill>
                    <a:srgbClr val="A5A5A5">
                      <a:lumMod val="50000"/>
                    </a:srgbClr>
                  </a:solidFill>
                  <a:cs typeface="Arial" panose="020B0604020202020204" pitchFamily="34" charset="0"/>
                </a:endParaRPr>
              </a:p>
            </p:txBody>
          </p:sp>
        </mc:Choice>
        <mc:Fallback xmlns="">
          <p:sp>
            <p:nvSpPr>
              <p:cNvPr id="3" name="Title 1"/>
              <p:cNvSpPr txBox="1">
                <a:spLocks noRot="1" noChangeAspect="1" noMove="1" noResize="1" noEditPoints="1" noAdjustHandles="1" noChangeArrowheads="1" noChangeShapeType="1" noTextEdit="1"/>
              </p:cNvSpPr>
              <p:nvPr/>
            </p:nvSpPr>
            <p:spPr>
              <a:xfrm>
                <a:off x="3044716" y="1612751"/>
                <a:ext cx="2827385" cy="1155434"/>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Title 1"/>
              <p:cNvSpPr txBox="1">
                <a:spLocks/>
              </p:cNvSpPr>
              <p:nvPr/>
            </p:nvSpPr>
            <p:spPr>
              <a:xfrm>
                <a:off x="1" y="2674614"/>
                <a:ext cx="12191999" cy="10031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100" b="1" dirty="0" smtClean="0">
                    <a:solidFill>
                      <a:srgbClr val="A5A5A5">
                        <a:lumMod val="50000"/>
                      </a:srgbClr>
                    </a:solidFill>
                    <a:cs typeface="Arial" panose="020B0604020202020204" pitchFamily="34" charset="0"/>
                  </a:rPr>
                  <a:t>Se escribe el determinante de </a:t>
                </a:r>
                <a14:m>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𝟑</m:t>
                    </m:r>
                    <m:r>
                      <a:rPr lang="es-NI" sz="2100" b="1" i="1" smtClean="0">
                        <a:solidFill>
                          <a:srgbClr val="A5A5A5">
                            <a:lumMod val="50000"/>
                          </a:srgbClr>
                        </a:solidFill>
                        <a:latin typeface="Cambria Math" panose="02040503050406030204" pitchFamily="18" charset="0"/>
                        <a:cs typeface="Arial" panose="020B0604020202020204" pitchFamily="34" charset="0"/>
                      </a:rPr>
                      <m:t>𝒙</m:t>
                    </m:r>
                    <m:r>
                      <a:rPr lang="es-NI" sz="2100" b="1" i="1" smtClean="0">
                        <a:solidFill>
                          <a:srgbClr val="A5A5A5">
                            <a:lumMod val="50000"/>
                          </a:srgbClr>
                        </a:solidFill>
                        <a:latin typeface="Cambria Math" panose="02040503050406030204" pitchFamily="18" charset="0"/>
                        <a:cs typeface="Arial" panose="020B0604020202020204" pitchFamily="34" charset="0"/>
                      </a:rPr>
                      <m:t>𝟑</m:t>
                    </m:r>
                  </m:oMath>
                </a14:m>
                <a:r>
                  <a:rPr lang="es-NI" sz="2100" b="1" dirty="0" smtClean="0">
                    <a:solidFill>
                      <a:srgbClr val="A5A5A5">
                        <a:lumMod val="50000"/>
                      </a:srgbClr>
                    </a:solidFill>
                    <a:cs typeface="Arial" panose="020B0604020202020204" pitchFamily="34" charset="0"/>
                  </a:rPr>
                  <a:t>, para resolverlo se repiten los dos primeros renglones y se multiplican las entradas en diagonal como se indica:</a:t>
                </a:r>
                <a:endParaRPr lang="es-NI" sz="2100" b="1" dirty="0">
                  <a:solidFill>
                    <a:srgbClr val="A5A5A5">
                      <a:lumMod val="50000"/>
                    </a:srgbClr>
                  </a:solidFill>
                  <a:cs typeface="Arial" panose="020B0604020202020204" pitchFamily="34" charset="0"/>
                </a:endParaRPr>
              </a:p>
            </p:txBody>
          </p:sp>
        </mc:Choice>
        <mc:Fallback xmlns="">
          <p:sp>
            <p:nvSpPr>
              <p:cNvPr id="4" name="Title 1"/>
              <p:cNvSpPr txBox="1">
                <a:spLocks noRot="1" noChangeAspect="1" noMove="1" noResize="1" noEditPoints="1" noAdjustHandles="1" noChangeArrowheads="1" noChangeShapeType="1" noTextEdit="1"/>
              </p:cNvSpPr>
              <p:nvPr/>
            </p:nvSpPr>
            <p:spPr>
              <a:xfrm>
                <a:off x="1" y="2674614"/>
                <a:ext cx="12191999" cy="1003152"/>
              </a:xfrm>
              <a:prstGeom prst="rect">
                <a:avLst/>
              </a:prstGeom>
              <a:blipFill rotWithShape="0">
                <a:blip r:embed="rId3"/>
                <a:stretch>
                  <a:fillRect l="-600" r="-6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Title 1"/>
              <p:cNvSpPr txBox="1">
                <a:spLocks/>
              </p:cNvSpPr>
              <p:nvPr/>
            </p:nvSpPr>
            <p:spPr>
              <a:xfrm>
                <a:off x="1007313" y="3797865"/>
                <a:ext cx="3339672" cy="101315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𝒅𝒆𝒕</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𝑨</m:t>
                          </m:r>
                        </m:e>
                      </m:d>
                      <m:d>
                        <m:dPr>
                          <m:begChr m:val="["/>
                          <m:endChr m:val="]"/>
                          <m:ctrlPr>
                            <a:rPr lang="es-NI" sz="2100" b="1" i="1">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𝟏𝟐</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𝟏𝟑</m:t>
                                    </m:r>
                                  </m:sub>
                                </m:sSub>
                              </m:e>
                            </m:mr>
                            <m:mr>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𝟐𝟐</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𝟐𝟑</m:t>
                                    </m:r>
                                  </m:sub>
                                </m:sSub>
                              </m:e>
                            </m:mr>
                            <m:mr>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𝟑𝟏</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𝟑𝟐</m:t>
                                    </m:r>
                                  </m:sub>
                                </m:sSub>
                              </m:e>
                              <m:e>
                                <m:sSub>
                                  <m:sSubPr>
                                    <m:ctrlPr>
                                      <a:rPr lang="es-NI" sz="2100" b="1" i="1">
                                        <a:solidFill>
                                          <a:srgbClr val="A5A5A5">
                                            <a:lumMod val="50000"/>
                                          </a:srgbClr>
                                        </a:solidFill>
                                        <a:latin typeface="Cambria Math" panose="02040503050406030204" pitchFamily="18" charset="0"/>
                                        <a:cs typeface="Arial" panose="020B0604020202020204" pitchFamily="34" charset="0"/>
                                      </a:rPr>
                                    </m:ctrlPr>
                                  </m:sSubPr>
                                  <m:e>
                                    <m:r>
                                      <a:rPr lang="es-NI" sz="2100" b="1" i="1">
                                        <a:solidFill>
                                          <a:srgbClr val="A5A5A5">
                                            <a:lumMod val="50000"/>
                                          </a:srgbClr>
                                        </a:solidFill>
                                        <a:latin typeface="Cambria Math" panose="02040503050406030204" pitchFamily="18" charset="0"/>
                                        <a:cs typeface="Arial" panose="020B0604020202020204" pitchFamily="34" charset="0"/>
                                      </a:rPr>
                                      <m:t>𝒂</m:t>
                                    </m:r>
                                  </m:e>
                                  <m:sub>
                                    <m:r>
                                      <a:rPr lang="es-NI" sz="2100" b="1" i="1">
                                        <a:solidFill>
                                          <a:srgbClr val="A5A5A5">
                                            <a:lumMod val="50000"/>
                                          </a:srgbClr>
                                        </a:solidFill>
                                        <a:latin typeface="Cambria Math" panose="02040503050406030204" pitchFamily="18" charset="0"/>
                                        <a:cs typeface="Arial" panose="020B0604020202020204" pitchFamily="34" charset="0"/>
                                      </a:rPr>
                                      <m:t>𝟑𝟑</m:t>
                                    </m:r>
                                  </m:sub>
                                </m:sSub>
                              </m:e>
                            </m:mr>
                          </m:m>
                        </m:e>
                      </m:d>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5" name="Title 1"/>
              <p:cNvSpPr txBox="1">
                <a:spLocks noRot="1" noChangeAspect="1" noMove="1" noResize="1" noEditPoints="1" noAdjustHandles="1" noChangeArrowheads="1" noChangeShapeType="1" noTextEdit="1"/>
              </p:cNvSpPr>
              <p:nvPr/>
            </p:nvSpPr>
            <p:spPr>
              <a:xfrm>
                <a:off x="1007313" y="3797865"/>
                <a:ext cx="3339672" cy="1013158"/>
              </a:xfrm>
              <a:prstGeom prst="rect">
                <a:avLst/>
              </a:prstGeom>
              <a:blipFill rotWithShape="0">
                <a:blip r:embed="rId4"/>
                <a:stretch>
                  <a:fillRect/>
                </a:stretch>
              </a:blipFill>
            </p:spPr>
            <p:txBody>
              <a:bodyPr/>
              <a:lstStyle/>
              <a:p>
                <a:r>
                  <a:rPr lang="es-MX">
                    <a:noFill/>
                  </a:rPr>
                  <a:t> </a:t>
                </a:r>
              </a:p>
            </p:txBody>
          </p:sp>
        </mc:Fallback>
      </mc:AlternateContent>
      <p:cxnSp>
        <p:nvCxnSpPr>
          <p:cNvPr id="6" name="Conector recto de flecha 5"/>
          <p:cNvCxnSpPr/>
          <p:nvPr/>
        </p:nvCxnSpPr>
        <p:spPr>
          <a:xfrm flipV="1">
            <a:off x="4467980" y="3537423"/>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7" name="Conector recto de flecha 6"/>
          <p:cNvCxnSpPr/>
          <p:nvPr/>
        </p:nvCxnSpPr>
        <p:spPr>
          <a:xfrm>
            <a:off x="4511417" y="3725500"/>
            <a:ext cx="1916297" cy="787805"/>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8" name="Rectángulo 7"/>
              <p:cNvSpPr/>
              <p:nvPr/>
            </p:nvSpPr>
            <p:spPr>
              <a:xfrm>
                <a:off x="6336475" y="3613708"/>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8" name="Rectángulo 7"/>
              <p:cNvSpPr>
                <a:spLocks noRot="1" noChangeAspect="1" noMove="1" noResize="1" noEditPoints="1" noAdjustHandles="1" noChangeArrowheads="1" noChangeShapeType="1" noTextEdit="1"/>
              </p:cNvSpPr>
              <p:nvPr/>
            </p:nvSpPr>
            <p:spPr>
              <a:xfrm>
                <a:off x="6336475" y="3613708"/>
                <a:ext cx="602281" cy="369332"/>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6342790" y="4303576"/>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9" name="Rectángulo 8"/>
              <p:cNvSpPr>
                <a:spLocks noRot="1" noChangeAspect="1" noMove="1" noResize="1" noEditPoints="1" noAdjustHandles="1" noChangeArrowheads="1" noChangeShapeType="1" noTextEdit="1"/>
              </p:cNvSpPr>
              <p:nvPr/>
            </p:nvSpPr>
            <p:spPr>
              <a:xfrm>
                <a:off x="6342790" y="4303576"/>
                <a:ext cx="602281" cy="369332"/>
              </a:xfrm>
              <a:prstGeom prst="rect">
                <a:avLst/>
              </a:prstGeom>
              <a:blipFill rotWithShape="0">
                <a:blip r:embed="rId6"/>
                <a:stretch>
                  <a:fillRect/>
                </a:stretch>
              </a:blipFill>
            </p:spPr>
            <p:txBody>
              <a:bodyPr/>
              <a:lstStyle/>
              <a:p>
                <a:r>
                  <a:rPr lang="es-MX">
                    <a:noFill/>
                  </a:rPr>
                  <a:t> </a:t>
                </a:r>
              </a:p>
            </p:txBody>
          </p:sp>
        </mc:Fallback>
      </mc:AlternateContent>
      <p:sp>
        <p:nvSpPr>
          <p:cNvPr id="10" name="Title 1"/>
          <p:cNvSpPr txBox="1">
            <a:spLocks/>
          </p:cNvSpPr>
          <p:nvPr/>
        </p:nvSpPr>
        <p:spPr>
          <a:xfrm>
            <a:off x="-1" y="5297542"/>
            <a:ext cx="3964635"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100" b="1" dirty="0" smtClean="0">
                <a:solidFill>
                  <a:srgbClr val="A5A5A5">
                    <a:lumMod val="50000"/>
                  </a:srgbClr>
                </a:solidFill>
                <a:cs typeface="Arial" panose="020B0604020202020204" pitchFamily="34" charset="0"/>
              </a:rPr>
              <a:t>Por tanto, el determinante es:  </a:t>
            </a:r>
            <a:endParaRPr lang="es-NI" sz="2100" b="1" dirty="0">
              <a:solidFill>
                <a:srgbClr val="A5A5A5">
                  <a:lumMod val="50000"/>
                </a:srgbClr>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11" name="Title 1"/>
              <p:cNvSpPr txBox="1">
                <a:spLocks/>
              </p:cNvSpPr>
              <p:nvPr/>
            </p:nvSpPr>
            <p:spPr>
              <a:xfrm>
                <a:off x="0" y="5922555"/>
                <a:ext cx="1276207" cy="3241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1800" b="1" i="1" smtClean="0">
                          <a:solidFill>
                            <a:srgbClr val="A5A5A5">
                              <a:lumMod val="50000"/>
                            </a:srgbClr>
                          </a:solidFill>
                          <a:latin typeface="Cambria Math" panose="02040503050406030204" pitchFamily="18" charset="0"/>
                          <a:cs typeface="Arial" panose="020B0604020202020204" pitchFamily="34" charset="0"/>
                        </a:rPr>
                        <m:t>𝒅𝒆𝒕𝑨</m:t>
                      </m:r>
                      <m:r>
                        <a:rPr lang="es-NI" sz="18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1800" b="1" dirty="0">
                  <a:solidFill>
                    <a:srgbClr val="A5A5A5">
                      <a:lumMod val="50000"/>
                    </a:srgbClr>
                  </a:solidFill>
                  <a:cs typeface="Arial" panose="020B0604020202020204" pitchFamily="34" charset="0"/>
                </a:endParaRPr>
              </a:p>
            </p:txBody>
          </p:sp>
        </mc:Choice>
        <mc:Fallback xmlns="">
          <p:sp>
            <p:nvSpPr>
              <p:cNvPr id="11" name="Title 1"/>
              <p:cNvSpPr txBox="1">
                <a:spLocks noRot="1" noChangeAspect="1" noMove="1" noResize="1" noEditPoints="1" noAdjustHandles="1" noChangeArrowheads="1" noChangeShapeType="1" noTextEdit="1"/>
              </p:cNvSpPr>
              <p:nvPr/>
            </p:nvSpPr>
            <p:spPr>
              <a:xfrm>
                <a:off x="0" y="5922555"/>
                <a:ext cx="1276207" cy="324184"/>
              </a:xfrm>
              <a:prstGeom prst="rect">
                <a:avLst/>
              </a:prstGeom>
              <a:blipFill rotWithShape="0">
                <a:blip r:embed="rId7"/>
                <a:stretch>
                  <a:fillRect b="-18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Title 1"/>
              <p:cNvSpPr txBox="1">
                <a:spLocks/>
              </p:cNvSpPr>
              <p:nvPr/>
            </p:nvSpPr>
            <p:spPr>
              <a:xfrm>
                <a:off x="1007313" y="5852962"/>
                <a:ext cx="5110152"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d>
                        <m:dPr>
                          <m:ctrlPr>
                            <a:rPr lang="es-NI" sz="1800" b="1" i="1" smtClean="0">
                              <a:solidFill>
                                <a:srgbClr val="A5A5A5">
                                  <a:lumMod val="50000"/>
                                </a:srgbClr>
                              </a:solidFill>
                              <a:latin typeface="Cambria Math" panose="02040503050406030204" pitchFamily="18" charset="0"/>
                              <a:cs typeface="Arial" panose="020B0604020202020204" pitchFamily="34" charset="0"/>
                            </a:rPr>
                          </m:ctrlPr>
                        </m:dPr>
                        <m:e>
                          <m:sSub>
                            <m:sSubPr>
                              <m:ctrlPr>
                                <a:rPr lang="es-NI" sz="1800" b="1" i="1" smtClean="0">
                                  <a:solidFill>
                                    <a:srgbClr val="A5A5A5">
                                      <a:lumMod val="50000"/>
                                    </a:srgbClr>
                                  </a:solidFill>
                                  <a:latin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𝟏𝟏</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𝟐𝟐</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𝟑𝟑</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𝟐</m:t>
                              </m:r>
                              <m:r>
                                <a:rPr lang="es-NI" sz="1800" b="1" i="1">
                                  <a:solidFill>
                                    <a:srgbClr val="A5A5A5">
                                      <a:lumMod val="50000"/>
                                    </a:srgbClr>
                                  </a:solidFill>
                                  <a:latin typeface="Cambria Math" panose="02040503050406030204" pitchFamily="18" charset="0"/>
                                  <a:cs typeface="Arial" panose="020B0604020202020204" pitchFamily="34" charset="0"/>
                                </a:rPr>
                                <m:t>𝟏</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𝟏</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𝟑</m:t>
                              </m:r>
                              <m:r>
                                <a:rPr lang="es-NI" sz="1800" b="1" i="1">
                                  <a:solidFill>
                                    <a:srgbClr val="A5A5A5">
                                      <a:lumMod val="50000"/>
                                    </a:srgbClr>
                                  </a:solidFill>
                                  <a:latin typeface="Cambria Math" panose="02040503050406030204" pitchFamily="18" charset="0"/>
                                  <a:cs typeface="Arial" panose="020B0604020202020204" pitchFamily="34" charset="0"/>
                                </a:rPr>
                                <m:t>𝟏</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𝟏</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sub>
                          </m:sSub>
                        </m:e>
                      </m:d>
                    </m:oMath>
                  </m:oMathPara>
                </a14:m>
                <a:endParaRPr lang="es-NI" sz="1800" b="1" dirty="0">
                  <a:solidFill>
                    <a:srgbClr val="A5A5A5">
                      <a:lumMod val="50000"/>
                    </a:srgbClr>
                  </a:solidFill>
                  <a:cs typeface="Arial" panose="020B0604020202020204" pitchFamily="34" charset="0"/>
                </a:endParaRPr>
              </a:p>
            </p:txBody>
          </p:sp>
        </mc:Choice>
        <mc:Fallback xmlns="">
          <p:sp>
            <p:nvSpPr>
              <p:cNvPr id="12" name="Title 1"/>
              <p:cNvSpPr txBox="1">
                <a:spLocks noRot="1" noChangeAspect="1" noMove="1" noResize="1" noEditPoints="1" noAdjustHandles="1" noChangeArrowheads="1" noChangeShapeType="1" noTextEdit="1"/>
              </p:cNvSpPr>
              <p:nvPr/>
            </p:nvSpPr>
            <p:spPr>
              <a:xfrm>
                <a:off x="1007313" y="5852962"/>
                <a:ext cx="5110152" cy="391357"/>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4131724" y="3559687"/>
                <a:ext cx="2220800" cy="1542858"/>
              </a:xfrm>
              <a:prstGeom prst="rect">
                <a:avLst/>
              </a:prstGeom>
            </p:spPr>
            <p:txBody>
              <a:bodyPr wrap="none">
                <a:spAutoFit/>
              </a:bodyPr>
              <a:lstStyle/>
              <a:p>
                <a:pPr algn="just" defTabSz="457200">
                  <a:buClrTx/>
                  <a:buFontTx/>
                  <a:buNone/>
                  <a:defRPr/>
                </a:pPr>
                <a14:m>
                  <m:oMathPara xmlns:m="http://schemas.openxmlformats.org/officeDocument/2006/math">
                    <m:oMathParaPr>
                      <m:jc m:val="centerGroup"/>
                    </m:oMathParaPr>
                    <m:oMath xmlns:m="http://schemas.openxmlformats.org/officeDocument/2006/math">
                      <m:d>
                        <m:dPr>
                          <m:begChr m:val="|"/>
                          <m:endChr m:val="|"/>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mPr>
                            <m:mr>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m:t>
                                    </m:r>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m:t>
                                    </m:r>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sub>
                                </m:sSub>
                              </m:e>
                            </m:mr>
                            <m:mr>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r>
                                      <a:rPr lang="es-NI" sz="2100" b="1" i="1" kern="1200">
                                        <a:solidFill>
                                          <a:srgbClr val="A5A5A5">
                                            <a:lumMod val="50000"/>
                                          </a:srgbClr>
                                        </a:solidFill>
                                        <a:latin typeface="Cambria Math" panose="02040503050406030204" pitchFamily="18" charset="0"/>
                                        <a:cs typeface="Arial" panose="020B0604020202020204" pitchFamily="34" charset="0"/>
                                      </a:rPr>
                                      <m:t>𝟏</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𝟐𝟐</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𝟐𝟑</m:t>
                                    </m:r>
                                  </m:sub>
                                </m:sSub>
                              </m:e>
                            </m:mr>
                            <m:mr>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r>
                                          <a:rPr lang="es-NI" sz="2100" b="1" i="1" kern="1200">
                                            <a:solidFill>
                                              <a:srgbClr val="A5A5A5">
                                                <a:lumMod val="50000"/>
                                              </a:srgbClr>
                                            </a:solidFill>
                                            <a:latin typeface="Cambria Math" panose="02040503050406030204" pitchFamily="18" charset="0"/>
                                            <a:cs typeface="Arial" panose="020B0604020202020204" pitchFamily="34" charset="0"/>
                                          </a:rPr>
                                          <m:t>𝟏</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r>
                                          <a:rPr lang="es-NI" sz="2100" b="1" i="1" kern="1200">
                                            <a:solidFill>
                                              <a:srgbClr val="A5A5A5">
                                                <a:lumMod val="50000"/>
                                              </a:srgbClr>
                                            </a:solidFill>
                                            <a:latin typeface="Cambria Math" panose="02040503050406030204" pitchFamily="18" charset="0"/>
                                            <a:cs typeface="Arial" panose="020B0604020202020204" pitchFamily="34" charset="0"/>
                                          </a:rPr>
                                          <m:t>𝟏</m:t>
                                        </m:r>
                                      </m:sub>
                                    </m:sSub>
                                  </m:e>
                                </m:eqArr>
                              </m:e>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𝟑𝟐</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m:t>
                                        </m:r>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𝟐𝟐</m:t>
                                        </m:r>
                                      </m:sub>
                                    </m:sSub>
                                  </m:e>
                                </m:eqArr>
                              </m:e>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𝟑𝟑</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a:solidFill>
                                              <a:srgbClr val="A5A5A5">
                                                <a:lumMod val="50000"/>
                                              </a:srgbClr>
                                            </a:solidFill>
                                            <a:latin typeface="Cambria Math" panose="02040503050406030204" pitchFamily="18" charset="0"/>
                                            <a:cs typeface="Arial" panose="020B0604020202020204" pitchFamily="34" charset="0"/>
                                          </a:rPr>
                                          <m:t>𝟏</m:t>
                                        </m:r>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sub>
                                    </m:sSub>
                                  </m:e>
                                  <m:e>
                                    <m:sSub>
                                      <m:sSubPr>
                                        <m:ctrlPr>
                                          <a:rPr lang="es-NI" sz="2100" b="1" i="1" kern="1200">
                                            <a:solidFill>
                                              <a:srgbClr val="A5A5A5">
                                                <a:lumMod val="50000"/>
                                              </a:srgbClr>
                                            </a:solidFill>
                                            <a:latin typeface="Cambria Math" panose="02040503050406030204" pitchFamily="18" charset="0"/>
                                            <a:cs typeface="Arial" panose="020B0604020202020204" pitchFamily="34" charset="0"/>
                                          </a:rPr>
                                        </m:ctrlPr>
                                      </m:sSubPr>
                                      <m:e>
                                        <m:r>
                                          <a:rPr lang="es-NI" sz="2100" b="1" i="1" kern="1200">
                                            <a:solidFill>
                                              <a:srgbClr val="A5A5A5">
                                                <a:lumMod val="50000"/>
                                              </a:srgbClr>
                                            </a:solidFill>
                                            <a:latin typeface="Cambria Math" panose="02040503050406030204" pitchFamily="18" charset="0"/>
                                            <a:cs typeface="Arial" panose="020B0604020202020204" pitchFamily="34" charset="0"/>
                                          </a:rPr>
                                          <m:t>𝒂</m:t>
                                        </m:r>
                                      </m:e>
                                      <m:sub>
                                        <m:r>
                                          <a:rPr lang="es-NI" sz="2100" b="1" i="1" kern="1200" smtClean="0">
                                            <a:solidFill>
                                              <a:srgbClr val="A5A5A5">
                                                <a:lumMod val="50000"/>
                                              </a:srgbClr>
                                            </a:solidFill>
                                            <a:latin typeface="Cambria Math" panose="02040503050406030204" pitchFamily="18" charset="0"/>
                                            <a:cs typeface="Arial" panose="020B0604020202020204" pitchFamily="34" charset="0"/>
                                          </a:rPr>
                                          <m:t>𝟐𝟑</m:t>
                                        </m:r>
                                      </m:sub>
                                    </m:sSub>
                                  </m:e>
                                </m:eqArr>
                              </m:e>
                            </m:mr>
                          </m:m>
                        </m:e>
                      </m:d>
                    </m:oMath>
                  </m:oMathPara>
                </a14:m>
                <a:endParaRPr lang="es-NI" sz="2100" b="1" kern="1200"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3" name="Rectángulo 12"/>
              <p:cNvSpPr>
                <a:spLocks noRot="1" noChangeAspect="1" noMove="1" noResize="1" noEditPoints="1" noAdjustHandles="1" noChangeArrowheads="1" noChangeShapeType="1" noTextEdit="1"/>
              </p:cNvSpPr>
              <p:nvPr/>
            </p:nvSpPr>
            <p:spPr>
              <a:xfrm>
                <a:off x="4131724" y="3559687"/>
                <a:ext cx="2220800" cy="1542858"/>
              </a:xfrm>
              <a:prstGeom prst="rect">
                <a:avLst/>
              </a:prstGeom>
              <a:blipFill rotWithShape="0">
                <a:blip r:embed="rId9"/>
                <a:stretch>
                  <a:fillRect/>
                </a:stretch>
              </a:blipFill>
            </p:spPr>
            <p:txBody>
              <a:bodyPr/>
              <a:lstStyle/>
              <a:p>
                <a:r>
                  <a:rPr lang="es-MX">
                    <a:noFill/>
                  </a:rPr>
                  <a:t> </a:t>
                </a:r>
              </a:p>
            </p:txBody>
          </p:sp>
        </mc:Fallback>
      </mc:AlternateContent>
      <p:cxnSp>
        <p:nvCxnSpPr>
          <p:cNvPr id="14" name="Conector recto de flecha 13"/>
          <p:cNvCxnSpPr/>
          <p:nvPr/>
        </p:nvCxnSpPr>
        <p:spPr>
          <a:xfrm flipV="1">
            <a:off x="4467980" y="3897826"/>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15" name="Conector recto de flecha 14"/>
          <p:cNvCxnSpPr/>
          <p:nvPr/>
        </p:nvCxnSpPr>
        <p:spPr>
          <a:xfrm flipV="1">
            <a:off x="4500790" y="4204919"/>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16" name="Conector recto de flecha 15"/>
          <p:cNvCxnSpPr/>
          <p:nvPr/>
        </p:nvCxnSpPr>
        <p:spPr>
          <a:xfrm>
            <a:off x="4458409" y="4032593"/>
            <a:ext cx="1916297" cy="787805"/>
          </a:xfrm>
          <a:prstGeom prst="straightConnector1">
            <a:avLst/>
          </a:prstGeom>
          <a:noFill/>
          <a:ln w="28575" cap="flat" cmpd="sng" algn="ctr">
            <a:solidFill>
              <a:sysClr val="windowText" lastClr="000000"/>
            </a:solidFill>
            <a:prstDash val="solid"/>
            <a:miter lim="800000"/>
            <a:tailEnd type="triangle"/>
          </a:ln>
          <a:effectLst/>
        </p:spPr>
      </p:cxnSp>
      <p:cxnSp>
        <p:nvCxnSpPr>
          <p:cNvPr id="17" name="Conector recto de flecha 16"/>
          <p:cNvCxnSpPr/>
          <p:nvPr/>
        </p:nvCxnSpPr>
        <p:spPr>
          <a:xfrm>
            <a:off x="4436227" y="4291728"/>
            <a:ext cx="1916297" cy="787805"/>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18" name="Rectángulo 17"/>
              <p:cNvSpPr/>
              <p:nvPr/>
            </p:nvSpPr>
            <p:spPr>
              <a:xfrm>
                <a:off x="6352524" y="4636714"/>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8" name="Rectángulo 17"/>
              <p:cNvSpPr>
                <a:spLocks noRot="1" noChangeAspect="1" noMove="1" noResize="1" noEditPoints="1" noAdjustHandles="1" noChangeArrowheads="1" noChangeShapeType="1" noTextEdit="1"/>
              </p:cNvSpPr>
              <p:nvPr/>
            </p:nvSpPr>
            <p:spPr>
              <a:xfrm>
                <a:off x="6352524" y="4636714"/>
                <a:ext cx="602281" cy="369332"/>
              </a:xfrm>
              <a:prstGeom prst="rect">
                <a:avLst/>
              </a:prstGeom>
              <a:blipFill rotWithShape="0">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6367621" y="4985683"/>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9" name="Rectángulo 18"/>
              <p:cNvSpPr>
                <a:spLocks noRot="1" noChangeAspect="1" noMove="1" noResize="1" noEditPoints="1" noAdjustHandles="1" noChangeArrowheads="1" noChangeShapeType="1" noTextEdit="1"/>
              </p:cNvSpPr>
              <p:nvPr/>
            </p:nvSpPr>
            <p:spPr>
              <a:xfrm>
                <a:off x="6367621" y="4985683"/>
                <a:ext cx="602281" cy="369332"/>
              </a:xfrm>
              <a:prstGeom prst="rect">
                <a:avLst/>
              </a:prstGeom>
              <a:blipFill rotWithShape="0">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6320426" y="3300424"/>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20" name="Rectángulo 19"/>
              <p:cNvSpPr>
                <a:spLocks noRot="1" noChangeAspect="1" noMove="1" noResize="1" noEditPoints="1" noAdjustHandles="1" noChangeArrowheads="1" noChangeShapeType="1" noTextEdit="1"/>
              </p:cNvSpPr>
              <p:nvPr/>
            </p:nvSpPr>
            <p:spPr>
              <a:xfrm>
                <a:off x="6320426" y="3300424"/>
                <a:ext cx="602281" cy="369332"/>
              </a:xfrm>
              <a:prstGeom prst="rect">
                <a:avLst/>
              </a:prstGeom>
              <a:blipFill rotWithShape="0">
                <a:blip r:embed="rId1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6344500" y="3934244"/>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21" name="Rectángulo 20"/>
              <p:cNvSpPr>
                <a:spLocks noRot="1" noChangeAspect="1" noMove="1" noResize="1" noEditPoints="1" noAdjustHandles="1" noChangeArrowheads="1" noChangeShapeType="1" noTextEdit="1"/>
              </p:cNvSpPr>
              <p:nvPr/>
            </p:nvSpPr>
            <p:spPr>
              <a:xfrm>
                <a:off x="6344500" y="3934244"/>
                <a:ext cx="602281" cy="369332"/>
              </a:xfrm>
              <a:prstGeom prst="rect">
                <a:avLst/>
              </a:prstGeom>
              <a:blipFill rotWithShape="0">
                <a:blip r:embed="rId1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5964017" y="5894047"/>
                <a:ext cx="410689"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r>
                        <a:rPr lang="es-NI" b="1" i="1" kern="1200">
                          <a:solidFill>
                            <a:srgbClr val="FF0000"/>
                          </a:solidFill>
                          <a:latin typeface="Cambria Math" panose="02040503050406030204" pitchFamily="18" charset="0"/>
                          <a:cs typeface="Arial" panose="020B0604020202020204" pitchFamily="34" charset="0"/>
                        </a:rPr>
                        <m:t>−</m:t>
                      </m:r>
                    </m:oMath>
                  </m:oMathPara>
                </a14:m>
                <a:endParaRPr lang="es-MX" kern="1200" dirty="0">
                  <a:solidFill>
                    <a:prstClr val="black"/>
                  </a:solidFill>
                  <a:latin typeface="Calibri" panose="020F0502020204030204"/>
                </a:endParaRPr>
              </a:p>
            </p:txBody>
          </p:sp>
        </mc:Choice>
        <mc:Fallback xmlns="">
          <p:sp>
            <p:nvSpPr>
              <p:cNvPr id="22" name="Rectángulo 21"/>
              <p:cNvSpPr>
                <a:spLocks noRot="1" noChangeAspect="1" noMove="1" noResize="1" noEditPoints="1" noAdjustHandles="1" noChangeArrowheads="1" noChangeShapeType="1" noTextEdit="1"/>
              </p:cNvSpPr>
              <p:nvPr/>
            </p:nvSpPr>
            <p:spPr>
              <a:xfrm>
                <a:off x="5964017" y="5894047"/>
                <a:ext cx="410689" cy="369332"/>
              </a:xfrm>
              <a:prstGeom prst="rect">
                <a:avLst/>
              </a:prstGeom>
              <a:blipFill rotWithShape="0">
                <a:blip r:embed="rId1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Title 1"/>
              <p:cNvSpPr txBox="1">
                <a:spLocks/>
              </p:cNvSpPr>
              <p:nvPr/>
            </p:nvSpPr>
            <p:spPr>
              <a:xfrm>
                <a:off x="6232911" y="5852961"/>
                <a:ext cx="5098499"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d>
                        <m:dPr>
                          <m:ctrlPr>
                            <a:rPr lang="es-NI" sz="1800" b="1" i="1" smtClean="0">
                              <a:solidFill>
                                <a:srgbClr val="A5A5A5">
                                  <a:lumMod val="50000"/>
                                </a:srgbClr>
                              </a:solidFill>
                              <a:latin typeface="Cambria Math" panose="02040503050406030204" pitchFamily="18" charset="0"/>
                              <a:cs typeface="Arial" panose="020B0604020202020204" pitchFamily="34" charset="0"/>
                            </a:rPr>
                          </m:ctrlPr>
                        </m:dPr>
                        <m:e>
                          <m:sSub>
                            <m:sSubPr>
                              <m:ctrlPr>
                                <a:rPr lang="es-NI" sz="1800" b="1" i="1" smtClean="0">
                                  <a:solidFill>
                                    <a:srgbClr val="A5A5A5">
                                      <a:lumMod val="50000"/>
                                    </a:srgbClr>
                                  </a:solidFill>
                                  <a:latin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𝟑𝟏</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𝟐𝟐</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𝟏𝟑</m:t>
                              </m:r>
                            </m:sub>
                          </m:s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𝟏</m:t>
                              </m:r>
                              <m:r>
                                <a:rPr lang="es-NI" sz="1800" b="1" i="1">
                                  <a:solidFill>
                                    <a:srgbClr val="A5A5A5">
                                      <a:lumMod val="50000"/>
                                    </a:srgbClr>
                                  </a:solidFill>
                                  <a:latin typeface="Cambria Math" panose="02040503050406030204" pitchFamily="18" charset="0"/>
                                  <a:cs typeface="Arial" panose="020B0604020202020204" pitchFamily="34" charset="0"/>
                                </a:rPr>
                                <m:t>𝟏</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cs typeface="Arial" panose="020B0604020202020204" pitchFamily="34" charset="0"/>
                                </a:rPr>
                                <m:t>𝟐</m:t>
                              </m:r>
                              <m:r>
                                <a:rPr lang="es-NI" sz="1800" b="1" i="1">
                                  <a:solidFill>
                                    <a:srgbClr val="A5A5A5">
                                      <a:lumMod val="50000"/>
                                    </a:srgbClr>
                                  </a:solidFill>
                                  <a:latin typeface="Cambria Math" panose="02040503050406030204" pitchFamily="18" charset="0"/>
                                  <a:cs typeface="Arial" panose="020B0604020202020204" pitchFamily="34" charset="0"/>
                                </a:rPr>
                                <m:t>𝟏</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𝟏</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sub>
                          </m:sSub>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ctrlPr>
                            </m:sSubPr>
                            <m:e>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18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r>
                                <a:rPr lang="es-NI" sz="1800" b="1" i="1">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𝟑</m:t>
                              </m:r>
                            </m:sub>
                          </m:sSub>
                        </m:e>
                      </m:d>
                    </m:oMath>
                  </m:oMathPara>
                </a14:m>
                <a:endParaRPr lang="es-NI" sz="1800" b="1" dirty="0">
                  <a:solidFill>
                    <a:srgbClr val="A5A5A5">
                      <a:lumMod val="50000"/>
                    </a:srgbClr>
                  </a:solidFill>
                  <a:cs typeface="Arial" panose="020B0604020202020204" pitchFamily="34" charset="0"/>
                </a:endParaRPr>
              </a:p>
            </p:txBody>
          </p:sp>
        </mc:Choice>
        <mc:Fallback xmlns="">
          <p:sp>
            <p:nvSpPr>
              <p:cNvPr id="23" name="Title 1"/>
              <p:cNvSpPr txBox="1">
                <a:spLocks noRot="1" noChangeAspect="1" noMove="1" noResize="1" noEditPoints="1" noAdjustHandles="1" noChangeArrowheads="1" noChangeShapeType="1" noTextEdit="1"/>
              </p:cNvSpPr>
              <p:nvPr/>
            </p:nvSpPr>
            <p:spPr>
              <a:xfrm>
                <a:off x="6232911" y="5852961"/>
                <a:ext cx="5098499" cy="391357"/>
              </a:xfrm>
              <a:prstGeom prst="rect">
                <a:avLst/>
              </a:prstGeom>
              <a:blipFill rotWithShape="0">
                <a:blip r:embed="rId1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96414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circle(in)">
                                      <p:cBhvr>
                                        <p:cTn id="23" dur="20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circle(in)">
                                      <p:cBhvr>
                                        <p:cTn id="28" dur="2000"/>
                                        <p:tgtEl>
                                          <p:spTgt spid="7"/>
                                        </p:tgtEl>
                                      </p:cBhvr>
                                    </p:animEffect>
                                  </p:childTnLst>
                                </p:cTn>
                              </p:par>
                              <p:par>
                                <p:cTn id="29" presetID="6" presetClass="entr" presetSubtype="16"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circle(in)">
                                      <p:cBhvr>
                                        <p:cTn id="31" dur="2000"/>
                                        <p:tgtEl>
                                          <p:spTgt spid="16"/>
                                        </p:tgtEl>
                                      </p:cBhvr>
                                    </p:animEffect>
                                  </p:childTnLst>
                                </p:cTn>
                              </p:par>
                              <p:par>
                                <p:cTn id="32" presetID="6" presetClass="entr" presetSubtype="16"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ircle(in)">
                                      <p:cBhvr>
                                        <p:cTn id="34" dur="2000"/>
                                        <p:tgtEl>
                                          <p:spTgt spid="17"/>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ircle(in)">
                                      <p:cBhvr>
                                        <p:cTn id="37" dur="2000"/>
                                        <p:tgtEl>
                                          <p:spTgt spid="9"/>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circle(in)">
                                      <p:cBhvr>
                                        <p:cTn id="40" dur="2000"/>
                                        <p:tgtEl>
                                          <p:spTgt spid="1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circle(in)">
                                      <p:cBhvr>
                                        <p:cTn id="43" dur="20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circle(in)">
                                      <p:cBhvr>
                                        <p:cTn id="48" dur="2000"/>
                                        <p:tgtEl>
                                          <p:spTgt spid="6"/>
                                        </p:tgtEl>
                                      </p:cBhvr>
                                    </p:animEffect>
                                  </p:childTnLst>
                                </p:cTn>
                              </p:par>
                              <p:par>
                                <p:cTn id="49" presetID="6" presetClass="entr" presetSubtype="16"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circle(in)">
                                      <p:cBhvr>
                                        <p:cTn id="51" dur="2000"/>
                                        <p:tgtEl>
                                          <p:spTgt spid="14"/>
                                        </p:tgtEl>
                                      </p:cBhvr>
                                    </p:animEffect>
                                  </p:childTnLst>
                                </p:cTn>
                              </p:par>
                              <p:par>
                                <p:cTn id="52" presetID="6" presetClass="entr" presetSubtype="16"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circle(in)">
                                      <p:cBhvr>
                                        <p:cTn id="54" dur="2000"/>
                                        <p:tgtEl>
                                          <p:spTgt spid="15"/>
                                        </p:tgtEl>
                                      </p:cBhvr>
                                    </p:animEffect>
                                  </p:childTnLst>
                                </p:cTn>
                              </p:par>
                              <p:par>
                                <p:cTn id="55" presetID="6" presetClass="entr" presetSubtype="16"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circle(in)">
                                      <p:cBhvr>
                                        <p:cTn id="57" dur="2000"/>
                                        <p:tgtEl>
                                          <p:spTgt spid="20"/>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circle(in)">
                                      <p:cBhvr>
                                        <p:cTn id="60" dur="2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circle(in)">
                                      <p:cBhvr>
                                        <p:cTn id="63" dur="20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circle(in)">
                                      <p:cBhvr>
                                        <p:cTn id="68" dur="20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6" presetClass="entr" presetSubtype="16"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circle(in)">
                                      <p:cBhvr>
                                        <p:cTn id="73" dur="2000"/>
                                        <p:tgtEl>
                                          <p:spTgt spid="11"/>
                                        </p:tgtEl>
                                      </p:cBhvr>
                                    </p:animEffect>
                                  </p:childTnLst>
                                </p:cTn>
                              </p:par>
                            </p:childTnLst>
                          </p:cTn>
                        </p:par>
                      </p:childTnLst>
                    </p:cTn>
                  </p:par>
                  <p:par>
                    <p:cTn id="74" fill="hold">
                      <p:stCondLst>
                        <p:cond delay="indefinite"/>
                      </p:stCondLst>
                      <p:childTnLst>
                        <p:par>
                          <p:cTn id="75" fill="hold">
                            <p:stCondLst>
                              <p:cond delay="0"/>
                            </p:stCondLst>
                            <p:childTnLst>
                              <p:par>
                                <p:cTn id="76" presetID="6" presetClass="entr" presetSubtype="16" fill="hold" grpId="0"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circle(in)">
                                      <p:cBhvr>
                                        <p:cTn id="78" dur="2000"/>
                                        <p:tgtEl>
                                          <p:spTgt spid="12"/>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circle(in)">
                                      <p:cBhvr>
                                        <p:cTn id="83" dur="20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circle(in)">
                                      <p:cBhvr>
                                        <p:cTn id="88"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8" grpId="0"/>
      <p:bldP spid="9" grpId="0"/>
      <p:bldP spid="10" grpId="0"/>
      <p:bldP spid="11" grpId="0"/>
      <p:bldP spid="12" grpId="0"/>
      <p:bldP spid="13" grpId="0"/>
      <p:bldP spid="18" grpId="0"/>
      <p:bldP spid="19" grpId="0"/>
      <p:bldP spid="20" grpId="0"/>
      <p:bldP spid="21" grpId="0"/>
      <p:bldP spid="22" grpId="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184480"/>
            <a:ext cx="2179289"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Ejemplo 1</a:t>
            </a:r>
            <a:endParaRPr lang="es-MX" sz="2100" b="1" dirty="0" smtClean="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ángulo 2"/>
              <p:cNvSpPr/>
              <p:nvPr/>
            </p:nvSpPr>
            <p:spPr>
              <a:xfrm>
                <a:off x="2" y="1473207"/>
                <a:ext cx="7703658" cy="946926"/>
              </a:xfrm>
              <a:prstGeom prst="rect">
                <a:avLst/>
              </a:prstGeom>
            </p:spPr>
            <p:txBody>
              <a:bodyPr wrap="square">
                <a:spAutoFit/>
              </a:bodyPr>
              <a:lstStyle/>
              <a:p>
                <a:pPr lvl="1">
                  <a:buClrTx/>
                  <a:buFontTx/>
                  <a:buNone/>
                </a:pPr>
                <a:r>
                  <a:rPr lang="es-MX" sz="2100" b="1" dirty="0" smtClean="0">
                    <a:solidFill>
                      <a:srgbClr val="A5A5A5">
                        <a:lumMod val="50000"/>
                      </a:srgbClr>
                    </a:solidFill>
                    <a:latin typeface="Arial" panose="020B0604020202020204" pitchFamily="34" charset="0"/>
                    <a:cs typeface="Arial" panose="020B0604020202020204" pitchFamily="34" charset="0"/>
                  </a:rPr>
                  <a:t>Calcule el determinante por </a:t>
                </a:r>
                <a:r>
                  <a:rPr lang="es-MX" sz="2100" b="1" dirty="0" err="1" smtClean="0">
                    <a:solidFill>
                      <a:srgbClr val="A5A5A5">
                        <a:lumMod val="50000"/>
                      </a:srgbClr>
                    </a:solidFill>
                    <a:latin typeface="Arial" panose="020B0604020202020204" pitchFamily="34" charset="0"/>
                    <a:cs typeface="Arial" panose="020B0604020202020204" pitchFamily="34" charset="0"/>
                  </a:rPr>
                  <a:t>Sarrus</a:t>
                </a:r>
                <a:r>
                  <a:rPr lang="es-MX" sz="2100" b="1" dirty="0" smtClean="0">
                    <a:solidFill>
                      <a:srgbClr val="A5A5A5">
                        <a:lumMod val="50000"/>
                      </a:srgbClr>
                    </a:solidFill>
                    <a:latin typeface="Arial" panose="020B0604020202020204" pitchFamily="34" charset="0"/>
                    <a:cs typeface="Arial" panose="020B0604020202020204" pitchFamily="34" charset="0"/>
                  </a:rPr>
                  <a:t>, si </a:t>
                </a:r>
                <a14:m>
                  <m:oMath xmlns:m="http://schemas.openxmlformats.org/officeDocument/2006/math">
                    <m:r>
                      <a:rPr lang="es-NI" sz="2100" b="1" i="1" smtClean="0">
                        <a:solidFill>
                          <a:srgbClr val="A5A5A5">
                            <a:lumMod val="50000"/>
                          </a:srgbClr>
                        </a:solidFill>
                        <a:latin typeface="Cambria Math" panose="02040503050406030204" pitchFamily="18" charset="0"/>
                      </a:rPr>
                      <m:t>𝑩</m:t>
                    </m:r>
                    <m:r>
                      <a:rPr lang="es-MX" sz="2100" b="1" i="1" smtClean="0">
                        <a:solidFill>
                          <a:srgbClr val="A5A5A5">
                            <a:lumMod val="50000"/>
                          </a:srgbClr>
                        </a:solidFill>
                        <a:latin typeface="Cambria Math" panose="02040503050406030204" pitchFamily="18" charset="0"/>
                      </a:rPr>
                      <m:t>=</m:t>
                    </m:r>
                    <m:d>
                      <m:dPr>
                        <m:begChr m:val="["/>
                        <m:endChr m:val="]"/>
                        <m:ctrlPr>
                          <a:rPr lang="es-NI" sz="2100" b="1" i="1" kern="1200">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kern="1200">
                                <a:solidFill>
                                  <a:srgbClr val="A5A5A5">
                                    <a:lumMod val="50000"/>
                                  </a:srgbClr>
                                </a:solidFill>
                                <a:latin typeface="Cambria Math" panose="02040503050406030204" pitchFamily="18" charset="0"/>
                                <a:cs typeface="Arial" panose="020B0604020202020204" pitchFamily="34" charset="0"/>
                              </a:rPr>
                            </m:ctrlPr>
                          </m:mPr>
                          <m:mr>
                            <m:e>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𝟏</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𝟎</m:t>
                              </m:r>
                            </m:e>
                          </m:mr>
                          <m:mr>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𝟒</m:t>
                              </m:r>
                            </m:e>
                          </m:mr>
                          <m:mr>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𝟓</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𝟏</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𝟔</m:t>
                              </m:r>
                            </m:e>
                          </m:mr>
                        </m:m>
                      </m:e>
                    </m:d>
                  </m:oMath>
                </a14:m>
                <a:endParaRPr lang="es-MX" sz="2100" b="1" dirty="0" smtClean="0">
                  <a:solidFill>
                    <a:srgbClr val="A5A5A5">
                      <a:lumMod val="50000"/>
                    </a:srgbClr>
                  </a:solidFill>
                  <a:latin typeface="Calibri" panose="020F0502020204030204"/>
                </a:endParaRPr>
              </a:p>
            </p:txBody>
          </p:sp>
        </mc:Choice>
        <mc:Fallback xmlns="">
          <p:sp>
            <p:nvSpPr>
              <p:cNvPr id="3" name="Rectángulo 2"/>
              <p:cNvSpPr>
                <a:spLocks noRot="1" noChangeAspect="1" noMove="1" noResize="1" noEditPoints="1" noAdjustHandles="1" noChangeArrowheads="1" noChangeShapeType="1" noTextEdit="1"/>
              </p:cNvSpPr>
              <p:nvPr/>
            </p:nvSpPr>
            <p:spPr>
              <a:xfrm>
                <a:off x="2" y="1473207"/>
                <a:ext cx="7703658" cy="946926"/>
              </a:xfrm>
              <a:prstGeom prst="rect">
                <a:avLst/>
              </a:prstGeom>
              <a:blipFill rotWithShape="0">
                <a:blip r:embed="rId2"/>
                <a:stretch>
                  <a:fillRect/>
                </a:stretch>
              </a:blipFill>
            </p:spPr>
            <p:txBody>
              <a:bodyPr/>
              <a:lstStyle/>
              <a:p>
                <a:r>
                  <a:rPr lang="es-MX">
                    <a:noFill/>
                  </a:rPr>
                  <a:t> </a:t>
                </a:r>
              </a:p>
            </p:txBody>
          </p:sp>
        </mc:Fallback>
      </mc:AlternateContent>
      <p:sp>
        <p:nvSpPr>
          <p:cNvPr id="4" name="Rectángulo 3"/>
          <p:cNvSpPr/>
          <p:nvPr/>
        </p:nvSpPr>
        <p:spPr>
          <a:xfrm>
            <a:off x="1" y="2239683"/>
            <a:ext cx="1931830" cy="415498"/>
          </a:xfrm>
          <a:prstGeom prst="rect">
            <a:avLst/>
          </a:prstGeom>
        </p:spPr>
        <p:txBody>
          <a:bodyPr wrap="square">
            <a:spAutoFit/>
          </a:bodyPr>
          <a:lstStyle/>
          <a:p>
            <a:pPr lvl="1">
              <a:buClrTx/>
              <a:buFontTx/>
              <a:buNone/>
            </a:pPr>
            <a:r>
              <a:rPr lang="es-ES" sz="2100" b="1" dirty="0" smtClean="0">
                <a:solidFill>
                  <a:srgbClr val="FF0000"/>
                </a:solidFill>
                <a:latin typeface="Arial" panose="020B0604020202020204" pitchFamily="34" charset="0"/>
                <a:cs typeface="Arial" panose="020B0604020202020204" pitchFamily="34" charset="0"/>
              </a:rPr>
              <a:t>Solución</a:t>
            </a:r>
            <a:endParaRPr lang="es-MX" sz="2100" b="1" dirty="0" smtClean="0">
              <a:solidFill>
                <a:srgbClr val="FF0000"/>
              </a:solidFill>
              <a:latin typeface="Arial" panose="020B0604020202020204" pitchFamily="34" charset="0"/>
              <a:cs typeface="Arial" panose="020B0604020202020204" pitchFamily="34" charset="0"/>
            </a:endParaRPr>
          </a:p>
        </p:txBody>
      </p:sp>
      <p:sp>
        <p:nvSpPr>
          <p:cNvPr id="5" name="Rectángulo 4"/>
          <p:cNvSpPr/>
          <p:nvPr/>
        </p:nvSpPr>
        <p:spPr>
          <a:xfrm>
            <a:off x="-2" y="2655181"/>
            <a:ext cx="12192001" cy="1061829"/>
          </a:xfrm>
          <a:prstGeom prst="rect">
            <a:avLst/>
          </a:prstGeom>
        </p:spPr>
        <p:txBody>
          <a:bodyPr wrap="square">
            <a:spAutoFit/>
          </a:bodyPr>
          <a:lstStyle/>
          <a:p>
            <a:pPr lvl="1" algn="just">
              <a:buClrTx/>
              <a:buFontTx/>
              <a:buNone/>
            </a:pPr>
            <a:r>
              <a:rPr lang="es-MX" sz="2100" b="1" kern="1200" dirty="0">
                <a:solidFill>
                  <a:srgbClr val="A5A5A5">
                    <a:lumMod val="50000"/>
                  </a:srgbClr>
                </a:solidFill>
                <a:latin typeface="Arial" panose="020B0604020202020204" pitchFamily="34" charset="0"/>
                <a:cs typeface="Arial" panose="020B0604020202020204" pitchFamily="34" charset="0"/>
              </a:rPr>
              <a:t>Se forma el siguiente arreglo: se aumentan los dos primeros renglones del determinante, como se indica, después se procede a sustituir los términos en la fórmula y se realizan las operaciones indicadas en la fórmula.</a:t>
            </a:r>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itle 1"/>
              <p:cNvSpPr txBox="1">
                <a:spLocks/>
              </p:cNvSpPr>
              <p:nvPr/>
            </p:nvSpPr>
            <p:spPr>
              <a:xfrm>
                <a:off x="2179290" y="4024911"/>
                <a:ext cx="2993062" cy="101315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𝒅𝒆𝒕</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𝑩</m:t>
                          </m:r>
                        </m:e>
                      </m:d>
                      <m:d>
                        <m:dPr>
                          <m:begChr m:val="["/>
                          <m:endChr m:val="]"/>
                          <m:ctrlPr>
                            <a:rPr lang="es-NI" sz="2100" b="1" i="1">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a:solidFill>
                                    <a:srgbClr val="A5A5A5">
                                      <a:lumMod val="50000"/>
                                    </a:srgbClr>
                                  </a:solidFill>
                                  <a:latin typeface="Cambria Math" panose="02040503050406030204" pitchFamily="18" charset="0"/>
                                  <a:cs typeface="Arial" panose="020B0604020202020204" pitchFamily="34" charset="0"/>
                                </a:rPr>
                              </m:ctrlPr>
                            </m:mPr>
                            <m:mr>
                              <m:e>
                                <m:r>
                                  <a:rPr lang="es-NI" sz="2100" b="1" i="1">
                                    <a:solidFill>
                                      <a:srgbClr val="A5A5A5">
                                        <a:lumMod val="50000"/>
                                      </a:srgbClr>
                                    </a:solidFill>
                                    <a:latin typeface="Cambria Math" panose="02040503050406030204" pitchFamily="18" charset="0"/>
                                    <a:cs typeface="Arial" panose="020B0604020202020204" pitchFamily="34" charset="0"/>
                                  </a:rPr>
                                  <m:t>𝟐</m:t>
                                </m:r>
                              </m:e>
                              <m:e>
                                <m:r>
                                  <a:rPr lang="es-NI" sz="2100" b="1" i="1">
                                    <a:solidFill>
                                      <a:srgbClr val="A5A5A5">
                                        <a:lumMod val="50000"/>
                                      </a:srgbClr>
                                    </a:solidFill>
                                    <a:latin typeface="Cambria Math" panose="02040503050406030204" pitchFamily="18" charset="0"/>
                                    <a:cs typeface="Arial" panose="020B0604020202020204" pitchFamily="34" charset="0"/>
                                  </a:rPr>
                                  <m:t>−</m:t>
                                </m:r>
                                <m:r>
                                  <a:rPr lang="es-NI" sz="2100" b="1" i="1">
                                    <a:solidFill>
                                      <a:srgbClr val="A5A5A5">
                                        <a:lumMod val="50000"/>
                                      </a:srgbClr>
                                    </a:solidFill>
                                    <a:latin typeface="Cambria Math" panose="02040503050406030204" pitchFamily="18" charset="0"/>
                                    <a:cs typeface="Arial" panose="020B0604020202020204" pitchFamily="34" charset="0"/>
                                  </a:rPr>
                                  <m:t>𝟏</m:t>
                                </m:r>
                              </m:e>
                              <m:e>
                                <m:r>
                                  <a:rPr lang="es-NI" sz="2100" b="1" i="1">
                                    <a:solidFill>
                                      <a:srgbClr val="A5A5A5">
                                        <a:lumMod val="50000"/>
                                      </a:srgbClr>
                                    </a:solidFill>
                                    <a:latin typeface="Cambria Math" panose="02040503050406030204" pitchFamily="18" charset="0"/>
                                    <a:cs typeface="Arial" panose="020B0604020202020204" pitchFamily="34" charset="0"/>
                                  </a:rPr>
                                  <m:t>𝟎</m:t>
                                </m:r>
                              </m:e>
                            </m:mr>
                            <m:mr>
                              <m:e>
                                <m:r>
                                  <a:rPr lang="es-NI" sz="2100" b="1" i="1">
                                    <a:solidFill>
                                      <a:srgbClr val="A5A5A5">
                                        <a:lumMod val="50000"/>
                                      </a:srgbClr>
                                    </a:solidFill>
                                    <a:latin typeface="Cambria Math" panose="02040503050406030204" pitchFamily="18" charset="0"/>
                                    <a:cs typeface="Arial" panose="020B0604020202020204" pitchFamily="34" charset="0"/>
                                  </a:rPr>
                                  <m:t>−</m:t>
                                </m:r>
                                <m:r>
                                  <a:rPr lang="es-NI" sz="2100" b="1" i="1">
                                    <a:solidFill>
                                      <a:srgbClr val="A5A5A5">
                                        <a:lumMod val="50000"/>
                                      </a:srgbClr>
                                    </a:solidFill>
                                    <a:latin typeface="Cambria Math" panose="02040503050406030204" pitchFamily="18" charset="0"/>
                                    <a:cs typeface="Arial" panose="020B0604020202020204" pitchFamily="34" charset="0"/>
                                  </a:rPr>
                                  <m:t>𝟐</m:t>
                                </m:r>
                              </m:e>
                              <m:e>
                                <m:r>
                                  <a:rPr lang="es-NI" sz="2100" b="1" i="1">
                                    <a:solidFill>
                                      <a:srgbClr val="A5A5A5">
                                        <a:lumMod val="50000"/>
                                      </a:srgbClr>
                                    </a:solidFill>
                                    <a:latin typeface="Cambria Math" panose="02040503050406030204" pitchFamily="18" charset="0"/>
                                    <a:cs typeface="Arial" panose="020B0604020202020204" pitchFamily="34" charset="0"/>
                                  </a:rPr>
                                  <m:t>𝟑</m:t>
                                </m:r>
                              </m:e>
                              <m:e>
                                <m:r>
                                  <a:rPr lang="es-NI" sz="2100" b="1" i="1">
                                    <a:solidFill>
                                      <a:srgbClr val="A5A5A5">
                                        <a:lumMod val="50000"/>
                                      </a:srgbClr>
                                    </a:solidFill>
                                    <a:latin typeface="Cambria Math" panose="02040503050406030204" pitchFamily="18" charset="0"/>
                                    <a:cs typeface="Arial" panose="020B0604020202020204" pitchFamily="34" charset="0"/>
                                  </a:rPr>
                                  <m:t>𝟒</m:t>
                                </m:r>
                              </m:e>
                            </m:mr>
                            <m:mr>
                              <m:e>
                                <m:r>
                                  <a:rPr lang="es-NI" sz="2100" b="1" i="1">
                                    <a:solidFill>
                                      <a:srgbClr val="A5A5A5">
                                        <a:lumMod val="50000"/>
                                      </a:srgbClr>
                                    </a:solidFill>
                                    <a:latin typeface="Cambria Math" panose="02040503050406030204" pitchFamily="18" charset="0"/>
                                    <a:cs typeface="Arial" panose="020B0604020202020204" pitchFamily="34" charset="0"/>
                                  </a:rPr>
                                  <m:t>−</m:t>
                                </m:r>
                                <m:r>
                                  <a:rPr lang="es-NI" sz="2100" b="1" i="1">
                                    <a:solidFill>
                                      <a:srgbClr val="A5A5A5">
                                        <a:lumMod val="50000"/>
                                      </a:srgbClr>
                                    </a:solidFill>
                                    <a:latin typeface="Cambria Math" panose="02040503050406030204" pitchFamily="18" charset="0"/>
                                    <a:cs typeface="Arial" panose="020B0604020202020204" pitchFamily="34" charset="0"/>
                                  </a:rPr>
                                  <m:t>𝟓</m:t>
                                </m:r>
                              </m:e>
                              <m:e>
                                <m:r>
                                  <a:rPr lang="es-NI" sz="2100" b="1" i="1">
                                    <a:solidFill>
                                      <a:srgbClr val="A5A5A5">
                                        <a:lumMod val="50000"/>
                                      </a:srgbClr>
                                    </a:solidFill>
                                    <a:latin typeface="Cambria Math" panose="02040503050406030204" pitchFamily="18" charset="0"/>
                                    <a:cs typeface="Arial" panose="020B0604020202020204" pitchFamily="34" charset="0"/>
                                  </a:rPr>
                                  <m:t>𝟏</m:t>
                                </m:r>
                              </m:e>
                              <m:e>
                                <m:r>
                                  <a:rPr lang="es-NI" sz="2100" b="1" i="1">
                                    <a:solidFill>
                                      <a:srgbClr val="A5A5A5">
                                        <a:lumMod val="50000"/>
                                      </a:srgbClr>
                                    </a:solidFill>
                                    <a:latin typeface="Cambria Math" panose="02040503050406030204" pitchFamily="18" charset="0"/>
                                    <a:cs typeface="Arial" panose="020B0604020202020204" pitchFamily="34" charset="0"/>
                                  </a:rPr>
                                  <m:t>𝟔</m:t>
                                </m:r>
                              </m:e>
                            </m:mr>
                          </m:m>
                        </m:e>
                      </m:d>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6" name="Title 1"/>
              <p:cNvSpPr txBox="1">
                <a:spLocks noRot="1" noChangeAspect="1" noMove="1" noResize="1" noEditPoints="1" noAdjustHandles="1" noChangeArrowheads="1" noChangeShapeType="1" noTextEdit="1"/>
              </p:cNvSpPr>
              <p:nvPr/>
            </p:nvSpPr>
            <p:spPr>
              <a:xfrm>
                <a:off x="2179290" y="4024911"/>
                <a:ext cx="2993062" cy="1013158"/>
              </a:xfrm>
              <a:prstGeom prst="rect">
                <a:avLst/>
              </a:prstGeom>
              <a:blipFill rotWithShape="0">
                <a:blip r:embed="rId3"/>
                <a:stretch>
                  <a:fillRect/>
                </a:stretch>
              </a:blipFill>
            </p:spPr>
            <p:txBody>
              <a:bodyPr/>
              <a:lstStyle/>
              <a:p>
                <a:r>
                  <a:rPr lang="es-MX">
                    <a:noFill/>
                  </a:rPr>
                  <a:t> </a:t>
                </a:r>
              </a:p>
            </p:txBody>
          </p:sp>
        </mc:Fallback>
      </mc:AlternateContent>
      <p:cxnSp>
        <p:nvCxnSpPr>
          <p:cNvPr id="7" name="Conector recto de flecha 6"/>
          <p:cNvCxnSpPr/>
          <p:nvPr/>
        </p:nvCxnSpPr>
        <p:spPr>
          <a:xfrm flipV="1">
            <a:off x="5194676" y="3793183"/>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8" name="Conector recto de flecha 7"/>
          <p:cNvCxnSpPr/>
          <p:nvPr/>
        </p:nvCxnSpPr>
        <p:spPr>
          <a:xfrm>
            <a:off x="5239032" y="3927483"/>
            <a:ext cx="1916297" cy="787805"/>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9" name="Rectángulo 8"/>
              <p:cNvSpPr/>
              <p:nvPr/>
            </p:nvSpPr>
            <p:spPr>
              <a:xfrm>
                <a:off x="7054985" y="3905992"/>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9" name="Rectángulo 8"/>
              <p:cNvSpPr>
                <a:spLocks noRot="1" noChangeAspect="1" noMove="1" noResize="1" noEditPoints="1" noAdjustHandles="1" noChangeArrowheads="1" noChangeShapeType="1" noTextEdit="1"/>
              </p:cNvSpPr>
              <p:nvPr/>
            </p:nvSpPr>
            <p:spPr>
              <a:xfrm>
                <a:off x="7054985" y="3905992"/>
                <a:ext cx="602281" cy="369332"/>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7088286" y="4581620"/>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0" name="Rectángulo 9"/>
              <p:cNvSpPr>
                <a:spLocks noRot="1" noChangeAspect="1" noMove="1" noResize="1" noEditPoints="1" noAdjustHandles="1" noChangeArrowheads="1" noChangeShapeType="1" noTextEdit="1"/>
              </p:cNvSpPr>
              <p:nvPr/>
            </p:nvSpPr>
            <p:spPr>
              <a:xfrm>
                <a:off x="7088286" y="4581620"/>
                <a:ext cx="602281" cy="369332"/>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5004934" y="3789809"/>
                <a:ext cx="1869935" cy="1536703"/>
              </a:xfrm>
              <a:prstGeom prst="rect">
                <a:avLst/>
              </a:prstGeom>
            </p:spPr>
            <p:txBody>
              <a:bodyPr wrap="none">
                <a:spAutoFit/>
              </a:bodyPr>
              <a:lstStyle/>
              <a:p>
                <a:pPr algn="just" defTabSz="457200">
                  <a:buClrTx/>
                  <a:buFontTx/>
                  <a:buNone/>
                  <a:defRPr/>
                </a:pPr>
                <a14:m>
                  <m:oMathPara xmlns:m="http://schemas.openxmlformats.org/officeDocument/2006/math">
                    <m:oMathParaPr>
                      <m:jc m:val="centerGroup"/>
                    </m:oMathParaPr>
                    <m:oMath xmlns:m="http://schemas.openxmlformats.org/officeDocument/2006/math">
                      <m:d>
                        <m:dPr>
                          <m:begChr m:val="|"/>
                          <m:endChr m:val="|"/>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dPr>
                        <m:e>
                          <m:m>
                            <m:mPr>
                              <m:mcs>
                                <m:mc>
                                  <m:mcPr>
                                    <m:count m:val="3"/>
                                    <m:mcJc m:val="center"/>
                                  </m:mcPr>
                                </m:mc>
                              </m:mcs>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mPr>
                            <m:mr>
                              <m:e>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𝟏</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𝟎</m:t>
                                </m:r>
                              </m:e>
                            </m:mr>
                            <m:mr>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𝟒</m:t>
                                </m:r>
                              </m:e>
                            </m:mr>
                            <m:mr>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𝟓</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𝟐</m:t>
                                    </m:r>
                                  </m:e>
                                </m:eqArr>
                              </m:e>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r>
                                      <a:rPr lang="es-NI" sz="2100" b="1" i="1" kern="1200" smtClean="0">
                                        <a:solidFill>
                                          <a:srgbClr val="A5A5A5">
                                            <a:lumMod val="50000"/>
                                          </a:srgbClr>
                                        </a:solidFill>
                                        <a:latin typeface="Cambria Math" panose="02040503050406030204" pitchFamily="18" charset="0"/>
                                        <a:cs typeface="Arial" panose="020B0604020202020204" pitchFamily="34" charset="0"/>
                                      </a:rPr>
                                      <m:t>𝟏</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m:t>
                                    </m:r>
                                    <m:r>
                                      <a:rPr lang="es-NI" sz="2100" b="1" i="1" kern="1200" smtClean="0">
                                        <a:solidFill>
                                          <a:srgbClr val="A5A5A5">
                                            <a:lumMod val="50000"/>
                                          </a:srgbClr>
                                        </a:solidFill>
                                        <a:latin typeface="Cambria Math" panose="02040503050406030204" pitchFamily="18" charset="0"/>
                                        <a:cs typeface="Arial" panose="020B0604020202020204" pitchFamily="34" charset="0"/>
                                      </a:rPr>
                                      <m:t>𝟏</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𝟑</m:t>
                                    </m:r>
                                  </m:e>
                                </m:eqArr>
                              </m:e>
                              <m:e>
                                <m:eqArr>
                                  <m:eqArrPr>
                                    <m:ctrlPr>
                                      <a:rPr lang="es-NI" sz="2100" b="1" i="1" kern="1200" smtClean="0">
                                        <a:solidFill>
                                          <a:srgbClr val="A5A5A5">
                                            <a:lumMod val="50000"/>
                                          </a:srgbClr>
                                        </a:solidFill>
                                        <a:latin typeface="Cambria Math" panose="02040503050406030204" pitchFamily="18" charset="0"/>
                                        <a:cs typeface="Arial" panose="020B0604020202020204" pitchFamily="34" charset="0"/>
                                      </a:rPr>
                                    </m:ctrlPr>
                                  </m:eqArrPr>
                                  <m:e>
                                    <m:r>
                                      <a:rPr lang="es-NI" sz="2100" b="1" i="1" kern="1200" smtClean="0">
                                        <a:solidFill>
                                          <a:srgbClr val="A5A5A5">
                                            <a:lumMod val="50000"/>
                                          </a:srgbClr>
                                        </a:solidFill>
                                        <a:latin typeface="Cambria Math" panose="02040503050406030204" pitchFamily="18" charset="0"/>
                                        <a:cs typeface="Arial" panose="020B0604020202020204" pitchFamily="34" charset="0"/>
                                      </a:rPr>
                                      <m:t>𝟔</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𝟎</m:t>
                                    </m:r>
                                  </m:e>
                                  <m:e>
                                    <m:r>
                                      <a:rPr lang="es-NI" sz="2100" b="1" i="1" kern="1200" smtClean="0">
                                        <a:solidFill>
                                          <a:srgbClr val="A5A5A5">
                                            <a:lumMod val="50000"/>
                                          </a:srgbClr>
                                        </a:solidFill>
                                        <a:latin typeface="Cambria Math" panose="02040503050406030204" pitchFamily="18" charset="0"/>
                                        <a:cs typeface="Arial" panose="020B0604020202020204" pitchFamily="34" charset="0"/>
                                      </a:rPr>
                                      <m:t>𝟒</m:t>
                                    </m:r>
                                  </m:e>
                                </m:eqArr>
                              </m:e>
                            </m:mr>
                          </m:m>
                        </m:e>
                      </m:d>
                    </m:oMath>
                  </m:oMathPara>
                </a14:m>
                <a:endParaRPr lang="es-NI" sz="2100" b="1" kern="1200"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1" name="Rectángulo 10"/>
              <p:cNvSpPr>
                <a:spLocks noRot="1" noChangeAspect="1" noMove="1" noResize="1" noEditPoints="1" noAdjustHandles="1" noChangeArrowheads="1" noChangeShapeType="1" noTextEdit="1"/>
              </p:cNvSpPr>
              <p:nvPr/>
            </p:nvSpPr>
            <p:spPr>
              <a:xfrm>
                <a:off x="5004934" y="3789809"/>
                <a:ext cx="1869935" cy="1536703"/>
              </a:xfrm>
              <a:prstGeom prst="rect">
                <a:avLst/>
              </a:prstGeom>
              <a:blipFill rotWithShape="0">
                <a:blip r:embed="rId6"/>
                <a:stretch>
                  <a:fillRect/>
                </a:stretch>
              </a:blipFill>
            </p:spPr>
            <p:txBody>
              <a:bodyPr/>
              <a:lstStyle/>
              <a:p>
                <a:r>
                  <a:rPr lang="es-MX">
                    <a:noFill/>
                  </a:rPr>
                  <a:t> </a:t>
                </a:r>
              </a:p>
            </p:txBody>
          </p:sp>
        </mc:Fallback>
      </mc:AlternateContent>
      <p:cxnSp>
        <p:nvCxnSpPr>
          <p:cNvPr id="12" name="Conector recto de flecha 11"/>
          <p:cNvCxnSpPr/>
          <p:nvPr/>
        </p:nvCxnSpPr>
        <p:spPr>
          <a:xfrm flipV="1">
            <a:off x="5186061" y="4119955"/>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13" name="Conector recto de flecha 12"/>
          <p:cNvCxnSpPr/>
          <p:nvPr/>
        </p:nvCxnSpPr>
        <p:spPr>
          <a:xfrm flipV="1">
            <a:off x="5186061" y="4408316"/>
            <a:ext cx="1884544" cy="833805"/>
          </a:xfrm>
          <a:prstGeom prst="straightConnector1">
            <a:avLst/>
          </a:prstGeom>
          <a:noFill/>
          <a:ln w="28575" cap="flat" cmpd="sng" algn="ctr">
            <a:solidFill>
              <a:sysClr val="windowText" lastClr="000000"/>
            </a:solidFill>
            <a:prstDash val="solid"/>
            <a:miter lim="800000"/>
            <a:tailEnd type="triangle"/>
          </a:ln>
          <a:effectLst/>
        </p:spPr>
      </p:cxnSp>
      <p:cxnSp>
        <p:nvCxnSpPr>
          <p:cNvPr id="14" name="Conector recto de flecha 13"/>
          <p:cNvCxnSpPr/>
          <p:nvPr/>
        </p:nvCxnSpPr>
        <p:spPr>
          <a:xfrm>
            <a:off x="5283388" y="4259686"/>
            <a:ext cx="1916297" cy="787805"/>
          </a:xfrm>
          <a:prstGeom prst="straightConnector1">
            <a:avLst/>
          </a:prstGeom>
          <a:noFill/>
          <a:ln w="28575" cap="flat" cmpd="sng" algn="ctr">
            <a:solidFill>
              <a:sysClr val="windowText" lastClr="000000"/>
            </a:solidFill>
            <a:prstDash val="solid"/>
            <a:miter lim="800000"/>
            <a:tailEnd type="triangle"/>
          </a:ln>
          <a:effectLst/>
        </p:spPr>
      </p:cxnSp>
      <p:cxnSp>
        <p:nvCxnSpPr>
          <p:cNvPr id="15" name="Conector recto de flecha 14"/>
          <p:cNvCxnSpPr/>
          <p:nvPr/>
        </p:nvCxnSpPr>
        <p:spPr>
          <a:xfrm>
            <a:off x="5231829" y="4542431"/>
            <a:ext cx="1916297" cy="787805"/>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16" name="Rectángulo 15"/>
              <p:cNvSpPr/>
              <p:nvPr/>
            </p:nvSpPr>
            <p:spPr>
              <a:xfrm>
                <a:off x="7101380" y="4899263"/>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6" name="Rectángulo 15"/>
              <p:cNvSpPr>
                <a:spLocks noRot="1" noChangeAspect="1" noMove="1" noResize="1" noEditPoints="1" noAdjustHandles="1" noChangeArrowheads="1" noChangeShapeType="1" noTextEdit="1"/>
              </p:cNvSpPr>
              <p:nvPr/>
            </p:nvSpPr>
            <p:spPr>
              <a:xfrm>
                <a:off x="7101380" y="4899263"/>
                <a:ext cx="602281" cy="369332"/>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7101379" y="5213840"/>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7" name="Rectángulo 16"/>
              <p:cNvSpPr>
                <a:spLocks noRot="1" noChangeAspect="1" noMove="1" noResize="1" noEditPoints="1" noAdjustHandles="1" noChangeArrowheads="1" noChangeShapeType="1" noTextEdit="1"/>
              </p:cNvSpPr>
              <p:nvPr/>
            </p:nvSpPr>
            <p:spPr>
              <a:xfrm>
                <a:off x="7101379" y="5213840"/>
                <a:ext cx="602281" cy="369332"/>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7030750" y="3565957"/>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8" name="Rectángulo 17"/>
              <p:cNvSpPr>
                <a:spLocks noRot="1" noChangeAspect="1" noMove="1" noResize="1" noEditPoints="1" noAdjustHandles="1" noChangeArrowheads="1" noChangeShapeType="1" noTextEdit="1"/>
              </p:cNvSpPr>
              <p:nvPr/>
            </p:nvSpPr>
            <p:spPr>
              <a:xfrm>
                <a:off x="7030750" y="3565957"/>
                <a:ext cx="602281" cy="369332"/>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7064611" y="4214595"/>
                <a:ext cx="602281" cy="369332"/>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d>
                        <m:dPr>
                          <m:ctrlPr>
                            <a:rPr lang="es-MX" sz="1800" i="1" kern="1200" smtClean="0">
                              <a:solidFill>
                                <a:prstClr val="black"/>
                              </a:solidFill>
                              <a:latin typeface="Cambria Math" panose="02040503050406030204" pitchFamily="18" charset="0"/>
                            </a:rPr>
                          </m:ctrlPr>
                        </m:dPr>
                        <m:e>
                          <m:r>
                            <a:rPr lang="es-NI" sz="1800" i="1" kern="1200" smtClean="0">
                              <a:solidFill>
                                <a:srgbClr val="FF0000"/>
                              </a:solidFill>
                              <a:latin typeface="Cambria Math" panose="02040503050406030204" pitchFamily="18" charset="0"/>
                            </a:rPr>
                            <m:t>−</m:t>
                          </m:r>
                        </m:e>
                      </m:d>
                    </m:oMath>
                  </m:oMathPara>
                </a14:m>
                <a:endParaRPr lang="es-MX" sz="1800" kern="1200" dirty="0">
                  <a:solidFill>
                    <a:prstClr val="black"/>
                  </a:solidFill>
                  <a:latin typeface="Calibri" panose="020F0502020204030204"/>
                </a:endParaRPr>
              </a:p>
            </p:txBody>
          </p:sp>
        </mc:Choice>
        <mc:Fallback xmlns="">
          <p:sp>
            <p:nvSpPr>
              <p:cNvPr id="19" name="Rectángulo 18"/>
              <p:cNvSpPr>
                <a:spLocks noRot="1" noChangeAspect="1" noMove="1" noResize="1" noEditPoints="1" noAdjustHandles="1" noChangeArrowheads="1" noChangeShapeType="1" noTextEdit="1"/>
              </p:cNvSpPr>
              <p:nvPr/>
            </p:nvSpPr>
            <p:spPr>
              <a:xfrm>
                <a:off x="7064611" y="4214595"/>
                <a:ext cx="602281" cy="369332"/>
              </a:xfrm>
              <a:prstGeom prst="rect">
                <a:avLst/>
              </a:prstGeom>
              <a:blipFill rotWithShape="0">
                <a:blip r:embed="rId10"/>
                <a:stretch>
                  <a:fillRect/>
                </a:stretch>
              </a:blipFill>
            </p:spPr>
            <p:txBody>
              <a:bodyPr/>
              <a:lstStyle/>
              <a:p>
                <a:r>
                  <a:rPr lang="es-MX">
                    <a:noFill/>
                  </a:rPr>
                  <a:t> </a:t>
                </a:r>
              </a:p>
            </p:txBody>
          </p:sp>
        </mc:Fallback>
      </mc:AlternateContent>
      <p:sp>
        <p:nvSpPr>
          <p:cNvPr id="20" name="Title 1"/>
          <p:cNvSpPr txBox="1">
            <a:spLocks/>
          </p:cNvSpPr>
          <p:nvPr/>
        </p:nvSpPr>
        <p:spPr>
          <a:xfrm>
            <a:off x="509016" y="5240768"/>
            <a:ext cx="4542697"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100" b="1" dirty="0" smtClean="0">
                <a:solidFill>
                  <a:srgbClr val="A5A5A5">
                    <a:lumMod val="50000"/>
                  </a:srgbClr>
                </a:solidFill>
                <a:cs typeface="Arial" panose="020B0604020202020204" pitchFamily="34" charset="0"/>
              </a:rPr>
              <a:t>Por consiguiente, el determinante es:  </a:t>
            </a:r>
            <a:endParaRPr lang="es-NI" sz="2100" b="1" dirty="0">
              <a:solidFill>
                <a:srgbClr val="A5A5A5">
                  <a:lumMod val="50000"/>
                </a:srgbClr>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21" name="Title 1"/>
              <p:cNvSpPr txBox="1">
                <a:spLocks/>
              </p:cNvSpPr>
              <p:nvPr/>
            </p:nvSpPr>
            <p:spPr>
              <a:xfrm>
                <a:off x="347729" y="5868412"/>
                <a:ext cx="1276207" cy="3241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𝒅𝒆𝒕𝑩</m:t>
                      </m:r>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21" name="Title 1"/>
              <p:cNvSpPr txBox="1">
                <a:spLocks noRot="1" noChangeAspect="1" noMove="1" noResize="1" noEditPoints="1" noAdjustHandles="1" noChangeArrowheads="1" noChangeShapeType="1" noTextEdit="1"/>
              </p:cNvSpPr>
              <p:nvPr/>
            </p:nvSpPr>
            <p:spPr>
              <a:xfrm>
                <a:off x="347729" y="5868412"/>
                <a:ext cx="1276207" cy="324184"/>
              </a:xfrm>
              <a:prstGeom prst="rect">
                <a:avLst/>
              </a:prstGeom>
              <a:blipFill rotWithShape="0">
                <a:blip r:embed="rId11"/>
                <a:stretch>
                  <a:fillRect b="-1132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Title 1"/>
              <p:cNvSpPr txBox="1">
                <a:spLocks/>
              </p:cNvSpPr>
              <p:nvPr/>
            </p:nvSpPr>
            <p:spPr>
              <a:xfrm>
                <a:off x="1443971" y="5834824"/>
                <a:ext cx="5177258"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𝟐</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𝟑</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𝟔</m:t>
                              </m:r>
                            </m:e>
                          </m:d>
                          <m:r>
                            <a:rPr lang="es-NI" sz="2100" b="1" i="1" smtClean="0">
                              <a:solidFill>
                                <a:srgbClr val="A5A5A5">
                                  <a:lumMod val="50000"/>
                                </a:srgbClr>
                              </a:solidFill>
                              <a:latin typeface="Cambria Math" panose="02040503050406030204" pitchFamily="18" charset="0"/>
                              <a:cs typeface="Arial" panose="020B0604020202020204" pitchFamily="34" charset="0"/>
                            </a:rPr>
                            <m:t>+</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𝟐</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𝟏</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𝟎</m:t>
                              </m:r>
                            </m:e>
                          </m:d>
                          <m:r>
                            <a:rPr lang="es-NI" sz="2100" b="1" i="1" smtClean="0">
                              <a:solidFill>
                                <a:srgbClr val="A5A5A5">
                                  <a:lumMod val="50000"/>
                                </a:srgbClr>
                              </a:solidFill>
                              <a:latin typeface="Cambria Math" panose="02040503050406030204" pitchFamily="18" charset="0"/>
                              <a:cs typeface="Arial" panose="020B0604020202020204" pitchFamily="34" charset="0"/>
                            </a:rPr>
                            <m:t>+</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𝟓</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𝟏</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𝟒</m:t>
                              </m:r>
                            </m:e>
                          </m:d>
                        </m:e>
                      </m:d>
                    </m:oMath>
                  </m:oMathPara>
                </a14:m>
                <a:endParaRPr lang="es-NI" sz="2100" b="1" dirty="0">
                  <a:solidFill>
                    <a:srgbClr val="A5A5A5">
                      <a:lumMod val="50000"/>
                    </a:srgbClr>
                  </a:solidFill>
                  <a:cs typeface="Arial" panose="020B0604020202020204" pitchFamily="34" charset="0"/>
                </a:endParaRPr>
              </a:p>
            </p:txBody>
          </p:sp>
        </mc:Choice>
        <mc:Fallback xmlns="">
          <p:sp>
            <p:nvSpPr>
              <p:cNvPr id="22" name="Title 1"/>
              <p:cNvSpPr txBox="1">
                <a:spLocks noRot="1" noChangeAspect="1" noMove="1" noResize="1" noEditPoints="1" noAdjustHandles="1" noChangeArrowheads="1" noChangeShapeType="1" noTextEdit="1"/>
              </p:cNvSpPr>
              <p:nvPr/>
            </p:nvSpPr>
            <p:spPr>
              <a:xfrm>
                <a:off x="1443971" y="5834824"/>
                <a:ext cx="5177258" cy="391357"/>
              </a:xfrm>
              <a:prstGeom prst="rect">
                <a:avLst/>
              </a:prstGeom>
              <a:blipFill rotWithShape="0">
                <a:blip r:embed="rId1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Rectángulo 22"/>
              <p:cNvSpPr/>
              <p:nvPr/>
            </p:nvSpPr>
            <p:spPr>
              <a:xfrm>
                <a:off x="6434599" y="5822754"/>
                <a:ext cx="447558" cy="415498"/>
              </a:xfrm>
              <a:prstGeom prst="rect">
                <a:avLst/>
              </a:prstGeom>
            </p:spPr>
            <p:txBody>
              <a:bodyPr wrap="none">
                <a:spAutoFit/>
              </a:bodyPr>
              <a:lstStyle/>
              <a:p>
                <a:pPr defTabSz="457200">
                  <a:buClrTx/>
                  <a:buFontTx/>
                  <a:buNone/>
                </a:pPr>
                <a14:m>
                  <m:oMathPara xmlns:m="http://schemas.openxmlformats.org/officeDocument/2006/math">
                    <m:oMathParaPr>
                      <m:jc m:val="centerGroup"/>
                    </m:oMathParaPr>
                    <m:oMath xmlns:m="http://schemas.openxmlformats.org/officeDocument/2006/math">
                      <m:r>
                        <a:rPr lang="es-NI" sz="2100" b="1" i="1" kern="1200">
                          <a:solidFill>
                            <a:srgbClr val="FF0000"/>
                          </a:solidFill>
                          <a:latin typeface="Cambria Math" panose="02040503050406030204" pitchFamily="18" charset="0"/>
                          <a:cs typeface="Arial" panose="020B0604020202020204" pitchFamily="34" charset="0"/>
                        </a:rPr>
                        <m:t>−</m:t>
                      </m:r>
                    </m:oMath>
                  </m:oMathPara>
                </a14:m>
                <a:endParaRPr lang="es-MX" sz="1800" kern="1200" dirty="0">
                  <a:solidFill>
                    <a:prstClr val="black"/>
                  </a:solidFill>
                  <a:latin typeface="Calibri" panose="020F0502020204030204"/>
                </a:endParaRPr>
              </a:p>
            </p:txBody>
          </p:sp>
        </mc:Choice>
        <mc:Fallback xmlns="">
          <p:sp>
            <p:nvSpPr>
              <p:cNvPr id="23" name="Rectángulo 22"/>
              <p:cNvSpPr>
                <a:spLocks noRot="1" noChangeAspect="1" noMove="1" noResize="1" noEditPoints="1" noAdjustHandles="1" noChangeArrowheads="1" noChangeShapeType="1" noTextEdit="1"/>
              </p:cNvSpPr>
              <p:nvPr/>
            </p:nvSpPr>
            <p:spPr>
              <a:xfrm>
                <a:off x="6434599" y="5822754"/>
                <a:ext cx="447558" cy="415498"/>
              </a:xfrm>
              <a:prstGeom prst="rect">
                <a:avLst/>
              </a:prstGeom>
              <a:blipFill rotWithShape="0">
                <a:blip r:embed="rId1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Title 1"/>
              <p:cNvSpPr txBox="1">
                <a:spLocks/>
              </p:cNvSpPr>
              <p:nvPr/>
            </p:nvSpPr>
            <p:spPr>
              <a:xfrm>
                <a:off x="6695526" y="5801239"/>
                <a:ext cx="5177259"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d>
                        <m:dPr>
                          <m:begChr m:val="["/>
                          <m:endChr m:val="]"/>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𝟐</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𝟏</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𝟔</m:t>
                              </m:r>
                            </m:e>
                          </m:d>
                          <m:r>
                            <a:rPr lang="es-NI" sz="2100" b="1" i="1" smtClean="0">
                              <a:solidFill>
                                <a:srgbClr val="A5A5A5">
                                  <a:lumMod val="50000"/>
                                </a:srgbClr>
                              </a:solidFill>
                              <a:latin typeface="Cambria Math" panose="02040503050406030204" pitchFamily="18" charset="0"/>
                              <a:cs typeface="Arial" panose="020B0604020202020204" pitchFamily="34" charset="0"/>
                            </a:rPr>
                            <m:t>+</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𝟐</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𝟏</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𝟒</m:t>
                              </m:r>
                            </m:e>
                          </m:d>
                          <m:r>
                            <a:rPr lang="es-NI" sz="2100" b="1" i="1" smtClean="0">
                              <a:solidFill>
                                <a:srgbClr val="A5A5A5">
                                  <a:lumMod val="50000"/>
                                </a:srgbClr>
                              </a:solidFill>
                              <a:latin typeface="Cambria Math" panose="02040503050406030204" pitchFamily="18" charset="0"/>
                              <a:cs typeface="Arial" panose="020B0604020202020204" pitchFamily="34" charset="0"/>
                            </a:rPr>
                            <m:t>+</m:t>
                          </m:r>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m:t>
                              </m:r>
                              <m:r>
                                <a:rPr lang="es-NI" sz="2100" b="1" i="1" smtClean="0">
                                  <a:solidFill>
                                    <a:srgbClr val="A5A5A5">
                                      <a:lumMod val="50000"/>
                                    </a:srgbClr>
                                  </a:solidFill>
                                  <a:latin typeface="Cambria Math" panose="02040503050406030204" pitchFamily="18" charset="0"/>
                                  <a:cs typeface="Arial" panose="020B0604020202020204" pitchFamily="34" charset="0"/>
                                </a:rPr>
                                <m:t>𝟓</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𝟑</m:t>
                              </m:r>
                            </m:e>
                          </m:d>
                          <m:d>
                            <m:dPr>
                              <m:ctrlPr>
                                <a:rPr lang="es-NI" sz="2100" b="1" i="1" smtClean="0">
                                  <a:solidFill>
                                    <a:srgbClr val="A5A5A5">
                                      <a:lumMod val="50000"/>
                                    </a:srgbClr>
                                  </a:solidFill>
                                  <a:latin typeface="Cambria Math" panose="02040503050406030204" pitchFamily="18" charset="0"/>
                                  <a:cs typeface="Arial" panose="020B0604020202020204" pitchFamily="34" charset="0"/>
                                </a:rPr>
                              </m:ctrlPr>
                            </m:dPr>
                            <m:e>
                              <m:r>
                                <a:rPr lang="es-NI" sz="2100" b="1" i="1" smtClean="0">
                                  <a:solidFill>
                                    <a:srgbClr val="A5A5A5">
                                      <a:lumMod val="50000"/>
                                    </a:srgbClr>
                                  </a:solidFill>
                                  <a:latin typeface="Cambria Math" panose="02040503050406030204" pitchFamily="18" charset="0"/>
                                  <a:cs typeface="Arial" panose="020B0604020202020204" pitchFamily="34" charset="0"/>
                                </a:rPr>
                                <m:t>𝟎</m:t>
                              </m:r>
                            </m:e>
                          </m:d>
                        </m:e>
                      </m:d>
                    </m:oMath>
                  </m:oMathPara>
                </a14:m>
                <a:endParaRPr lang="es-NI" sz="2100" b="1" dirty="0">
                  <a:solidFill>
                    <a:srgbClr val="A5A5A5">
                      <a:lumMod val="50000"/>
                    </a:srgbClr>
                  </a:solidFill>
                  <a:cs typeface="Arial" panose="020B0604020202020204" pitchFamily="34" charset="0"/>
                </a:endParaRPr>
              </a:p>
            </p:txBody>
          </p:sp>
        </mc:Choice>
        <mc:Fallback xmlns="">
          <p:sp>
            <p:nvSpPr>
              <p:cNvPr id="24" name="Title 1"/>
              <p:cNvSpPr txBox="1">
                <a:spLocks noRot="1" noChangeAspect="1" noMove="1" noResize="1" noEditPoints="1" noAdjustHandles="1" noChangeArrowheads="1" noChangeShapeType="1" noTextEdit="1"/>
              </p:cNvSpPr>
              <p:nvPr/>
            </p:nvSpPr>
            <p:spPr>
              <a:xfrm>
                <a:off x="6695526" y="5801239"/>
                <a:ext cx="5177259" cy="391357"/>
              </a:xfrm>
              <a:prstGeom prst="rect">
                <a:avLst/>
              </a:prstGeom>
              <a:blipFill rotWithShape="0">
                <a:blip r:embed="rId1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Title 1"/>
              <p:cNvSpPr txBox="1">
                <a:spLocks/>
              </p:cNvSpPr>
              <p:nvPr/>
            </p:nvSpPr>
            <p:spPr>
              <a:xfrm>
                <a:off x="347729" y="6428880"/>
                <a:ext cx="1276207" cy="3241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100" b="1" i="1" smtClean="0">
                          <a:solidFill>
                            <a:srgbClr val="A5A5A5">
                              <a:lumMod val="50000"/>
                            </a:srgbClr>
                          </a:solidFill>
                          <a:latin typeface="Cambria Math" panose="02040503050406030204" pitchFamily="18" charset="0"/>
                          <a:cs typeface="Arial" panose="020B0604020202020204" pitchFamily="34" charset="0"/>
                        </a:rPr>
                        <m:t>𝒅𝒆𝒕𝑩</m:t>
                      </m:r>
                      <m:r>
                        <a:rPr lang="es-NI" sz="2100" b="1" i="1" smtClean="0">
                          <a:solidFill>
                            <a:srgbClr val="A5A5A5">
                              <a:lumMod val="50000"/>
                            </a:srgbClr>
                          </a:solidFill>
                          <a:latin typeface="Cambria Math" panose="02040503050406030204" pitchFamily="18" charset="0"/>
                          <a:cs typeface="Arial" panose="020B0604020202020204" pitchFamily="34" charset="0"/>
                        </a:rPr>
                        <m:t>=</m:t>
                      </m:r>
                    </m:oMath>
                  </m:oMathPara>
                </a14:m>
                <a:endParaRPr lang="es-NI" sz="2100" b="1" dirty="0">
                  <a:solidFill>
                    <a:srgbClr val="A5A5A5">
                      <a:lumMod val="50000"/>
                    </a:srgbClr>
                  </a:solidFill>
                  <a:cs typeface="Arial" panose="020B0604020202020204" pitchFamily="34" charset="0"/>
                </a:endParaRPr>
              </a:p>
            </p:txBody>
          </p:sp>
        </mc:Choice>
        <mc:Fallback xmlns="">
          <p:sp>
            <p:nvSpPr>
              <p:cNvPr id="25" name="Title 1"/>
              <p:cNvSpPr txBox="1">
                <a:spLocks noRot="1" noChangeAspect="1" noMove="1" noResize="1" noEditPoints="1" noAdjustHandles="1" noChangeArrowheads="1" noChangeShapeType="1" noTextEdit="1"/>
              </p:cNvSpPr>
              <p:nvPr/>
            </p:nvSpPr>
            <p:spPr>
              <a:xfrm>
                <a:off x="347729" y="6428880"/>
                <a:ext cx="1276207" cy="324184"/>
              </a:xfrm>
              <a:prstGeom prst="rect">
                <a:avLst/>
              </a:prstGeom>
              <a:blipFill rotWithShape="0">
                <a:blip r:embed="rId15"/>
                <a:stretch>
                  <a:fillRect b="-943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6" name="Title 1"/>
              <p:cNvSpPr txBox="1">
                <a:spLocks/>
              </p:cNvSpPr>
              <p:nvPr/>
            </p:nvSpPr>
            <p:spPr>
              <a:xfrm>
                <a:off x="1443971" y="6428880"/>
                <a:ext cx="602546" cy="32418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r>
                        <a:rPr lang="es-NI" sz="2100" b="1" i="1" smtClean="0">
                          <a:solidFill>
                            <a:srgbClr val="FF0000"/>
                          </a:solidFill>
                          <a:latin typeface="Cambria Math" panose="02040503050406030204" pitchFamily="18" charset="0"/>
                          <a:cs typeface="Arial" panose="020B0604020202020204" pitchFamily="34" charset="0"/>
                        </a:rPr>
                        <m:t>𝟑𝟔</m:t>
                      </m:r>
                    </m:oMath>
                  </m:oMathPara>
                </a14:m>
                <a:endParaRPr lang="es-NI" sz="2100" b="1" dirty="0">
                  <a:solidFill>
                    <a:srgbClr val="FF0000"/>
                  </a:solidFill>
                  <a:cs typeface="Arial" panose="020B0604020202020204" pitchFamily="34" charset="0"/>
                </a:endParaRPr>
              </a:p>
            </p:txBody>
          </p:sp>
        </mc:Choice>
        <mc:Fallback xmlns="">
          <p:sp>
            <p:nvSpPr>
              <p:cNvPr id="26" name="Title 1"/>
              <p:cNvSpPr txBox="1">
                <a:spLocks noRot="1" noChangeAspect="1" noMove="1" noResize="1" noEditPoints="1" noAdjustHandles="1" noChangeArrowheads="1" noChangeShapeType="1" noTextEdit="1"/>
              </p:cNvSpPr>
              <p:nvPr/>
            </p:nvSpPr>
            <p:spPr>
              <a:xfrm>
                <a:off x="1443971" y="6428880"/>
                <a:ext cx="602546" cy="324184"/>
              </a:xfrm>
              <a:prstGeom prst="rect">
                <a:avLst/>
              </a:prstGeom>
              <a:blipFill rotWithShape="0">
                <a:blip r:embed="rId16"/>
                <a:stretch>
                  <a:fillRect l="-1010" b="-7547"/>
                </a:stretch>
              </a:blipFill>
            </p:spPr>
            <p:txBody>
              <a:bodyPr/>
              <a:lstStyle/>
              <a:p>
                <a:r>
                  <a:rPr lang="es-MX">
                    <a:noFill/>
                  </a:rPr>
                  <a:t> </a:t>
                </a:r>
              </a:p>
            </p:txBody>
          </p:sp>
        </mc:Fallback>
      </mc:AlternateContent>
    </p:spTree>
    <p:extLst>
      <p:ext uri="{BB962C8B-B14F-4D97-AF65-F5344CB8AC3E}">
        <p14:creationId xmlns:p14="http://schemas.microsoft.com/office/powerpoint/2010/main" val="157284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circle(in)">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ircle(in)">
                                      <p:cBhvr>
                                        <p:cTn id="28" dur="20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ircle(in)">
                                      <p:cBhvr>
                                        <p:cTn id="33" dur="2000"/>
                                        <p:tgtEl>
                                          <p:spTgt spid="8"/>
                                        </p:tgtEl>
                                      </p:cBhvr>
                                    </p:animEffect>
                                  </p:childTnLst>
                                </p:cTn>
                              </p:par>
                              <p:par>
                                <p:cTn id="34" presetID="6" presetClass="entr" presetSubtype="16"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circle(in)">
                                      <p:cBhvr>
                                        <p:cTn id="36" dur="2000"/>
                                        <p:tgtEl>
                                          <p:spTgt spid="14"/>
                                        </p:tgtEl>
                                      </p:cBhvr>
                                    </p:animEffect>
                                  </p:childTnLst>
                                </p:cTn>
                              </p:par>
                              <p:par>
                                <p:cTn id="37" presetID="6" presetClass="entr" presetSubtype="16"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circle(in)">
                                      <p:cBhvr>
                                        <p:cTn id="39" dur="2000"/>
                                        <p:tgtEl>
                                          <p:spTgt spid="15"/>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circle(in)">
                                      <p:cBhvr>
                                        <p:cTn id="42" dur="2000"/>
                                        <p:tgtEl>
                                          <p:spTgt spid="10"/>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circle(in)">
                                      <p:cBhvr>
                                        <p:cTn id="45" dur="2000"/>
                                        <p:tgtEl>
                                          <p:spTgt spid="16"/>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circle(in)">
                                      <p:cBhvr>
                                        <p:cTn id="48" dur="20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circle(in)">
                                      <p:cBhvr>
                                        <p:cTn id="53" dur="2000"/>
                                        <p:tgtEl>
                                          <p:spTgt spid="7"/>
                                        </p:tgtEl>
                                      </p:cBhvr>
                                    </p:animEffect>
                                  </p:childTnLst>
                                </p:cTn>
                              </p:par>
                              <p:par>
                                <p:cTn id="54" presetID="6" presetClass="entr" presetSubtype="16" fill="hold"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circle(in)">
                                      <p:cBhvr>
                                        <p:cTn id="56" dur="2000"/>
                                        <p:tgtEl>
                                          <p:spTgt spid="12"/>
                                        </p:tgtEl>
                                      </p:cBhvr>
                                    </p:animEffect>
                                  </p:childTnLst>
                                </p:cTn>
                              </p:par>
                              <p:par>
                                <p:cTn id="57" presetID="6" presetClass="entr" presetSubtype="16" fill="hold"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circle(in)">
                                      <p:cBhvr>
                                        <p:cTn id="59" dur="2000"/>
                                        <p:tgtEl>
                                          <p:spTgt spid="13"/>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circle(in)">
                                      <p:cBhvr>
                                        <p:cTn id="62" dur="2000"/>
                                        <p:tgtEl>
                                          <p:spTgt spid="18"/>
                                        </p:tgtEl>
                                      </p:cBhvr>
                                    </p:animEffect>
                                  </p:childTnLst>
                                </p:cTn>
                              </p:par>
                              <p:par>
                                <p:cTn id="63" presetID="6" presetClass="entr" presetSubtype="16"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circle(in)">
                                      <p:cBhvr>
                                        <p:cTn id="65" dur="2000"/>
                                        <p:tgtEl>
                                          <p:spTgt spid="9"/>
                                        </p:tgtEl>
                                      </p:cBhvr>
                                    </p:animEffect>
                                  </p:childTnLst>
                                </p:cTn>
                              </p:par>
                              <p:par>
                                <p:cTn id="66" presetID="6" presetClass="entr" presetSubtype="16"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circle(in)">
                                      <p:cBhvr>
                                        <p:cTn id="68" dur="20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6" presetClass="entr" presetSubtype="16"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circle(in)">
                                      <p:cBhvr>
                                        <p:cTn id="73" dur="20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down)">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circle(in)">
                                      <p:cBhvr>
                                        <p:cTn id="83" dur="20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circle(in)">
                                      <p:cBhvr>
                                        <p:cTn id="88" dur="2000"/>
                                        <p:tgtEl>
                                          <p:spTgt spid="23"/>
                                        </p:tgtEl>
                                      </p:cBhvr>
                                    </p:animEffect>
                                  </p:childTnLst>
                                </p:cTn>
                              </p:par>
                            </p:childTnLst>
                          </p:cTn>
                        </p:par>
                      </p:childTnLst>
                    </p:cTn>
                  </p:par>
                  <p:par>
                    <p:cTn id="89" fill="hold">
                      <p:stCondLst>
                        <p:cond delay="indefinite"/>
                      </p:stCondLst>
                      <p:childTnLst>
                        <p:par>
                          <p:cTn id="90" fill="hold">
                            <p:stCondLst>
                              <p:cond delay="0"/>
                            </p:stCondLst>
                            <p:childTnLst>
                              <p:par>
                                <p:cTn id="91" presetID="6" presetClass="entr" presetSubtype="16"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circle(in)">
                                      <p:cBhvr>
                                        <p:cTn id="93" dur="2000"/>
                                        <p:tgtEl>
                                          <p:spTgt spid="24"/>
                                        </p:tgtEl>
                                      </p:cBhvr>
                                    </p:animEffect>
                                  </p:childTnLst>
                                </p:cTn>
                              </p:par>
                            </p:childTnLst>
                          </p:cTn>
                        </p:par>
                      </p:childTnLst>
                    </p:cTn>
                  </p:par>
                  <p:par>
                    <p:cTn id="94" fill="hold">
                      <p:stCondLst>
                        <p:cond delay="indefinite"/>
                      </p:stCondLst>
                      <p:childTnLst>
                        <p:par>
                          <p:cTn id="95" fill="hold">
                            <p:stCondLst>
                              <p:cond delay="0"/>
                            </p:stCondLst>
                            <p:childTnLst>
                              <p:par>
                                <p:cTn id="96" presetID="6" presetClass="entr" presetSubtype="16" fill="hold" grpId="0"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circle(in)">
                                      <p:cBhvr>
                                        <p:cTn id="98" dur="2000"/>
                                        <p:tgtEl>
                                          <p:spTgt spid="25"/>
                                        </p:tgtEl>
                                      </p:cBhvr>
                                    </p:animEffect>
                                  </p:childTnLst>
                                </p:cTn>
                              </p:par>
                              <p:par>
                                <p:cTn id="99" presetID="6" presetClass="entr" presetSubtype="16"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circle(in)">
                                      <p:cBhvr>
                                        <p:cTn id="101"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9" grpId="0"/>
      <p:bldP spid="10" grpId="0"/>
      <p:bldP spid="11" grpId="0"/>
      <p:bldP spid="16" grpId="0"/>
      <p:bldP spid="17" grpId="0"/>
      <p:bldP spid="18" grpId="0"/>
      <p:bldP spid="19" grpId="0"/>
      <p:bldP spid="20" grpId="0"/>
      <p:bldP spid="21" grpId="0"/>
      <p:bldP spid="22" grpId="0"/>
      <p:bldP spid="23" grpId="0"/>
      <p:bldP spid="24" grpId="0"/>
      <p:bldP spid="2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128176"/>
            <a:ext cx="1764406" cy="461665"/>
          </a:xfrm>
          <a:prstGeom prst="rect">
            <a:avLst/>
          </a:prstGeom>
        </p:spPr>
        <p:txBody>
          <a:bodyPr wrap="square">
            <a:spAutoFit/>
          </a:bodyPr>
          <a:lstStyle/>
          <a:p>
            <a:pPr marL="0" lvl="1" algn="just"/>
            <a:r>
              <a:rPr lang="es-ES" sz="2400" b="1" dirty="0" smtClean="0">
                <a:solidFill>
                  <a:srgbClr val="FF0000"/>
                </a:solidFill>
              </a:rPr>
              <a:t>Ejemplo 2</a:t>
            </a:r>
            <a:endParaRPr lang="es-MX" sz="2400" b="1" dirty="0">
              <a:solidFill>
                <a:srgbClr val="FF0000"/>
              </a:solidFill>
            </a:endParaRPr>
          </a:p>
        </p:txBody>
      </p:sp>
      <p:sp>
        <p:nvSpPr>
          <p:cNvPr id="3" name="Rectángulo 2"/>
          <p:cNvSpPr/>
          <p:nvPr/>
        </p:nvSpPr>
        <p:spPr>
          <a:xfrm>
            <a:off x="-1" y="1655109"/>
            <a:ext cx="4675032" cy="446276"/>
          </a:xfrm>
          <a:prstGeom prst="rect">
            <a:avLst/>
          </a:prstGeom>
        </p:spPr>
        <p:txBody>
          <a:bodyPr wrap="square">
            <a:spAutoFit/>
          </a:bodyPr>
          <a:lstStyle/>
          <a:p>
            <a:pPr marL="0" lvl="1"/>
            <a:r>
              <a:rPr lang="es-MX" sz="2300" b="1" dirty="0" smtClean="0">
                <a:solidFill>
                  <a:schemeClr val="accent3">
                    <a:lumMod val="50000"/>
                  </a:schemeClr>
                </a:solidFill>
              </a:rPr>
              <a:t>Calcule el determinante por </a:t>
            </a:r>
            <a:r>
              <a:rPr lang="es-MX" sz="2300" b="1" dirty="0" err="1" smtClean="0">
                <a:solidFill>
                  <a:schemeClr val="accent3">
                    <a:lumMod val="50000"/>
                  </a:schemeClr>
                </a:solidFill>
              </a:rPr>
              <a:t>Sarrus</a:t>
            </a:r>
            <a:endParaRPr lang="es-MX" sz="2300" b="1" dirty="0">
              <a:solidFill>
                <a:schemeClr val="accent3">
                  <a:lumMod val="50000"/>
                </a:schemeClr>
              </a:solidFill>
            </a:endParaRPr>
          </a:p>
        </p:txBody>
      </p:sp>
      <mc:AlternateContent xmlns:mc="http://schemas.openxmlformats.org/markup-compatibility/2006" xmlns:a14="http://schemas.microsoft.com/office/drawing/2010/main">
        <mc:Choice Requires="a14">
          <p:sp>
            <p:nvSpPr>
              <p:cNvPr id="4" name="Rectángulo 3"/>
              <p:cNvSpPr/>
              <p:nvPr/>
            </p:nvSpPr>
            <p:spPr>
              <a:xfrm>
                <a:off x="0" y="2195486"/>
                <a:ext cx="2343955" cy="1098442"/>
              </a:xfrm>
              <a:prstGeom prst="rect">
                <a:avLst/>
              </a:prstGeom>
            </p:spPr>
            <p:txBody>
              <a:bodyPr wrap="square">
                <a:spAutoFit/>
              </a:bodyPr>
              <a:lstStyle/>
              <a:p>
                <a:pPr marL="0" lvl="1" algn="just"/>
                <a14:m>
                  <m:oMathPara xmlns:m="http://schemas.openxmlformats.org/officeDocument/2006/math">
                    <m:oMathParaPr>
                      <m:jc m:val="left"/>
                    </m:oMathParaPr>
                    <m:oMath xmlns:m="http://schemas.openxmlformats.org/officeDocument/2006/math">
                      <m:r>
                        <a:rPr lang="es-MX" sz="2400" b="1" i="1" smtClean="0">
                          <a:solidFill>
                            <a:schemeClr val="accent3">
                              <a:lumMod val="50000"/>
                            </a:schemeClr>
                          </a:solidFill>
                          <a:latin typeface="Cambria Math" panose="02040503050406030204" pitchFamily="18" charset="0"/>
                        </a:rPr>
                        <m:t>𝑨</m:t>
                      </m:r>
                      <m:r>
                        <a:rPr lang="es-MX" sz="2400" b="1" i="1" smtClean="0">
                          <a:solidFill>
                            <a:schemeClr val="accent3">
                              <a:lumMod val="50000"/>
                            </a:schemeClr>
                          </a:solidFill>
                          <a:latin typeface="Cambria Math" panose="02040503050406030204" pitchFamily="18" charset="0"/>
                        </a:rPr>
                        <m:t>=</m:t>
                      </m:r>
                      <m:d>
                        <m:dPr>
                          <m:begChr m:val="|"/>
                          <m:endChr m:val="|"/>
                          <m:ctrlPr>
                            <a:rPr lang="es-MX" sz="2400" b="1" i="1" smtClean="0">
                              <a:solidFill>
                                <a:schemeClr val="accent3">
                                  <a:lumMod val="50000"/>
                                </a:schemeClr>
                              </a:solidFill>
                              <a:latin typeface="Cambria Math" panose="02040503050406030204" pitchFamily="18" charset="0"/>
                            </a:rPr>
                          </m:ctrlPr>
                        </m:dPr>
                        <m:e>
                          <m:m>
                            <m:mPr>
                              <m:mcs>
                                <m:mc>
                                  <m:mcPr>
                                    <m:count m:val="3"/>
                                    <m:mcJc m:val="center"/>
                                  </m:mcPr>
                                </m:mc>
                              </m:mcs>
                              <m:ctrlPr>
                                <a:rPr lang="es-MX" sz="2400" b="1" i="1" smtClean="0">
                                  <a:solidFill>
                                    <a:schemeClr val="accent3">
                                      <a:lumMod val="50000"/>
                                    </a:schemeClr>
                                  </a:solidFill>
                                  <a:latin typeface="Cambria Math" panose="02040503050406030204" pitchFamily="18" charset="0"/>
                                </a:rPr>
                              </m:ctrlPr>
                            </m:mPr>
                            <m:mr>
                              <m:e>
                                <m:r>
                                  <m:rPr>
                                    <m:brk m:alnAt="7"/>
                                  </m:rP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𝟐</m:t>
                                </m:r>
                              </m:e>
                              <m:e>
                                <m:r>
                                  <a:rPr lang="es-MX" sz="2400" b="1" i="1" smtClean="0">
                                    <a:solidFill>
                                      <a:schemeClr val="accent3">
                                        <a:lumMod val="50000"/>
                                      </a:schemeClr>
                                    </a:solidFill>
                                    <a:latin typeface="Cambria Math" panose="02040503050406030204" pitchFamily="18" charset="0"/>
                                  </a:rPr>
                                  <m:t>𝟏</m:t>
                                </m:r>
                              </m:e>
                            </m:mr>
                            <m:mr>
                              <m:e>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𝟑</m:t>
                                </m:r>
                              </m:e>
                              <m:e>
                                <m:r>
                                  <a:rPr lang="es-MX" sz="2400" b="1" i="1" smtClean="0">
                                    <a:solidFill>
                                      <a:schemeClr val="accent3">
                                        <a:lumMod val="50000"/>
                                      </a:schemeClr>
                                    </a:solidFill>
                                    <a:latin typeface="Cambria Math" panose="02040503050406030204" pitchFamily="18" charset="0"/>
                                  </a:rPr>
                                  <m:t>𝟒</m:t>
                                </m:r>
                              </m:e>
                            </m:mr>
                            <m:mr>
                              <m:e>
                                <m:r>
                                  <a:rPr lang="es-MX" sz="2400" b="1" i="1" smtClean="0">
                                    <a:solidFill>
                                      <a:schemeClr val="accent3">
                                        <a:lumMod val="50000"/>
                                      </a:schemeClr>
                                    </a:solidFill>
                                    <a:latin typeface="Cambria Math" panose="02040503050406030204" pitchFamily="18" charset="0"/>
                                  </a:rPr>
                                  <m:t>𝟏</m:t>
                                </m:r>
                              </m:e>
                              <m:e>
                                <m:r>
                                  <a:rPr lang="es-MX" sz="2400" b="1" i="1" smtClean="0">
                                    <a:solidFill>
                                      <a:schemeClr val="accent3">
                                        <a:lumMod val="50000"/>
                                      </a:schemeClr>
                                    </a:solidFill>
                                    <a:latin typeface="Cambria Math" panose="02040503050406030204" pitchFamily="18" charset="0"/>
                                  </a:rPr>
                                  <m:t>𝟎</m:t>
                                </m:r>
                              </m:e>
                              <m:e>
                                <m:r>
                                  <a:rPr lang="es-MX" sz="2400" b="1" i="1" smtClean="0">
                                    <a:solidFill>
                                      <a:schemeClr val="accent3">
                                        <a:lumMod val="50000"/>
                                      </a:schemeClr>
                                    </a:solidFill>
                                    <a:latin typeface="Cambria Math" panose="02040503050406030204" pitchFamily="18" charset="0"/>
                                  </a:rPr>
                                  <m:t>𝟐</m:t>
                                </m:r>
                              </m:e>
                            </m:mr>
                          </m:m>
                        </m:e>
                      </m:d>
                    </m:oMath>
                  </m:oMathPara>
                </a14:m>
                <a:endParaRPr lang="es-MX" sz="2400" b="1" dirty="0">
                  <a:solidFill>
                    <a:schemeClr val="accent3">
                      <a:lumMod val="50000"/>
                    </a:schemeClr>
                  </a:solidFill>
                </a:endParaRPr>
              </a:p>
            </p:txBody>
          </p:sp>
        </mc:Choice>
        <mc:Fallback xmlns="">
          <p:sp>
            <p:nvSpPr>
              <p:cNvPr id="4" name="Rectángulo 3"/>
              <p:cNvSpPr>
                <a:spLocks noRot="1" noChangeAspect="1" noMove="1" noResize="1" noEditPoints="1" noAdjustHandles="1" noChangeArrowheads="1" noChangeShapeType="1" noTextEdit="1"/>
              </p:cNvSpPr>
              <p:nvPr/>
            </p:nvSpPr>
            <p:spPr>
              <a:xfrm>
                <a:off x="0" y="2195486"/>
                <a:ext cx="2343955" cy="1098442"/>
              </a:xfrm>
              <a:prstGeom prst="rect">
                <a:avLst/>
              </a:prstGeom>
              <a:blipFill rotWithShape="0">
                <a:blip r:embed="rId2"/>
                <a:stretch>
                  <a:fillRect/>
                </a:stretch>
              </a:blipFill>
            </p:spPr>
            <p:txBody>
              <a:bodyPr/>
              <a:lstStyle/>
              <a:p>
                <a:r>
                  <a:rPr lang="es-MX">
                    <a:noFill/>
                  </a:rPr>
                  <a:t> </a:t>
                </a:r>
              </a:p>
            </p:txBody>
          </p:sp>
        </mc:Fallback>
      </mc:AlternateContent>
      <p:sp>
        <p:nvSpPr>
          <p:cNvPr id="5" name="Rectángulo 4"/>
          <p:cNvSpPr/>
          <p:nvPr/>
        </p:nvSpPr>
        <p:spPr>
          <a:xfrm>
            <a:off x="0" y="3547292"/>
            <a:ext cx="1403797" cy="461665"/>
          </a:xfrm>
          <a:prstGeom prst="rect">
            <a:avLst/>
          </a:prstGeom>
        </p:spPr>
        <p:txBody>
          <a:bodyPr wrap="square">
            <a:spAutoFit/>
          </a:bodyPr>
          <a:lstStyle/>
          <a:p>
            <a:pPr marL="0" lvl="1" algn="just"/>
            <a:r>
              <a:rPr lang="es-ES" sz="2400" b="1" dirty="0" smtClean="0">
                <a:solidFill>
                  <a:srgbClr val="FF0000"/>
                </a:solidFill>
              </a:rPr>
              <a:t>Solución</a:t>
            </a:r>
            <a:endParaRPr lang="es-MX" sz="2400" b="1" dirty="0">
              <a:solidFill>
                <a:srgbClr val="FF0000"/>
              </a:solidFill>
            </a:endParaRPr>
          </a:p>
        </p:txBody>
      </p:sp>
      <p:pic>
        <p:nvPicPr>
          <p:cNvPr id="6" name="Imagen 5"/>
          <p:cNvPicPr>
            <a:picLocks noChangeAspect="1"/>
          </p:cNvPicPr>
          <p:nvPr/>
        </p:nvPicPr>
        <p:blipFill>
          <a:blip r:embed="rId3"/>
          <a:stretch>
            <a:fillRect/>
          </a:stretch>
        </p:blipFill>
        <p:spPr>
          <a:xfrm>
            <a:off x="1255220" y="3961456"/>
            <a:ext cx="1088735" cy="2188694"/>
          </a:xfrm>
          <a:prstGeom prst="rect">
            <a:avLst/>
          </a:prstGeom>
        </p:spPr>
      </p:pic>
      <mc:AlternateContent xmlns:mc="http://schemas.openxmlformats.org/markup-compatibility/2006" xmlns:a14="http://schemas.microsoft.com/office/drawing/2010/main">
        <mc:Choice Requires="a14">
          <p:sp>
            <p:nvSpPr>
              <p:cNvPr id="7" name="Rectángulo 6"/>
              <p:cNvSpPr/>
              <p:nvPr/>
            </p:nvSpPr>
            <p:spPr>
              <a:xfrm>
                <a:off x="2342771" y="4832220"/>
                <a:ext cx="9848045" cy="430887"/>
              </a:xfrm>
              <a:prstGeom prst="rect">
                <a:avLst/>
              </a:prstGeom>
            </p:spPr>
            <p:txBody>
              <a:bodyPr wrap="square">
                <a:spAutoFit/>
              </a:bodyPr>
              <a:lstStyle/>
              <a:p>
                <a:pPr marL="0" lvl="1" algn="just"/>
                <a14:m>
                  <m:oMathPara xmlns:m="http://schemas.openxmlformats.org/officeDocument/2006/math">
                    <m:oMathParaPr>
                      <m:jc m:val="left"/>
                    </m:oMathParaPr>
                    <m:oMath xmlns:m="http://schemas.openxmlformats.org/officeDocument/2006/math">
                      <m:r>
                        <a:rPr lang="es-MX" sz="2200" b="1" i="1" smtClean="0">
                          <a:solidFill>
                            <a:srgbClr val="FF0000"/>
                          </a:solidFill>
                          <a:latin typeface="Cambria Math" panose="02040503050406030204" pitchFamily="18" charset="0"/>
                        </a:rPr>
                        <m:t>=</m:t>
                      </m:r>
                      <m:d>
                        <m:dPr>
                          <m:begChr m:val="["/>
                          <m:endChr m:val="]"/>
                          <m:ctrlPr>
                            <a:rPr lang="es-MX" sz="2200" b="1" i="1" smtClean="0">
                              <a:solidFill>
                                <a:srgbClr val="FF0000"/>
                              </a:solidFill>
                              <a:latin typeface="Cambria Math" panose="02040503050406030204" pitchFamily="18" charset="0"/>
                            </a:rPr>
                          </m:ctrlPr>
                        </m:dPr>
                        <m:e>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𝟑</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𝟐</m:t>
                              </m:r>
                            </m:e>
                          </m:d>
                          <m:r>
                            <a:rPr lang="es-MX" sz="2200" b="1" i="1" smtClean="0">
                              <a:solidFill>
                                <a:srgbClr val="FF0000"/>
                              </a:solidFill>
                              <a:latin typeface="Cambria Math" panose="02040503050406030204" pitchFamily="18" charset="0"/>
                            </a:rPr>
                            <m:t>+</m:t>
                          </m:r>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𝟎</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𝟏</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𝟐</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𝟒</m:t>
                          </m:r>
                          <m:r>
                            <a:rPr lang="es-MX" sz="2200" b="1" i="1" smtClean="0">
                              <a:solidFill>
                                <a:srgbClr val="FF0000"/>
                              </a:solidFill>
                              <a:latin typeface="Cambria Math" panose="02040503050406030204" pitchFamily="18" charset="0"/>
                            </a:rPr>
                            <m:t>)</m:t>
                          </m:r>
                        </m:e>
                      </m:d>
                      <m:r>
                        <a:rPr lang="es-MX" sz="2200" b="1" i="1" smtClean="0">
                          <a:solidFill>
                            <a:srgbClr val="0070C0"/>
                          </a:solidFill>
                          <a:latin typeface="Cambria Math" panose="02040503050406030204" pitchFamily="18" charset="0"/>
                        </a:rPr>
                        <m:t>−</m:t>
                      </m:r>
                      <m:d>
                        <m:dPr>
                          <m:begChr m:val="["/>
                          <m:endChr m:val="]"/>
                          <m:ctrlPr>
                            <a:rPr lang="es-MX" sz="2200" b="1" i="1" smtClean="0">
                              <a:solidFill>
                                <a:srgbClr val="FF0000"/>
                              </a:solidFill>
                              <a:latin typeface="Cambria Math" panose="02040503050406030204" pitchFamily="18" charset="0"/>
                            </a:rPr>
                          </m:ctrlPr>
                        </m:dPr>
                        <m:e>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𝟑</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r>
                            <a:rPr lang="es-MX" sz="2200" b="1" i="1" smtClean="0">
                              <a:solidFill>
                                <a:srgbClr val="FF0000"/>
                              </a:solidFill>
                              <a:latin typeface="Cambria Math" panose="02040503050406030204" pitchFamily="18" charset="0"/>
                            </a:rPr>
                            <m:t>+</m:t>
                          </m:r>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𝟏</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𝟎</m:t>
                              </m:r>
                            </m:e>
                          </m:d>
                          <m:d>
                            <m:dPr>
                              <m:ctrlPr>
                                <a:rPr lang="es-MX" sz="2200" b="1" i="1" smtClean="0">
                                  <a:solidFill>
                                    <a:srgbClr val="FF0000"/>
                                  </a:solidFill>
                                  <a:latin typeface="Cambria Math" panose="02040503050406030204" pitchFamily="18" charset="0"/>
                                </a:rPr>
                              </m:ctrlPr>
                            </m:dPr>
                            <m:e>
                              <m:r>
                                <a:rPr lang="es-MX" sz="2200" b="1" i="1" smtClean="0">
                                  <a:solidFill>
                                    <a:srgbClr val="FF0000"/>
                                  </a:solidFill>
                                  <a:latin typeface="Cambria Math" panose="02040503050406030204" pitchFamily="18" charset="0"/>
                                </a:rPr>
                                <m:t>𝟒</m:t>
                              </m:r>
                            </m:e>
                          </m:d>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𝟏</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𝟐</m:t>
                          </m:r>
                          <m:r>
                            <a:rPr lang="es-MX" sz="2200" b="1" i="1" smtClean="0">
                              <a:solidFill>
                                <a:srgbClr val="FF0000"/>
                              </a:solidFill>
                              <a:latin typeface="Cambria Math" panose="02040503050406030204" pitchFamily="18" charset="0"/>
                            </a:rPr>
                            <m:t>)(</m:t>
                          </m:r>
                          <m:r>
                            <a:rPr lang="es-MX" sz="2200" b="1" i="1" smtClean="0">
                              <a:solidFill>
                                <a:srgbClr val="FF0000"/>
                              </a:solidFill>
                              <a:latin typeface="Cambria Math" panose="02040503050406030204" pitchFamily="18" charset="0"/>
                            </a:rPr>
                            <m:t>𝟐</m:t>
                          </m:r>
                          <m:r>
                            <a:rPr lang="es-MX" sz="2200" b="1" i="1" smtClean="0">
                              <a:solidFill>
                                <a:srgbClr val="FF0000"/>
                              </a:solidFill>
                              <a:latin typeface="Cambria Math" panose="02040503050406030204" pitchFamily="18" charset="0"/>
                            </a:rPr>
                            <m:t>)</m:t>
                          </m:r>
                        </m:e>
                      </m:d>
                    </m:oMath>
                  </m:oMathPara>
                </a14:m>
                <a:endParaRPr lang="es-MX" sz="2200" b="1" dirty="0">
                  <a:solidFill>
                    <a:srgbClr val="FF0000"/>
                  </a:solidFill>
                </a:endParaRPr>
              </a:p>
            </p:txBody>
          </p:sp>
        </mc:Choice>
        <mc:Fallback xmlns="">
          <p:sp>
            <p:nvSpPr>
              <p:cNvPr id="7" name="Rectángulo 6"/>
              <p:cNvSpPr>
                <a:spLocks noRot="1" noChangeAspect="1" noMove="1" noResize="1" noEditPoints="1" noAdjustHandles="1" noChangeArrowheads="1" noChangeShapeType="1" noTextEdit="1"/>
              </p:cNvSpPr>
              <p:nvPr/>
            </p:nvSpPr>
            <p:spPr>
              <a:xfrm>
                <a:off x="2342771" y="4832220"/>
                <a:ext cx="9848045" cy="430887"/>
              </a:xfrm>
              <a:prstGeom prst="rect">
                <a:avLst/>
              </a:prstGeom>
              <a:blipFill rotWithShape="0">
                <a:blip r:embed="rId4"/>
                <a:stretch>
                  <a:fillRect b="-1857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234804" y="6173351"/>
                <a:ext cx="4471586" cy="461665"/>
              </a:xfrm>
              <a:prstGeom prst="rect">
                <a:avLst/>
              </a:prstGeom>
            </p:spPr>
            <p:txBody>
              <a:bodyPr wrap="square">
                <a:spAutoFit/>
              </a:bodyPr>
              <a:lstStyle/>
              <a:p>
                <a:pPr marL="0" lvl="1" algn="just"/>
                <a14:m>
                  <m:oMathPara xmlns:m="http://schemas.openxmlformats.org/officeDocument/2006/math">
                    <m:oMathParaPr>
                      <m:jc m:val="left"/>
                    </m:oMathParaPr>
                    <m:oMath xmlns:m="http://schemas.openxmlformats.org/officeDocument/2006/math">
                      <m:d>
                        <m:dPr>
                          <m:begChr m:val="|"/>
                          <m:endChr m:val="|"/>
                          <m:ctrlPr>
                            <a:rPr lang="es-MX" sz="2400" b="1" i="1">
                              <a:solidFill>
                                <a:srgbClr val="0070C0"/>
                              </a:solidFill>
                              <a:latin typeface="Cambria Math" panose="02040503050406030204" pitchFamily="18" charset="0"/>
                            </a:rPr>
                          </m:ctrlPr>
                        </m:dPr>
                        <m:e>
                          <m:r>
                            <a:rPr lang="es-MX" sz="2400" b="1" i="1">
                              <a:solidFill>
                                <a:srgbClr val="0070C0"/>
                              </a:solidFill>
                              <a:latin typeface="Cambria Math" panose="02040503050406030204" pitchFamily="18" charset="0"/>
                            </a:rPr>
                            <m:t>𝑨</m:t>
                          </m:r>
                        </m:e>
                      </m:d>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r>
                            <a:rPr lang="es-MX" sz="2400" b="1" i="1" smtClean="0">
                              <a:solidFill>
                                <a:srgbClr val="FF0000"/>
                              </a:solidFill>
                              <a:latin typeface="Cambria Math" panose="02040503050406030204" pitchFamily="18" charset="0"/>
                            </a:rPr>
                            <m:t>𝟔</m:t>
                          </m:r>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𝟎</m:t>
                          </m:r>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𝟖</m:t>
                          </m:r>
                        </m:e>
                      </m:d>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r>
                            <a:rPr lang="es-MX" sz="2400" b="1" i="1" smtClean="0">
                              <a:solidFill>
                                <a:srgbClr val="FF0000"/>
                              </a:solidFill>
                              <a:latin typeface="Cambria Math" panose="02040503050406030204" pitchFamily="18" charset="0"/>
                            </a:rPr>
                            <m:t>𝟑</m:t>
                          </m:r>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𝟎</m:t>
                          </m:r>
                          <m:r>
                            <a:rPr lang="es-MX" sz="2400" b="1" i="1" smtClean="0">
                              <a:solidFill>
                                <a:srgbClr val="FF0000"/>
                              </a:solidFill>
                              <a:latin typeface="Cambria Math" panose="02040503050406030204" pitchFamily="18" charset="0"/>
                            </a:rPr>
                            <m:t>+</m:t>
                          </m:r>
                          <m:r>
                            <a:rPr lang="es-MX" sz="2400" b="1" i="1" smtClean="0">
                              <a:solidFill>
                                <a:srgbClr val="FF0000"/>
                              </a:solidFill>
                              <a:latin typeface="Cambria Math" panose="02040503050406030204" pitchFamily="18" charset="0"/>
                            </a:rPr>
                            <m:t>𝟒</m:t>
                          </m:r>
                        </m:e>
                      </m:d>
                    </m:oMath>
                  </m:oMathPara>
                </a14:m>
                <a:endParaRPr lang="es-MX" sz="2400" b="1" dirty="0">
                  <a:solidFill>
                    <a:srgbClr val="FF0000"/>
                  </a:solidFill>
                </a:endParaRPr>
              </a:p>
            </p:txBody>
          </p:sp>
        </mc:Choice>
        <mc:Fallback xmlns="">
          <p:sp>
            <p:nvSpPr>
              <p:cNvPr id="8" name="Rectángulo 7"/>
              <p:cNvSpPr>
                <a:spLocks noRot="1" noChangeAspect="1" noMove="1" noResize="1" noEditPoints="1" noAdjustHandles="1" noChangeArrowheads="1" noChangeShapeType="1" noTextEdit="1"/>
              </p:cNvSpPr>
              <p:nvPr/>
            </p:nvSpPr>
            <p:spPr>
              <a:xfrm>
                <a:off x="234804" y="6173351"/>
                <a:ext cx="4471586" cy="461665"/>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4474569" y="6176269"/>
                <a:ext cx="2064913" cy="461665"/>
              </a:xfrm>
              <a:prstGeom prst="rect">
                <a:avLst/>
              </a:prstGeom>
            </p:spPr>
            <p:txBody>
              <a:bodyPr wrap="square">
                <a:spAutoFit/>
              </a:bodyPr>
              <a:lstStyle/>
              <a:p>
                <a:pPr marL="0" lvl="1" algn="just"/>
                <a14:m>
                  <m:oMathPara xmlns:m="http://schemas.openxmlformats.org/officeDocument/2006/math">
                    <m:oMathParaPr>
                      <m:jc m:val="left"/>
                    </m:oMathParaPr>
                    <m:oMath xmlns:m="http://schemas.openxmlformats.org/officeDocument/2006/math">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r>
                            <a:rPr lang="es-MX" sz="2400" b="1" i="1" smtClean="0">
                              <a:solidFill>
                                <a:srgbClr val="FF0000"/>
                              </a:solidFill>
                              <a:latin typeface="Cambria Math" panose="02040503050406030204" pitchFamily="18" charset="0"/>
                            </a:rPr>
                            <m:t>𝟏𝟒</m:t>
                          </m:r>
                        </m:e>
                      </m:d>
                      <m:r>
                        <a:rPr lang="es-MX" sz="2400" b="1" i="1" smtClean="0">
                          <a:solidFill>
                            <a:srgbClr val="FF0000"/>
                          </a:solidFill>
                          <a:latin typeface="Cambria Math" panose="02040503050406030204" pitchFamily="18" charset="0"/>
                        </a:rPr>
                        <m:t>−</m:t>
                      </m:r>
                      <m:d>
                        <m:dPr>
                          <m:begChr m:val="["/>
                          <m:endChr m:val="]"/>
                          <m:ctrlPr>
                            <a:rPr lang="es-MX" sz="2400" b="1" i="1" smtClean="0">
                              <a:solidFill>
                                <a:srgbClr val="FF0000"/>
                              </a:solidFill>
                              <a:latin typeface="Cambria Math" panose="02040503050406030204" pitchFamily="18" charset="0"/>
                            </a:rPr>
                          </m:ctrlPr>
                        </m:dPr>
                        <m:e>
                          <m:r>
                            <a:rPr lang="es-MX" sz="2400" b="1" i="1" smtClean="0">
                              <a:solidFill>
                                <a:srgbClr val="FF0000"/>
                              </a:solidFill>
                              <a:latin typeface="Cambria Math" panose="02040503050406030204" pitchFamily="18" charset="0"/>
                            </a:rPr>
                            <m:t>𝟕</m:t>
                          </m:r>
                        </m:e>
                      </m:d>
                    </m:oMath>
                  </m:oMathPara>
                </a14:m>
                <a:endParaRPr lang="es-MX" sz="2400" b="1" dirty="0">
                  <a:solidFill>
                    <a:srgbClr val="FF0000"/>
                  </a:solidFill>
                </a:endParaRPr>
              </a:p>
            </p:txBody>
          </p:sp>
        </mc:Choice>
        <mc:Fallback xmlns="">
          <p:sp>
            <p:nvSpPr>
              <p:cNvPr id="9" name="Rectángulo 8"/>
              <p:cNvSpPr>
                <a:spLocks noRot="1" noChangeAspect="1" noMove="1" noResize="1" noEditPoints="1" noAdjustHandles="1" noChangeArrowheads="1" noChangeShapeType="1" noTextEdit="1"/>
              </p:cNvSpPr>
              <p:nvPr/>
            </p:nvSpPr>
            <p:spPr>
              <a:xfrm>
                <a:off x="4474569" y="6176269"/>
                <a:ext cx="2064913" cy="461665"/>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137017" y="6173351"/>
                <a:ext cx="804929" cy="461665"/>
              </a:xfrm>
              <a:prstGeom prst="rect">
                <a:avLst/>
              </a:prstGeom>
            </p:spPr>
            <p:txBody>
              <a:bodyPr wrap="square">
                <a:spAutoFit/>
              </a:bodyPr>
              <a:lstStyle/>
              <a:p>
                <a:pPr marL="0" lvl="1" algn="just"/>
                <a14:m>
                  <m:oMathPara xmlns:m="http://schemas.openxmlformats.org/officeDocument/2006/math">
                    <m:oMathParaPr>
                      <m:jc m:val="left"/>
                    </m:oMathParaPr>
                    <m:oMath xmlns:m="http://schemas.openxmlformats.org/officeDocument/2006/math">
                      <m:r>
                        <a:rPr lang="es-MX" sz="2400" b="1" i="1" smtClean="0">
                          <a:solidFill>
                            <a:srgbClr val="0070C0"/>
                          </a:solidFill>
                          <a:latin typeface="Cambria Math" panose="02040503050406030204" pitchFamily="18" charset="0"/>
                        </a:rPr>
                        <m:t>=</m:t>
                      </m:r>
                      <m:r>
                        <a:rPr lang="es-MX" sz="2400" b="1" i="1" smtClean="0">
                          <a:solidFill>
                            <a:srgbClr val="0070C0"/>
                          </a:solidFill>
                          <a:latin typeface="Cambria Math" panose="02040503050406030204" pitchFamily="18" charset="0"/>
                        </a:rPr>
                        <m:t>𝟕</m:t>
                      </m:r>
                    </m:oMath>
                  </m:oMathPara>
                </a14:m>
                <a:endParaRPr lang="es-MX" sz="2400" b="1" dirty="0">
                  <a:solidFill>
                    <a:srgbClr val="0070C0"/>
                  </a:solidFill>
                </a:endParaRPr>
              </a:p>
            </p:txBody>
          </p:sp>
        </mc:Choice>
        <mc:Fallback xmlns="">
          <p:sp>
            <p:nvSpPr>
              <p:cNvPr id="10" name="Rectángulo 9"/>
              <p:cNvSpPr>
                <a:spLocks noRot="1" noChangeAspect="1" noMove="1" noResize="1" noEditPoints="1" noAdjustHandles="1" noChangeArrowheads="1" noChangeShapeType="1" noTextEdit="1"/>
              </p:cNvSpPr>
              <p:nvPr/>
            </p:nvSpPr>
            <p:spPr>
              <a:xfrm>
                <a:off x="6137017" y="6173351"/>
                <a:ext cx="804929" cy="461665"/>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0" y="4781789"/>
                <a:ext cx="1403797" cy="461665"/>
              </a:xfrm>
              <a:prstGeom prst="rect">
                <a:avLst/>
              </a:prstGeom>
            </p:spPr>
            <p:txBody>
              <a:bodyPr wrap="square">
                <a:spAutoFit/>
              </a:bodyPr>
              <a:lstStyle/>
              <a:p>
                <a:pPr marL="0" lvl="1" algn="just"/>
                <a14:m>
                  <m:oMathPara xmlns:m="http://schemas.openxmlformats.org/officeDocument/2006/math">
                    <m:oMathParaPr>
                      <m:jc m:val="centerGroup"/>
                    </m:oMathParaPr>
                    <m:oMath xmlns:m="http://schemas.openxmlformats.org/officeDocument/2006/math">
                      <m:d>
                        <m:dPr>
                          <m:begChr m:val="|"/>
                          <m:endChr m:val="|"/>
                          <m:ctrlPr>
                            <a:rPr lang="es-MX" sz="2400" b="1" i="1" smtClean="0">
                              <a:solidFill>
                                <a:srgbClr val="0070C0"/>
                              </a:solidFill>
                              <a:latin typeface="Cambria Math" panose="02040503050406030204" pitchFamily="18" charset="0"/>
                            </a:rPr>
                          </m:ctrlPr>
                        </m:dPr>
                        <m:e>
                          <m:r>
                            <a:rPr lang="es-MX" sz="2400" b="1" i="1" smtClean="0">
                              <a:solidFill>
                                <a:srgbClr val="0070C0"/>
                              </a:solidFill>
                              <a:latin typeface="Cambria Math" panose="02040503050406030204" pitchFamily="18" charset="0"/>
                            </a:rPr>
                            <m:t>𝑨</m:t>
                          </m:r>
                        </m:e>
                      </m:d>
                      <m:r>
                        <a:rPr lang="es-MX" sz="2400" b="1" i="1" smtClean="0">
                          <a:solidFill>
                            <a:srgbClr val="0070C0"/>
                          </a:solidFill>
                          <a:latin typeface="Cambria Math" panose="02040503050406030204" pitchFamily="18" charset="0"/>
                        </a:rPr>
                        <m:t>=</m:t>
                      </m:r>
                    </m:oMath>
                  </m:oMathPara>
                </a14:m>
                <a:endParaRPr lang="es-MX" sz="2400" b="1" dirty="0">
                  <a:solidFill>
                    <a:srgbClr val="0070C0"/>
                  </a:solidFill>
                </a:endParaRPr>
              </a:p>
            </p:txBody>
          </p:sp>
        </mc:Choice>
        <mc:Fallback xmlns="">
          <p:sp>
            <p:nvSpPr>
              <p:cNvPr id="11" name="Rectángulo 10"/>
              <p:cNvSpPr>
                <a:spLocks noRot="1" noChangeAspect="1" noMove="1" noResize="1" noEditPoints="1" noAdjustHandles="1" noChangeArrowheads="1" noChangeShapeType="1" noTextEdit="1"/>
              </p:cNvSpPr>
              <p:nvPr/>
            </p:nvSpPr>
            <p:spPr>
              <a:xfrm>
                <a:off x="0" y="4781789"/>
                <a:ext cx="1403797" cy="461665"/>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6968776" y="6173351"/>
                <a:ext cx="1403797" cy="461665"/>
              </a:xfrm>
              <a:prstGeom prst="rect">
                <a:avLst/>
              </a:prstGeom>
            </p:spPr>
            <p:txBody>
              <a:bodyPr wrap="square">
                <a:spAutoFit/>
              </a:bodyPr>
              <a:lstStyle/>
              <a:p>
                <a:pPr marL="0" lvl="1" algn="just"/>
                <a14:m>
                  <m:oMathPara xmlns:m="http://schemas.openxmlformats.org/officeDocument/2006/math">
                    <m:oMathParaPr>
                      <m:jc m:val="centerGroup"/>
                    </m:oMathParaPr>
                    <m:oMath xmlns:m="http://schemas.openxmlformats.org/officeDocument/2006/math">
                      <m:d>
                        <m:dPr>
                          <m:begChr m:val="|"/>
                          <m:endChr m:val="|"/>
                          <m:ctrlPr>
                            <a:rPr lang="es-MX" sz="2400" b="1" i="1" smtClean="0">
                              <a:solidFill>
                                <a:srgbClr val="0070C0"/>
                              </a:solidFill>
                              <a:latin typeface="Cambria Math" panose="02040503050406030204" pitchFamily="18" charset="0"/>
                            </a:rPr>
                          </m:ctrlPr>
                        </m:dPr>
                        <m:e>
                          <m:r>
                            <a:rPr lang="es-MX" sz="2400" b="1" i="1" smtClean="0">
                              <a:solidFill>
                                <a:srgbClr val="0070C0"/>
                              </a:solidFill>
                              <a:latin typeface="Cambria Math" panose="02040503050406030204" pitchFamily="18" charset="0"/>
                            </a:rPr>
                            <m:t>𝑨</m:t>
                          </m:r>
                        </m:e>
                      </m:d>
                      <m:r>
                        <a:rPr lang="es-MX" sz="2400" b="1" i="1" smtClean="0">
                          <a:solidFill>
                            <a:srgbClr val="0070C0"/>
                          </a:solidFill>
                          <a:latin typeface="Cambria Math" panose="02040503050406030204" pitchFamily="18" charset="0"/>
                        </a:rPr>
                        <m:t>=</m:t>
                      </m:r>
                      <m:r>
                        <a:rPr lang="es-MX" sz="2400" b="1" i="0" smtClean="0">
                          <a:solidFill>
                            <a:srgbClr val="0070C0"/>
                          </a:solidFill>
                          <a:latin typeface="Cambria Math" panose="02040503050406030204" pitchFamily="18" charset="0"/>
                        </a:rPr>
                        <m:t>𝟕</m:t>
                      </m:r>
                    </m:oMath>
                  </m:oMathPara>
                </a14:m>
                <a:endParaRPr lang="es-MX" sz="2400" b="1" dirty="0">
                  <a:solidFill>
                    <a:srgbClr val="0070C0"/>
                  </a:solidFill>
                </a:endParaRPr>
              </a:p>
            </p:txBody>
          </p:sp>
        </mc:Choice>
        <mc:Fallback xmlns="">
          <p:sp>
            <p:nvSpPr>
              <p:cNvPr id="12" name="Rectángulo 11"/>
              <p:cNvSpPr>
                <a:spLocks noRot="1" noChangeAspect="1" noMove="1" noResize="1" noEditPoints="1" noAdjustHandles="1" noChangeArrowheads="1" noChangeShapeType="1" noTextEdit="1"/>
              </p:cNvSpPr>
              <p:nvPr/>
            </p:nvSpPr>
            <p:spPr>
              <a:xfrm>
                <a:off x="6968776" y="6173351"/>
                <a:ext cx="1403797" cy="461665"/>
              </a:xfrm>
              <a:prstGeom prst="rect">
                <a:avLst/>
              </a:prstGeom>
              <a:blipFill rotWithShape="0">
                <a:blip r:embed="rId9"/>
                <a:stretch>
                  <a:fillRect/>
                </a:stretch>
              </a:blipFill>
            </p:spPr>
            <p:txBody>
              <a:bodyPr/>
              <a:lstStyle/>
              <a:p>
                <a:r>
                  <a:rPr lang="es-MX">
                    <a:noFill/>
                  </a:rPr>
                  <a:t> </a:t>
                </a:r>
              </a:p>
            </p:txBody>
          </p:sp>
        </mc:Fallback>
      </mc:AlternateContent>
      <p:cxnSp>
        <p:nvCxnSpPr>
          <p:cNvPr id="13" name="Conector recto 12"/>
          <p:cNvCxnSpPr/>
          <p:nvPr/>
        </p:nvCxnSpPr>
        <p:spPr>
          <a:xfrm>
            <a:off x="1383046" y="5206570"/>
            <a:ext cx="1087551"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73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circle(in)">
                                      <p:cBhvr>
                                        <p:cTn id="32" dur="2000"/>
                                        <p:tgtEl>
                                          <p:spTgt spid="6"/>
                                        </p:tgtEl>
                                      </p:cBhvr>
                                    </p:animEffect>
                                  </p:childTnLst>
                                </p:cTn>
                              </p:par>
                              <p:par>
                                <p:cTn id="33" presetID="6" presetClass="entr" presetSubtype="16"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circle(in)">
                                      <p:cBhvr>
                                        <p:cTn id="35" dur="20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circle(in)">
                                      <p:cBhvr>
                                        <p:cTn id="40" dur="20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circle(in)">
                                      <p:cBhvr>
                                        <p:cTn id="45" dur="20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circle(in)">
                                      <p:cBhvr>
                                        <p:cTn id="50" dur="20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circle(in)">
                                      <p:cBhvr>
                                        <p:cTn id="55" dur="20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circle(in)">
                                      <p:cBhvr>
                                        <p:cTn id="6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7" grpId="0"/>
      <p:bldP spid="8" grpId="0"/>
      <p:bldP spid="9" grpId="0"/>
      <p:bldP spid="10" grpId="0"/>
      <p:bldP spid="11"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itle 1"/>
              <p:cNvSpPr txBox="1">
                <a:spLocks/>
              </p:cNvSpPr>
              <p:nvPr/>
            </p:nvSpPr>
            <p:spPr>
              <a:xfrm>
                <a:off x="4623516" y="2008420"/>
                <a:ext cx="3232597" cy="77708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m:t>
                          </m:r>
                        </m:sub>
                      </m:sSub>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𝒃</m:t>
                          </m:r>
                        </m:e>
                      </m:d>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𝒂</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𝒃</m:t>
                          </m:r>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  ⋯  </m:t>
                          </m:r>
                          <m:sSub>
                            <m:sSubPr>
                              <m:ctrlP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𝒂</m:t>
                              </m:r>
                            </m:e>
                            <m:sub>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𝒏</m:t>
                              </m:r>
                            </m:sub>
                          </m:sSub>
                        </m:e>
                      </m:d>
                    </m:oMath>
                  </m:oMathPara>
                </a14:m>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0" name="Title 1"/>
              <p:cNvSpPr txBox="1">
                <a:spLocks noRot="1" noChangeAspect="1" noMove="1" noResize="1" noEditPoints="1" noAdjustHandles="1" noChangeArrowheads="1" noChangeShapeType="1" noTextEdit="1"/>
              </p:cNvSpPr>
              <p:nvPr/>
            </p:nvSpPr>
            <p:spPr>
              <a:xfrm>
                <a:off x="4623516" y="2008420"/>
                <a:ext cx="3232597" cy="777080"/>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Title 1"/>
              <p:cNvSpPr txBox="1">
                <a:spLocks/>
              </p:cNvSpPr>
              <p:nvPr/>
            </p:nvSpPr>
            <p:spPr>
              <a:xfrm>
                <a:off x="0" y="1221939"/>
                <a:ext cx="12192000" cy="75798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000" b="1" dirty="0" smtClean="0">
                    <a:solidFill>
                      <a:schemeClr val="accent3">
                        <a:lumMod val="50000"/>
                      </a:schemeClr>
                    </a:solidFill>
                    <a:latin typeface="Arial" panose="020B0604020202020204" pitchFamily="34" charset="0"/>
                    <a:cs typeface="Arial" panose="020B0604020202020204" pitchFamily="34" charset="0"/>
                  </a:rPr>
                  <a:t>Para cualquier matriz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𝒏𝒙𝒏</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y cualquier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𝒃</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en </a:t>
                </a:r>
                <a14:m>
                  <m:oMath xmlns:m="http://schemas.openxmlformats.org/officeDocument/2006/math">
                    <m:sSup>
                      <m:sSup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pPr>
                      <m:e>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ℝ</m:t>
                        </m:r>
                      </m:e>
                      <m:sup>
                        <m:r>
                          <a:rPr lang="es-NI" sz="2000" b="1" i="1" smtClean="0">
                            <a:solidFill>
                              <a:schemeClr val="accent3">
                                <a:lumMod val="50000"/>
                              </a:schemeClr>
                            </a:solidFill>
                            <a:latin typeface="Cambria Math" panose="02040503050406030204" pitchFamily="18" charset="0"/>
                            <a:cs typeface="Arial" panose="020B0604020202020204" pitchFamily="34" charset="0"/>
                          </a:rPr>
                          <m:t>𝒏</m:t>
                        </m:r>
                      </m:sup>
                    </m:sSup>
                  </m:oMath>
                </a14:m>
                <a:r>
                  <a:rPr lang="es-NI" sz="2000" b="1" dirty="0" smtClean="0">
                    <a:solidFill>
                      <a:schemeClr val="accent3">
                        <a:lumMod val="50000"/>
                      </a:schemeClr>
                    </a:solidFill>
                    <a:latin typeface="Arial" panose="020B0604020202020204" pitchFamily="34" charset="0"/>
                    <a:cs typeface="Arial" panose="020B0604020202020204" pitchFamily="34" charset="0"/>
                  </a:rPr>
                  <a:t>, sea </a:t>
                </a:r>
                <a14:m>
                  <m:oMath xmlns:m="http://schemas.openxmlformats.org/officeDocument/2006/math">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m:t>
                        </m:r>
                      </m:sub>
                    </m:sSub>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𝒃</m:t>
                        </m:r>
                      </m:e>
                    </m:d>
                  </m:oMath>
                </a14:m>
                <a:r>
                  <a:rPr lang="es-NI" sz="2000" b="1" dirty="0" smtClean="0">
                    <a:solidFill>
                      <a:schemeClr val="accent3">
                        <a:lumMod val="50000"/>
                      </a:schemeClr>
                    </a:solidFill>
                    <a:latin typeface="Arial" panose="020B0604020202020204" pitchFamily="34" charset="0"/>
                    <a:cs typeface="Arial" panose="020B0604020202020204" pitchFamily="34" charset="0"/>
                  </a:rPr>
                  <a:t> la matriz obtenida a partir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al reemplazar la columna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𝒊</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por el vector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𝒃</m:t>
                    </m:r>
                    <m:r>
                      <a:rPr lang="es-NI" sz="2000" b="1" i="0" smtClean="0">
                        <a:solidFill>
                          <a:schemeClr val="accent3">
                            <a:lumMod val="50000"/>
                          </a:schemeClr>
                        </a:solidFill>
                        <a:latin typeface="Cambria Math" panose="02040503050406030204" pitchFamily="18" charset="0"/>
                        <a:cs typeface="Arial" panose="020B0604020202020204" pitchFamily="34" charset="0"/>
                      </a:rPr>
                      <m:t>.</m:t>
                    </m:r>
                  </m:oMath>
                </a14:m>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1" name="Title 1"/>
              <p:cNvSpPr txBox="1">
                <a:spLocks noRot="1" noChangeAspect="1" noMove="1" noResize="1" noEditPoints="1" noAdjustHandles="1" noChangeArrowheads="1" noChangeShapeType="1" noTextEdit="1"/>
              </p:cNvSpPr>
              <p:nvPr/>
            </p:nvSpPr>
            <p:spPr>
              <a:xfrm>
                <a:off x="0" y="1221939"/>
                <a:ext cx="12192000" cy="757987"/>
              </a:xfrm>
              <a:prstGeom prst="rect">
                <a:avLst/>
              </a:prstGeom>
              <a:blipFill rotWithShape="0">
                <a:blip r:embed="rId3"/>
                <a:stretch>
                  <a:fillRect l="-500" r="-500" b="-112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Title 1"/>
              <p:cNvSpPr txBox="1">
                <a:spLocks/>
              </p:cNvSpPr>
              <p:nvPr/>
            </p:nvSpPr>
            <p:spPr>
              <a:xfrm>
                <a:off x="6268255" y="3131094"/>
                <a:ext cx="702971" cy="38286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000" b="1" i="1" smtClean="0">
                          <a:solidFill>
                            <a:srgbClr val="FF0000"/>
                          </a:solidFill>
                          <a:latin typeface="Cambria Math" panose="02040503050406030204" pitchFamily="18" charset="0"/>
                          <a:cs typeface="Arial" panose="020B0604020202020204" pitchFamily="34" charset="0"/>
                        </a:rPr>
                        <m:t>𝒄𝒐𝒍</m:t>
                      </m:r>
                      <m:r>
                        <a:rPr lang="es-NI" sz="2000" b="1" i="1" smtClean="0">
                          <a:solidFill>
                            <a:srgbClr val="FF0000"/>
                          </a:solidFill>
                          <a:latin typeface="Cambria Math" panose="02040503050406030204" pitchFamily="18" charset="0"/>
                          <a:cs typeface="Arial" panose="020B0604020202020204" pitchFamily="34" charset="0"/>
                        </a:rPr>
                        <m:t> </m:t>
                      </m:r>
                      <m:r>
                        <a:rPr lang="es-NI" sz="2000" b="1" i="1" smtClean="0">
                          <a:solidFill>
                            <a:srgbClr val="FF0000"/>
                          </a:solidFill>
                          <a:latin typeface="Cambria Math" panose="02040503050406030204" pitchFamily="18" charset="0"/>
                          <a:cs typeface="Arial" panose="020B0604020202020204" pitchFamily="34" charset="0"/>
                        </a:rPr>
                        <m:t>𝒊</m:t>
                      </m:r>
                    </m:oMath>
                  </m:oMathPara>
                </a14:m>
                <a:endParaRPr lang="es-NI" sz="2000" b="1" dirty="0">
                  <a:solidFill>
                    <a:srgbClr val="FF0000"/>
                  </a:solidFill>
                  <a:cs typeface="Arial" panose="020B0604020202020204" pitchFamily="34" charset="0"/>
                </a:endParaRPr>
              </a:p>
            </p:txBody>
          </p:sp>
        </mc:Choice>
        <mc:Fallback xmlns="">
          <p:sp>
            <p:nvSpPr>
              <p:cNvPr id="12" name="Title 1"/>
              <p:cNvSpPr txBox="1">
                <a:spLocks noRot="1" noChangeAspect="1" noMove="1" noResize="1" noEditPoints="1" noAdjustHandles="1" noChangeArrowheads="1" noChangeShapeType="1" noTextEdit="1"/>
              </p:cNvSpPr>
              <p:nvPr/>
            </p:nvSpPr>
            <p:spPr>
              <a:xfrm>
                <a:off x="6268255" y="3131094"/>
                <a:ext cx="702971" cy="382866"/>
              </a:xfrm>
              <a:prstGeom prst="rect">
                <a:avLst/>
              </a:prstGeom>
              <a:blipFill rotWithShape="0">
                <a:blip r:embed="rId4"/>
                <a:stretch>
                  <a:fillRect/>
                </a:stretch>
              </a:blipFill>
            </p:spPr>
            <p:txBody>
              <a:bodyPr/>
              <a:lstStyle/>
              <a:p>
                <a:r>
                  <a:rPr lang="es-MX">
                    <a:noFill/>
                  </a:rPr>
                  <a:t> </a:t>
                </a:r>
              </a:p>
            </p:txBody>
          </p:sp>
        </mc:Fallback>
      </mc:AlternateContent>
      <p:sp>
        <p:nvSpPr>
          <p:cNvPr id="3" name="Flecha arriba 2"/>
          <p:cNvSpPr/>
          <p:nvPr/>
        </p:nvSpPr>
        <p:spPr>
          <a:xfrm>
            <a:off x="6555347" y="2575735"/>
            <a:ext cx="128788" cy="476518"/>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Title 1"/>
          <p:cNvSpPr txBox="1">
            <a:spLocks/>
          </p:cNvSpPr>
          <p:nvPr/>
        </p:nvSpPr>
        <p:spPr>
          <a:xfrm>
            <a:off x="-44002" y="3715210"/>
            <a:ext cx="2310684" cy="3931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000" b="1" dirty="0" smtClean="0">
                <a:solidFill>
                  <a:srgbClr val="FF0000"/>
                </a:solidFill>
                <a:latin typeface="Arial" panose="020B0604020202020204" pitchFamily="34" charset="0"/>
                <a:cs typeface="Arial" panose="020B0604020202020204" pitchFamily="34" charset="0"/>
              </a:rPr>
              <a:t>Regla de </a:t>
            </a:r>
            <a:r>
              <a:rPr lang="es-NI" sz="2000" b="1" dirty="0" err="1" smtClean="0">
                <a:solidFill>
                  <a:srgbClr val="FF0000"/>
                </a:solidFill>
                <a:latin typeface="Arial" panose="020B0604020202020204" pitchFamily="34" charset="0"/>
                <a:cs typeface="Arial" panose="020B0604020202020204" pitchFamily="34" charset="0"/>
              </a:rPr>
              <a:t>Cramer</a:t>
            </a:r>
            <a:endParaRPr lang="es-NI" sz="20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itle 1"/>
              <p:cNvSpPr txBox="1">
                <a:spLocks/>
              </p:cNvSpPr>
              <p:nvPr/>
            </p:nvSpPr>
            <p:spPr>
              <a:xfrm>
                <a:off x="-44002" y="4202460"/>
                <a:ext cx="12236002" cy="71727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defRPr/>
                </a:pPr>
                <a:r>
                  <a:rPr lang="es-NI" sz="2000" b="1" dirty="0" smtClean="0">
                    <a:solidFill>
                      <a:schemeClr val="accent3">
                        <a:lumMod val="50000"/>
                      </a:schemeClr>
                    </a:solidFill>
                    <a:latin typeface="Arial" panose="020B0604020202020204" pitchFamily="34" charset="0"/>
                    <a:cs typeface="Arial" panose="020B0604020202020204" pitchFamily="34" charset="0"/>
                  </a:rPr>
                  <a:t>Sea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una matriz invertible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𝒏𝒙𝒏</m:t>
                    </m:r>
                    <m:r>
                      <a:rPr lang="es-NI" sz="2000" b="1" i="0" smtClean="0">
                        <a:solidFill>
                          <a:schemeClr val="accent3">
                            <a:lumMod val="50000"/>
                          </a:schemeClr>
                        </a:solidFill>
                        <a:latin typeface="Cambria Math" panose="02040503050406030204" pitchFamily="18" charset="0"/>
                        <a:cs typeface="Arial" panose="020B0604020202020204" pitchFamily="34" charset="0"/>
                      </a:rPr>
                      <m:t>.</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Para cualquier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𝒃</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en </a:t>
                </a:r>
                <a14:m>
                  <m:oMath xmlns:m="http://schemas.openxmlformats.org/officeDocument/2006/math">
                    <m:sSup>
                      <m:sSupPr>
                        <m:ctrlPr>
                          <a:rPr lang="es-NI" sz="2000" b="1" i="1">
                            <a:solidFill>
                              <a:schemeClr val="accent3">
                                <a:lumMod val="50000"/>
                              </a:schemeClr>
                            </a:solidFill>
                            <a:latin typeface="Cambria Math" panose="02040503050406030204" pitchFamily="18" charset="0"/>
                            <a:cs typeface="Arial" panose="020B0604020202020204" pitchFamily="34" charset="0"/>
                          </a:rPr>
                        </m:ctrlPr>
                      </m:sSupPr>
                      <m:e>
                        <m:r>
                          <a:rPr lang="es-NI" sz="2000" b="1" i="1">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ℝ</m:t>
                        </m:r>
                      </m:e>
                      <m:sup>
                        <m:r>
                          <a:rPr lang="es-NI" sz="2000" b="1" i="1">
                            <a:solidFill>
                              <a:schemeClr val="accent3">
                                <a:lumMod val="50000"/>
                              </a:schemeClr>
                            </a:solidFill>
                            <a:latin typeface="Cambria Math" panose="02040503050406030204" pitchFamily="18" charset="0"/>
                            <a:cs typeface="Arial" panose="020B0604020202020204" pitchFamily="34" charset="0"/>
                          </a:rPr>
                          <m:t>𝒏</m:t>
                        </m:r>
                      </m:sup>
                    </m:sSup>
                  </m:oMath>
                </a14:m>
                <a:r>
                  <a:rPr lang="es-NI" sz="2000" b="1" dirty="0" smtClean="0">
                    <a:solidFill>
                      <a:schemeClr val="accent3">
                        <a:lumMod val="50000"/>
                      </a:schemeClr>
                    </a:solidFill>
                    <a:latin typeface="Arial" panose="020B0604020202020204" pitchFamily="34" charset="0"/>
                    <a:cs typeface="Arial" panose="020B0604020202020204" pitchFamily="34" charset="0"/>
                  </a:rPr>
                  <a:t>, la única solución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𝒙</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𝑨𝒙</m:t>
                    </m:r>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𝒃</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tiene entradas dadas por   </a:t>
                </a:r>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8" name="Title 1"/>
              <p:cNvSpPr txBox="1">
                <a:spLocks noRot="1" noChangeAspect="1" noMove="1" noResize="1" noEditPoints="1" noAdjustHandles="1" noChangeArrowheads="1" noChangeShapeType="1" noTextEdit="1"/>
              </p:cNvSpPr>
              <p:nvPr/>
            </p:nvSpPr>
            <p:spPr>
              <a:xfrm>
                <a:off x="-44002" y="4202460"/>
                <a:ext cx="12236002" cy="717270"/>
              </a:xfrm>
              <a:prstGeom prst="rect">
                <a:avLst/>
              </a:prstGeom>
              <a:blipFill rotWithShape="0">
                <a:blip r:embed="rId5"/>
                <a:stretch>
                  <a:fillRect l="-548" t="-2542" r="-498" b="-152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Title 1"/>
              <p:cNvSpPr txBox="1">
                <a:spLocks/>
              </p:cNvSpPr>
              <p:nvPr/>
            </p:nvSpPr>
            <p:spPr>
              <a:xfrm>
                <a:off x="3149420" y="4715892"/>
                <a:ext cx="3637745" cy="91624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𝒙</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m:t>
                      </m:r>
                      <m:f>
                        <m:f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fPr>
                        <m:num>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m:t>
                              </m:r>
                            </m:sub>
                          </m:sSub>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r>
                                <a:rPr lang="es-NI" sz="2000" b="1" i="1" smtClean="0">
                                  <a:solidFill>
                                    <a:schemeClr val="accent3">
                                      <a:lumMod val="50000"/>
                                    </a:schemeClr>
                                  </a:solidFill>
                                  <a:latin typeface="Cambria Math" panose="02040503050406030204" pitchFamily="18" charset="0"/>
                                  <a:cs typeface="Arial" panose="020B0604020202020204" pitchFamily="34" charset="0"/>
                                </a:rPr>
                                <m:t>𝒃</m:t>
                              </m:r>
                            </m:e>
                          </m:d>
                        </m:num>
                        <m:den>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𝑨</m:t>
                          </m:r>
                        </m:den>
                      </m:f>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𝒊</m:t>
                      </m:r>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𝟏</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𝟐</m:t>
                      </m:r>
                      <m:r>
                        <a:rPr lang="es-NI" sz="2000" b="1" i="1" smtClean="0">
                          <a:solidFill>
                            <a:schemeClr val="accent3">
                              <a:lumMod val="50000"/>
                            </a:schemeClr>
                          </a:solidFill>
                          <a:latin typeface="Cambria Math" panose="02040503050406030204" pitchFamily="18" charset="0"/>
                          <a:cs typeface="Arial" panose="020B0604020202020204" pitchFamily="34" charset="0"/>
                        </a:rPr>
                        <m:t>, …, </m:t>
                      </m:r>
                      <m:r>
                        <a:rPr lang="es-NI" sz="2000" b="1" i="1" smtClean="0">
                          <a:solidFill>
                            <a:schemeClr val="accent3">
                              <a:lumMod val="50000"/>
                            </a:schemeClr>
                          </a:solidFill>
                          <a:latin typeface="Cambria Math" panose="02040503050406030204" pitchFamily="18" charset="0"/>
                          <a:cs typeface="Arial" panose="020B0604020202020204" pitchFamily="34" charset="0"/>
                        </a:rPr>
                        <m:t>𝒏</m:t>
                      </m:r>
                      <m:r>
                        <a:rPr lang="es-NI" sz="2000" b="1" i="1" smtClean="0">
                          <a:solidFill>
                            <a:schemeClr val="accent3">
                              <a:lumMod val="50000"/>
                            </a:schemeClr>
                          </a:solidFill>
                          <a:latin typeface="Cambria Math" panose="02040503050406030204" pitchFamily="18" charset="0"/>
                          <a:cs typeface="Arial" panose="020B0604020202020204" pitchFamily="34" charset="0"/>
                        </a:rPr>
                        <m:t> </m:t>
                      </m:r>
                    </m:oMath>
                  </m:oMathPara>
                </a14:m>
                <a:endParaRPr lang="es-NI" sz="2000" b="1" dirty="0">
                  <a:solidFill>
                    <a:schemeClr val="accent3">
                      <a:lumMod val="50000"/>
                    </a:schemeClr>
                  </a:solidFill>
                  <a:cs typeface="Arial" panose="020B0604020202020204" pitchFamily="34" charset="0"/>
                </a:endParaRPr>
              </a:p>
            </p:txBody>
          </p:sp>
        </mc:Choice>
        <mc:Fallback xmlns="">
          <p:sp>
            <p:nvSpPr>
              <p:cNvPr id="9" name="Title 1"/>
              <p:cNvSpPr txBox="1">
                <a:spLocks noRot="1" noChangeAspect="1" noMove="1" noResize="1" noEditPoints="1" noAdjustHandles="1" noChangeArrowheads="1" noChangeShapeType="1" noTextEdit="1"/>
              </p:cNvSpPr>
              <p:nvPr/>
            </p:nvSpPr>
            <p:spPr>
              <a:xfrm>
                <a:off x="3149420" y="4715892"/>
                <a:ext cx="3637745" cy="916248"/>
              </a:xfrm>
              <a:prstGeom prst="rect">
                <a:avLst/>
              </a:prstGeom>
              <a:blipFill rotWithShape="0">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47683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in)">
                                      <p:cBhvr>
                                        <p:cTn id="10" dur="2000"/>
                                        <p:tgtEl>
                                          <p:spTgt spid="10"/>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circle(in)">
                                      <p:cBhvr>
                                        <p:cTn id="16" dur="20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circle(in)">
                                      <p:cBhvr>
                                        <p:cTn id="24" dur="2000"/>
                                        <p:tgtEl>
                                          <p:spTgt spid="8"/>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ircle(in)">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3" grpId="0" animBg="1"/>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318628"/>
            <a:ext cx="6238024"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a:t>
            </a:r>
            <a:r>
              <a:rPr kumimoji="1" lang="es-ES" sz="1900" b="1" dirty="0" smtClean="0">
                <a:solidFill>
                  <a:srgbClr val="A5A5A5">
                    <a:lumMod val="50000"/>
                  </a:srgbClr>
                </a:solidFill>
                <a:latin typeface="Arial" panose="020B0604020202020204" pitchFamily="34" charset="0"/>
                <a:cs typeface="Arial" panose="020B0604020202020204" pitchFamily="34" charset="0"/>
              </a:rPr>
              <a:t>1.-</a:t>
            </a:r>
            <a:r>
              <a:rPr kumimoji="1" lang="es-ES" sz="1900" b="1" dirty="0" smtClean="0">
                <a:solidFill>
                  <a:srgbClr val="FF0000"/>
                </a:solidFill>
                <a:latin typeface="Arial" panose="020B0604020202020204" pitchFamily="34" charset="0"/>
                <a:cs typeface="Arial" panose="020B0604020202020204" pitchFamily="34" charset="0"/>
              </a:rPr>
              <a:t>) Use la regla de </a:t>
            </a:r>
            <a:r>
              <a:rPr kumimoji="1" lang="es-ES" sz="1900" b="1" dirty="0" err="1" smtClean="0">
                <a:solidFill>
                  <a:srgbClr val="FF0000"/>
                </a:solidFill>
                <a:latin typeface="Arial" panose="020B0604020202020204" pitchFamily="34" charset="0"/>
                <a:cs typeface="Arial" panose="020B0604020202020204" pitchFamily="34" charset="0"/>
              </a:rPr>
              <a:t>Cramer</a:t>
            </a:r>
            <a:r>
              <a:rPr kumimoji="1" lang="es-ES" sz="1900" b="1" dirty="0" smtClean="0">
                <a:solidFill>
                  <a:srgbClr val="FF0000"/>
                </a:solidFill>
                <a:latin typeface="Arial" panose="020B0604020202020204" pitchFamily="34" charset="0"/>
                <a:cs typeface="Arial" panose="020B0604020202020204" pitchFamily="34" charset="0"/>
              </a:rPr>
              <a:t> para resolver el sistema</a:t>
            </a:r>
            <a:endParaRPr kumimoji="1" lang="es-ES" sz="1900" b="1" dirty="0">
              <a:solidFill>
                <a:srgbClr val="FF0000"/>
              </a:solidFill>
              <a:latin typeface="Arial" panose="020B0604020202020204" pitchFamily="34" charset="0"/>
              <a:cs typeface="Arial" panose="020B0604020202020204" pitchFamily="34" charset="0"/>
            </a:endParaRPr>
          </a:p>
        </p:txBody>
      </p:sp>
      <p:sp>
        <p:nvSpPr>
          <p:cNvPr id="3" name="Rectángulo 2"/>
          <p:cNvSpPr/>
          <p:nvPr/>
        </p:nvSpPr>
        <p:spPr>
          <a:xfrm>
            <a:off x="0" y="1870669"/>
            <a:ext cx="1213794" cy="384721"/>
          </a:xfrm>
          <a:prstGeom prst="rect">
            <a:avLst/>
          </a:prstGeom>
        </p:spPr>
        <p:txBody>
          <a:bodyPr wrap="non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Solución</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ángulo 4"/>
              <p:cNvSpPr/>
              <p:nvPr/>
            </p:nvSpPr>
            <p:spPr>
              <a:xfrm>
                <a:off x="6238024" y="1186478"/>
                <a:ext cx="172021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ES" b="1" i="1" smtClean="0">
                          <a:solidFill>
                            <a:srgbClr val="A5A5A5">
                              <a:lumMod val="50000"/>
                            </a:srgbClr>
                          </a:solidFill>
                          <a:latin typeface="Cambria Math"/>
                        </a:rPr>
                        <m:t>𝟐</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ES" b="1" i="1">
                          <a:solidFill>
                            <a:srgbClr val="A5A5A5">
                              <a:lumMod val="50000"/>
                            </a:srgbClr>
                          </a:solidFill>
                          <a:latin typeface="Cambria Math"/>
                        </a:rPr>
                        <m:t>+</m:t>
                      </m:r>
                      <m:r>
                        <a:rPr kumimoji="1" lang="es-ES" b="1" i="1">
                          <a:solidFill>
                            <a:srgbClr val="A5A5A5">
                              <a:lumMod val="50000"/>
                            </a:srgbClr>
                          </a:solidFill>
                          <a:latin typeface="Cambria Math"/>
                        </a:rPr>
                        <m:t>𝟑</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ES" b="1" i="1">
                          <a:solidFill>
                            <a:srgbClr val="A5A5A5">
                              <a:lumMod val="50000"/>
                            </a:srgbClr>
                          </a:solidFill>
                          <a:latin typeface="Cambria Math"/>
                        </a:rPr>
                        <m:t>=</m:t>
                      </m:r>
                      <m:r>
                        <a:rPr kumimoji="1" lang="es-ES" b="1" i="1">
                          <a:solidFill>
                            <a:srgbClr val="A5A5A5">
                              <a:lumMod val="50000"/>
                            </a:srgbClr>
                          </a:solidFill>
                          <a:latin typeface="Cambria Math"/>
                        </a:rPr>
                        <m:t>𝟏</m:t>
                      </m:r>
                    </m:oMath>
                  </m:oMathPara>
                </a14:m>
                <a:endParaRPr lang="es-MX" dirty="0"/>
              </a:p>
            </p:txBody>
          </p:sp>
        </mc:Choice>
        <mc:Fallback xmlns="">
          <p:sp>
            <p:nvSpPr>
              <p:cNvPr id="5" name="Rectángulo 4"/>
              <p:cNvSpPr>
                <a:spLocks noRot="1" noChangeAspect="1" noMove="1" noResize="1" noEditPoints="1" noAdjustHandles="1" noChangeArrowheads="1" noChangeShapeType="1" noTextEdit="1"/>
              </p:cNvSpPr>
              <p:nvPr/>
            </p:nvSpPr>
            <p:spPr>
              <a:xfrm>
                <a:off x="6238024" y="1186478"/>
                <a:ext cx="1720215" cy="369332"/>
              </a:xfrm>
              <a:prstGeom prst="rect">
                <a:avLst/>
              </a:prstGeom>
              <a:blipFill rotWithShape="0">
                <a:blip r:embed="rId2"/>
                <a:stretch>
                  <a:fillRect b="-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167492" y="1559148"/>
                <a:ext cx="17907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ES" b="1" i="1" smtClean="0">
                          <a:solidFill>
                            <a:srgbClr val="A5A5A5">
                              <a:lumMod val="50000"/>
                            </a:srgbClr>
                          </a:solidFill>
                          <a:latin typeface="Cambria Math"/>
                        </a:rPr>
                        <m:t>−</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ES" b="1" i="1">
                          <a:solidFill>
                            <a:srgbClr val="A5A5A5">
                              <a:lumMod val="50000"/>
                            </a:srgbClr>
                          </a:solidFill>
                          <a:latin typeface="Cambria Math"/>
                        </a:rPr>
                        <m:t>+</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ES" b="1" i="1">
                          <a:solidFill>
                            <a:srgbClr val="A5A5A5">
                              <a:lumMod val="50000"/>
                            </a:srgbClr>
                          </a:solidFill>
                          <a:latin typeface="Cambria Math"/>
                        </a:rPr>
                        <m:t>=−</m:t>
                      </m:r>
                      <m:r>
                        <a:rPr kumimoji="1" lang="es-ES" b="1" i="1">
                          <a:solidFill>
                            <a:srgbClr val="A5A5A5">
                              <a:lumMod val="50000"/>
                            </a:srgbClr>
                          </a:solidFill>
                          <a:latin typeface="Cambria Math"/>
                        </a:rPr>
                        <m:t>𝟑</m:t>
                      </m:r>
                    </m:oMath>
                  </m:oMathPara>
                </a14:m>
                <a:endParaRPr lang="es-MX" dirty="0"/>
              </a:p>
            </p:txBody>
          </p:sp>
        </mc:Choice>
        <mc:Fallback xmlns="">
          <p:sp>
            <p:nvSpPr>
              <p:cNvPr id="6" name="Rectángulo 5"/>
              <p:cNvSpPr>
                <a:spLocks noRot="1" noChangeAspect="1" noMove="1" noResize="1" noEditPoints="1" noAdjustHandles="1" noChangeArrowheads="1" noChangeShapeType="1" noTextEdit="1"/>
              </p:cNvSpPr>
              <p:nvPr/>
            </p:nvSpPr>
            <p:spPr>
              <a:xfrm>
                <a:off x="6167492" y="1559148"/>
                <a:ext cx="1790747" cy="369332"/>
              </a:xfrm>
              <a:prstGeom prst="rect">
                <a:avLst/>
              </a:prstGeom>
              <a:blipFill rotWithShape="0">
                <a:blip r:embed="rId3"/>
                <a:stretch>
                  <a:fillRect b="-1667"/>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Rectángulo 6"/>
              <p:cNvSpPr/>
              <p:nvPr/>
            </p:nvSpPr>
            <p:spPr>
              <a:xfrm>
                <a:off x="0" y="2342957"/>
                <a:ext cx="12192000" cy="577979"/>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A5A5A5">
                        <a:lumMod val="50000"/>
                      </a:srgbClr>
                    </a:solidFill>
                    <a:latin typeface="Arial" panose="020B0604020202020204" pitchFamily="34" charset="0"/>
                    <a:cs typeface="Arial" panose="020B0604020202020204" pitchFamily="34" charset="0"/>
                  </a:rPr>
                  <a:t>El determinante del sistema es</a:t>
                </a:r>
                <a:r>
                  <a:rPr kumimoji="1" lang="es-ES" sz="1900" b="1" dirty="0" smtClean="0">
                    <a:solidFill>
                      <a:srgbClr val="A5A5A5">
                        <a:lumMod val="50000"/>
                      </a:srgbClr>
                    </a:solidFill>
                    <a:latin typeface="Arial" panose="020B0604020202020204" pitchFamily="34" charset="0"/>
                    <a:cs typeface="Arial" panose="020B0604020202020204" pitchFamily="34" charset="0"/>
                  </a:rPr>
                  <a:t> </a:t>
                </a:r>
                <a14:m>
                  <m:oMath xmlns:m="http://schemas.openxmlformats.org/officeDocument/2006/math">
                    <m:d>
                      <m:dPr>
                        <m:begChr m:val="["/>
                        <m:endChr m:val="]"/>
                        <m:ctrlPr>
                          <a:rPr kumimoji="1" lang="es-ES" sz="1900" b="1" i="1" smtClean="0">
                            <a:solidFill>
                              <a:srgbClr val="FF0000"/>
                            </a:solidFill>
                            <a:latin typeface="Cambria Math" panose="02040503050406030204" pitchFamily="18" charset="0"/>
                          </a:rPr>
                        </m:ctrlPr>
                      </m:dPr>
                      <m:e>
                        <m:m>
                          <m:mPr>
                            <m:mcs>
                              <m:mc>
                                <m:mcPr>
                                  <m:count m:val="2"/>
                                  <m:mcJc m:val="center"/>
                                </m:mcPr>
                              </m:mc>
                            </m:mcs>
                            <m:ctrlPr>
                              <a:rPr kumimoji="1" lang="es-ES" sz="1900" b="1" i="1" smtClean="0">
                                <a:solidFill>
                                  <a:srgbClr val="FF0000"/>
                                </a:solidFill>
                                <a:latin typeface="Cambria Math" panose="02040503050406030204" pitchFamily="18" charset="0"/>
                              </a:rPr>
                            </m:ctrlPr>
                          </m:mPr>
                          <m:mr>
                            <m:e>
                              <m:r>
                                <m:rPr>
                                  <m:brk m:alnAt="7"/>
                                </m:rPr>
                                <a:rPr kumimoji="1" lang="es-MX" sz="1900" b="1" i="1" smtClean="0">
                                  <a:solidFill>
                                    <a:srgbClr val="FF0000"/>
                                  </a:solidFill>
                                  <a:latin typeface="Cambria Math" panose="02040503050406030204" pitchFamily="18" charset="0"/>
                                </a:rPr>
                                <m:t>𝟐</m:t>
                              </m:r>
                            </m:e>
                            <m:e>
                              <m:r>
                                <a:rPr kumimoji="1" lang="es-MX" sz="1900" b="1" i="1" smtClean="0">
                                  <a:solidFill>
                                    <a:srgbClr val="FF0000"/>
                                  </a:solidFill>
                                  <a:latin typeface="Cambria Math" panose="02040503050406030204" pitchFamily="18" charset="0"/>
                                </a:rPr>
                                <m:t>𝟑</m:t>
                              </m:r>
                            </m:e>
                          </m:mr>
                          <m:mr>
                            <m:e>
                              <m:r>
                                <a:rPr kumimoji="1" lang="es-MX" sz="1900" b="1" i="1" smtClean="0">
                                  <a:solidFill>
                                    <a:srgbClr val="FF0000"/>
                                  </a:solidFill>
                                  <a:latin typeface="Cambria Math" panose="02040503050406030204" pitchFamily="18" charset="0"/>
                                </a:rPr>
                                <m:t>−</m:t>
                              </m:r>
                              <m:r>
                                <a:rPr kumimoji="1" lang="es-MX" sz="1900" b="1" i="1" smtClean="0">
                                  <a:solidFill>
                                    <a:srgbClr val="FF0000"/>
                                  </a:solidFill>
                                  <a:latin typeface="Cambria Math" panose="02040503050406030204" pitchFamily="18" charset="0"/>
                                </a:rPr>
                                <m:t>𝟏</m:t>
                              </m:r>
                            </m:e>
                            <m:e>
                              <m:r>
                                <a:rPr kumimoji="1" lang="es-MX" sz="1900" b="1" i="1" smtClean="0">
                                  <a:solidFill>
                                    <a:srgbClr val="FF0000"/>
                                  </a:solidFill>
                                  <a:latin typeface="Cambria Math" panose="02040503050406030204" pitchFamily="18" charset="0"/>
                                </a:rPr>
                                <m:t>𝟏</m:t>
                              </m:r>
                            </m:e>
                          </m:mr>
                        </m:m>
                      </m:e>
                    </m:d>
                    <m:r>
                      <a:rPr kumimoji="1" lang="es-MX" sz="1900" b="1" i="1" smtClean="0">
                        <a:solidFill>
                          <a:srgbClr val="FF0000"/>
                        </a:solidFill>
                        <a:latin typeface="Cambria Math" panose="02040503050406030204" pitchFamily="18" charset="0"/>
                      </a:rPr>
                      <m:t>=</m:t>
                    </m:r>
                    <m:r>
                      <a:rPr kumimoji="1" lang="es-MX" sz="1900" b="1" i="1" smtClean="0">
                        <a:solidFill>
                          <a:srgbClr val="FF0000"/>
                        </a:solidFill>
                        <a:latin typeface="Cambria Math" panose="02040503050406030204" pitchFamily="18" charset="0"/>
                      </a:rPr>
                      <m:t>𝟓</m:t>
                    </m:r>
                    <m:r>
                      <a:rPr kumimoji="1" lang="es-MX" sz="1900" b="1" i="1" smtClean="0">
                        <a:solidFill>
                          <a:srgbClr val="FF0000"/>
                        </a:solidFill>
                        <a:latin typeface="Cambria Math" panose="02040503050406030204" pitchFamily="18" charset="0"/>
                        <a:ea typeface="Cambria Math" panose="02040503050406030204" pitchFamily="18" charset="0"/>
                      </a:rPr>
                      <m:t>≠</m:t>
                    </m:r>
                    <m:r>
                      <a:rPr kumimoji="1" lang="es-MX" sz="1900" b="1" i="1" smtClean="0">
                        <a:solidFill>
                          <a:srgbClr val="FF0000"/>
                        </a:solidFill>
                        <a:latin typeface="Cambria Math" panose="02040503050406030204" pitchFamily="18" charset="0"/>
                        <a:ea typeface="Cambria Math" panose="02040503050406030204" pitchFamily="18" charset="0"/>
                      </a:rPr>
                      <m:t>𝟎</m:t>
                    </m:r>
                    <m:r>
                      <a:rPr kumimoji="1" lang="es-MX" sz="1900" b="1" i="1" smtClean="0">
                        <a:solidFill>
                          <a:srgbClr val="FF0000"/>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esto implica que el sistema es compatible, entonces</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7" name="Rectángulo 6"/>
              <p:cNvSpPr>
                <a:spLocks noRot="1" noChangeAspect="1" noMove="1" noResize="1" noEditPoints="1" noAdjustHandles="1" noChangeArrowheads="1" noChangeShapeType="1" noTextEdit="1"/>
              </p:cNvSpPr>
              <p:nvPr/>
            </p:nvSpPr>
            <p:spPr>
              <a:xfrm>
                <a:off x="0" y="2342957"/>
                <a:ext cx="12192000" cy="577979"/>
              </a:xfrm>
              <a:prstGeom prst="rect">
                <a:avLst/>
              </a:prstGeom>
              <a:blipFill rotWithShape="0">
                <a:blip r:embed="rId4"/>
                <a:stretch>
                  <a:fillRect l="-45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1184856" y="3274617"/>
                <a:ext cx="2112136" cy="870366"/>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kumimoji="1" lang="es-NI" sz="1900" b="1" i="1" smtClean="0">
                        <a:solidFill>
                          <a:srgbClr val="A5A5A5">
                            <a:lumMod val="50000"/>
                          </a:srgbClr>
                        </a:solidFill>
                        <a:latin typeface="Cambria Math" panose="02040503050406030204" pitchFamily="18" charset="0"/>
                      </a:rPr>
                      <m:t>𝒅𝒆𝒕</m:t>
                    </m:r>
                    <m:r>
                      <a:rPr kumimoji="1" lang="es-NI" sz="1900" b="1" i="1" smtClean="0">
                        <a:solidFill>
                          <a:srgbClr val="A5A5A5">
                            <a:lumMod val="50000"/>
                          </a:srgbClr>
                        </a:solidFill>
                        <a:latin typeface="Cambria Math" panose="02040503050406030204" pitchFamily="18" charset="0"/>
                      </a:rPr>
                      <m:t> </m:t>
                    </m:r>
                    <m:r>
                      <a:rPr kumimoji="1" lang="es-NI" sz="1900" b="1" i="1" smtClean="0">
                        <a:solidFill>
                          <a:srgbClr val="A5A5A5">
                            <a:lumMod val="50000"/>
                          </a:srgbClr>
                        </a:solidFill>
                        <a:latin typeface="Cambria Math" panose="02040503050406030204" pitchFamily="18" charset="0"/>
                      </a:rPr>
                      <m:t>𝑨</m:t>
                    </m:r>
                    <m:r>
                      <a:rPr kumimoji="1" lang="es-MX" sz="1900" b="1" i="1" smtClean="0">
                        <a:solidFill>
                          <a:srgbClr val="A5A5A5">
                            <a:lumMod val="50000"/>
                          </a:srgbClr>
                        </a:solidFill>
                        <a:latin typeface="Cambria Math" panose="02040503050406030204" pitchFamily="18" charset="0"/>
                      </a:rPr>
                      <m:t>=</m:t>
                    </m:r>
                    <m:d>
                      <m:dPr>
                        <m:begChr m:val="["/>
                        <m:endChr m:val="]"/>
                        <m:ctrlPr>
                          <a:rPr kumimoji="1" lang="es-ES" sz="19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1900" b="1" i="1" smtClean="0">
                                <a:solidFill>
                                  <a:srgbClr val="A5A5A5">
                                    <a:lumMod val="50000"/>
                                  </a:srgbClr>
                                </a:solidFill>
                                <a:latin typeface="Cambria Math" panose="02040503050406030204" pitchFamily="18" charset="0"/>
                              </a:rPr>
                            </m:ctrlPr>
                          </m:mPr>
                          <m:mr>
                            <m:e>
                              <m:r>
                                <m:rPr>
                                  <m:brk m:alnAt="7"/>
                                </m:rPr>
                                <a:rPr kumimoji="1" lang="es-MX" sz="1900" b="1" i="1" smtClean="0">
                                  <a:solidFill>
                                    <a:srgbClr val="A5A5A5">
                                      <a:lumMod val="50000"/>
                                    </a:srgbClr>
                                  </a:solidFill>
                                  <a:latin typeface="Cambria Math" panose="02040503050406030204" pitchFamily="18" charset="0"/>
                                </a:rPr>
                                <m:t>𝟐</m:t>
                              </m:r>
                            </m:e>
                            <m:e>
                              <m:r>
                                <a:rPr kumimoji="1" lang="es-MX" sz="1900" b="1" i="1" smtClean="0">
                                  <a:solidFill>
                                    <a:srgbClr val="A5A5A5">
                                      <a:lumMod val="50000"/>
                                    </a:srgbClr>
                                  </a:solidFill>
                                  <a:latin typeface="Cambria Math" panose="02040503050406030204" pitchFamily="18" charset="0"/>
                                </a:rPr>
                                <m:t>𝟑</m:t>
                              </m:r>
                            </m:e>
                          </m:mr>
                          <m:mr>
                            <m:e>
                              <m:r>
                                <a:rPr kumimoji="1" lang="es-MX" sz="1900" b="1" i="1" smtClean="0">
                                  <a:solidFill>
                                    <a:srgbClr val="A5A5A5">
                                      <a:lumMod val="50000"/>
                                    </a:srgbClr>
                                  </a:solidFill>
                                  <a:latin typeface="Cambria Math" panose="02040503050406030204" pitchFamily="18" charset="0"/>
                                </a:rPr>
                                <m:t>−</m:t>
                              </m:r>
                              <m:r>
                                <a:rPr kumimoji="1" lang="es-MX" sz="1900" b="1" i="1" smtClean="0">
                                  <a:solidFill>
                                    <a:srgbClr val="A5A5A5">
                                      <a:lumMod val="50000"/>
                                    </a:srgbClr>
                                  </a:solidFill>
                                  <a:latin typeface="Cambria Math" panose="02040503050406030204" pitchFamily="18" charset="0"/>
                                </a:rPr>
                                <m:t>𝟏</m:t>
                              </m:r>
                            </m:e>
                            <m:e>
                              <m:r>
                                <a:rPr kumimoji="1" lang="es-MX" sz="1900" b="1" i="1" smtClean="0">
                                  <a:solidFill>
                                    <a:srgbClr val="A5A5A5">
                                      <a:lumMod val="50000"/>
                                    </a:srgbClr>
                                  </a:solidFill>
                                  <a:latin typeface="Cambria Math" panose="02040503050406030204" pitchFamily="18" charset="0"/>
                                </a:rPr>
                                <m:t>𝟏</m:t>
                              </m:r>
                            </m:e>
                          </m:mr>
                        </m:m>
                      </m:e>
                    </m:d>
                    <m:r>
                      <a:rPr kumimoji="1" lang="es-MX" sz="19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8" name="Rectángulo 7"/>
              <p:cNvSpPr>
                <a:spLocks noRot="1" noChangeAspect="1" noMove="1" noResize="1" noEditPoints="1" noAdjustHandles="1" noChangeArrowheads="1" noChangeShapeType="1" noTextEdit="1"/>
              </p:cNvSpPr>
              <p:nvPr/>
            </p:nvSpPr>
            <p:spPr>
              <a:xfrm>
                <a:off x="1184856" y="3274617"/>
                <a:ext cx="2112136" cy="870366"/>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3296992" y="3274615"/>
                <a:ext cx="2743200" cy="605550"/>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kumimoji="1" lang="es-MX" sz="2000" b="1" i="1" smtClean="0">
                        <a:solidFill>
                          <a:srgbClr val="A5A5A5">
                            <a:lumMod val="50000"/>
                          </a:srgbClr>
                        </a:solidFill>
                        <a:latin typeface="Cambria Math" panose="02040503050406030204" pitchFamily="18" charset="0"/>
                      </a:rPr>
                      <m:t>=</m:t>
                    </m:r>
                    <m:d>
                      <m:dPr>
                        <m:begChr m:val="["/>
                        <m:endChr m:val="]"/>
                        <m:ctrlPr>
                          <a:rPr kumimoji="1" lang="es-ES" sz="20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2000" b="1" i="1" smtClean="0">
                                <a:solidFill>
                                  <a:srgbClr val="A5A5A5">
                                    <a:lumMod val="50000"/>
                                  </a:srgbClr>
                                </a:solidFill>
                                <a:latin typeface="Cambria Math" panose="02040503050406030204" pitchFamily="18" charset="0"/>
                              </a:rPr>
                            </m:ctrlPr>
                          </m:mPr>
                          <m:mr>
                            <m:e>
                              <m:r>
                                <m:rPr>
                                  <m:brk m:alnAt="7"/>
                                </m:rPr>
                                <a:rPr kumimoji="1" lang="es-MX" sz="2000" b="1" i="1" smtClean="0">
                                  <a:solidFill>
                                    <a:srgbClr val="A5A5A5">
                                      <a:lumMod val="50000"/>
                                    </a:srgbClr>
                                  </a:solidFill>
                                  <a:latin typeface="Cambria Math" panose="02040503050406030204" pitchFamily="18" charset="0"/>
                                </a:rPr>
                                <m:t>𝟏</m:t>
                              </m:r>
                            </m:e>
                            <m:e>
                              <m:r>
                                <a:rPr kumimoji="1" lang="es-MX" sz="2000" b="1" i="1" smtClean="0">
                                  <a:solidFill>
                                    <a:srgbClr val="A5A5A5">
                                      <a:lumMod val="50000"/>
                                    </a:srgbClr>
                                  </a:solidFill>
                                  <a:latin typeface="Cambria Math" panose="02040503050406030204" pitchFamily="18" charset="0"/>
                                </a:rPr>
                                <m:t>𝟑</m:t>
                              </m:r>
                            </m:e>
                          </m:mr>
                          <m:mr>
                            <m:e>
                              <m:r>
                                <a:rPr kumimoji="1" lang="es-MX" sz="2000" b="1" i="1" smtClean="0">
                                  <a:solidFill>
                                    <a:srgbClr val="A5A5A5">
                                      <a:lumMod val="50000"/>
                                    </a:srgbClr>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𝟑</m:t>
                              </m:r>
                            </m:e>
                            <m:e>
                              <m:r>
                                <a:rPr kumimoji="1" lang="es-MX" sz="2000" b="1" i="1" smtClean="0">
                                  <a:solidFill>
                                    <a:srgbClr val="A5A5A5">
                                      <a:lumMod val="50000"/>
                                    </a:srgbClr>
                                  </a:solidFill>
                                  <a:latin typeface="Cambria Math" panose="02040503050406030204" pitchFamily="18" charset="0"/>
                                </a:rPr>
                                <m:t>𝟏</m:t>
                              </m:r>
                            </m:e>
                          </m:mr>
                        </m:m>
                      </m:e>
                    </m:d>
                    <m:r>
                      <a:rPr kumimoji="1" lang="es-MX" sz="20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3296992" y="3274615"/>
                <a:ext cx="2743200" cy="605550"/>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090902" y="3274615"/>
                <a:ext cx="2885674" cy="605550"/>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kumimoji="1" lang="es-MX" sz="2000" b="1" i="1">
                        <a:solidFill>
                          <a:srgbClr val="A5A5A5">
                            <a:lumMod val="50000"/>
                          </a:srgbClr>
                        </a:solidFill>
                        <a:latin typeface="Cambria Math" panose="02040503050406030204" pitchFamily="18" charset="0"/>
                      </a:rPr>
                      <m:t>=</m:t>
                    </m:r>
                    <m:d>
                      <m:dPr>
                        <m:begChr m:val="["/>
                        <m:endChr m:val="]"/>
                        <m:ctrlPr>
                          <a:rPr kumimoji="1" lang="es-ES" sz="20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2000" b="1" i="1" smtClean="0">
                                <a:solidFill>
                                  <a:srgbClr val="A5A5A5">
                                    <a:lumMod val="50000"/>
                                  </a:srgbClr>
                                </a:solidFill>
                                <a:latin typeface="Cambria Math" panose="02040503050406030204" pitchFamily="18" charset="0"/>
                              </a:rPr>
                            </m:ctrlPr>
                          </m:mPr>
                          <m:mr>
                            <m:e>
                              <m:r>
                                <m:rPr>
                                  <m:brk m:alnAt="7"/>
                                </m:rPr>
                                <a:rPr kumimoji="1" lang="es-MX" sz="2000" b="1" i="1" smtClean="0">
                                  <a:solidFill>
                                    <a:srgbClr val="A5A5A5">
                                      <a:lumMod val="50000"/>
                                    </a:srgbClr>
                                  </a:solidFill>
                                  <a:latin typeface="Cambria Math" panose="02040503050406030204" pitchFamily="18" charset="0"/>
                                </a:rPr>
                                <m:t>𝟐</m:t>
                              </m:r>
                            </m:e>
                            <m:e>
                              <m:r>
                                <a:rPr kumimoji="1" lang="es-MX" sz="2000" b="1" i="1" smtClean="0">
                                  <a:solidFill>
                                    <a:srgbClr val="A5A5A5">
                                      <a:lumMod val="50000"/>
                                    </a:srgbClr>
                                  </a:solidFill>
                                  <a:latin typeface="Cambria Math" panose="02040503050406030204" pitchFamily="18" charset="0"/>
                                </a:rPr>
                                <m:t>𝟏</m:t>
                              </m:r>
                            </m:e>
                          </m:mr>
                          <m:mr>
                            <m:e>
                              <m:r>
                                <a:rPr kumimoji="1" lang="es-MX" sz="2000" b="1" i="1" smtClean="0">
                                  <a:solidFill>
                                    <a:srgbClr val="A5A5A5">
                                      <a:lumMod val="50000"/>
                                    </a:srgbClr>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𝟏</m:t>
                              </m:r>
                            </m:e>
                            <m:e>
                              <m:r>
                                <a:rPr kumimoji="1" lang="es-MX" sz="2000" b="1" i="1" smtClean="0">
                                  <a:solidFill>
                                    <a:srgbClr val="A5A5A5">
                                      <a:lumMod val="50000"/>
                                    </a:srgbClr>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𝟑</m:t>
                              </m:r>
                            </m:e>
                          </m:mr>
                        </m:m>
                      </m:e>
                    </m:d>
                    <m:r>
                      <a:rPr kumimoji="1" lang="es-MX" sz="20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0" name="Rectángulo 9"/>
              <p:cNvSpPr>
                <a:spLocks noRot="1" noChangeAspect="1" noMove="1" noResize="1" noEditPoints="1" noAdjustHandles="1" noChangeArrowheads="1" noChangeShapeType="1" noTextEdit="1"/>
              </p:cNvSpPr>
              <p:nvPr/>
            </p:nvSpPr>
            <p:spPr>
              <a:xfrm>
                <a:off x="6090902" y="3274615"/>
                <a:ext cx="2885674" cy="605550"/>
              </a:xfrm>
              <a:prstGeom prst="rect">
                <a:avLst/>
              </a:prstGeom>
              <a:blipFill rotWithShape="0">
                <a:blip r:embed="rId7"/>
                <a:stretch>
                  <a:fillRect/>
                </a:stretch>
              </a:blipFill>
            </p:spPr>
            <p:txBody>
              <a:bodyPr/>
              <a:lstStyle/>
              <a:p>
                <a:r>
                  <a:rPr lang="es-MX">
                    <a:noFill/>
                  </a:rPr>
                  <a:t> </a:t>
                </a:r>
              </a:p>
            </p:txBody>
          </p:sp>
        </mc:Fallback>
      </mc:AlternateContent>
      <p:sp>
        <p:nvSpPr>
          <p:cNvPr id="11" name="Rectángulo 10"/>
          <p:cNvSpPr/>
          <p:nvPr/>
        </p:nvSpPr>
        <p:spPr>
          <a:xfrm>
            <a:off x="167425" y="4221898"/>
            <a:ext cx="1352282"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a:solidFill>
                  <a:srgbClr val="A5A5A5">
                    <a:lumMod val="50000"/>
                  </a:srgbClr>
                </a:solidFill>
                <a:latin typeface="Arial" panose="020B0604020202020204" pitchFamily="34" charset="0"/>
                <a:cs typeface="Arial" panose="020B0604020202020204" pitchFamily="34" charset="0"/>
              </a:rPr>
              <a:t>e</a:t>
            </a:r>
            <a:r>
              <a:rPr kumimoji="1" lang="es-ES" sz="1900" b="1" dirty="0" smtClean="0">
                <a:solidFill>
                  <a:srgbClr val="A5A5A5">
                    <a:lumMod val="50000"/>
                  </a:srgbClr>
                </a:solidFill>
                <a:latin typeface="Arial" panose="020B0604020202020204" pitchFamily="34" charset="0"/>
                <a:cs typeface="Arial" panose="020B0604020202020204" pitchFamily="34" charset="0"/>
              </a:rPr>
              <a:t>ntonces</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Rectángulo 11"/>
              <p:cNvSpPr/>
              <p:nvPr/>
            </p:nvSpPr>
            <p:spPr>
              <a:xfrm>
                <a:off x="1184855" y="4683534"/>
                <a:ext cx="4314424" cy="1160959"/>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a:solidFill>
                                <a:srgbClr val="002060"/>
                              </a:solidFill>
                              <a:latin typeface="Cambria Math" panose="02040503050406030204" pitchFamily="18" charset="0"/>
                            </a:rPr>
                            <m:t>𝟏</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d>
                            <m:dPr>
                              <m:begChr m:val="|"/>
                              <m:endChr m:val="|"/>
                              <m:ctrlPr>
                                <a:rPr kumimoji="1" lang="es-MX" sz="2000" b="1" i="1" smtClean="0">
                                  <a:solidFill>
                                    <a:srgbClr val="FF0000"/>
                                  </a:solidFill>
                                  <a:latin typeface="Cambria Math" panose="02040503050406030204" pitchFamily="18" charset="0"/>
                                </a:rPr>
                              </m:ctrlPr>
                            </m:dPr>
                            <m:e>
                              <m:m>
                                <m:mPr>
                                  <m:mcs>
                                    <m:mc>
                                      <m:mcPr>
                                        <m:count m:val="2"/>
                                        <m:mcJc m:val="center"/>
                                      </m:mcPr>
                                    </m:mc>
                                  </m:mcs>
                                  <m:ctrlPr>
                                    <a:rPr kumimoji="1" lang="es-MX" sz="2000" b="1" i="1" smtClean="0">
                                      <a:solidFill>
                                        <a:srgbClr val="FF0000"/>
                                      </a:solidFill>
                                      <a:latin typeface="Cambria Math" panose="02040503050406030204" pitchFamily="18" charset="0"/>
                                    </a:rPr>
                                  </m:ctrlPr>
                                </m:mPr>
                                <m:mr>
                                  <m:e>
                                    <m:r>
                                      <m:rPr>
                                        <m:brk m:alnAt="7"/>
                                      </m:rPr>
                                      <a:rPr kumimoji="1" lang="es-MX" sz="2000" b="1" i="1" smtClean="0">
                                        <a:solidFill>
                                          <a:srgbClr val="FF0000"/>
                                        </a:solidFill>
                                        <a:latin typeface="Cambria Math" panose="02040503050406030204" pitchFamily="18" charset="0"/>
                                      </a:rPr>
                                      <m:t>𝟏</m:t>
                                    </m:r>
                                  </m:e>
                                  <m:e>
                                    <m:r>
                                      <a:rPr kumimoji="1" lang="es-MX" sz="2000" b="1" i="1" smtClean="0">
                                        <a:solidFill>
                                          <a:srgbClr val="FF0000"/>
                                        </a:solidFill>
                                        <a:latin typeface="Cambria Math" panose="02040503050406030204" pitchFamily="18" charset="0"/>
                                      </a:rPr>
                                      <m:t>𝟑</m:t>
                                    </m:r>
                                  </m:e>
                                </m:mr>
                                <m:mr>
                                  <m:e>
                                    <m:r>
                                      <a:rPr kumimoji="1" lang="es-MX" sz="2000" b="1" i="1" smtClean="0">
                                        <a:solidFill>
                                          <a:srgbClr val="FF0000"/>
                                        </a:solidFill>
                                        <a:latin typeface="Cambria Math" panose="02040503050406030204" pitchFamily="18" charset="0"/>
                                      </a:rPr>
                                      <m:t>−</m:t>
                                    </m:r>
                                    <m:r>
                                      <a:rPr kumimoji="1" lang="es-MX" sz="2000" b="1" i="1" smtClean="0">
                                        <a:solidFill>
                                          <a:srgbClr val="FF0000"/>
                                        </a:solidFill>
                                        <a:latin typeface="Cambria Math" panose="02040503050406030204" pitchFamily="18" charset="0"/>
                                      </a:rPr>
                                      <m:t>𝟑</m:t>
                                    </m:r>
                                  </m:e>
                                  <m:e>
                                    <m:r>
                                      <a:rPr kumimoji="1" lang="es-MX" sz="2000" b="1" i="1" smtClean="0">
                                        <a:solidFill>
                                          <a:srgbClr val="FF0000"/>
                                        </a:solidFill>
                                        <a:latin typeface="Cambria Math" panose="02040503050406030204" pitchFamily="18" charset="0"/>
                                      </a:rPr>
                                      <m:t>𝟏</m:t>
                                    </m:r>
                                  </m:e>
                                </m:mr>
                              </m:m>
                            </m:e>
                          </m:d>
                        </m:num>
                        <m:den>
                          <m:d>
                            <m:dPr>
                              <m:begChr m:val="|"/>
                              <m:endChr m:val="|"/>
                              <m:ctrlPr>
                                <a:rPr kumimoji="1" lang="es-MX" sz="2000" b="1" i="1" smtClean="0">
                                  <a:solidFill>
                                    <a:srgbClr val="FF0000"/>
                                  </a:solidFill>
                                  <a:latin typeface="Cambria Math" panose="02040503050406030204" pitchFamily="18" charset="0"/>
                                </a:rPr>
                              </m:ctrlPr>
                            </m:dPr>
                            <m:e>
                              <m:m>
                                <m:mPr>
                                  <m:mcs>
                                    <m:mc>
                                      <m:mcPr>
                                        <m:count m:val="2"/>
                                        <m:mcJc m:val="center"/>
                                      </m:mcPr>
                                    </m:mc>
                                  </m:mcs>
                                  <m:ctrlPr>
                                    <a:rPr kumimoji="1" lang="es-MX" sz="2000" b="1" i="1" smtClean="0">
                                      <a:solidFill>
                                        <a:srgbClr val="FF0000"/>
                                      </a:solidFill>
                                      <a:latin typeface="Cambria Math" panose="02040503050406030204" pitchFamily="18" charset="0"/>
                                    </a:rPr>
                                  </m:ctrlPr>
                                </m:mPr>
                                <m:mr>
                                  <m:e>
                                    <m:r>
                                      <m:rPr>
                                        <m:brk m:alnAt="7"/>
                                      </m:rPr>
                                      <a:rPr kumimoji="1" lang="es-MX" sz="2000" b="1" i="1" smtClean="0">
                                        <a:solidFill>
                                          <a:srgbClr val="FF0000"/>
                                        </a:solidFill>
                                        <a:latin typeface="Cambria Math" panose="02040503050406030204" pitchFamily="18" charset="0"/>
                                      </a:rPr>
                                      <m:t>𝟐</m:t>
                                    </m:r>
                                  </m:e>
                                  <m:e>
                                    <m:r>
                                      <a:rPr kumimoji="1" lang="es-MX" sz="2000" b="1" i="1" smtClean="0">
                                        <a:solidFill>
                                          <a:srgbClr val="FF0000"/>
                                        </a:solidFill>
                                        <a:latin typeface="Cambria Math" panose="02040503050406030204" pitchFamily="18" charset="0"/>
                                      </a:rPr>
                                      <m:t>𝟑</m:t>
                                    </m:r>
                                  </m:e>
                                </m:mr>
                                <m:mr>
                                  <m:e>
                                    <m:r>
                                      <a:rPr kumimoji="1" lang="es-MX" sz="2000" b="1" i="1" smtClean="0">
                                        <a:solidFill>
                                          <a:srgbClr val="FF0000"/>
                                        </a:solidFill>
                                        <a:latin typeface="Cambria Math" panose="02040503050406030204" pitchFamily="18" charset="0"/>
                                      </a:rPr>
                                      <m:t>−</m:t>
                                    </m:r>
                                    <m:r>
                                      <a:rPr kumimoji="1" lang="es-MX" sz="2000" b="1" i="1" smtClean="0">
                                        <a:solidFill>
                                          <a:srgbClr val="FF0000"/>
                                        </a:solidFill>
                                        <a:latin typeface="Cambria Math" panose="02040503050406030204" pitchFamily="18" charset="0"/>
                                      </a:rPr>
                                      <m:t>𝟏</m:t>
                                    </m:r>
                                  </m:e>
                                  <m:e>
                                    <m:r>
                                      <a:rPr kumimoji="1" lang="es-MX" sz="2000" b="1" i="1" smtClean="0">
                                        <a:solidFill>
                                          <a:srgbClr val="FF0000"/>
                                        </a:solidFill>
                                        <a:latin typeface="Cambria Math" panose="02040503050406030204" pitchFamily="18" charset="0"/>
                                      </a:rPr>
                                      <m:t>𝟏</m:t>
                                    </m:r>
                                  </m:e>
                                </m:mr>
                              </m:m>
                            </m:e>
                          </m:d>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MX" sz="2000" b="1" i="1" smtClean="0">
                              <a:solidFill>
                                <a:srgbClr val="FF0000"/>
                              </a:solidFill>
                              <a:latin typeface="Cambria Math" panose="02040503050406030204" pitchFamily="18" charset="0"/>
                            </a:rPr>
                            <m:t>𝟏𝟎</m:t>
                          </m:r>
                        </m:num>
                        <m:den>
                          <m:r>
                            <a:rPr kumimoji="1" lang="es-MX" sz="2000" b="1" i="1" smtClean="0">
                              <a:solidFill>
                                <a:srgbClr val="FF0000"/>
                              </a:solidFill>
                              <a:latin typeface="Cambria Math" panose="02040503050406030204" pitchFamily="18" charset="0"/>
                            </a:rPr>
                            <m:t>𝟓</m:t>
                          </m:r>
                        </m:den>
                      </m:f>
                      <m:r>
                        <a:rPr kumimoji="1" lang="es-MX" sz="2000" b="1" i="1" smtClean="0">
                          <a:solidFill>
                            <a:srgbClr val="FF0000"/>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𝟐</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2" name="Rectángulo 11"/>
              <p:cNvSpPr>
                <a:spLocks noRot="1" noChangeAspect="1" noMove="1" noResize="1" noEditPoints="1" noAdjustHandles="1" noChangeArrowheads="1" noChangeShapeType="1" noTextEdit="1"/>
              </p:cNvSpPr>
              <p:nvPr/>
            </p:nvSpPr>
            <p:spPr>
              <a:xfrm>
                <a:off x="1184855" y="4683534"/>
                <a:ext cx="4314424" cy="1160959"/>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Rectángulo 12"/>
              <p:cNvSpPr/>
              <p:nvPr/>
            </p:nvSpPr>
            <p:spPr>
              <a:xfrm>
                <a:off x="5773419" y="4683534"/>
                <a:ext cx="4722861" cy="1160959"/>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𝟐</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a:solidFill>
                                <a:srgbClr val="FF0000"/>
                              </a:solidFill>
                              <a:latin typeface="Cambria Math" panose="02040503050406030204" pitchFamily="18" charset="0"/>
                            </a:rPr>
                          </m:ctrlPr>
                        </m:fPr>
                        <m:num>
                          <m:d>
                            <m:dPr>
                              <m:begChr m:val="|"/>
                              <m:endChr m:val="|"/>
                              <m:ctrlPr>
                                <a:rPr kumimoji="1" lang="es-MX" sz="2000" b="1" i="1">
                                  <a:solidFill>
                                    <a:srgbClr val="FF0000"/>
                                  </a:solidFill>
                                  <a:latin typeface="Cambria Math" panose="02040503050406030204" pitchFamily="18" charset="0"/>
                                </a:rPr>
                              </m:ctrlPr>
                            </m:dPr>
                            <m:e>
                              <m:m>
                                <m:mPr>
                                  <m:mcs>
                                    <m:mc>
                                      <m:mcPr>
                                        <m:count m:val="2"/>
                                        <m:mcJc m:val="center"/>
                                      </m:mcPr>
                                    </m:mc>
                                  </m:mcs>
                                  <m:ctrlPr>
                                    <a:rPr kumimoji="1" lang="es-MX" sz="2000" b="1" i="1">
                                      <a:solidFill>
                                        <a:srgbClr val="FF0000"/>
                                      </a:solidFill>
                                      <a:latin typeface="Cambria Math" panose="02040503050406030204" pitchFamily="18" charset="0"/>
                                    </a:rPr>
                                  </m:ctrlPr>
                                </m:mPr>
                                <m:mr>
                                  <m:e>
                                    <m:r>
                                      <m:rPr>
                                        <m:brk m:alnAt="7"/>
                                      </m:rPr>
                                      <a:rPr kumimoji="1" lang="es-MX" sz="2000" b="1" i="1" smtClean="0">
                                        <a:solidFill>
                                          <a:srgbClr val="FF0000"/>
                                        </a:solidFill>
                                        <a:latin typeface="Cambria Math" panose="02040503050406030204" pitchFamily="18" charset="0"/>
                                      </a:rPr>
                                      <m:t>𝟐</m:t>
                                    </m:r>
                                  </m:e>
                                  <m:e>
                                    <m:r>
                                      <a:rPr kumimoji="1" lang="es-MX" sz="2000" b="1" i="1" smtClean="0">
                                        <a:solidFill>
                                          <a:srgbClr val="FF0000"/>
                                        </a:solidFill>
                                        <a:latin typeface="Cambria Math" panose="02040503050406030204" pitchFamily="18" charset="0"/>
                                      </a:rPr>
                                      <m:t>𝟏</m:t>
                                    </m:r>
                                  </m:e>
                                </m:mr>
                                <m:mr>
                                  <m:e>
                                    <m:r>
                                      <a:rPr kumimoji="1" lang="es-MX" sz="2000" b="1" i="1">
                                        <a:solidFill>
                                          <a:srgbClr val="FF0000"/>
                                        </a:solidFill>
                                        <a:latin typeface="Cambria Math" panose="02040503050406030204" pitchFamily="18" charset="0"/>
                                      </a:rPr>
                                      <m:t>−</m:t>
                                    </m:r>
                                    <m:r>
                                      <a:rPr kumimoji="1" lang="es-MX" sz="2000" b="1" i="1" smtClean="0">
                                        <a:solidFill>
                                          <a:srgbClr val="FF0000"/>
                                        </a:solidFill>
                                        <a:latin typeface="Cambria Math" panose="02040503050406030204" pitchFamily="18" charset="0"/>
                                      </a:rPr>
                                      <m:t>𝟏</m:t>
                                    </m:r>
                                  </m:e>
                                  <m:e>
                                    <m:r>
                                      <a:rPr kumimoji="1" lang="es-MX" sz="2000" b="1" i="1" smtClean="0">
                                        <a:solidFill>
                                          <a:srgbClr val="FF0000"/>
                                        </a:solidFill>
                                        <a:latin typeface="Cambria Math" panose="02040503050406030204" pitchFamily="18" charset="0"/>
                                      </a:rPr>
                                      <m:t>−</m:t>
                                    </m:r>
                                    <m:r>
                                      <a:rPr kumimoji="1" lang="es-MX" sz="2000" b="1" i="1" smtClean="0">
                                        <a:solidFill>
                                          <a:srgbClr val="FF0000"/>
                                        </a:solidFill>
                                        <a:latin typeface="Cambria Math" panose="02040503050406030204" pitchFamily="18" charset="0"/>
                                      </a:rPr>
                                      <m:t>𝟑</m:t>
                                    </m:r>
                                  </m:e>
                                </m:mr>
                              </m:m>
                            </m:e>
                          </m:d>
                        </m:num>
                        <m:den>
                          <m:d>
                            <m:dPr>
                              <m:begChr m:val="|"/>
                              <m:endChr m:val="|"/>
                              <m:ctrlPr>
                                <a:rPr kumimoji="1" lang="es-MX" sz="2000" b="1" i="1">
                                  <a:solidFill>
                                    <a:srgbClr val="FF0000"/>
                                  </a:solidFill>
                                  <a:latin typeface="Cambria Math" panose="02040503050406030204" pitchFamily="18" charset="0"/>
                                </a:rPr>
                              </m:ctrlPr>
                            </m:dPr>
                            <m:e>
                              <m:m>
                                <m:mPr>
                                  <m:mcs>
                                    <m:mc>
                                      <m:mcPr>
                                        <m:count m:val="2"/>
                                        <m:mcJc m:val="center"/>
                                      </m:mcPr>
                                    </m:mc>
                                  </m:mcs>
                                  <m:ctrlPr>
                                    <a:rPr kumimoji="1" lang="es-MX" sz="2000" b="1" i="1">
                                      <a:solidFill>
                                        <a:srgbClr val="FF0000"/>
                                      </a:solidFill>
                                      <a:latin typeface="Cambria Math" panose="02040503050406030204" pitchFamily="18" charset="0"/>
                                    </a:rPr>
                                  </m:ctrlPr>
                                </m:mPr>
                                <m:mr>
                                  <m:e>
                                    <m:r>
                                      <m:rPr>
                                        <m:brk m:alnAt="7"/>
                                      </m:rPr>
                                      <a:rPr kumimoji="1" lang="es-MX" sz="2000" b="1" i="1">
                                        <a:solidFill>
                                          <a:srgbClr val="FF0000"/>
                                        </a:solidFill>
                                        <a:latin typeface="Cambria Math" panose="02040503050406030204" pitchFamily="18" charset="0"/>
                                      </a:rPr>
                                      <m:t>𝟐</m:t>
                                    </m:r>
                                  </m:e>
                                  <m:e>
                                    <m:r>
                                      <a:rPr kumimoji="1" lang="es-MX" sz="2000" b="1" i="1">
                                        <a:solidFill>
                                          <a:srgbClr val="FF0000"/>
                                        </a:solidFill>
                                        <a:latin typeface="Cambria Math" panose="02040503050406030204" pitchFamily="18" charset="0"/>
                                      </a:rPr>
                                      <m:t>𝟑</m:t>
                                    </m:r>
                                  </m:e>
                                </m:mr>
                                <m:mr>
                                  <m:e>
                                    <m:r>
                                      <a:rPr kumimoji="1" lang="es-MX" sz="2000" b="1" i="1">
                                        <a:solidFill>
                                          <a:srgbClr val="FF0000"/>
                                        </a:solidFill>
                                        <a:latin typeface="Cambria Math" panose="02040503050406030204" pitchFamily="18" charset="0"/>
                                      </a:rPr>
                                      <m:t>−</m:t>
                                    </m:r>
                                    <m:r>
                                      <a:rPr kumimoji="1" lang="es-MX" sz="2000" b="1" i="1">
                                        <a:solidFill>
                                          <a:srgbClr val="FF0000"/>
                                        </a:solidFill>
                                        <a:latin typeface="Cambria Math" panose="02040503050406030204" pitchFamily="18" charset="0"/>
                                      </a:rPr>
                                      <m:t>𝟏</m:t>
                                    </m:r>
                                  </m:e>
                                  <m:e>
                                    <m:r>
                                      <a:rPr kumimoji="1" lang="es-MX" sz="2000" b="1" i="1">
                                        <a:solidFill>
                                          <a:srgbClr val="FF0000"/>
                                        </a:solidFill>
                                        <a:latin typeface="Cambria Math" panose="02040503050406030204" pitchFamily="18" charset="0"/>
                                      </a:rPr>
                                      <m:t>𝟏</m:t>
                                    </m:r>
                                  </m:e>
                                </m:mr>
                              </m:m>
                            </m:e>
                          </m:d>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MX" sz="2000" b="1" i="1" smtClean="0">
                              <a:solidFill>
                                <a:srgbClr val="FF0000"/>
                              </a:solidFill>
                              <a:latin typeface="Cambria Math" panose="02040503050406030204" pitchFamily="18" charset="0"/>
                            </a:rPr>
                            <m:t>−</m:t>
                          </m:r>
                          <m:r>
                            <a:rPr kumimoji="1" lang="es-MX" sz="2000" b="1" i="1" smtClean="0">
                              <a:solidFill>
                                <a:srgbClr val="FF0000"/>
                              </a:solidFill>
                              <a:latin typeface="Cambria Math" panose="02040503050406030204" pitchFamily="18" charset="0"/>
                            </a:rPr>
                            <m:t>𝟓</m:t>
                          </m:r>
                        </m:num>
                        <m:den>
                          <m:r>
                            <a:rPr kumimoji="1" lang="es-MX" sz="2000" b="1" i="1" smtClean="0">
                              <a:solidFill>
                                <a:srgbClr val="FF0000"/>
                              </a:solidFill>
                              <a:latin typeface="Cambria Math" panose="02040503050406030204" pitchFamily="18" charset="0"/>
                            </a:rPr>
                            <m:t>𝟓</m:t>
                          </m:r>
                        </m:den>
                      </m:f>
                      <m:r>
                        <a:rPr kumimoji="1" lang="es-MX" sz="2000" b="1" i="1" smtClean="0">
                          <a:solidFill>
                            <a:srgbClr val="FF0000"/>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𝟏</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13" name="Rectángulo 12"/>
              <p:cNvSpPr>
                <a:spLocks noRot="1" noChangeAspect="1" noMove="1" noResize="1" noEditPoints="1" noAdjustHandles="1" noChangeArrowheads="1" noChangeShapeType="1" noTextEdit="1"/>
              </p:cNvSpPr>
              <p:nvPr/>
            </p:nvSpPr>
            <p:spPr>
              <a:xfrm>
                <a:off x="5773419" y="4683534"/>
                <a:ext cx="4722861" cy="1160959"/>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167425" y="6190683"/>
                <a:ext cx="5125791" cy="384721"/>
              </a:xfrm>
              <a:prstGeom prst="rect">
                <a:avLst/>
              </a:prstGeom>
            </p:spPr>
            <p:txBody>
              <a:bodyPr wrap="square">
                <a:spAutoFit/>
              </a:bodyPr>
              <a:lstStyle/>
              <a:p>
                <a:pPr algn="just">
                  <a:buClrTx/>
                  <a:buFontTx/>
                  <a:buNone/>
                </a:pPr>
                <a:r>
                  <a:rPr lang="es-ES" sz="1900" b="1" kern="1200" dirty="0" smtClean="0">
                    <a:solidFill>
                      <a:srgbClr val="A5A5A5">
                        <a:lumMod val="50000"/>
                      </a:srgbClr>
                    </a:solidFill>
                    <a:latin typeface="Arial" panose="020B0604020202020204" pitchFamily="34" charset="0"/>
                    <a:cs typeface="Arial" panose="020B0604020202020204" pitchFamily="34" charset="0"/>
                  </a:rPr>
                  <a:t>La solución del sistema es </a:t>
                </a:r>
                <a14:m>
                  <m:oMath xmlns:m="http://schemas.openxmlformats.org/officeDocument/2006/math">
                    <m:r>
                      <a:rPr lang="es-ES" sz="1900" b="1" i="1" kern="1200" dirty="0" smtClean="0">
                        <a:solidFill>
                          <a:srgbClr val="FF0000"/>
                        </a:solidFill>
                        <a:latin typeface="Cambria Math" panose="02040503050406030204" pitchFamily="18" charset="0"/>
                        <a:cs typeface="Arial" panose="020B0604020202020204" pitchFamily="34" charset="0"/>
                      </a:rPr>
                      <m:t>𝑪</m:t>
                    </m:r>
                    <m:r>
                      <a:rPr lang="es-ES" sz="1900" b="1" i="1" kern="1200" dirty="0" smtClean="0">
                        <a:solidFill>
                          <a:srgbClr val="FF0000"/>
                        </a:solidFill>
                        <a:latin typeface="Cambria Math" panose="02040503050406030204" pitchFamily="18" charset="0"/>
                        <a:cs typeface="Arial" panose="020B0604020202020204" pitchFamily="34" charset="0"/>
                      </a:rPr>
                      <m:t>.</m:t>
                    </m:r>
                    <m:r>
                      <a:rPr lang="es-ES" sz="1900" b="1" i="1" kern="1200" dirty="0" smtClean="0">
                        <a:solidFill>
                          <a:srgbClr val="FF0000"/>
                        </a:solidFill>
                        <a:latin typeface="Cambria Math" panose="02040503050406030204" pitchFamily="18" charset="0"/>
                        <a:cs typeface="Arial" panose="020B0604020202020204" pitchFamily="34" charset="0"/>
                      </a:rPr>
                      <m:t>𝑺</m:t>
                    </m:r>
                    <m:r>
                      <a:rPr lang="es-ES" sz="1900" b="1" i="1" kern="1200" dirty="0" smtClean="0">
                        <a:solidFill>
                          <a:srgbClr val="FF0000"/>
                        </a:solidFill>
                        <a:latin typeface="Cambria Math" panose="02040503050406030204" pitchFamily="18" charset="0"/>
                        <a:cs typeface="Arial" panose="020B0604020202020204" pitchFamily="34" charset="0"/>
                      </a:rPr>
                      <m:t>.= {(</m:t>
                    </m:r>
                    <m:r>
                      <a:rPr lang="es-ES" sz="1900" b="1" i="1" kern="1200" dirty="0">
                        <a:solidFill>
                          <a:srgbClr val="FF0000"/>
                        </a:solidFill>
                        <a:latin typeface="Cambria Math"/>
                      </a:rPr>
                      <m:t>𝟐</m:t>
                    </m:r>
                    <m:r>
                      <a:rPr lang="es-ES" sz="1900" b="1" i="1" kern="1200" dirty="0">
                        <a:solidFill>
                          <a:srgbClr val="FF0000"/>
                        </a:solidFill>
                        <a:latin typeface="Cambria Math"/>
                      </a:rPr>
                      <m:t>, −</m:t>
                    </m:r>
                    <m:r>
                      <a:rPr lang="es-ES" sz="1900" b="1" i="1" kern="1200" dirty="0">
                        <a:solidFill>
                          <a:srgbClr val="FF0000"/>
                        </a:solidFill>
                        <a:latin typeface="Cambria Math"/>
                      </a:rPr>
                      <m:t>𝟏</m:t>
                    </m:r>
                    <m:r>
                      <a:rPr lang="es-MX" sz="1900" b="1" i="1" kern="1200" dirty="0" smtClean="0">
                        <a:solidFill>
                          <a:srgbClr val="FF0000"/>
                        </a:solidFill>
                        <a:latin typeface="Cambria Math" panose="02040503050406030204" pitchFamily="18" charset="0"/>
                      </a:rPr>
                      <m:t>)</m:t>
                    </m:r>
                    <m:r>
                      <a:rPr lang="es-MX" sz="1900" b="1" i="1" kern="1200" dirty="0" smtClean="0">
                        <a:solidFill>
                          <a:prstClr val="black"/>
                        </a:solidFill>
                        <a:latin typeface="Cambria Math" panose="02040503050406030204" pitchFamily="18" charset="0"/>
                      </a:rPr>
                      <m:t>}</m:t>
                    </m:r>
                  </m:oMath>
                </a14:m>
                <a:endParaRPr lang="es-ES" sz="1900" b="1" kern="1200" dirty="0">
                  <a:solidFill>
                    <a:prstClr val="black"/>
                  </a:solidFill>
                  <a:latin typeface="Arial" panose="020B0604020202020204" pitchFamily="34" charset="0"/>
                  <a:cs typeface="Arial" panose="020B0604020202020204" pitchFamily="34" charset="0"/>
                </a:endParaRPr>
              </a:p>
            </p:txBody>
          </p:sp>
        </mc:Choice>
        <mc:Fallback xmlns="">
          <p:sp>
            <p:nvSpPr>
              <p:cNvPr id="14" name="Rectángulo 13"/>
              <p:cNvSpPr>
                <a:spLocks noRot="1" noChangeAspect="1" noMove="1" noResize="1" noEditPoints="1" noAdjustHandles="1" noChangeArrowheads="1" noChangeShapeType="1" noTextEdit="1"/>
              </p:cNvSpPr>
              <p:nvPr/>
            </p:nvSpPr>
            <p:spPr>
              <a:xfrm>
                <a:off x="167425" y="6190683"/>
                <a:ext cx="5125791" cy="384721"/>
              </a:xfrm>
              <a:prstGeom prst="rect">
                <a:avLst/>
              </a:prstGeom>
              <a:blipFill rotWithShape="0">
                <a:blip r:embed="rId10"/>
                <a:stretch>
                  <a:fillRect l="-1070" t="-9524" b="-25397"/>
                </a:stretch>
              </a:blipFill>
            </p:spPr>
            <p:txBody>
              <a:bodyPr/>
              <a:lstStyle/>
              <a:p>
                <a:r>
                  <a:rPr lang="es-MX">
                    <a:noFill/>
                  </a:rPr>
                  <a:t> </a:t>
                </a:r>
              </a:p>
            </p:txBody>
          </p:sp>
        </mc:Fallback>
      </mc:AlternateContent>
    </p:spTree>
    <p:extLst>
      <p:ext uri="{BB962C8B-B14F-4D97-AF65-F5344CB8AC3E}">
        <p14:creationId xmlns:p14="http://schemas.microsoft.com/office/powerpoint/2010/main" val="296307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ircle(in)">
                                      <p:cBhvr>
                                        <p:cTn id="26" dur="2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circle(in)">
                                      <p:cBhvr>
                                        <p:cTn id="31" dur="20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in)">
                                      <p:cBhvr>
                                        <p:cTn id="36" dur="2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circle(in)">
                                      <p:cBhvr>
                                        <p:cTn id="41" dur="20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circle(in)">
                                      <p:cBhvr>
                                        <p:cTn id="46" dur="20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circle(in)">
                                      <p:cBhvr>
                                        <p:cTn id="51" dur="2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circle(in)">
                                      <p:cBhvr>
                                        <p:cTn id="56"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7" grpId="0"/>
      <p:bldP spid="8" grpId="0"/>
      <p:bldP spid="9" grpId="0"/>
      <p:bldP spid="10" grpId="0"/>
      <p:bldP spid="11" grpId="0"/>
      <p:bldP spid="12" grpId="0"/>
      <p:bldP spid="13"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 y="1318628"/>
            <a:ext cx="6249580"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a:t>
            </a:r>
            <a:r>
              <a:rPr kumimoji="1" lang="es-ES" sz="1900" b="1" dirty="0">
                <a:solidFill>
                  <a:srgbClr val="A5A5A5">
                    <a:lumMod val="50000"/>
                  </a:srgbClr>
                </a:solidFill>
                <a:latin typeface="Arial" panose="020B0604020202020204" pitchFamily="34" charset="0"/>
                <a:cs typeface="Arial" panose="020B0604020202020204" pitchFamily="34" charset="0"/>
              </a:rPr>
              <a:t>2</a:t>
            </a:r>
            <a:r>
              <a:rPr kumimoji="1" lang="es-ES" sz="1900" b="1" dirty="0" smtClean="0">
                <a:solidFill>
                  <a:srgbClr val="A5A5A5">
                    <a:lumMod val="50000"/>
                  </a:srgbClr>
                </a:solidFill>
                <a:latin typeface="Arial" panose="020B0604020202020204" pitchFamily="34" charset="0"/>
                <a:cs typeface="Arial" panose="020B0604020202020204" pitchFamily="34" charset="0"/>
              </a:rPr>
              <a:t>.-</a:t>
            </a:r>
            <a:r>
              <a:rPr kumimoji="1" lang="es-ES" sz="1900" b="1" dirty="0" smtClean="0">
                <a:solidFill>
                  <a:srgbClr val="FF0000"/>
                </a:solidFill>
                <a:latin typeface="Arial" panose="020B0604020202020204" pitchFamily="34" charset="0"/>
                <a:cs typeface="Arial" panose="020B0604020202020204" pitchFamily="34" charset="0"/>
              </a:rPr>
              <a:t>) </a:t>
            </a:r>
            <a:r>
              <a:rPr kumimoji="1" lang="es-ES" sz="1900" b="1" dirty="0">
                <a:solidFill>
                  <a:srgbClr val="FF0000"/>
                </a:solidFill>
                <a:latin typeface="Arial" panose="020B0604020202020204" pitchFamily="34" charset="0"/>
                <a:cs typeface="Arial" panose="020B0604020202020204" pitchFamily="34" charset="0"/>
              </a:rPr>
              <a:t>Use la regla de </a:t>
            </a:r>
            <a:r>
              <a:rPr kumimoji="1" lang="es-ES" sz="1900" b="1" dirty="0" err="1">
                <a:solidFill>
                  <a:srgbClr val="FF0000"/>
                </a:solidFill>
                <a:latin typeface="Arial" panose="020B0604020202020204" pitchFamily="34" charset="0"/>
                <a:cs typeface="Arial" panose="020B0604020202020204" pitchFamily="34" charset="0"/>
              </a:rPr>
              <a:t>Cramer</a:t>
            </a:r>
            <a:r>
              <a:rPr kumimoji="1" lang="es-ES" sz="1900" b="1" dirty="0">
                <a:solidFill>
                  <a:srgbClr val="FF0000"/>
                </a:solidFill>
                <a:latin typeface="Arial" panose="020B0604020202020204" pitchFamily="34" charset="0"/>
                <a:cs typeface="Arial" panose="020B0604020202020204" pitchFamily="34" charset="0"/>
              </a:rPr>
              <a:t> para resolver el sistema</a:t>
            </a:r>
          </a:p>
        </p:txBody>
      </p:sp>
      <p:sp>
        <p:nvSpPr>
          <p:cNvPr id="3" name="Rectángulo 2"/>
          <p:cNvSpPr/>
          <p:nvPr/>
        </p:nvSpPr>
        <p:spPr>
          <a:xfrm>
            <a:off x="0" y="1936536"/>
            <a:ext cx="1213794" cy="384721"/>
          </a:xfrm>
          <a:prstGeom prst="rect">
            <a:avLst/>
          </a:prstGeom>
        </p:spPr>
        <p:txBody>
          <a:bodyPr wrap="non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Solución</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ángulo 4"/>
              <p:cNvSpPr/>
              <p:nvPr/>
            </p:nvSpPr>
            <p:spPr>
              <a:xfrm>
                <a:off x="6148015" y="1141656"/>
                <a:ext cx="17554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002060"/>
                          </a:solidFill>
                          <a:latin typeface="Cambria Math" panose="02040503050406030204" pitchFamily="18" charset="0"/>
                        </a:rPr>
                        <m:t>𝟒</m:t>
                      </m:r>
                      <m:sSub>
                        <m:sSubPr>
                          <m:ctrlPr>
                            <a:rPr kumimoji="1" lang="es-NI" b="1" i="1" smtClean="0">
                              <a:solidFill>
                                <a:srgbClr val="002060"/>
                              </a:solidFill>
                              <a:latin typeface="Cambria Math" panose="02040503050406030204" pitchFamily="18" charset="0"/>
                            </a:rPr>
                          </m:ctrlPr>
                        </m:sSubPr>
                        <m:e>
                          <m:r>
                            <a:rPr kumimoji="1" lang="es-NI" b="1" i="1" smtClean="0">
                              <a:solidFill>
                                <a:srgbClr val="002060"/>
                              </a:solidFill>
                              <a:latin typeface="Cambria Math" panose="02040503050406030204" pitchFamily="18" charset="0"/>
                            </a:rPr>
                            <m:t>𝒙</m:t>
                          </m:r>
                        </m:e>
                        <m:sub>
                          <m:r>
                            <a:rPr kumimoji="1" lang="es-NI" b="1" i="1" smtClean="0">
                              <a:solidFill>
                                <a:srgbClr val="002060"/>
                              </a:solidFill>
                              <a:latin typeface="Cambria Math" panose="02040503050406030204" pitchFamily="18" charset="0"/>
                            </a:rPr>
                            <m:t>𝟏</m:t>
                          </m:r>
                        </m:sub>
                      </m:sSub>
                      <m:r>
                        <a:rPr kumimoji="1" lang="es-NI" b="1" i="1">
                          <a:solidFill>
                            <a:srgbClr val="002060"/>
                          </a:solidFill>
                          <a:latin typeface="Cambria Math" panose="02040503050406030204" pitchFamily="18" charset="0"/>
                        </a:rPr>
                        <m:t>−</m:t>
                      </m:r>
                      <m:sSub>
                        <m:sSubPr>
                          <m:ctrlPr>
                            <a:rPr kumimoji="1" lang="es-NI" b="1" i="1" smtClean="0">
                              <a:solidFill>
                                <a:srgbClr val="002060"/>
                              </a:solidFill>
                              <a:latin typeface="Cambria Math" panose="02040503050406030204" pitchFamily="18" charset="0"/>
                            </a:rPr>
                          </m:ctrlPr>
                        </m:sSubPr>
                        <m:e>
                          <m:r>
                            <a:rPr kumimoji="1" lang="es-NI" b="1" i="1" smtClean="0">
                              <a:solidFill>
                                <a:srgbClr val="002060"/>
                              </a:solidFill>
                              <a:latin typeface="Cambria Math" panose="02040503050406030204" pitchFamily="18" charset="0"/>
                            </a:rPr>
                            <m:t>𝒙</m:t>
                          </m:r>
                        </m:e>
                        <m:sub>
                          <m:r>
                            <a:rPr kumimoji="1" lang="es-NI" b="1" i="1" smtClean="0">
                              <a:solidFill>
                                <a:srgbClr val="002060"/>
                              </a:solidFill>
                              <a:latin typeface="Cambria Math" panose="02040503050406030204" pitchFamily="18" charset="0"/>
                            </a:rPr>
                            <m:t>𝟐</m:t>
                          </m:r>
                        </m:sub>
                      </m:sSub>
                      <m:r>
                        <a:rPr kumimoji="1" lang="es-ES" b="1" i="1">
                          <a:solidFill>
                            <a:srgbClr val="002060"/>
                          </a:solidFill>
                          <a:latin typeface="Cambria Math"/>
                        </a:rPr>
                        <m:t>=</m:t>
                      </m:r>
                      <m:r>
                        <a:rPr kumimoji="1" lang="es-NI" b="1" i="1">
                          <a:solidFill>
                            <a:srgbClr val="002060"/>
                          </a:solidFill>
                          <a:latin typeface="Cambria Math" panose="02040503050406030204" pitchFamily="18" charset="0"/>
                        </a:rPr>
                        <m:t>−</m:t>
                      </m:r>
                      <m:r>
                        <a:rPr kumimoji="1" lang="es-NI" b="1" i="1">
                          <a:solidFill>
                            <a:srgbClr val="002060"/>
                          </a:solidFill>
                          <a:latin typeface="Cambria Math" panose="02040503050406030204" pitchFamily="18" charset="0"/>
                        </a:rPr>
                        <m:t>𝟗</m:t>
                      </m:r>
                    </m:oMath>
                  </m:oMathPara>
                </a14:m>
                <a:endParaRPr lang="es-MX" dirty="0"/>
              </a:p>
            </p:txBody>
          </p:sp>
        </mc:Choice>
        <mc:Fallback xmlns="">
          <p:sp>
            <p:nvSpPr>
              <p:cNvPr id="5" name="Rectángulo 4"/>
              <p:cNvSpPr>
                <a:spLocks noRot="1" noChangeAspect="1" noMove="1" noResize="1" noEditPoints="1" noAdjustHandles="1" noChangeArrowheads="1" noChangeShapeType="1" noTextEdit="1"/>
              </p:cNvSpPr>
              <p:nvPr/>
            </p:nvSpPr>
            <p:spPr>
              <a:xfrm>
                <a:off x="6148015" y="1141656"/>
                <a:ext cx="1755481" cy="369332"/>
              </a:xfrm>
              <a:prstGeom prst="rect">
                <a:avLst/>
              </a:prstGeom>
              <a:blipFill rotWithShape="0">
                <a:blip r:embed="rId2"/>
                <a:stretch>
                  <a:fillRect b="-16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079085" y="1503294"/>
                <a:ext cx="18933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002060"/>
                          </a:solidFill>
                          <a:latin typeface="Cambria Math" panose="02040503050406030204" pitchFamily="18" charset="0"/>
                        </a:rPr>
                        <m:t>𝟑</m:t>
                      </m:r>
                      <m:sSub>
                        <m:sSubPr>
                          <m:ctrlPr>
                            <a:rPr kumimoji="1" lang="es-NI" b="1" i="1" smtClean="0">
                              <a:solidFill>
                                <a:srgbClr val="002060"/>
                              </a:solidFill>
                              <a:latin typeface="Cambria Math" panose="02040503050406030204" pitchFamily="18" charset="0"/>
                            </a:rPr>
                          </m:ctrlPr>
                        </m:sSubPr>
                        <m:e>
                          <m:r>
                            <a:rPr kumimoji="1" lang="es-NI" b="1" i="1" smtClean="0">
                              <a:solidFill>
                                <a:srgbClr val="002060"/>
                              </a:solidFill>
                              <a:latin typeface="Cambria Math" panose="02040503050406030204" pitchFamily="18" charset="0"/>
                            </a:rPr>
                            <m:t>𝒙</m:t>
                          </m:r>
                        </m:e>
                        <m:sub>
                          <m:r>
                            <a:rPr kumimoji="1" lang="es-NI" b="1" i="1" smtClean="0">
                              <a:solidFill>
                                <a:srgbClr val="002060"/>
                              </a:solidFill>
                              <a:latin typeface="Cambria Math" panose="02040503050406030204" pitchFamily="18" charset="0"/>
                            </a:rPr>
                            <m:t>𝟏</m:t>
                          </m:r>
                        </m:sub>
                      </m:sSub>
                      <m:r>
                        <a:rPr kumimoji="1" lang="es-ES" b="1" i="1">
                          <a:solidFill>
                            <a:srgbClr val="002060"/>
                          </a:solidFill>
                          <a:latin typeface="Cambria Math"/>
                        </a:rPr>
                        <m:t>+</m:t>
                      </m:r>
                      <m:r>
                        <a:rPr kumimoji="1" lang="es-NI" b="1" i="1">
                          <a:solidFill>
                            <a:srgbClr val="002060"/>
                          </a:solidFill>
                          <a:latin typeface="Cambria Math" panose="02040503050406030204" pitchFamily="18" charset="0"/>
                        </a:rPr>
                        <m:t>𝟓</m:t>
                      </m:r>
                      <m:sSub>
                        <m:sSubPr>
                          <m:ctrlPr>
                            <a:rPr kumimoji="1" lang="es-NI" b="1" i="1" smtClean="0">
                              <a:solidFill>
                                <a:srgbClr val="002060"/>
                              </a:solidFill>
                              <a:latin typeface="Cambria Math" panose="02040503050406030204" pitchFamily="18" charset="0"/>
                            </a:rPr>
                          </m:ctrlPr>
                        </m:sSubPr>
                        <m:e>
                          <m:r>
                            <a:rPr kumimoji="1" lang="es-NI" b="1" i="1" smtClean="0">
                              <a:solidFill>
                                <a:srgbClr val="002060"/>
                              </a:solidFill>
                              <a:latin typeface="Cambria Math" panose="02040503050406030204" pitchFamily="18" charset="0"/>
                            </a:rPr>
                            <m:t>𝒙</m:t>
                          </m:r>
                        </m:e>
                        <m:sub>
                          <m:r>
                            <a:rPr kumimoji="1" lang="es-NI" b="1" i="1" smtClean="0">
                              <a:solidFill>
                                <a:srgbClr val="002060"/>
                              </a:solidFill>
                              <a:latin typeface="Cambria Math" panose="02040503050406030204" pitchFamily="18" charset="0"/>
                            </a:rPr>
                            <m:t>𝟐</m:t>
                          </m:r>
                        </m:sub>
                      </m:sSub>
                      <m:r>
                        <a:rPr kumimoji="1" lang="es-ES" b="1" i="1">
                          <a:solidFill>
                            <a:srgbClr val="002060"/>
                          </a:solidFill>
                          <a:latin typeface="Cambria Math"/>
                        </a:rPr>
                        <m:t>=−</m:t>
                      </m:r>
                      <m:r>
                        <a:rPr kumimoji="1" lang="es-NI" b="1" i="1">
                          <a:solidFill>
                            <a:srgbClr val="002060"/>
                          </a:solidFill>
                          <a:latin typeface="Cambria Math" panose="02040503050406030204" pitchFamily="18" charset="0"/>
                        </a:rPr>
                        <m:t>𝟏</m:t>
                      </m:r>
                    </m:oMath>
                  </m:oMathPara>
                </a14:m>
                <a:endParaRPr lang="es-MX" dirty="0"/>
              </a:p>
            </p:txBody>
          </p:sp>
        </mc:Choice>
        <mc:Fallback xmlns="">
          <p:sp>
            <p:nvSpPr>
              <p:cNvPr id="6" name="Rectángulo 5"/>
              <p:cNvSpPr>
                <a:spLocks noRot="1" noChangeAspect="1" noMove="1" noResize="1" noEditPoints="1" noAdjustHandles="1" noChangeArrowheads="1" noChangeShapeType="1" noTextEdit="1"/>
              </p:cNvSpPr>
              <p:nvPr/>
            </p:nvSpPr>
            <p:spPr>
              <a:xfrm>
                <a:off x="6079085" y="1503294"/>
                <a:ext cx="1893339" cy="369332"/>
              </a:xfrm>
              <a:prstGeom prst="rect">
                <a:avLst/>
              </a:prstGeom>
              <a:blipFill rotWithShape="0">
                <a:blip r:embed="rId3"/>
                <a:stretch>
                  <a:fillRect b="-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153581" y="2382996"/>
                <a:ext cx="12192000" cy="579902"/>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A5A5A5">
                        <a:lumMod val="50000"/>
                      </a:srgbClr>
                    </a:solidFill>
                    <a:latin typeface="Arial" panose="020B0604020202020204" pitchFamily="34" charset="0"/>
                    <a:cs typeface="Arial" panose="020B0604020202020204" pitchFamily="34" charset="0"/>
                  </a:rPr>
                  <a:t>El determinante del sistema es </a:t>
                </a:r>
                <a14:m>
                  <m:oMath xmlns:m="http://schemas.openxmlformats.org/officeDocument/2006/math">
                    <m:d>
                      <m:dPr>
                        <m:begChr m:val="["/>
                        <m:endChr m:val="]"/>
                        <m:ctrlPr>
                          <a:rPr kumimoji="1" lang="es-ES" sz="1900" b="1" i="1" smtClean="0">
                            <a:solidFill>
                              <a:srgbClr val="FF0000"/>
                            </a:solidFill>
                            <a:latin typeface="Cambria Math" panose="02040503050406030204" pitchFamily="18" charset="0"/>
                          </a:rPr>
                        </m:ctrlPr>
                      </m:dPr>
                      <m:e>
                        <m:m>
                          <m:mPr>
                            <m:mcs>
                              <m:mc>
                                <m:mcPr>
                                  <m:count m:val="2"/>
                                  <m:mcJc m:val="center"/>
                                </m:mcPr>
                              </m:mc>
                            </m:mcs>
                            <m:ctrlPr>
                              <a:rPr kumimoji="1" lang="es-ES" sz="1900" b="1" i="1" smtClean="0">
                                <a:solidFill>
                                  <a:srgbClr val="FF0000"/>
                                </a:solidFill>
                                <a:latin typeface="Cambria Math" panose="02040503050406030204" pitchFamily="18" charset="0"/>
                              </a:rPr>
                            </m:ctrlPr>
                          </m:mPr>
                          <m:mr>
                            <m:e>
                              <m:r>
                                <m:rPr>
                                  <m:brk m:alnAt="7"/>
                                </m:rPr>
                                <a:rPr kumimoji="1" lang="es-NI" sz="1900" b="1" i="1" smtClean="0">
                                  <a:solidFill>
                                    <a:srgbClr val="FF0000"/>
                                  </a:solidFill>
                                  <a:latin typeface="Cambria Math" panose="02040503050406030204" pitchFamily="18" charset="0"/>
                                </a:rPr>
                                <m:t>𝟒</m:t>
                              </m:r>
                            </m:e>
                            <m:e>
                              <m:r>
                                <a:rPr kumimoji="1" lang="es-NI" sz="1900" b="1" i="1" smtClean="0">
                                  <a:solidFill>
                                    <a:srgbClr val="FF0000"/>
                                  </a:solidFill>
                                  <a:latin typeface="Cambria Math" panose="02040503050406030204" pitchFamily="18" charset="0"/>
                                </a:rPr>
                                <m:t>−</m:t>
                              </m:r>
                              <m:r>
                                <a:rPr kumimoji="1" lang="es-NI" sz="1900" b="1" i="1" smtClean="0">
                                  <a:solidFill>
                                    <a:srgbClr val="FF0000"/>
                                  </a:solidFill>
                                  <a:latin typeface="Cambria Math" panose="02040503050406030204" pitchFamily="18" charset="0"/>
                                </a:rPr>
                                <m:t>𝟏</m:t>
                              </m:r>
                            </m:e>
                          </m:mr>
                          <m:mr>
                            <m:e>
                              <m:r>
                                <a:rPr kumimoji="1" lang="es-NI" sz="1900" b="1" i="1" smtClean="0">
                                  <a:solidFill>
                                    <a:srgbClr val="FF0000"/>
                                  </a:solidFill>
                                  <a:latin typeface="Cambria Math" panose="02040503050406030204" pitchFamily="18" charset="0"/>
                                </a:rPr>
                                <m:t>𝟑</m:t>
                              </m:r>
                            </m:e>
                            <m:e>
                              <m:r>
                                <a:rPr kumimoji="1" lang="es-NI" sz="1900" b="1" i="1" smtClean="0">
                                  <a:solidFill>
                                    <a:srgbClr val="FF0000"/>
                                  </a:solidFill>
                                  <a:latin typeface="Cambria Math" panose="02040503050406030204" pitchFamily="18" charset="0"/>
                                </a:rPr>
                                <m:t>𝟓</m:t>
                              </m:r>
                            </m:e>
                          </m:mr>
                        </m:m>
                      </m:e>
                    </m:d>
                    <m:r>
                      <a:rPr kumimoji="1" lang="es-MX" sz="1900" b="1" i="1" smtClean="0">
                        <a:solidFill>
                          <a:srgbClr val="FF0000"/>
                        </a:solidFill>
                        <a:latin typeface="Cambria Math" panose="02040503050406030204" pitchFamily="18" charset="0"/>
                      </a:rPr>
                      <m:t>=</m:t>
                    </m:r>
                    <m:r>
                      <a:rPr kumimoji="1" lang="es-NI" sz="1900" b="1" i="1" smtClean="0">
                        <a:solidFill>
                          <a:srgbClr val="FF0000"/>
                        </a:solidFill>
                        <a:latin typeface="Cambria Math" panose="02040503050406030204" pitchFamily="18" charset="0"/>
                      </a:rPr>
                      <m:t>𝟐𝟑</m:t>
                    </m:r>
                    <m:r>
                      <a:rPr kumimoji="1" lang="es-MX" sz="1900" b="1" i="1" smtClean="0">
                        <a:solidFill>
                          <a:srgbClr val="FF0000"/>
                        </a:solidFill>
                        <a:latin typeface="Cambria Math" panose="02040503050406030204" pitchFamily="18" charset="0"/>
                        <a:ea typeface="Cambria Math" panose="02040503050406030204" pitchFamily="18" charset="0"/>
                      </a:rPr>
                      <m:t>≠</m:t>
                    </m:r>
                    <m:r>
                      <a:rPr kumimoji="1" lang="es-MX" sz="1900" b="1" i="1" smtClean="0">
                        <a:solidFill>
                          <a:srgbClr val="FF0000"/>
                        </a:solidFill>
                        <a:latin typeface="Cambria Math" panose="02040503050406030204" pitchFamily="18" charset="0"/>
                        <a:ea typeface="Cambria Math" panose="02040503050406030204" pitchFamily="18" charset="0"/>
                      </a:rPr>
                      <m:t>𝟎</m:t>
                    </m:r>
                    <m:r>
                      <a:rPr kumimoji="1" lang="es-MX" sz="1900" b="1" i="1" smtClean="0">
                        <a:solidFill>
                          <a:srgbClr val="FF0000"/>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esto implica que el sistema es compatible, entonces</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153581" y="2382996"/>
                <a:ext cx="12192000" cy="579902"/>
              </a:xfrm>
              <a:prstGeom prst="rect">
                <a:avLst/>
              </a:prstGeom>
              <a:blipFill rotWithShape="0">
                <a:blip r:embed="rId4"/>
                <a:stretch>
                  <a:fillRect l="-45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1154248" y="3349398"/>
                <a:ext cx="2181380" cy="579902"/>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kumimoji="1" lang="es-NI" sz="1900" b="1" i="1">
                        <a:solidFill>
                          <a:srgbClr val="A5A5A5">
                            <a:lumMod val="50000"/>
                          </a:srgbClr>
                        </a:solidFill>
                        <a:latin typeface="Cambria Math" panose="02040503050406030204" pitchFamily="18" charset="0"/>
                      </a:rPr>
                      <m:t>𝒅𝒆𝒕</m:t>
                    </m:r>
                    <m:r>
                      <a:rPr kumimoji="1" lang="es-NI" sz="1900" b="1" i="1">
                        <a:solidFill>
                          <a:srgbClr val="A5A5A5">
                            <a:lumMod val="50000"/>
                          </a:srgbClr>
                        </a:solidFill>
                        <a:latin typeface="Cambria Math" panose="02040503050406030204" pitchFamily="18" charset="0"/>
                      </a:rPr>
                      <m:t> </m:t>
                    </m:r>
                    <m:r>
                      <a:rPr kumimoji="1" lang="es-NI" sz="1900" b="1" i="1">
                        <a:solidFill>
                          <a:srgbClr val="A5A5A5">
                            <a:lumMod val="50000"/>
                          </a:srgbClr>
                        </a:solidFill>
                        <a:latin typeface="Cambria Math" panose="02040503050406030204" pitchFamily="18" charset="0"/>
                      </a:rPr>
                      <m:t>𝑨</m:t>
                    </m:r>
                    <m:r>
                      <a:rPr kumimoji="1" lang="es-MX" sz="1900" b="1" i="1" smtClean="0">
                        <a:solidFill>
                          <a:srgbClr val="A5A5A5">
                            <a:lumMod val="50000"/>
                          </a:srgbClr>
                        </a:solidFill>
                        <a:latin typeface="Cambria Math" panose="02040503050406030204" pitchFamily="18" charset="0"/>
                      </a:rPr>
                      <m:t>=</m:t>
                    </m:r>
                    <m:d>
                      <m:dPr>
                        <m:begChr m:val="["/>
                        <m:endChr m:val="]"/>
                        <m:ctrlPr>
                          <a:rPr kumimoji="1" lang="es-ES" sz="19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1900" b="1" i="1" smtClean="0">
                                <a:solidFill>
                                  <a:srgbClr val="A5A5A5">
                                    <a:lumMod val="50000"/>
                                  </a:srgbClr>
                                </a:solidFill>
                                <a:latin typeface="Cambria Math" panose="02040503050406030204" pitchFamily="18" charset="0"/>
                              </a:rPr>
                            </m:ctrlPr>
                          </m:mPr>
                          <m:mr>
                            <m:e>
                              <m:r>
                                <m:rPr>
                                  <m:brk m:alnAt="7"/>
                                </m:rPr>
                                <a:rPr kumimoji="1" lang="es-NI" sz="1900" b="1" i="1" smtClean="0">
                                  <a:solidFill>
                                    <a:srgbClr val="A5A5A5">
                                      <a:lumMod val="50000"/>
                                    </a:srgbClr>
                                  </a:solidFill>
                                  <a:latin typeface="Cambria Math" panose="02040503050406030204" pitchFamily="18" charset="0"/>
                                </a:rPr>
                                <m:t>𝟒</m:t>
                              </m:r>
                            </m:e>
                            <m:e>
                              <m:r>
                                <a:rPr kumimoji="1" lang="es-NI" sz="1900" b="1" i="1" smtClean="0">
                                  <a:solidFill>
                                    <a:srgbClr val="A5A5A5">
                                      <a:lumMod val="50000"/>
                                    </a:srgbClr>
                                  </a:solidFill>
                                  <a:latin typeface="Cambria Math" panose="02040503050406030204" pitchFamily="18" charset="0"/>
                                </a:rPr>
                                <m:t>−</m:t>
                              </m:r>
                              <m:r>
                                <a:rPr kumimoji="1" lang="es-NI" sz="1900" b="1" i="1" smtClean="0">
                                  <a:solidFill>
                                    <a:srgbClr val="A5A5A5">
                                      <a:lumMod val="50000"/>
                                    </a:srgbClr>
                                  </a:solidFill>
                                  <a:latin typeface="Cambria Math" panose="02040503050406030204" pitchFamily="18" charset="0"/>
                                </a:rPr>
                                <m:t>𝟏</m:t>
                              </m:r>
                            </m:e>
                          </m:mr>
                          <m:mr>
                            <m:e>
                              <m:r>
                                <a:rPr kumimoji="1" lang="es-NI" sz="1900" b="1" i="1" smtClean="0">
                                  <a:solidFill>
                                    <a:srgbClr val="A5A5A5">
                                      <a:lumMod val="50000"/>
                                    </a:srgbClr>
                                  </a:solidFill>
                                  <a:latin typeface="Cambria Math" panose="02040503050406030204" pitchFamily="18" charset="0"/>
                                </a:rPr>
                                <m:t>𝟑</m:t>
                              </m:r>
                            </m:e>
                            <m:e>
                              <m:r>
                                <a:rPr kumimoji="1" lang="es-NI" sz="1900" b="1" i="1" smtClean="0">
                                  <a:solidFill>
                                    <a:srgbClr val="A5A5A5">
                                      <a:lumMod val="50000"/>
                                    </a:srgbClr>
                                  </a:solidFill>
                                  <a:latin typeface="Cambria Math" panose="02040503050406030204" pitchFamily="18" charset="0"/>
                                </a:rPr>
                                <m:t>𝟓</m:t>
                              </m:r>
                            </m:e>
                          </m:mr>
                        </m:m>
                      </m:e>
                    </m:d>
                    <m:r>
                      <a:rPr kumimoji="1" lang="es-MX" sz="19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8" name="Rectángulo 7"/>
              <p:cNvSpPr>
                <a:spLocks noRot="1" noChangeAspect="1" noMove="1" noResize="1" noEditPoints="1" noAdjustHandles="1" noChangeArrowheads="1" noChangeShapeType="1" noTextEdit="1"/>
              </p:cNvSpPr>
              <p:nvPr/>
            </p:nvSpPr>
            <p:spPr>
              <a:xfrm>
                <a:off x="1154248" y="3349398"/>
                <a:ext cx="2181380" cy="579902"/>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3335628" y="3323813"/>
                <a:ext cx="3070280" cy="605487"/>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kumimoji="1" lang="es-MX" sz="2000" b="1" i="1" smtClean="0">
                        <a:solidFill>
                          <a:srgbClr val="A5A5A5">
                            <a:lumMod val="50000"/>
                          </a:srgbClr>
                        </a:solidFill>
                        <a:latin typeface="Cambria Math" panose="02040503050406030204" pitchFamily="18" charset="0"/>
                      </a:rPr>
                      <m:t>=</m:t>
                    </m:r>
                    <m:d>
                      <m:dPr>
                        <m:begChr m:val="["/>
                        <m:endChr m:val="]"/>
                        <m:ctrlPr>
                          <a:rPr kumimoji="1" lang="es-ES" sz="20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2000" b="1" i="1" smtClean="0">
                                <a:solidFill>
                                  <a:srgbClr val="A5A5A5">
                                    <a:lumMod val="50000"/>
                                  </a:srgbClr>
                                </a:solidFill>
                                <a:latin typeface="Cambria Math" panose="02040503050406030204" pitchFamily="18" charset="0"/>
                              </a:rPr>
                            </m:ctrlPr>
                          </m:mPr>
                          <m:mr>
                            <m:e>
                              <m:r>
                                <m:rPr>
                                  <m:brk m:alnAt="7"/>
                                </m:rPr>
                                <a:rPr kumimoji="1" lang="es-NI" sz="2000" b="1" i="1" smtClean="0">
                                  <a:solidFill>
                                    <a:srgbClr val="A5A5A5">
                                      <a:lumMod val="50000"/>
                                    </a:srgbClr>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𝟗</m:t>
                              </m:r>
                            </m:e>
                            <m:e>
                              <m:r>
                                <a:rPr kumimoji="1" lang="es-NI" sz="2000" b="1" i="1" smtClean="0">
                                  <a:solidFill>
                                    <a:srgbClr val="A5A5A5">
                                      <a:lumMod val="50000"/>
                                    </a:srgbClr>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𝟏</m:t>
                              </m:r>
                            </m:e>
                          </m:mr>
                          <m:mr>
                            <m:e>
                              <m:r>
                                <a:rPr kumimoji="1" lang="es-MX" sz="2000" b="1" i="1" smtClean="0">
                                  <a:solidFill>
                                    <a:srgbClr val="A5A5A5">
                                      <a:lumMod val="50000"/>
                                    </a:srgbClr>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𝟏</m:t>
                              </m:r>
                            </m:e>
                            <m:e>
                              <m:r>
                                <a:rPr kumimoji="1" lang="es-NI" sz="2000" b="1" i="1" smtClean="0">
                                  <a:solidFill>
                                    <a:srgbClr val="A5A5A5">
                                      <a:lumMod val="50000"/>
                                    </a:srgbClr>
                                  </a:solidFill>
                                  <a:latin typeface="Cambria Math" panose="02040503050406030204" pitchFamily="18" charset="0"/>
                                </a:rPr>
                                <m:t>𝟓</m:t>
                              </m:r>
                            </m:e>
                          </m:mr>
                        </m:m>
                      </m:e>
                    </m:d>
                    <m:r>
                      <a:rPr kumimoji="1" lang="es-MX" sz="20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3335628" y="3323813"/>
                <a:ext cx="3070280" cy="605487"/>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191955" y="3318369"/>
                <a:ext cx="2688111" cy="605550"/>
              </a:xfrm>
              <a:prstGeom prst="rect">
                <a:avLst/>
              </a:prstGeom>
            </p:spPr>
            <p:txBody>
              <a:bodyPr wrap="square">
                <a:spAutoFit/>
              </a:bodyPr>
              <a:lstStyle/>
              <a:p>
                <a:pPr algn="just" fontAlgn="base">
                  <a:spcBef>
                    <a:spcPct val="20000"/>
                  </a:spcBef>
                  <a:spcAft>
                    <a:spcPct val="0"/>
                  </a:spcAft>
                  <a:buClrTx/>
                  <a:buFontTx/>
                  <a:buNone/>
                </a:pP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kumimoji="1" lang="es-MX" sz="2000" b="1" i="1" smtClean="0">
                        <a:solidFill>
                          <a:srgbClr val="A5A5A5">
                            <a:lumMod val="50000"/>
                          </a:srgbClr>
                        </a:solidFill>
                        <a:latin typeface="Cambria Math" panose="02040503050406030204" pitchFamily="18" charset="0"/>
                      </a:rPr>
                      <m:t>=</m:t>
                    </m:r>
                    <m:d>
                      <m:dPr>
                        <m:begChr m:val="["/>
                        <m:endChr m:val="]"/>
                        <m:ctrlPr>
                          <a:rPr kumimoji="1" lang="es-ES" sz="2000" b="1" i="1" smtClean="0">
                            <a:solidFill>
                              <a:srgbClr val="A5A5A5">
                                <a:lumMod val="50000"/>
                              </a:srgbClr>
                            </a:solidFill>
                            <a:latin typeface="Cambria Math" panose="02040503050406030204" pitchFamily="18" charset="0"/>
                          </a:rPr>
                        </m:ctrlPr>
                      </m:dPr>
                      <m:e>
                        <m:m>
                          <m:mPr>
                            <m:mcs>
                              <m:mc>
                                <m:mcPr>
                                  <m:count m:val="2"/>
                                  <m:mcJc m:val="center"/>
                                </m:mcPr>
                              </m:mc>
                            </m:mcs>
                            <m:ctrlPr>
                              <a:rPr kumimoji="1" lang="es-ES" sz="2000" b="1" i="1" smtClean="0">
                                <a:solidFill>
                                  <a:srgbClr val="A5A5A5">
                                    <a:lumMod val="50000"/>
                                  </a:srgbClr>
                                </a:solidFill>
                                <a:latin typeface="Cambria Math" panose="02040503050406030204" pitchFamily="18" charset="0"/>
                              </a:rPr>
                            </m:ctrlPr>
                          </m:mPr>
                          <m:mr>
                            <m:e>
                              <m:r>
                                <m:rPr>
                                  <m:brk m:alnAt="7"/>
                                </m:rPr>
                                <a:rPr kumimoji="1" lang="es-NI" sz="2000" b="1" i="1" smtClean="0">
                                  <a:solidFill>
                                    <a:srgbClr val="A5A5A5">
                                      <a:lumMod val="50000"/>
                                    </a:srgbClr>
                                  </a:solidFill>
                                  <a:latin typeface="Cambria Math" panose="02040503050406030204" pitchFamily="18" charset="0"/>
                                </a:rPr>
                                <m:t>𝟒</m:t>
                              </m:r>
                            </m:e>
                            <m:e>
                              <m:r>
                                <a:rPr kumimoji="1" lang="es-NI" sz="2000" b="1" i="1" smtClean="0">
                                  <a:solidFill>
                                    <a:srgbClr val="A5A5A5">
                                      <a:lumMod val="50000"/>
                                    </a:srgbClr>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𝟗</m:t>
                              </m:r>
                            </m:e>
                          </m:mr>
                          <m:mr>
                            <m:e>
                              <m:r>
                                <a:rPr kumimoji="1" lang="es-NI" sz="2000" b="1" i="1" smtClean="0">
                                  <a:solidFill>
                                    <a:srgbClr val="A5A5A5">
                                      <a:lumMod val="50000"/>
                                    </a:srgbClr>
                                  </a:solidFill>
                                  <a:latin typeface="Cambria Math" panose="02040503050406030204" pitchFamily="18" charset="0"/>
                                </a:rPr>
                                <m:t>𝟑</m:t>
                              </m:r>
                            </m:e>
                            <m:e>
                              <m:r>
                                <a:rPr kumimoji="1" lang="es-MX" sz="2000" b="1" i="1" smtClean="0">
                                  <a:solidFill>
                                    <a:srgbClr val="A5A5A5">
                                      <a:lumMod val="50000"/>
                                    </a:srgbClr>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𝟏</m:t>
                              </m:r>
                            </m:e>
                          </m:mr>
                        </m:m>
                      </m:e>
                    </m:d>
                    <m:r>
                      <a:rPr kumimoji="1" lang="es-MX" sz="2000" b="1" i="1" smtClean="0">
                        <a:solidFill>
                          <a:srgbClr val="A5A5A5">
                            <a:lumMod val="50000"/>
                          </a:srgbClr>
                        </a:solidFill>
                        <a:latin typeface="Cambria Math" panose="02040503050406030204" pitchFamily="18" charset="0"/>
                        <a:ea typeface="Cambria Math" panose="02040503050406030204" pitchFamily="18" charset="0"/>
                      </a:rPr>
                      <m:t> </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0" name="Rectángulo 9"/>
              <p:cNvSpPr>
                <a:spLocks noRot="1" noChangeAspect="1" noMove="1" noResize="1" noEditPoints="1" noAdjustHandles="1" noChangeArrowheads="1" noChangeShapeType="1" noTextEdit="1"/>
              </p:cNvSpPr>
              <p:nvPr/>
            </p:nvSpPr>
            <p:spPr>
              <a:xfrm>
                <a:off x="6191955" y="3318369"/>
                <a:ext cx="2688111" cy="605550"/>
              </a:xfrm>
              <a:prstGeom prst="rect">
                <a:avLst/>
              </a:prstGeom>
              <a:blipFill rotWithShape="0">
                <a:blip r:embed="rId7"/>
                <a:stretch>
                  <a:fillRect/>
                </a:stretch>
              </a:blipFill>
            </p:spPr>
            <p:txBody>
              <a:bodyPr/>
              <a:lstStyle/>
              <a:p>
                <a:r>
                  <a:rPr lang="es-MX">
                    <a:noFill/>
                  </a:rPr>
                  <a:t> </a:t>
                </a:r>
              </a:p>
            </p:txBody>
          </p:sp>
        </mc:Fallback>
      </mc:AlternateContent>
      <p:sp>
        <p:nvSpPr>
          <p:cNvPr id="11" name="Rectángulo 10"/>
          <p:cNvSpPr/>
          <p:nvPr/>
        </p:nvSpPr>
        <p:spPr>
          <a:xfrm>
            <a:off x="153581" y="4255218"/>
            <a:ext cx="1352282"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a:solidFill>
                  <a:srgbClr val="A5A5A5">
                    <a:lumMod val="50000"/>
                  </a:srgbClr>
                </a:solidFill>
                <a:latin typeface="Arial" panose="020B0604020202020204" pitchFamily="34" charset="0"/>
                <a:cs typeface="Arial" panose="020B0604020202020204" pitchFamily="34" charset="0"/>
              </a:rPr>
              <a:t>e</a:t>
            </a:r>
            <a:r>
              <a:rPr kumimoji="1" lang="es-ES" sz="1900" b="1" dirty="0" smtClean="0">
                <a:solidFill>
                  <a:srgbClr val="A5A5A5">
                    <a:lumMod val="50000"/>
                  </a:srgbClr>
                </a:solidFill>
                <a:latin typeface="Arial" panose="020B0604020202020204" pitchFamily="34" charset="0"/>
                <a:cs typeface="Arial" panose="020B0604020202020204" pitchFamily="34" charset="0"/>
              </a:rPr>
              <a:t>ntonces</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Rectángulo 11"/>
              <p:cNvSpPr/>
              <p:nvPr/>
            </p:nvSpPr>
            <p:spPr>
              <a:xfrm>
                <a:off x="1184854" y="4755740"/>
                <a:ext cx="4963161" cy="1162947"/>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a:solidFill>
                                <a:srgbClr val="002060"/>
                              </a:solidFill>
                              <a:latin typeface="Cambria Math" panose="02040503050406030204" pitchFamily="18" charset="0"/>
                            </a:rPr>
                            <m:t>𝟏</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d>
                            <m:dPr>
                              <m:begChr m:val="|"/>
                              <m:endChr m:val="|"/>
                              <m:ctrlPr>
                                <a:rPr kumimoji="1" lang="es-MX" sz="2000" b="1" i="1" smtClean="0">
                                  <a:solidFill>
                                    <a:srgbClr val="FF0000"/>
                                  </a:solidFill>
                                  <a:latin typeface="Cambria Math" panose="02040503050406030204" pitchFamily="18" charset="0"/>
                                </a:rPr>
                              </m:ctrlPr>
                            </m:dPr>
                            <m:e>
                              <m:m>
                                <m:mPr>
                                  <m:mcs>
                                    <m:mc>
                                      <m:mcPr>
                                        <m:count m:val="2"/>
                                        <m:mcJc m:val="center"/>
                                      </m:mcPr>
                                    </m:mc>
                                  </m:mcs>
                                  <m:ctrlPr>
                                    <a:rPr kumimoji="1" lang="es-MX" sz="2000" b="1" i="1" smtClean="0">
                                      <a:solidFill>
                                        <a:srgbClr val="FF0000"/>
                                      </a:solidFill>
                                      <a:latin typeface="Cambria Math" panose="02040503050406030204" pitchFamily="18" charset="0"/>
                                    </a:rPr>
                                  </m:ctrlPr>
                                </m:mPr>
                                <m:mr>
                                  <m:e>
                                    <m:r>
                                      <m:rPr>
                                        <m:brk m:alnAt="7"/>
                                      </m:rP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𝟗</m:t>
                                    </m:r>
                                  </m:e>
                                  <m:e>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m:t>
                                    </m:r>
                                  </m:e>
                                </m:mr>
                                <m:mr>
                                  <m:e>
                                    <m:r>
                                      <a:rPr kumimoji="1" lang="es-MX"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m:t>
                                    </m:r>
                                  </m:e>
                                  <m:e>
                                    <m:r>
                                      <a:rPr kumimoji="1" lang="es-NI" sz="2000" b="1" i="1" smtClean="0">
                                        <a:solidFill>
                                          <a:srgbClr val="FF0000"/>
                                        </a:solidFill>
                                        <a:latin typeface="Cambria Math" panose="02040503050406030204" pitchFamily="18" charset="0"/>
                                      </a:rPr>
                                      <m:t>𝟓</m:t>
                                    </m:r>
                                  </m:e>
                                </m:mr>
                              </m:m>
                            </m:e>
                          </m:d>
                        </m:num>
                        <m:den>
                          <m:d>
                            <m:dPr>
                              <m:begChr m:val="|"/>
                              <m:endChr m:val="|"/>
                              <m:ctrlPr>
                                <a:rPr kumimoji="1" lang="es-MX" sz="2000" b="1" i="1" smtClean="0">
                                  <a:solidFill>
                                    <a:srgbClr val="FF0000"/>
                                  </a:solidFill>
                                  <a:latin typeface="Cambria Math" panose="02040503050406030204" pitchFamily="18" charset="0"/>
                                </a:rPr>
                              </m:ctrlPr>
                            </m:dPr>
                            <m:e>
                              <m:m>
                                <m:mPr>
                                  <m:mcs>
                                    <m:mc>
                                      <m:mcPr>
                                        <m:count m:val="2"/>
                                        <m:mcJc m:val="center"/>
                                      </m:mcPr>
                                    </m:mc>
                                  </m:mcs>
                                  <m:ctrlPr>
                                    <a:rPr kumimoji="1" lang="es-MX" sz="2000" b="1" i="1" smtClean="0">
                                      <a:solidFill>
                                        <a:srgbClr val="FF0000"/>
                                      </a:solidFill>
                                      <a:latin typeface="Cambria Math" panose="02040503050406030204" pitchFamily="18" charset="0"/>
                                    </a:rPr>
                                  </m:ctrlPr>
                                </m:mPr>
                                <m:mr>
                                  <m:e>
                                    <m:r>
                                      <m:rPr>
                                        <m:brk m:alnAt="7"/>
                                      </m:rPr>
                                      <a:rPr kumimoji="1" lang="es-NI" sz="2000" b="1" i="1" smtClean="0">
                                        <a:solidFill>
                                          <a:srgbClr val="FF0000"/>
                                        </a:solidFill>
                                        <a:latin typeface="Cambria Math" panose="02040503050406030204" pitchFamily="18" charset="0"/>
                                      </a:rPr>
                                      <m:t>𝟒</m:t>
                                    </m:r>
                                  </m:e>
                                  <m:e>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m:t>
                                    </m:r>
                                  </m:e>
                                </m:mr>
                                <m:mr>
                                  <m:e>
                                    <m:r>
                                      <a:rPr kumimoji="1" lang="es-NI" sz="2000" b="1" i="1" smtClean="0">
                                        <a:solidFill>
                                          <a:srgbClr val="FF0000"/>
                                        </a:solidFill>
                                        <a:latin typeface="Cambria Math" panose="02040503050406030204" pitchFamily="18" charset="0"/>
                                      </a:rPr>
                                      <m:t>𝟑</m:t>
                                    </m:r>
                                  </m:e>
                                  <m:e>
                                    <m:r>
                                      <a:rPr kumimoji="1" lang="es-NI" sz="2000" b="1" i="1" smtClean="0">
                                        <a:solidFill>
                                          <a:srgbClr val="FF0000"/>
                                        </a:solidFill>
                                        <a:latin typeface="Cambria Math" panose="02040503050406030204" pitchFamily="18" charset="0"/>
                                      </a:rPr>
                                      <m:t>𝟓</m:t>
                                    </m:r>
                                  </m:e>
                                </m:mr>
                              </m:m>
                            </m:e>
                          </m:d>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𝟒𝟔</m:t>
                          </m:r>
                        </m:num>
                        <m:den>
                          <m:r>
                            <a:rPr kumimoji="1" lang="es-NI" sz="2000" b="1" i="1" smtClean="0">
                              <a:solidFill>
                                <a:srgbClr val="FF0000"/>
                              </a:solidFill>
                              <a:latin typeface="Cambria Math" panose="02040503050406030204" pitchFamily="18" charset="0"/>
                            </a:rPr>
                            <m:t>𝟐𝟑</m:t>
                          </m:r>
                        </m:den>
                      </m:f>
                      <m:r>
                        <a:rPr kumimoji="1" lang="es-MX" sz="2000" b="1" i="1" smtClean="0">
                          <a:solidFill>
                            <a:srgbClr val="FF0000"/>
                          </a:solidFill>
                          <a:latin typeface="Cambria Math" panose="02040503050406030204" pitchFamily="18" charset="0"/>
                        </a:rPr>
                        <m:t>=</m:t>
                      </m:r>
                      <m:r>
                        <a:rPr kumimoji="1" lang="es-NI" sz="2000" b="1" i="1" smtClean="0">
                          <a:solidFill>
                            <a:srgbClr val="A5A5A5">
                              <a:lumMod val="50000"/>
                            </a:srgbClr>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𝟐</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2" name="Rectángulo 11"/>
              <p:cNvSpPr>
                <a:spLocks noRot="1" noChangeAspect="1" noMove="1" noResize="1" noEditPoints="1" noAdjustHandles="1" noChangeArrowheads="1" noChangeShapeType="1" noTextEdit="1"/>
              </p:cNvSpPr>
              <p:nvPr/>
            </p:nvSpPr>
            <p:spPr>
              <a:xfrm>
                <a:off x="1184854" y="4755740"/>
                <a:ext cx="4963161" cy="1162947"/>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Rectángulo 12"/>
              <p:cNvSpPr/>
              <p:nvPr/>
            </p:nvSpPr>
            <p:spPr>
              <a:xfrm>
                <a:off x="6359501" y="4755676"/>
                <a:ext cx="4670552" cy="1163011"/>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𝟐</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a:solidFill>
                                <a:srgbClr val="FF0000"/>
                              </a:solidFill>
                              <a:latin typeface="Cambria Math" panose="02040503050406030204" pitchFamily="18" charset="0"/>
                            </a:rPr>
                          </m:ctrlPr>
                        </m:fPr>
                        <m:num>
                          <m:d>
                            <m:dPr>
                              <m:begChr m:val="|"/>
                              <m:endChr m:val="|"/>
                              <m:ctrlPr>
                                <a:rPr kumimoji="1" lang="es-MX" sz="2000" b="1" i="1">
                                  <a:solidFill>
                                    <a:srgbClr val="FF0000"/>
                                  </a:solidFill>
                                  <a:latin typeface="Cambria Math" panose="02040503050406030204" pitchFamily="18" charset="0"/>
                                </a:rPr>
                              </m:ctrlPr>
                            </m:dPr>
                            <m:e>
                              <m:m>
                                <m:mPr>
                                  <m:mcs>
                                    <m:mc>
                                      <m:mcPr>
                                        <m:count m:val="2"/>
                                        <m:mcJc m:val="center"/>
                                      </m:mcPr>
                                    </m:mc>
                                  </m:mcs>
                                  <m:ctrlPr>
                                    <a:rPr kumimoji="1" lang="es-MX" sz="2000" b="1" i="1">
                                      <a:solidFill>
                                        <a:srgbClr val="FF0000"/>
                                      </a:solidFill>
                                      <a:latin typeface="Cambria Math" panose="02040503050406030204" pitchFamily="18" charset="0"/>
                                    </a:rPr>
                                  </m:ctrlPr>
                                </m:mPr>
                                <m:mr>
                                  <m:e>
                                    <m:r>
                                      <m:rPr>
                                        <m:brk m:alnAt="7"/>
                                      </m:rPr>
                                      <a:rPr kumimoji="1" lang="es-NI" sz="2000" b="1" i="1" smtClean="0">
                                        <a:solidFill>
                                          <a:srgbClr val="FF0000"/>
                                        </a:solidFill>
                                        <a:latin typeface="Cambria Math" panose="02040503050406030204" pitchFamily="18" charset="0"/>
                                      </a:rPr>
                                      <m:t>𝟒</m:t>
                                    </m:r>
                                  </m:e>
                                  <m:e>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𝟗</m:t>
                                    </m:r>
                                  </m:e>
                                </m:mr>
                                <m:mr>
                                  <m:e>
                                    <m:r>
                                      <a:rPr kumimoji="1" lang="es-NI" sz="2000" b="1" i="1" smtClean="0">
                                        <a:solidFill>
                                          <a:srgbClr val="FF0000"/>
                                        </a:solidFill>
                                        <a:latin typeface="Cambria Math" panose="02040503050406030204" pitchFamily="18" charset="0"/>
                                      </a:rPr>
                                      <m:t>𝟑</m:t>
                                    </m:r>
                                  </m:e>
                                  <m:e>
                                    <m:r>
                                      <a:rPr kumimoji="1" lang="es-MX"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m:t>
                                    </m:r>
                                  </m:e>
                                </m:mr>
                              </m:m>
                            </m:e>
                          </m:d>
                        </m:num>
                        <m:den>
                          <m:d>
                            <m:dPr>
                              <m:begChr m:val="|"/>
                              <m:endChr m:val="|"/>
                              <m:ctrlPr>
                                <a:rPr kumimoji="1" lang="es-MX" sz="2000" b="1" i="1">
                                  <a:solidFill>
                                    <a:srgbClr val="FF0000"/>
                                  </a:solidFill>
                                  <a:latin typeface="Cambria Math" panose="02040503050406030204" pitchFamily="18" charset="0"/>
                                </a:rPr>
                              </m:ctrlPr>
                            </m:dPr>
                            <m:e>
                              <m:m>
                                <m:mPr>
                                  <m:mcs>
                                    <m:mc>
                                      <m:mcPr>
                                        <m:count m:val="2"/>
                                        <m:mcJc m:val="center"/>
                                      </m:mcPr>
                                    </m:mc>
                                  </m:mcs>
                                  <m:ctrlPr>
                                    <a:rPr kumimoji="1" lang="es-MX" sz="2000" b="1" i="1">
                                      <a:solidFill>
                                        <a:srgbClr val="FF0000"/>
                                      </a:solidFill>
                                      <a:latin typeface="Cambria Math" panose="02040503050406030204" pitchFamily="18" charset="0"/>
                                    </a:rPr>
                                  </m:ctrlPr>
                                </m:mPr>
                                <m:mr>
                                  <m:e>
                                    <m:r>
                                      <m:rPr>
                                        <m:brk m:alnAt="7"/>
                                      </m:rPr>
                                      <a:rPr kumimoji="1" lang="es-NI" sz="2000" b="1" i="1" smtClean="0">
                                        <a:solidFill>
                                          <a:srgbClr val="FF0000"/>
                                        </a:solidFill>
                                        <a:latin typeface="Cambria Math" panose="02040503050406030204" pitchFamily="18" charset="0"/>
                                      </a:rPr>
                                      <m:t>𝟒</m:t>
                                    </m:r>
                                  </m:e>
                                  <m:e>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m:t>
                                    </m:r>
                                  </m:e>
                                </m:mr>
                                <m:mr>
                                  <m:e>
                                    <m:r>
                                      <a:rPr kumimoji="1" lang="es-NI" sz="2000" b="1" i="1" smtClean="0">
                                        <a:solidFill>
                                          <a:srgbClr val="FF0000"/>
                                        </a:solidFill>
                                        <a:latin typeface="Cambria Math" panose="02040503050406030204" pitchFamily="18" charset="0"/>
                                      </a:rPr>
                                      <m:t>𝟑</m:t>
                                    </m:r>
                                  </m:e>
                                  <m:e>
                                    <m:r>
                                      <a:rPr kumimoji="1" lang="es-NI" sz="2000" b="1" i="1" smtClean="0">
                                        <a:solidFill>
                                          <a:srgbClr val="FF0000"/>
                                        </a:solidFill>
                                        <a:latin typeface="Cambria Math" panose="02040503050406030204" pitchFamily="18" charset="0"/>
                                      </a:rPr>
                                      <m:t>𝟓</m:t>
                                    </m:r>
                                  </m:e>
                                </m:mr>
                              </m:m>
                            </m:e>
                          </m:d>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𝟐𝟑</m:t>
                          </m:r>
                        </m:num>
                        <m:den>
                          <m:r>
                            <a:rPr kumimoji="1" lang="es-NI" sz="2000" b="1" i="1" smtClean="0">
                              <a:solidFill>
                                <a:srgbClr val="FF0000"/>
                              </a:solidFill>
                              <a:latin typeface="Cambria Math" panose="02040503050406030204" pitchFamily="18" charset="0"/>
                            </a:rPr>
                            <m:t>𝟐𝟑</m:t>
                          </m:r>
                        </m:den>
                      </m:f>
                      <m:r>
                        <a:rPr kumimoji="1" lang="es-MX" sz="2000" b="1" i="1" smtClean="0">
                          <a:solidFill>
                            <a:srgbClr val="FF0000"/>
                          </a:solidFill>
                          <a:latin typeface="Cambria Math" panose="02040503050406030204" pitchFamily="18" charset="0"/>
                        </a:rPr>
                        <m:t>=</m:t>
                      </m:r>
                      <m:r>
                        <a:rPr kumimoji="1" lang="es-MX" sz="2000" b="1" i="1" smtClean="0">
                          <a:solidFill>
                            <a:srgbClr val="A5A5A5">
                              <a:lumMod val="50000"/>
                            </a:srgbClr>
                          </a:solidFill>
                          <a:latin typeface="Cambria Math" panose="02040503050406030204" pitchFamily="18" charset="0"/>
                        </a:rPr>
                        <m:t>𝟏</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13" name="Rectángulo 12"/>
              <p:cNvSpPr>
                <a:spLocks noRot="1" noChangeAspect="1" noMove="1" noResize="1" noEditPoints="1" noAdjustHandles="1" noChangeArrowheads="1" noChangeShapeType="1" noTextEdit="1"/>
              </p:cNvSpPr>
              <p:nvPr/>
            </p:nvSpPr>
            <p:spPr>
              <a:xfrm>
                <a:off x="6359501" y="4755676"/>
                <a:ext cx="4670552" cy="1163011"/>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153581" y="6034488"/>
                <a:ext cx="5215945" cy="384721"/>
              </a:xfrm>
              <a:prstGeom prst="rect">
                <a:avLst/>
              </a:prstGeom>
            </p:spPr>
            <p:txBody>
              <a:bodyPr wrap="square">
                <a:spAutoFit/>
              </a:bodyPr>
              <a:lstStyle/>
              <a:p>
                <a:pPr algn="just">
                  <a:buClrTx/>
                  <a:buFontTx/>
                  <a:buNone/>
                </a:pPr>
                <a:r>
                  <a:rPr lang="es-ES" sz="1900" b="1" kern="1200" dirty="0" smtClean="0">
                    <a:solidFill>
                      <a:srgbClr val="A5A5A5">
                        <a:lumMod val="50000"/>
                      </a:srgbClr>
                    </a:solidFill>
                    <a:latin typeface="Arial" panose="020B0604020202020204" pitchFamily="34" charset="0"/>
                    <a:cs typeface="Arial" panose="020B0604020202020204" pitchFamily="34" charset="0"/>
                  </a:rPr>
                  <a:t>La solución del sistema es </a:t>
                </a:r>
                <a14:m>
                  <m:oMath xmlns:m="http://schemas.openxmlformats.org/officeDocument/2006/math">
                    <m:r>
                      <a:rPr lang="es-ES" sz="1900" b="1" i="1" kern="1200" dirty="0" smtClean="0">
                        <a:solidFill>
                          <a:srgbClr val="FF0000"/>
                        </a:solidFill>
                        <a:latin typeface="Cambria Math" panose="02040503050406030204" pitchFamily="18" charset="0"/>
                        <a:cs typeface="Arial" panose="020B0604020202020204" pitchFamily="34" charset="0"/>
                      </a:rPr>
                      <m:t>𝑪</m:t>
                    </m:r>
                    <m:r>
                      <a:rPr lang="es-ES" sz="1900" b="1" i="1" kern="1200" dirty="0" smtClean="0">
                        <a:solidFill>
                          <a:srgbClr val="FF0000"/>
                        </a:solidFill>
                        <a:latin typeface="Cambria Math" panose="02040503050406030204" pitchFamily="18" charset="0"/>
                        <a:cs typeface="Arial" panose="020B0604020202020204" pitchFamily="34" charset="0"/>
                      </a:rPr>
                      <m:t>.</m:t>
                    </m:r>
                    <m:r>
                      <a:rPr lang="es-ES" sz="1900" b="1" i="1" kern="1200" dirty="0" smtClean="0">
                        <a:solidFill>
                          <a:srgbClr val="FF0000"/>
                        </a:solidFill>
                        <a:latin typeface="Cambria Math" panose="02040503050406030204" pitchFamily="18" charset="0"/>
                        <a:cs typeface="Arial" panose="020B0604020202020204" pitchFamily="34" charset="0"/>
                      </a:rPr>
                      <m:t>𝑺</m:t>
                    </m:r>
                    <m:r>
                      <a:rPr lang="es-ES" sz="1900" b="1" i="1" kern="1200" dirty="0" smtClean="0">
                        <a:solidFill>
                          <a:srgbClr val="FF0000"/>
                        </a:solidFill>
                        <a:latin typeface="Cambria Math" panose="02040503050406030204" pitchFamily="18" charset="0"/>
                        <a:cs typeface="Arial" panose="020B0604020202020204" pitchFamily="34" charset="0"/>
                      </a:rPr>
                      <m:t>.= {(−</m:t>
                    </m:r>
                    <m:r>
                      <a:rPr lang="es-ES" sz="1900" b="1" i="1" kern="1200" dirty="0">
                        <a:solidFill>
                          <a:srgbClr val="FF0000"/>
                        </a:solidFill>
                        <a:latin typeface="Cambria Math"/>
                      </a:rPr>
                      <m:t>𝟐</m:t>
                    </m:r>
                    <m:r>
                      <a:rPr lang="es-ES" sz="1900" b="1" i="1" kern="1200" dirty="0">
                        <a:solidFill>
                          <a:srgbClr val="FF0000"/>
                        </a:solidFill>
                        <a:latin typeface="Cambria Math"/>
                      </a:rPr>
                      <m:t>, </m:t>
                    </m:r>
                    <m:r>
                      <a:rPr lang="es-ES" sz="1900" b="1" i="1" kern="1200" dirty="0">
                        <a:solidFill>
                          <a:srgbClr val="FF0000"/>
                        </a:solidFill>
                        <a:latin typeface="Cambria Math"/>
                      </a:rPr>
                      <m:t>𝟏</m:t>
                    </m:r>
                    <m:r>
                      <a:rPr lang="es-MX" sz="1900" b="1" i="1" kern="1200" dirty="0" smtClean="0">
                        <a:solidFill>
                          <a:srgbClr val="FF0000"/>
                        </a:solidFill>
                        <a:latin typeface="Cambria Math" panose="02040503050406030204" pitchFamily="18" charset="0"/>
                      </a:rPr>
                      <m:t>)</m:t>
                    </m:r>
                    <m:r>
                      <a:rPr lang="es-MX" sz="1900" b="1" i="1" kern="1200" dirty="0" smtClean="0">
                        <a:solidFill>
                          <a:prstClr val="black"/>
                        </a:solidFill>
                        <a:latin typeface="Cambria Math" panose="02040503050406030204" pitchFamily="18" charset="0"/>
                      </a:rPr>
                      <m:t>}</m:t>
                    </m:r>
                  </m:oMath>
                </a14:m>
                <a:endParaRPr lang="es-ES" sz="1900" b="1" kern="1200" dirty="0">
                  <a:solidFill>
                    <a:prstClr val="black"/>
                  </a:solidFill>
                  <a:latin typeface="Arial" panose="020B0604020202020204" pitchFamily="34" charset="0"/>
                  <a:cs typeface="Arial" panose="020B0604020202020204" pitchFamily="34" charset="0"/>
                </a:endParaRPr>
              </a:p>
            </p:txBody>
          </p:sp>
        </mc:Choice>
        <mc:Fallback xmlns="">
          <p:sp>
            <p:nvSpPr>
              <p:cNvPr id="14" name="Rectángulo 13"/>
              <p:cNvSpPr>
                <a:spLocks noRot="1" noChangeAspect="1" noMove="1" noResize="1" noEditPoints="1" noAdjustHandles="1" noChangeArrowheads="1" noChangeShapeType="1" noTextEdit="1"/>
              </p:cNvSpPr>
              <p:nvPr/>
            </p:nvSpPr>
            <p:spPr>
              <a:xfrm>
                <a:off x="153581" y="6034488"/>
                <a:ext cx="5215945" cy="384721"/>
              </a:xfrm>
              <a:prstGeom prst="rect">
                <a:avLst/>
              </a:prstGeom>
              <a:blipFill rotWithShape="0">
                <a:blip r:embed="rId10"/>
                <a:stretch>
                  <a:fillRect l="-1051" t="-9524" b="-25397"/>
                </a:stretch>
              </a:blipFill>
            </p:spPr>
            <p:txBody>
              <a:bodyPr/>
              <a:lstStyle/>
              <a:p>
                <a:r>
                  <a:rPr lang="es-MX">
                    <a:noFill/>
                  </a:rPr>
                  <a:t> </a:t>
                </a:r>
              </a:p>
            </p:txBody>
          </p:sp>
        </mc:Fallback>
      </mc:AlternateContent>
    </p:spTree>
    <p:extLst>
      <p:ext uri="{BB962C8B-B14F-4D97-AF65-F5344CB8AC3E}">
        <p14:creationId xmlns:p14="http://schemas.microsoft.com/office/powerpoint/2010/main" val="327125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ircle(in)">
                                      <p:cBhvr>
                                        <p:cTn id="26" dur="2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circle(in)">
                                      <p:cBhvr>
                                        <p:cTn id="31" dur="20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in)">
                                      <p:cBhvr>
                                        <p:cTn id="36" dur="2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circle(in)">
                                      <p:cBhvr>
                                        <p:cTn id="41" dur="20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circle(in)">
                                      <p:cBhvr>
                                        <p:cTn id="46" dur="20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circle(in)">
                                      <p:cBhvr>
                                        <p:cTn id="51" dur="2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circle(in)">
                                      <p:cBhvr>
                                        <p:cTn id="56"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7" grpId="0"/>
      <p:bldP spid="8" grpId="0"/>
      <p:bldP spid="9" grpId="0"/>
      <p:bldP spid="10" grpId="0"/>
      <p:bldP spid="11" grpId="0"/>
      <p:bldP spid="12" grpId="0"/>
      <p:bldP spid="13" grpId="0"/>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ectángulo 9"/>
              <p:cNvSpPr/>
              <p:nvPr/>
            </p:nvSpPr>
            <p:spPr>
              <a:xfrm>
                <a:off x="0" y="1105758"/>
                <a:ext cx="12192000" cy="969496"/>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a:t>
                </a:r>
                <a:r>
                  <a:rPr kumimoji="1" lang="es-ES" sz="1900" b="1" dirty="0">
                    <a:solidFill>
                      <a:srgbClr val="A5A5A5">
                        <a:lumMod val="50000"/>
                      </a:srgbClr>
                    </a:solidFill>
                    <a:latin typeface="Arial" panose="020B0604020202020204" pitchFamily="34" charset="0"/>
                    <a:cs typeface="Arial" panose="020B0604020202020204" pitchFamily="34" charset="0"/>
                  </a:rPr>
                  <a:t>3</a:t>
                </a:r>
                <a:r>
                  <a:rPr kumimoji="1" lang="es-ES" sz="1900" b="1" dirty="0" smtClean="0">
                    <a:solidFill>
                      <a:srgbClr val="A5A5A5">
                        <a:lumMod val="50000"/>
                      </a:srgbClr>
                    </a:solidFill>
                    <a:latin typeface="Arial" panose="020B0604020202020204" pitchFamily="34" charset="0"/>
                    <a:cs typeface="Arial" panose="020B0604020202020204" pitchFamily="34" charset="0"/>
                  </a:rPr>
                  <a:t>.-</a:t>
                </a:r>
                <a:r>
                  <a:rPr kumimoji="1" lang="es-ES" sz="1900" b="1" dirty="0" smtClean="0">
                    <a:solidFill>
                      <a:srgbClr val="FF0000"/>
                    </a:solidFill>
                    <a:latin typeface="Arial" panose="020B0604020202020204" pitchFamily="34" charset="0"/>
                    <a:cs typeface="Arial" panose="020B0604020202020204" pitchFamily="34" charset="0"/>
                  </a:rPr>
                  <a:t>) </a:t>
                </a:r>
                <a:r>
                  <a:rPr kumimoji="1" lang="es-MX" sz="1900" b="1" dirty="0">
                    <a:solidFill>
                      <a:schemeClr val="accent3">
                        <a:lumMod val="50000"/>
                      </a:schemeClr>
                    </a:solidFill>
                    <a:latin typeface="Arial" panose="020B0604020202020204" pitchFamily="34" charset="0"/>
                    <a:cs typeface="Arial" panose="020B0604020202020204" pitchFamily="34" charset="0"/>
                  </a:rPr>
                  <a:t>Considere el siguiente sistema, en el cual </a:t>
                </a:r>
                <a14:m>
                  <m:oMath xmlns:m="http://schemas.openxmlformats.org/officeDocument/2006/math">
                    <m:r>
                      <a:rPr kumimoji="1" lang="es-MX" sz="1900" b="1" i="1" dirty="0" smtClean="0">
                        <a:solidFill>
                          <a:schemeClr val="accent3">
                            <a:lumMod val="50000"/>
                          </a:schemeClr>
                        </a:solidFill>
                        <a:latin typeface="Cambria Math" panose="02040503050406030204" pitchFamily="18" charset="0"/>
                        <a:cs typeface="Arial" panose="020B0604020202020204" pitchFamily="34" charset="0"/>
                      </a:rPr>
                      <m:t>𝒔</m:t>
                    </m:r>
                  </m:oMath>
                </a14:m>
                <a:r>
                  <a:rPr kumimoji="1" lang="es-MX" sz="1900" b="1" dirty="0">
                    <a:solidFill>
                      <a:schemeClr val="accent3">
                        <a:lumMod val="50000"/>
                      </a:schemeClr>
                    </a:solidFill>
                    <a:latin typeface="Arial" panose="020B0604020202020204" pitchFamily="34" charset="0"/>
                    <a:cs typeface="Arial" panose="020B0604020202020204" pitchFamily="34" charset="0"/>
                  </a:rPr>
                  <a:t> es un parámetro no especificado. Determine los valores de </a:t>
                </a:r>
                <a14:m>
                  <m:oMath xmlns:m="http://schemas.openxmlformats.org/officeDocument/2006/math">
                    <m:r>
                      <a:rPr kumimoji="1" lang="es-MX" sz="1900" b="1" i="1" dirty="0" smtClean="0">
                        <a:solidFill>
                          <a:schemeClr val="accent3">
                            <a:lumMod val="50000"/>
                          </a:schemeClr>
                        </a:solidFill>
                        <a:latin typeface="Cambria Math" panose="02040503050406030204" pitchFamily="18" charset="0"/>
                        <a:cs typeface="Arial" panose="020B0604020202020204" pitchFamily="34" charset="0"/>
                      </a:rPr>
                      <m:t>𝒔</m:t>
                    </m:r>
                  </m:oMath>
                </a14:m>
                <a:r>
                  <a:rPr kumimoji="1" lang="es-MX" sz="1900" b="1" dirty="0">
                    <a:solidFill>
                      <a:schemeClr val="accent3">
                        <a:lumMod val="50000"/>
                      </a:schemeClr>
                    </a:solidFill>
                    <a:latin typeface="Arial" panose="020B0604020202020204" pitchFamily="34" charset="0"/>
                    <a:cs typeface="Arial" panose="020B0604020202020204" pitchFamily="34" charset="0"/>
                  </a:rPr>
                  <a:t> para los cuales el sistema tiene una solución única, y utilice la regla de </a:t>
                </a:r>
                <a:r>
                  <a:rPr kumimoji="1" lang="es-MX" sz="1900" b="1" dirty="0" err="1">
                    <a:solidFill>
                      <a:schemeClr val="accent3">
                        <a:lumMod val="50000"/>
                      </a:schemeClr>
                    </a:solidFill>
                    <a:latin typeface="Arial" panose="020B0604020202020204" pitchFamily="34" charset="0"/>
                    <a:cs typeface="Arial" panose="020B0604020202020204" pitchFamily="34" charset="0"/>
                  </a:rPr>
                  <a:t>Cramer</a:t>
                </a:r>
                <a:r>
                  <a:rPr kumimoji="1" lang="es-MX" sz="1900" b="1" dirty="0">
                    <a:solidFill>
                      <a:schemeClr val="accent3">
                        <a:lumMod val="50000"/>
                      </a:schemeClr>
                    </a:solidFill>
                    <a:latin typeface="Arial" panose="020B0604020202020204" pitchFamily="34" charset="0"/>
                    <a:cs typeface="Arial" panose="020B0604020202020204" pitchFamily="34" charset="0"/>
                  </a:rPr>
                  <a:t> para describir la solución.</a:t>
                </a:r>
              </a:p>
            </p:txBody>
          </p:sp>
        </mc:Choice>
        <mc:Fallback xmlns="">
          <p:sp>
            <p:nvSpPr>
              <p:cNvPr id="10" name="Rectángulo 9"/>
              <p:cNvSpPr>
                <a:spLocks noRot="1" noChangeAspect="1" noMove="1" noResize="1" noEditPoints="1" noAdjustHandles="1" noChangeArrowheads="1" noChangeShapeType="1" noTextEdit="1"/>
              </p:cNvSpPr>
              <p:nvPr/>
            </p:nvSpPr>
            <p:spPr>
              <a:xfrm>
                <a:off x="0" y="1105758"/>
                <a:ext cx="12192000" cy="969496"/>
              </a:xfrm>
              <a:prstGeom prst="rect">
                <a:avLst/>
              </a:prstGeom>
              <a:blipFill rotWithShape="0">
                <a:blip r:embed="rId2"/>
                <a:stretch>
                  <a:fillRect l="-450" t="-3774" r="-450" b="-9434"/>
                </a:stretch>
              </a:blipFill>
            </p:spPr>
            <p:txBody>
              <a:bodyPr/>
              <a:lstStyle/>
              <a:p>
                <a:r>
                  <a:rPr lang="es-MX">
                    <a:noFill/>
                  </a:rPr>
                  <a:t> </a:t>
                </a:r>
              </a:p>
            </p:txBody>
          </p:sp>
        </mc:Fallback>
      </mc:AlternateContent>
      <p:sp>
        <p:nvSpPr>
          <p:cNvPr id="11" name="Rectángulo 10"/>
          <p:cNvSpPr/>
          <p:nvPr/>
        </p:nvSpPr>
        <p:spPr>
          <a:xfrm>
            <a:off x="0" y="2956215"/>
            <a:ext cx="1213794" cy="384721"/>
          </a:xfrm>
          <a:prstGeom prst="rect">
            <a:avLst/>
          </a:prstGeom>
        </p:spPr>
        <p:txBody>
          <a:bodyPr wrap="non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Solución</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Rectángulo 11"/>
              <p:cNvSpPr/>
              <p:nvPr/>
            </p:nvSpPr>
            <p:spPr>
              <a:xfrm>
                <a:off x="1791753" y="2020496"/>
                <a:ext cx="18356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A5A5A5">
                              <a:lumMod val="50000"/>
                            </a:srgbClr>
                          </a:solidFill>
                          <a:latin typeface="Cambria Math" panose="02040503050406030204" pitchFamily="18" charset="0"/>
                        </a:rPr>
                        <m:t>𝟑</m:t>
                      </m:r>
                      <m:r>
                        <a:rPr kumimoji="1" lang="es-NI" b="1" i="1" smtClean="0">
                          <a:solidFill>
                            <a:srgbClr val="A5A5A5">
                              <a:lumMod val="50000"/>
                            </a:srgbClr>
                          </a:solidFill>
                          <a:latin typeface="Cambria Math" panose="02040503050406030204" pitchFamily="18" charset="0"/>
                        </a:rPr>
                        <m:t>𝒔</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NI" b="1" i="1" smtClean="0">
                          <a:solidFill>
                            <a:srgbClr val="A5A5A5">
                              <a:lumMod val="50000"/>
                            </a:srgbClr>
                          </a:solidFill>
                          <a:latin typeface="Cambria Math" panose="02040503050406030204" pitchFamily="18" charset="0"/>
                        </a:rPr>
                        <m:t>−</m:t>
                      </m:r>
                      <m:r>
                        <a:rPr kumimoji="1" lang="es-NI" b="1" i="1" smtClean="0">
                          <a:solidFill>
                            <a:srgbClr val="A5A5A5">
                              <a:lumMod val="50000"/>
                            </a:srgbClr>
                          </a:solidFill>
                          <a:latin typeface="Cambria Math" panose="02040503050406030204" pitchFamily="18" charset="0"/>
                        </a:rPr>
                        <m:t>𝟐</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ES" b="1" i="1">
                          <a:solidFill>
                            <a:srgbClr val="A5A5A5">
                              <a:lumMod val="50000"/>
                            </a:srgbClr>
                          </a:solidFill>
                          <a:latin typeface="Cambria Math"/>
                        </a:rPr>
                        <m:t>=</m:t>
                      </m:r>
                      <m:r>
                        <a:rPr kumimoji="1" lang="es-NI" b="1" i="1" smtClean="0">
                          <a:solidFill>
                            <a:srgbClr val="A5A5A5">
                              <a:lumMod val="50000"/>
                            </a:srgbClr>
                          </a:solidFill>
                          <a:latin typeface="Cambria Math" panose="02040503050406030204" pitchFamily="18" charset="0"/>
                        </a:rPr>
                        <m:t>𝟒</m:t>
                      </m:r>
                    </m:oMath>
                  </m:oMathPara>
                </a14:m>
                <a:endParaRPr lang="es-MX" dirty="0"/>
              </a:p>
            </p:txBody>
          </p:sp>
        </mc:Choice>
        <mc:Fallback xmlns="">
          <p:sp>
            <p:nvSpPr>
              <p:cNvPr id="12" name="Rectángulo 11"/>
              <p:cNvSpPr>
                <a:spLocks noRot="1" noChangeAspect="1" noMove="1" noResize="1" noEditPoints="1" noAdjustHandles="1" noChangeArrowheads="1" noChangeShapeType="1" noTextEdit="1"/>
              </p:cNvSpPr>
              <p:nvPr/>
            </p:nvSpPr>
            <p:spPr>
              <a:xfrm>
                <a:off x="1791753" y="2020496"/>
                <a:ext cx="1835631" cy="369332"/>
              </a:xfrm>
              <a:prstGeom prst="rect">
                <a:avLst/>
              </a:prstGeom>
              <a:blipFill rotWithShape="0">
                <a:blip r:embed="rId3"/>
                <a:stretch>
                  <a:fillRect b="-16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1791753" y="2389828"/>
                <a:ext cx="187089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ES" b="1" i="1" smtClean="0">
                          <a:solidFill>
                            <a:srgbClr val="A5A5A5">
                              <a:lumMod val="50000"/>
                            </a:srgbClr>
                          </a:solidFill>
                          <a:latin typeface="Cambria Math"/>
                        </a:rPr>
                        <m:t>−</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𝟔</m:t>
                          </m:r>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ES" b="1" i="1">
                          <a:solidFill>
                            <a:srgbClr val="A5A5A5">
                              <a:lumMod val="50000"/>
                            </a:srgbClr>
                          </a:solidFill>
                          <a:latin typeface="Cambria Math"/>
                        </a:rPr>
                        <m:t>+</m:t>
                      </m:r>
                      <m:sSub>
                        <m:sSubPr>
                          <m:ctrlPr>
                            <a:rPr kumimoji="1" lang="es-ES"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𝒔𝒙</m:t>
                          </m:r>
                        </m:e>
                        <m:sub>
                          <m:r>
                            <a:rPr kumimoji="1" lang="es-NI" b="1" i="1" smtClean="0">
                              <a:solidFill>
                                <a:srgbClr val="A5A5A5">
                                  <a:lumMod val="50000"/>
                                </a:srgbClr>
                              </a:solidFill>
                              <a:latin typeface="Cambria Math" panose="02040503050406030204" pitchFamily="18" charset="0"/>
                            </a:rPr>
                            <m:t>𝟐</m:t>
                          </m:r>
                        </m:sub>
                      </m:sSub>
                      <m:r>
                        <a:rPr kumimoji="1" lang="es-ES" b="1" i="1">
                          <a:solidFill>
                            <a:srgbClr val="A5A5A5">
                              <a:lumMod val="50000"/>
                            </a:srgbClr>
                          </a:solidFill>
                          <a:latin typeface="Cambria Math"/>
                        </a:rPr>
                        <m:t>=</m:t>
                      </m:r>
                      <m:r>
                        <a:rPr kumimoji="1" lang="es-NI" b="1" i="1" smtClean="0">
                          <a:solidFill>
                            <a:srgbClr val="A5A5A5">
                              <a:lumMod val="50000"/>
                            </a:srgbClr>
                          </a:solidFill>
                          <a:latin typeface="Cambria Math" panose="02040503050406030204" pitchFamily="18" charset="0"/>
                        </a:rPr>
                        <m:t>𝟏</m:t>
                      </m:r>
                    </m:oMath>
                  </m:oMathPara>
                </a14:m>
                <a:endParaRPr lang="es-MX" dirty="0"/>
              </a:p>
            </p:txBody>
          </p:sp>
        </mc:Choice>
        <mc:Fallback xmlns="">
          <p:sp>
            <p:nvSpPr>
              <p:cNvPr id="13" name="Rectángulo 12"/>
              <p:cNvSpPr>
                <a:spLocks noRot="1" noChangeAspect="1" noMove="1" noResize="1" noEditPoints="1" noAdjustHandles="1" noChangeArrowheads="1" noChangeShapeType="1" noTextEdit="1"/>
              </p:cNvSpPr>
              <p:nvPr/>
            </p:nvSpPr>
            <p:spPr>
              <a:xfrm>
                <a:off x="1791753" y="2389828"/>
                <a:ext cx="1870897" cy="369332"/>
              </a:xfrm>
              <a:prstGeom prst="rect">
                <a:avLst/>
              </a:prstGeom>
              <a:blipFill rotWithShape="0">
                <a:blip r:embed="rId4"/>
                <a:stretch>
                  <a:fillRect b="-1639"/>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4" name="Rectángulo 13"/>
              <p:cNvSpPr/>
              <p:nvPr/>
            </p:nvSpPr>
            <p:spPr>
              <a:xfrm>
                <a:off x="0" y="4188063"/>
                <a:ext cx="8590208" cy="579902"/>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A5A5A5">
                        <a:lumMod val="50000"/>
                      </a:srgbClr>
                    </a:solidFill>
                    <a:latin typeface="Arial" panose="020B0604020202020204" pitchFamily="34" charset="0"/>
                    <a:cs typeface="Arial" panose="020B0604020202020204" pitchFamily="34" charset="0"/>
                  </a:rPr>
                  <a:t>El determinante del sistema es </a:t>
                </a:r>
                <a14:m>
                  <m:oMath xmlns:m="http://schemas.openxmlformats.org/officeDocument/2006/math">
                    <m:d>
                      <m:dPr>
                        <m:begChr m:val="["/>
                        <m:endChr m:val="]"/>
                        <m:ctrlPr>
                          <a:rPr kumimoji="1" lang="es-ES" sz="1900" b="1" i="1" smtClean="0">
                            <a:solidFill>
                              <a:srgbClr val="FF0000"/>
                            </a:solidFill>
                            <a:latin typeface="Cambria Math" panose="02040503050406030204" pitchFamily="18" charset="0"/>
                          </a:rPr>
                        </m:ctrlPr>
                      </m:dPr>
                      <m:e>
                        <m:m>
                          <m:mPr>
                            <m:mcs>
                              <m:mc>
                                <m:mcPr>
                                  <m:count m:val="2"/>
                                  <m:mcJc m:val="center"/>
                                </m:mcPr>
                              </m:mc>
                            </m:mcs>
                            <m:ctrlPr>
                              <a:rPr kumimoji="1" lang="es-ES" sz="1900" b="1" i="1">
                                <a:solidFill>
                                  <a:srgbClr val="A5A5A5">
                                    <a:lumMod val="50000"/>
                                  </a:srgbClr>
                                </a:solidFill>
                                <a:latin typeface="Cambria Math" panose="02040503050406030204" pitchFamily="18" charset="0"/>
                              </a:rPr>
                            </m:ctrlPr>
                          </m:mPr>
                          <m:mr>
                            <m:e>
                              <m:r>
                                <m:rPr>
                                  <m:brk m:alnAt="7"/>
                                </m:rPr>
                                <a:rPr kumimoji="1" lang="es-NI" sz="1900" b="1" i="1">
                                  <a:solidFill>
                                    <a:srgbClr val="A5A5A5">
                                      <a:lumMod val="50000"/>
                                    </a:srgbClr>
                                  </a:solidFill>
                                  <a:latin typeface="Cambria Math" panose="02040503050406030204" pitchFamily="18" charset="0"/>
                                </a:rPr>
                                <m:t>𝟑</m:t>
                              </m:r>
                              <m:r>
                                <a:rPr kumimoji="1" lang="es-NI" sz="1900" b="1" i="1">
                                  <a:solidFill>
                                    <a:srgbClr val="A5A5A5">
                                      <a:lumMod val="50000"/>
                                    </a:srgbClr>
                                  </a:solidFill>
                                  <a:latin typeface="Cambria Math" panose="02040503050406030204" pitchFamily="18" charset="0"/>
                                </a:rPr>
                                <m:t>𝒔</m:t>
                              </m:r>
                            </m:e>
                            <m:e>
                              <m:r>
                                <a:rPr kumimoji="1" lang="es-NI" sz="1900" b="1" i="1">
                                  <a:solidFill>
                                    <a:srgbClr val="A5A5A5">
                                      <a:lumMod val="50000"/>
                                    </a:srgbClr>
                                  </a:solidFill>
                                  <a:latin typeface="Cambria Math" panose="02040503050406030204" pitchFamily="18" charset="0"/>
                                </a:rPr>
                                <m:t>−</m:t>
                              </m:r>
                              <m:r>
                                <a:rPr kumimoji="1" lang="es-NI" sz="1900" b="1" i="1">
                                  <a:solidFill>
                                    <a:srgbClr val="A5A5A5">
                                      <a:lumMod val="50000"/>
                                    </a:srgbClr>
                                  </a:solidFill>
                                  <a:latin typeface="Cambria Math" panose="02040503050406030204" pitchFamily="18" charset="0"/>
                                </a:rPr>
                                <m:t>𝟐</m:t>
                              </m:r>
                            </m:e>
                          </m:mr>
                          <m:mr>
                            <m:e>
                              <m:r>
                                <a:rPr kumimoji="1" lang="es-MX" sz="1900" b="1" i="1">
                                  <a:solidFill>
                                    <a:srgbClr val="A5A5A5">
                                      <a:lumMod val="50000"/>
                                    </a:srgbClr>
                                  </a:solidFill>
                                  <a:latin typeface="Cambria Math" panose="02040503050406030204" pitchFamily="18" charset="0"/>
                                </a:rPr>
                                <m:t>−</m:t>
                              </m:r>
                              <m:r>
                                <a:rPr kumimoji="1" lang="es-NI" sz="1900" b="1" i="1">
                                  <a:solidFill>
                                    <a:srgbClr val="A5A5A5">
                                      <a:lumMod val="50000"/>
                                    </a:srgbClr>
                                  </a:solidFill>
                                  <a:latin typeface="Cambria Math" panose="02040503050406030204" pitchFamily="18" charset="0"/>
                                </a:rPr>
                                <m:t>𝟔</m:t>
                              </m:r>
                            </m:e>
                            <m:e>
                              <m:r>
                                <a:rPr kumimoji="1" lang="es-NI" sz="1900" b="1" i="1">
                                  <a:solidFill>
                                    <a:srgbClr val="A5A5A5">
                                      <a:lumMod val="50000"/>
                                    </a:srgbClr>
                                  </a:solidFill>
                                  <a:latin typeface="Cambria Math" panose="02040503050406030204" pitchFamily="18" charset="0"/>
                                </a:rPr>
                                <m:t>𝒔</m:t>
                              </m:r>
                            </m:e>
                          </m:mr>
                        </m:m>
                      </m:e>
                    </m:d>
                    <m:r>
                      <a:rPr kumimoji="1" lang="es-MX" sz="1900" b="1" i="1" smtClean="0">
                        <a:solidFill>
                          <a:srgbClr val="FF0000"/>
                        </a:solidFill>
                        <a:latin typeface="Cambria Math" panose="02040503050406030204" pitchFamily="18" charset="0"/>
                      </a:rPr>
                      <m:t>=</m:t>
                    </m:r>
                    <m:r>
                      <a:rPr kumimoji="1" lang="es-NI" sz="1900" b="1" i="1" smtClean="0">
                        <a:solidFill>
                          <a:srgbClr val="FF0000"/>
                        </a:solidFill>
                        <a:latin typeface="Cambria Math" panose="02040503050406030204" pitchFamily="18" charset="0"/>
                      </a:rPr>
                      <m:t>𝟑</m:t>
                    </m:r>
                    <m:d>
                      <m:dPr>
                        <m:ctrlPr>
                          <a:rPr kumimoji="1" lang="es-NI" sz="1900" b="1" i="1" smtClean="0">
                            <a:solidFill>
                              <a:srgbClr val="FF0000"/>
                            </a:solidFill>
                            <a:latin typeface="Cambria Math" panose="02040503050406030204" pitchFamily="18" charset="0"/>
                          </a:rPr>
                        </m:ctrlPr>
                      </m:dPr>
                      <m:e>
                        <m:r>
                          <a:rPr kumimoji="1" lang="es-NI" sz="1900" b="1" i="1" smtClean="0">
                            <a:solidFill>
                              <a:srgbClr val="FF0000"/>
                            </a:solidFill>
                            <a:latin typeface="Cambria Math" panose="02040503050406030204" pitchFamily="18" charset="0"/>
                          </a:rPr>
                          <m:t>𝒔</m:t>
                        </m:r>
                        <m:r>
                          <a:rPr kumimoji="1" lang="es-NI" sz="1900" b="1" i="1" smtClean="0">
                            <a:solidFill>
                              <a:srgbClr val="FF0000"/>
                            </a:solidFill>
                            <a:latin typeface="Cambria Math" panose="02040503050406030204" pitchFamily="18" charset="0"/>
                          </a:rPr>
                          <m:t>+</m:t>
                        </m:r>
                        <m:r>
                          <a:rPr kumimoji="1" lang="es-NI" sz="1900" b="1" i="1" smtClean="0">
                            <a:solidFill>
                              <a:srgbClr val="FF0000"/>
                            </a:solidFill>
                            <a:latin typeface="Cambria Math" panose="02040503050406030204" pitchFamily="18" charset="0"/>
                          </a:rPr>
                          <m:t>𝟐</m:t>
                        </m:r>
                      </m:e>
                    </m:d>
                    <m:d>
                      <m:dPr>
                        <m:ctrlPr>
                          <a:rPr kumimoji="1" lang="es-NI" sz="1900" b="1" i="1" smtClean="0">
                            <a:solidFill>
                              <a:srgbClr val="FF0000"/>
                            </a:solidFill>
                            <a:latin typeface="Cambria Math" panose="02040503050406030204" pitchFamily="18" charset="0"/>
                          </a:rPr>
                        </m:ctrlPr>
                      </m:dPr>
                      <m:e>
                        <m:r>
                          <a:rPr kumimoji="1" lang="es-NI" sz="1900" b="1" i="1" smtClean="0">
                            <a:solidFill>
                              <a:srgbClr val="FF0000"/>
                            </a:solidFill>
                            <a:latin typeface="Cambria Math" panose="02040503050406030204" pitchFamily="18" charset="0"/>
                          </a:rPr>
                          <m:t>𝒔</m:t>
                        </m:r>
                        <m:r>
                          <a:rPr kumimoji="1" lang="es-NI" sz="1900" b="1" i="1" smtClean="0">
                            <a:solidFill>
                              <a:srgbClr val="FF0000"/>
                            </a:solidFill>
                            <a:latin typeface="Cambria Math" panose="02040503050406030204" pitchFamily="18" charset="0"/>
                          </a:rPr>
                          <m:t>−</m:t>
                        </m:r>
                        <m:r>
                          <a:rPr kumimoji="1" lang="es-NI" sz="1900" b="1" i="1" smtClean="0">
                            <a:solidFill>
                              <a:srgbClr val="FF0000"/>
                            </a:solidFill>
                            <a:latin typeface="Cambria Math" panose="02040503050406030204" pitchFamily="18" charset="0"/>
                          </a:rPr>
                          <m:t>𝟐</m:t>
                        </m:r>
                      </m:e>
                    </m:d>
                    <m:r>
                      <a:rPr kumimoji="1" lang="es-MX" sz="1900" b="1" i="1" smtClean="0">
                        <a:solidFill>
                          <a:srgbClr val="FF0000"/>
                        </a:solidFill>
                        <a:latin typeface="Cambria Math" panose="02040503050406030204" pitchFamily="18" charset="0"/>
                        <a:ea typeface="Cambria Math" panose="02040503050406030204" pitchFamily="18" charset="0"/>
                      </a:rPr>
                      <m:t>≠</m:t>
                    </m:r>
                    <m:r>
                      <a:rPr kumimoji="1" lang="es-NI" sz="1900" b="1" i="1" smtClean="0">
                        <a:solidFill>
                          <a:srgbClr val="FF0000"/>
                        </a:solidFill>
                        <a:latin typeface="Cambria Math" panose="02040503050406030204" pitchFamily="18" charset="0"/>
                        <a:ea typeface="Cambria Math" panose="02040503050406030204" pitchFamily="18" charset="0"/>
                      </a:rPr>
                      <m:t>𝟎</m:t>
                    </m:r>
                  </m:oMath>
                </a14:m>
                <a:r>
                  <a:rPr kumimoji="1" lang="es-ES" sz="1900" b="1" dirty="0" smtClean="0">
                    <a:solidFill>
                      <a:srgbClr val="A5A5A5">
                        <a:lumMod val="50000"/>
                      </a:srgbClr>
                    </a:solidFill>
                    <a:latin typeface="Arial" panose="020B0604020202020204" pitchFamily="34" charset="0"/>
                    <a:cs typeface="Arial" panose="020B0604020202020204" pitchFamily="34" charset="0"/>
                  </a:rPr>
                  <a:t>, entonces</a:t>
                </a:r>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14" name="Rectángulo 13"/>
              <p:cNvSpPr>
                <a:spLocks noRot="1" noChangeAspect="1" noMove="1" noResize="1" noEditPoints="1" noAdjustHandles="1" noChangeArrowheads="1" noChangeShapeType="1" noTextEdit="1"/>
              </p:cNvSpPr>
              <p:nvPr/>
            </p:nvSpPr>
            <p:spPr>
              <a:xfrm>
                <a:off x="0" y="4188063"/>
                <a:ext cx="8590208" cy="579902"/>
              </a:xfrm>
              <a:prstGeom prst="rect">
                <a:avLst/>
              </a:prstGeom>
              <a:blipFill rotWithShape="0">
                <a:blip r:embed="rId5"/>
                <a:stretch>
                  <a:fillRect l="-6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439471" y="3502283"/>
                <a:ext cx="1352282" cy="384721"/>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centerGroup"/>
                    </m:oMathParaPr>
                    <m:oMath xmlns:m="http://schemas.openxmlformats.org/officeDocument/2006/math">
                      <m:r>
                        <a:rPr kumimoji="1" lang="es-NI" sz="1900" b="1" i="1" smtClean="0">
                          <a:solidFill>
                            <a:schemeClr val="accent3">
                              <a:lumMod val="50000"/>
                            </a:schemeClr>
                          </a:solidFill>
                          <a:latin typeface="Cambria Math" panose="02040503050406030204" pitchFamily="18" charset="0"/>
                          <a:cs typeface="Arial" panose="020B0604020202020204" pitchFamily="34" charset="0"/>
                        </a:rPr>
                        <m:t>𝑨𝑿</m:t>
                      </m:r>
                      <m:r>
                        <a:rPr kumimoji="1" lang="es-NI" sz="1900" b="1" i="1" smtClean="0">
                          <a:solidFill>
                            <a:schemeClr val="accent3">
                              <a:lumMod val="50000"/>
                            </a:schemeClr>
                          </a:solidFill>
                          <a:latin typeface="Cambria Math" panose="02040503050406030204" pitchFamily="18" charset="0"/>
                          <a:cs typeface="Arial" panose="020B0604020202020204" pitchFamily="34" charset="0"/>
                        </a:rPr>
                        <m:t>=</m:t>
                      </m:r>
                      <m:r>
                        <a:rPr kumimoji="1" lang="es-NI" sz="1900" b="1" i="1" smtClean="0">
                          <a:solidFill>
                            <a:schemeClr val="accent3">
                              <a:lumMod val="50000"/>
                            </a:schemeClr>
                          </a:solidFill>
                          <a:latin typeface="Cambria Math" panose="02040503050406030204" pitchFamily="18" charset="0"/>
                          <a:cs typeface="Arial" panose="020B0604020202020204" pitchFamily="34" charset="0"/>
                        </a:rPr>
                        <m:t>𝒃</m:t>
                      </m:r>
                      <m:r>
                        <a:rPr kumimoji="1" lang="es-NI" sz="19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kumimoji="1" lang="es-ES" sz="19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8" name="Rectángulo 17"/>
              <p:cNvSpPr>
                <a:spLocks noRot="1" noChangeAspect="1" noMove="1" noResize="1" noEditPoints="1" noAdjustHandles="1" noChangeArrowheads="1" noChangeShapeType="1" noTextEdit="1"/>
              </p:cNvSpPr>
              <p:nvPr/>
            </p:nvSpPr>
            <p:spPr>
              <a:xfrm>
                <a:off x="439471" y="3502283"/>
                <a:ext cx="1352282" cy="384721"/>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1671133" y="3405653"/>
                <a:ext cx="1804533" cy="5779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sz="1900" b="1" i="1" smtClean="0">
                          <a:solidFill>
                            <a:srgbClr val="A5A5A5">
                              <a:lumMod val="50000"/>
                            </a:srgbClr>
                          </a:solidFill>
                          <a:latin typeface="Cambria Math" panose="02040503050406030204" pitchFamily="18" charset="0"/>
                        </a:rPr>
                        <m:t>𝑨</m:t>
                      </m:r>
                      <m:r>
                        <a:rPr kumimoji="1" lang="es-MX" sz="1900" b="1" i="1">
                          <a:solidFill>
                            <a:srgbClr val="A5A5A5">
                              <a:lumMod val="50000"/>
                            </a:srgbClr>
                          </a:solidFill>
                          <a:latin typeface="Cambria Math" panose="02040503050406030204" pitchFamily="18" charset="0"/>
                        </a:rPr>
                        <m:t>=</m:t>
                      </m:r>
                      <m:d>
                        <m:dPr>
                          <m:begChr m:val="["/>
                          <m:endChr m:val="]"/>
                          <m:ctrlPr>
                            <a:rPr kumimoji="1" lang="es-ES" sz="1900" b="1" i="1">
                              <a:solidFill>
                                <a:srgbClr val="A5A5A5">
                                  <a:lumMod val="50000"/>
                                </a:srgbClr>
                              </a:solidFill>
                              <a:latin typeface="Cambria Math" panose="02040503050406030204" pitchFamily="18" charset="0"/>
                            </a:rPr>
                          </m:ctrlPr>
                        </m:dPr>
                        <m:e>
                          <m:m>
                            <m:mPr>
                              <m:mcs>
                                <m:mc>
                                  <m:mcPr>
                                    <m:count m:val="2"/>
                                    <m:mcJc m:val="center"/>
                                  </m:mcPr>
                                </m:mc>
                              </m:mcs>
                              <m:ctrlPr>
                                <a:rPr kumimoji="1" lang="es-ES" sz="1900" b="1" i="1">
                                  <a:solidFill>
                                    <a:srgbClr val="A5A5A5">
                                      <a:lumMod val="50000"/>
                                    </a:srgbClr>
                                  </a:solidFill>
                                  <a:latin typeface="Cambria Math" panose="02040503050406030204" pitchFamily="18" charset="0"/>
                                </a:rPr>
                              </m:ctrlPr>
                            </m:mPr>
                            <m:mr>
                              <m:e>
                                <m:r>
                                  <m:rPr>
                                    <m:brk m:alnAt="7"/>
                                  </m:rPr>
                                  <a:rPr kumimoji="1" lang="es-NI" sz="1900" b="1" i="1" smtClean="0">
                                    <a:solidFill>
                                      <a:srgbClr val="A5A5A5">
                                        <a:lumMod val="50000"/>
                                      </a:srgbClr>
                                    </a:solidFill>
                                    <a:latin typeface="Cambria Math" panose="02040503050406030204" pitchFamily="18" charset="0"/>
                                  </a:rPr>
                                  <m:t>𝟑</m:t>
                                </m:r>
                                <m:r>
                                  <a:rPr kumimoji="1" lang="es-NI" sz="1900" b="1" i="1" smtClean="0">
                                    <a:solidFill>
                                      <a:srgbClr val="A5A5A5">
                                        <a:lumMod val="50000"/>
                                      </a:srgbClr>
                                    </a:solidFill>
                                    <a:latin typeface="Cambria Math" panose="02040503050406030204" pitchFamily="18" charset="0"/>
                                  </a:rPr>
                                  <m:t>𝒔</m:t>
                                </m:r>
                              </m:e>
                              <m:e>
                                <m:r>
                                  <a:rPr kumimoji="1" lang="es-NI" sz="1900" b="1" i="1" smtClean="0">
                                    <a:solidFill>
                                      <a:srgbClr val="A5A5A5">
                                        <a:lumMod val="50000"/>
                                      </a:srgbClr>
                                    </a:solidFill>
                                    <a:latin typeface="Cambria Math" panose="02040503050406030204" pitchFamily="18" charset="0"/>
                                  </a:rPr>
                                  <m:t>−</m:t>
                                </m:r>
                                <m:r>
                                  <a:rPr kumimoji="1" lang="es-NI" sz="1900" b="1" i="1" smtClean="0">
                                    <a:solidFill>
                                      <a:srgbClr val="A5A5A5">
                                        <a:lumMod val="50000"/>
                                      </a:srgbClr>
                                    </a:solidFill>
                                    <a:latin typeface="Cambria Math" panose="02040503050406030204" pitchFamily="18" charset="0"/>
                                  </a:rPr>
                                  <m:t>𝟐</m:t>
                                </m:r>
                              </m:e>
                            </m:mr>
                            <m:mr>
                              <m:e>
                                <m:r>
                                  <a:rPr kumimoji="1" lang="es-MX" sz="1900" b="1" i="1">
                                    <a:solidFill>
                                      <a:srgbClr val="A5A5A5">
                                        <a:lumMod val="50000"/>
                                      </a:srgbClr>
                                    </a:solidFill>
                                    <a:latin typeface="Cambria Math" panose="02040503050406030204" pitchFamily="18" charset="0"/>
                                  </a:rPr>
                                  <m:t>−</m:t>
                                </m:r>
                                <m:r>
                                  <a:rPr kumimoji="1" lang="es-NI" sz="1900" b="1" i="1" smtClean="0">
                                    <a:solidFill>
                                      <a:srgbClr val="A5A5A5">
                                        <a:lumMod val="50000"/>
                                      </a:srgbClr>
                                    </a:solidFill>
                                    <a:latin typeface="Cambria Math" panose="02040503050406030204" pitchFamily="18" charset="0"/>
                                  </a:rPr>
                                  <m:t>𝟔</m:t>
                                </m:r>
                              </m:e>
                              <m:e>
                                <m:r>
                                  <a:rPr kumimoji="1" lang="es-NI" sz="1900" b="1" i="1" smtClean="0">
                                    <a:solidFill>
                                      <a:srgbClr val="A5A5A5">
                                        <a:lumMod val="50000"/>
                                      </a:srgbClr>
                                    </a:solidFill>
                                    <a:latin typeface="Cambria Math" panose="02040503050406030204" pitchFamily="18" charset="0"/>
                                  </a:rPr>
                                  <m:t>𝒔</m:t>
                                </m:r>
                              </m:e>
                            </m:mr>
                          </m:m>
                        </m:e>
                      </m:d>
                    </m:oMath>
                  </m:oMathPara>
                </a14:m>
                <a:endParaRPr lang="es-MX" sz="1900" dirty="0"/>
              </a:p>
            </p:txBody>
          </p:sp>
        </mc:Choice>
        <mc:Fallback xmlns="">
          <p:sp>
            <p:nvSpPr>
              <p:cNvPr id="19" name="Rectángulo 18"/>
              <p:cNvSpPr>
                <a:spLocks noRot="1" noChangeAspect="1" noMove="1" noResize="1" noEditPoints="1" noAdjustHandles="1" noChangeArrowheads="1" noChangeShapeType="1" noTextEdit="1"/>
              </p:cNvSpPr>
              <p:nvPr/>
            </p:nvSpPr>
            <p:spPr>
              <a:xfrm>
                <a:off x="1671133" y="3405653"/>
                <a:ext cx="1804533" cy="577979"/>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3475666" y="3405652"/>
                <a:ext cx="2165978" cy="5799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kumimoji="1" lang="es-NI" sz="1900" b="1" i="1" smtClean="0">
                              <a:solidFill>
                                <a:srgbClr val="A5A5A5">
                                  <a:lumMod val="50000"/>
                                </a:srgbClr>
                              </a:solidFill>
                              <a:latin typeface="Cambria Math" panose="02040503050406030204" pitchFamily="18" charset="0"/>
                            </a:rPr>
                          </m:ctrlPr>
                        </m:sSubPr>
                        <m:e>
                          <m:r>
                            <a:rPr kumimoji="1" lang="es-NI" sz="1900" b="1" i="1" smtClean="0">
                              <a:solidFill>
                                <a:srgbClr val="A5A5A5">
                                  <a:lumMod val="50000"/>
                                </a:srgbClr>
                              </a:solidFill>
                              <a:latin typeface="Cambria Math" panose="02040503050406030204" pitchFamily="18" charset="0"/>
                            </a:rPr>
                            <m:t>𝑨</m:t>
                          </m:r>
                        </m:e>
                        <m:sub>
                          <m:r>
                            <a:rPr kumimoji="1" lang="es-NI" sz="1900" b="1" i="1" smtClean="0">
                              <a:solidFill>
                                <a:srgbClr val="A5A5A5">
                                  <a:lumMod val="50000"/>
                                </a:srgbClr>
                              </a:solidFill>
                              <a:latin typeface="Cambria Math" panose="02040503050406030204" pitchFamily="18" charset="0"/>
                            </a:rPr>
                            <m:t>𝟏</m:t>
                          </m:r>
                        </m:sub>
                      </m:sSub>
                      <m:d>
                        <m:dPr>
                          <m:ctrlPr>
                            <a:rPr kumimoji="1" lang="es-NI" sz="1900" b="1" i="1" smtClean="0">
                              <a:solidFill>
                                <a:srgbClr val="A5A5A5">
                                  <a:lumMod val="50000"/>
                                </a:srgbClr>
                              </a:solidFill>
                              <a:latin typeface="Cambria Math" panose="02040503050406030204" pitchFamily="18" charset="0"/>
                            </a:rPr>
                          </m:ctrlPr>
                        </m:dPr>
                        <m:e>
                          <m:r>
                            <a:rPr kumimoji="1" lang="es-NI" sz="1900" b="1" i="1" smtClean="0">
                              <a:solidFill>
                                <a:srgbClr val="A5A5A5">
                                  <a:lumMod val="50000"/>
                                </a:srgbClr>
                              </a:solidFill>
                              <a:latin typeface="Cambria Math" panose="02040503050406030204" pitchFamily="18" charset="0"/>
                            </a:rPr>
                            <m:t>𝒃</m:t>
                          </m:r>
                        </m:e>
                      </m:d>
                      <m:r>
                        <a:rPr kumimoji="1" lang="es-MX" sz="1900" b="1" i="1">
                          <a:solidFill>
                            <a:srgbClr val="A5A5A5">
                              <a:lumMod val="50000"/>
                            </a:srgbClr>
                          </a:solidFill>
                          <a:latin typeface="Cambria Math" panose="02040503050406030204" pitchFamily="18" charset="0"/>
                        </a:rPr>
                        <m:t>=</m:t>
                      </m:r>
                      <m:d>
                        <m:dPr>
                          <m:begChr m:val="["/>
                          <m:endChr m:val="]"/>
                          <m:ctrlPr>
                            <a:rPr kumimoji="1" lang="es-ES" sz="1900" b="1" i="1">
                              <a:solidFill>
                                <a:srgbClr val="A5A5A5">
                                  <a:lumMod val="50000"/>
                                </a:srgbClr>
                              </a:solidFill>
                              <a:latin typeface="Cambria Math" panose="02040503050406030204" pitchFamily="18" charset="0"/>
                            </a:rPr>
                          </m:ctrlPr>
                        </m:dPr>
                        <m:e>
                          <m:m>
                            <m:mPr>
                              <m:mcs>
                                <m:mc>
                                  <m:mcPr>
                                    <m:count m:val="2"/>
                                    <m:mcJc m:val="center"/>
                                  </m:mcPr>
                                </m:mc>
                              </m:mcs>
                              <m:ctrlPr>
                                <a:rPr kumimoji="1" lang="es-ES" sz="1900" b="1" i="1">
                                  <a:solidFill>
                                    <a:srgbClr val="A5A5A5">
                                      <a:lumMod val="50000"/>
                                    </a:srgbClr>
                                  </a:solidFill>
                                  <a:latin typeface="Cambria Math" panose="02040503050406030204" pitchFamily="18" charset="0"/>
                                </a:rPr>
                              </m:ctrlPr>
                            </m:mPr>
                            <m:mr>
                              <m:e>
                                <m:r>
                                  <m:rPr>
                                    <m:brk m:alnAt="7"/>
                                  </m:rPr>
                                  <a:rPr kumimoji="1" lang="es-NI" sz="1900" b="1" i="1" smtClean="0">
                                    <a:solidFill>
                                      <a:srgbClr val="A5A5A5">
                                        <a:lumMod val="50000"/>
                                      </a:srgbClr>
                                    </a:solidFill>
                                    <a:latin typeface="Cambria Math" panose="02040503050406030204" pitchFamily="18" charset="0"/>
                                  </a:rPr>
                                  <m:t>𝟒</m:t>
                                </m:r>
                              </m:e>
                              <m:e>
                                <m:r>
                                  <a:rPr kumimoji="1" lang="es-NI" sz="1900" b="1" i="1" smtClean="0">
                                    <a:solidFill>
                                      <a:srgbClr val="A5A5A5">
                                        <a:lumMod val="50000"/>
                                      </a:srgbClr>
                                    </a:solidFill>
                                    <a:latin typeface="Cambria Math" panose="02040503050406030204" pitchFamily="18" charset="0"/>
                                  </a:rPr>
                                  <m:t>−</m:t>
                                </m:r>
                                <m:r>
                                  <a:rPr kumimoji="1" lang="es-NI" sz="1900" b="1" i="1" smtClean="0">
                                    <a:solidFill>
                                      <a:srgbClr val="A5A5A5">
                                        <a:lumMod val="50000"/>
                                      </a:srgbClr>
                                    </a:solidFill>
                                    <a:latin typeface="Cambria Math" panose="02040503050406030204" pitchFamily="18" charset="0"/>
                                  </a:rPr>
                                  <m:t>𝟐</m:t>
                                </m:r>
                              </m:e>
                            </m:mr>
                            <m:mr>
                              <m:e>
                                <m:r>
                                  <a:rPr kumimoji="1" lang="es-NI" sz="1900" b="1" i="1" smtClean="0">
                                    <a:solidFill>
                                      <a:srgbClr val="A5A5A5">
                                        <a:lumMod val="50000"/>
                                      </a:srgbClr>
                                    </a:solidFill>
                                    <a:latin typeface="Cambria Math" panose="02040503050406030204" pitchFamily="18" charset="0"/>
                                  </a:rPr>
                                  <m:t>𝟏</m:t>
                                </m:r>
                              </m:e>
                              <m:e>
                                <m:r>
                                  <a:rPr kumimoji="1" lang="es-NI" sz="1900" b="1" i="1" smtClean="0">
                                    <a:solidFill>
                                      <a:srgbClr val="A5A5A5">
                                        <a:lumMod val="50000"/>
                                      </a:srgbClr>
                                    </a:solidFill>
                                    <a:latin typeface="Cambria Math" panose="02040503050406030204" pitchFamily="18" charset="0"/>
                                  </a:rPr>
                                  <m:t>𝒔</m:t>
                                </m:r>
                              </m:e>
                            </m:mr>
                          </m:m>
                        </m:e>
                      </m:d>
                    </m:oMath>
                  </m:oMathPara>
                </a14:m>
                <a:endParaRPr lang="es-MX" sz="1900" dirty="0"/>
              </a:p>
            </p:txBody>
          </p:sp>
        </mc:Choice>
        <mc:Fallback xmlns="">
          <p:sp>
            <p:nvSpPr>
              <p:cNvPr id="20" name="Rectángulo 19"/>
              <p:cNvSpPr>
                <a:spLocks noRot="1" noChangeAspect="1" noMove="1" noResize="1" noEditPoints="1" noAdjustHandles="1" noChangeArrowheads="1" noChangeShapeType="1" noTextEdit="1"/>
              </p:cNvSpPr>
              <p:nvPr/>
            </p:nvSpPr>
            <p:spPr>
              <a:xfrm>
                <a:off x="3475666" y="3405652"/>
                <a:ext cx="2165978" cy="579902"/>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5641644" y="3403730"/>
                <a:ext cx="2165978" cy="5799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kumimoji="1" lang="es-NI" sz="1900" b="1" i="1" smtClean="0">
                              <a:solidFill>
                                <a:srgbClr val="A5A5A5">
                                  <a:lumMod val="50000"/>
                                </a:srgbClr>
                              </a:solidFill>
                              <a:latin typeface="Cambria Math" panose="02040503050406030204" pitchFamily="18" charset="0"/>
                            </a:rPr>
                          </m:ctrlPr>
                        </m:sSubPr>
                        <m:e>
                          <m:r>
                            <a:rPr kumimoji="1" lang="es-NI" sz="1900" b="1" i="1" smtClean="0">
                              <a:solidFill>
                                <a:srgbClr val="A5A5A5">
                                  <a:lumMod val="50000"/>
                                </a:srgbClr>
                              </a:solidFill>
                              <a:latin typeface="Cambria Math" panose="02040503050406030204" pitchFamily="18" charset="0"/>
                            </a:rPr>
                            <m:t>𝑨</m:t>
                          </m:r>
                        </m:e>
                        <m:sub>
                          <m:r>
                            <a:rPr kumimoji="1" lang="es-NI" sz="1900" b="1" i="1" smtClean="0">
                              <a:solidFill>
                                <a:srgbClr val="A5A5A5">
                                  <a:lumMod val="50000"/>
                                </a:srgbClr>
                              </a:solidFill>
                              <a:latin typeface="Cambria Math" panose="02040503050406030204" pitchFamily="18" charset="0"/>
                            </a:rPr>
                            <m:t>𝟐</m:t>
                          </m:r>
                        </m:sub>
                      </m:sSub>
                      <m:d>
                        <m:dPr>
                          <m:ctrlPr>
                            <a:rPr kumimoji="1" lang="es-NI" sz="1900" b="1" i="1" smtClean="0">
                              <a:solidFill>
                                <a:srgbClr val="A5A5A5">
                                  <a:lumMod val="50000"/>
                                </a:srgbClr>
                              </a:solidFill>
                              <a:latin typeface="Cambria Math" panose="02040503050406030204" pitchFamily="18" charset="0"/>
                            </a:rPr>
                          </m:ctrlPr>
                        </m:dPr>
                        <m:e>
                          <m:r>
                            <a:rPr kumimoji="1" lang="es-NI" sz="1900" b="1" i="1" smtClean="0">
                              <a:solidFill>
                                <a:srgbClr val="A5A5A5">
                                  <a:lumMod val="50000"/>
                                </a:srgbClr>
                              </a:solidFill>
                              <a:latin typeface="Cambria Math" panose="02040503050406030204" pitchFamily="18" charset="0"/>
                            </a:rPr>
                            <m:t>𝒃</m:t>
                          </m:r>
                        </m:e>
                      </m:d>
                      <m:r>
                        <a:rPr kumimoji="1" lang="es-MX" sz="1900" b="1" i="1">
                          <a:solidFill>
                            <a:srgbClr val="A5A5A5">
                              <a:lumMod val="50000"/>
                            </a:srgbClr>
                          </a:solidFill>
                          <a:latin typeface="Cambria Math" panose="02040503050406030204" pitchFamily="18" charset="0"/>
                        </a:rPr>
                        <m:t>=</m:t>
                      </m:r>
                      <m:d>
                        <m:dPr>
                          <m:begChr m:val="["/>
                          <m:endChr m:val="]"/>
                          <m:ctrlPr>
                            <a:rPr kumimoji="1" lang="es-ES" sz="1900" b="1" i="1">
                              <a:solidFill>
                                <a:srgbClr val="A5A5A5">
                                  <a:lumMod val="50000"/>
                                </a:srgbClr>
                              </a:solidFill>
                              <a:latin typeface="Cambria Math" panose="02040503050406030204" pitchFamily="18" charset="0"/>
                            </a:rPr>
                          </m:ctrlPr>
                        </m:dPr>
                        <m:e>
                          <m:m>
                            <m:mPr>
                              <m:mcs>
                                <m:mc>
                                  <m:mcPr>
                                    <m:count m:val="2"/>
                                    <m:mcJc m:val="center"/>
                                  </m:mcPr>
                                </m:mc>
                              </m:mcs>
                              <m:ctrlPr>
                                <a:rPr kumimoji="1" lang="es-ES" sz="1900" b="1" i="1">
                                  <a:solidFill>
                                    <a:srgbClr val="A5A5A5">
                                      <a:lumMod val="50000"/>
                                    </a:srgbClr>
                                  </a:solidFill>
                                  <a:latin typeface="Cambria Math" panose="02040503050406030204" pitchFamily="18" charset="0"/>
                                </a:rPr>
                              </m:ctrlPr>
                            </m:mPr>
                            <m:mr>
                              <m:e>
                                <m:r>
                                  <m:rPr>
                                    <m:brk m:alnAt="7"/>
                                  </m:rPr>
                                  <a:rPr kumimoji="1" lang="es-NI" sz="1900" b="1" i="1" smtClean="0">
                                    <a:solidFill>
                                      <a:srgbClr val="A5A5A5">
                                        <a:lumMod val="50000"/>
                                      </a:srgbClr>
                                    </a:solidFill>
                                    <a:latin typeface="Cambria Math" panose="02040503050406030204" pitchFamily="18" charset="0"/>
                                  </a:rPr>
                                  <m:t>𝟑</m:t>
                                </m:r>
                                <m:r>
                                  <a:rPr kumimoji="1" lang="es-NI" sz="1900" b="1" i="1" smtClean="0">
                                    <a:solidFill>
                                      <a:srgbClr val="A5A5A5">
                                        <a:lumMod val="50000"/>
                                      </a:srgbClr>
                                    </a:solidFill>
                                    <a:latin typeface="Cambria Math" panose="02040503050406030204" pitchFamily="18" charset="0"/>
                                  </a:rPr>
                                  <m:t>𝒔</m:t>
                                </m:r>
                              </m:e>
                              <m:e>
                                <m:r>
                                  <a:rPr kumimoji="1" lang="es-NI" sz="1900" b="1" i="1" smtClean="0">
                                    <a:solidFill>
                                      <a:srgbClr val="A5A5A5">
                                        <a:lumMod val="50000"/>
                                      </a:srgbClr>
                                    </a:solidFill>
                                    <a:latin typeface="Cambria Math" panose="02040503050406030204" pitchFamily="18" charset="0"/>
                                  </a:rPr>
                                  <m:t>𝟒</m:t>
                                </m:r>
                              </m:e>
                            </m:mr>
                            <m:mr>
                              <m:e>
                                <m:r>
                                  <a:rPr kumimoji="1" lang="es-NI" sz="1900" b="1" i="1" smtClean="0">
                                    <a:solidFill>
                                      <a:srgbClr val="A5A5A5">
                                        <a:lumMod val="50000"/>
                                      </a:srgbClr>
                                    </a:solidFill>
                                    <a:latin typeface="Cambria Math" panose="02040503050406030204" pitchFamily="18" charset="0"/>
                                  </a:rPr>
                                  <m:t>−</m:t>
                                </m:r>
                                <m:r>
                                  <a:rPr kumimoji="1" lang="es-NI" sz="1900" b="1" i="1" smtClean="0">
                                    <a:solidFill>
                                      <a:srgbClr val="A5A5A5">
                                        <a:lumMod val="50000"/>
                                      </a:srgbClr>
                                    </a:solidFill>
                                    <a:latin typeface="Cambria Math" panose="02040503050406030204" pitchFamily="18" charset="0"/>
                                  </a:rPr>
                                  <m:t>𝟔</m:t>
                                </m:r>
                              </m:e>
                              <m:e>
                                <m:r>
                                  <a:rPr kumimoji="1" lang="es-NI" sz="1900" b="1" i="1" smtClean="0">
                                    <a:solidFill>
                                      <a:srgbClr val="A5A5A5">
                                        <a:lumMod val="50000"/>
                                      </a:srgbClr>
                                    </a:solidFill>
                                    <a:latin typeface="Cambria Math" panose="02040503050406030204" pitchFamily="18" charset="0"/>
                                  </a:rPr>
                                  <m:t>𝟏</m:t>
                                </m:r>
                              </m:e>
                            </m:mr>
                          </m:m>
                        </m:e>
                      </m:d>
                    </m:oMath>
                  </m:oMathPara>
                </a14:m>
                <a:endParaRPr lang="es-MX" sz="1900" dirty="0"/>
              </a:p>
            </p:txBody>
          </p:sp>
        </mc:Choice>
        <mc:Fallback xmlns="">
          <p:sp>
            <p:nvSpPr>
              <p:cNvPr id="21" name="Rectángulo 20"/>
              <p:cNvSpPr>
                <a:spLocks noRot="1" noChangeAspect="1" noMove="1" noResize="1" noEditPoints="1" noAdjustHandles="1" noChangeArrowheads="1" noChangeShapeType="1" noTextEdit="1"/>
              </p:cNvSpPr>
              <p:nvPr/>
            </p:nvSpPr>
            <p:spPr>
              <a:xfrm>
                <a:off x="5641644" y="3403730"/>
                <a:ext cx="2165978" cy="579902"/>
              </a:xfrm>
              <a:prstGeom prst="rect">
                <a:avLst/>
              </a:prstGeom>
              <a:blipFill rotWithShape="0">
                <a:blip r:embed="rId9"/>
                <a:stretch>
                  <a:fillRect/>
                </a:stretch>
              </a:blipFill>
            </p:spPr>
            <p:txBody>
              <a:bodyPr/>
              <a:lstStyle/>
              <a:p>
                <a:r>
                  <a:rPr lang="es-MX">
                    <a:noFill/>
                  </a:rPr>
                  <a:t> </a:t>
                </a:r>
              </a:p>
            </p:txBody>
          </p:sp>
        </mc:Fallback>
      </mc:AlternateContent>
      <p:sp>
        <p:nvSpPr>
          <p:cNvPr id="15" name="Rectángulo 14"/>
          <p:cNvSpPr/>
          <p:nvPr/>
        </p:nvSpPr>
        <p:spPr>
          <a:xfrm>
            <a:off x="0" y="4871969"/>
            <a:ext cx="1352282"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A5A5A5">
                    <a:lumMod val="50000"/>
                  </a:srgbClr>
                </a:solidFill>
                <a:latin typeface="Arial" panose="020B0604020202020204" pitchFamily="34" charset="0"/>
                <a:cs typeface="Arial" panose="020B0604020202020204" pitchFamily="34" charset="0"/>
              </a:rPr>
              <a:t>Entonces</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6" name="Rectángulo 15"/>
              <p:cNvSpPr/>
              <p:nvPr/>
            </p:nvSpPr>
            <p:spPr>
              <a:xfrm>
                <a:off x="1213794" y="5349817"/>
                <a:ext cx="4082602" cy="733149"/>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smtClean="0">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𝟏</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𝟒</m:t>
                          </m:r>
                          <m:r>
                            <a:rPr kumimoji="1" lang="es-NI" sz="2000" b="1" i="1" smtClean="0">
                              <a:solidFill>
                                <a:srgbClr val="FF0000"/>
                              </a:solidFill>
                              <a:latin typeface="Cambria Math" panose="02040503050406030204" pitchFamily="18" charset="0"/>
                            </a:rPr>
                            <m:t>𝒔</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𝟐</m:t>
                          </m:r>
                        </m:num>
                        <m:den>
                          <m:r>
                            <a:rPr kumimoji="1" lang="es-NI" sz="2000" b="1" i="1">
                              <a:solidFill>
                                <a:srgbClr val="FF0000"/>
                              </a:solidFill>
                              <a:latin typeface="Cambria Math" panose="02040503050406030204" pitchFamily="18" charset="0"/>
                            </a:rPr>
                            <m:t>𝟑</m:t>
                          </m:r>
                          <m:d>
                            <m:dPr>
                              <m:ctrlPr>
                                <a:rPr kumimoji="1" lang="es-NI" sz="2000" b="1" i="1">
                                  <a:solidFill>
                                    <a:srgbClr val="FF0000"/>
                                  </a:solidFill>
                                  <a:latin typeface="Cambria Math" panose="02040503050406030204" pitchFamily="18" charset="0"/>
                                </a:rPr>
                              </m:ctrlPr>
                            </m:dPr>
                            <m:e>
                              <m:r>
                                <a:rPr kumimoji="1" lang="es-NI" sz="2000" b="1" i="1">
                                  <a:solidFill>
                                    <a:srgbClr val="FF0000"/>
                                  </a:solidFill>
                                  <a:latin typeface="Cambria Math" panose="02040503050406030204" pitchFamily="18" charset="0"/>
                                </a:rPr>
                                <m:t>𝒔</m:t>
                              </m:r>
                              <m:r>
                                <a:rPr kumimoji="1" lang="es-NI" sz="2000" b="1" i="1">
                                  <a:solidFill>
                                    <a:srgbClr val="FF0000"/>
                                  </a:solidFill>
                                  <a:latin typeface="Cambria Math" panose="02040503050406030204" pitchFamily="18" charset="0"/>
                                </a:rPr>
                                <m:t>+</m:t>
                              </m:r>
                              <m:r>
                                <a:rPr kumimoji="1" lang="es-NI" sz="2000" b="1" i="1">
                                  <a:solidFill>
                                    <a:srgbClr val="FF0000"/>
                                  </a:solidFill>
                                  <a:latin typeface="Cambria Math" panose="02040503050406030204" pitchFamily="18" charset="0"/>
                                </a:rPr>
                                <m:t>𝟐</m:t>
                              </m:r>
                            </m:e>
                          </m:d>
                          <m:d>
                            <m:dPr>
                              <m:ctrlPr>
                                <a:rPr kumimoji="1" lang="es-NI" sz="2000" b="1" i="1">
                                  <a:solidFill>
                                    <a:srgbClr val="FF0000"/>
                                  </a:solidFill>
                                  <a:latin typeface="Cambria Math" panose="02040503050406030204" pitchFamily="18" charset="0"/>
                                </a:rPr>
                              </m:ctrlPr>
                            </m:dPr>
                            <m:e>
                              <m:r>
                                <a:rPr kumimoji="1" lang="es-NI" sz="2000" b="1" i="1">
                                  <a:solidFill>
                                    <a:srgbClr val="FF0000"/>
                                  </a:solidFill>
                                  <a:latin typeface="Cambria Math" panose="02040503050406030204" pitchFamily="18" charset="0"/>
                                </a:rPr>
                                <m:t>𝒔</m:t>
                              </m:r>
                              <m:r>
                                <a:rPr kumimoji="1" lang="es-NI" sz="2000" b="1" i="1">
                                  <a:solidFill>
                                    <a:srgbClr val="FF0000"/>
                                  </a:solidFill>
                                  <a:latin typeface="Cambria Math" panose="02040503050406030204" pitchFamily="18" charset="0"/>
                                </a:rPr>
                                <m:t>−</m:t>
                              </m:r>
                              <m:r>
                                <a:rPr kumimoji="1" lang="es-NI" sz="2000" b="1" i="1">
                                  <a:solidFill>
                                    <a:srgbClr val="FF0000"/>
                                  </a:solidFill>
                                  <a:latin typeface="Cambria Math" panose="02040503050406030204" pitchFamily="18" charset="0"/>
                                </a:rPr>
                                <m:t>𝟐</m:t>
                              </m:r>
                            </m:e>
                          </m:d>
                        </m:den>
                      </m:f>
                    </m:oMath>
                  </m:oMathPara>
                </a14:m>
                <a:endParaRPr kumimoji="1" lang="es-ES" sz="20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16" name="Rectángulo 15"/>
              <p:cNvSpPr>
                <a:spLocks noRot="1" noChangeAspect="1" noMove="1" noResize="1" noEditPoints="1" noAdjustHandles="1" noChangeArrowheads="1" noChangeShapeType="1" noTextEdit="1"/>
              </p:cNvSpPr>
              <p:nvPr/>
            </p:nvSpPr>
            <p:spPr>
              <a:xfrm>
                <a:off x="1213794" y="5349817"/>
                <a:ext cx="4082602" cy="733149"/>
              </a:xfrm>
              <a:prstGeom prst="rect">
                <a:avLst/>
              </a:prstGeom>
              <a:blipFill rotWithShape="0">
                <a:blip r:embed="rId10"/>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7" name="Rectángulo 16"/>
              <p:cNvSpPr/>
              <p:nvPr/>
            </p:nvSpPr>
            <p:spPr>
              <a:xfrm>
                <a:off x="5460640" y="5346097"/>
                <a:ext cx="5962918" cy="740587"/>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𝟐</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𝟑</m:t>
                          </m:r>
                          <m:r>
                            <a:rPr kumimoji="1" lang="es-NI" sz="2000" b="1" i="1" smtClean="0">
                              <a:solidFill>
                                <a:srgbClr val="FF0000"/>
                              </a:solidFill>
                              <a:latin typeface="Cambria Math" panose="02040503050406030204" pitchFamily="18" charset="0"/>
                            </a:rPr>
                            <m:t>𝒔</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𝟐𝟒</m:t>
                          </m:r>
                        </m:num>
                        <m:den>
                          <m:r>
                            <a:rPr kumimoji="1" lang="es-NI" sz="2000" b="1" i="1">
                              <a:solidFill>
                                <a:srgbClr val="FF0000"/>
                              </a:solidFill>
                              <a:latin typeface="Cambria Math" panose="02040503050406030204" pitchFamily="18" charset="0"/>
                            </a:rPr>
                            <m:t>𝟑</m:t>
                          </m:r>
                          <m:d>
                            <m:dPr>
                              <m:ctrlPr>
                                <a:rPr kumimoji="1" lang="es-NI" sz="2000" b="1" i="1">
                                  <a:solidFill>
                                    <a:srgbClr val="FF0000"/>
                                  </a:solidFill>
                                  <a:latin typeface="Cambria Math" panose="02040503050406030204" pitchFamily="18" charset="0"/>
                                </a:rPr>
                              </m:ctrlPr>
                            </m:dPr>
                            <m:e>
                              <m:r>
                                <a:rPr kumimoji="1" lang="es-NI" sz="2000" b="1" i="1">
                                  <a:solidFill>
                                    <a:srgbClr val="FF0000"/>
                                  </a:solidFill>
                                  <a:latin typeface="Cambria Math" panose="02040503050406030204" pitchFamily="18" charset="0"/>
                                </a:rPr>
                                <m:t>𝒔</m:t>
                              </m:r>
                              <m:r>
                                <a:rPr kumimoji="1" lang="es-NI" sz="2000" b="1" i="1">
                                  <a:solidFill>
                                    <a:srgbClr val="FF0000"/>
                                  </a:solidFill>
                                  <a:latin typeface="Cambria Math" panose="02040503050406030204" pitchFamily="18" charset="0"/>
                                </a:rPr>
                                <m:t>+</m:t>
                              </m:r>
                              <m:r>
                                <a:rPr kumimoji="1" lang="es-NI" sz="2000" b="1" i="1">
                                  <a:solidFill>
                                    <a:srgbClr val="FF0000"/>
                                  </a:solidFill>
                                  <a:latin typeface="Cambria Math" panose="02040503050406030204" pitchFamily="18" charset="0"/>
                                </a:rPr>
                                <m:t>𝟐</m:t>
                              </m:r>
                            </m:e>
                          </m:d>
                          <m:d>
                            <m:dPr>
                              <m:ctrlPr>
                                <a:rPr kumimoji="1" lang="es-NI" sz="2000" b="1" i="1">
                                  <a:solidFill>
                                    <a:srgbClr val="FF0000"/>
                                  </a:solidFill>
                                  <a:latin typeface="Cambria Math" panose="02040503050406030204" pitchFamily="18" charset="0"/>
                                </a:rPr>
                              </m:ctrlPr>
                            </m:dPr>
                            <m:e>
                              <m:r>
                                <a:rPr kumimoji="1" lang="es-NI" sz="2000" b="1" i="1">
                                  <a:solidFill>
                                    <a:srgbClr val="FF0000"/>
                                  </a:solidFill>
                                  <a:latin typeface="Cambria Math" panose="02040503050406030204" pitchFamily="18" charset="0"/>
                                </a:rPr>
                                <m:t>𝒔</m:t>
                              </m:r>
                              <m:r>
                                <a:rPr kumimoji="1" lang="es-NI" sz="2000" b="1" i="1">
                                  <a:solidFill>
                                    <a:srgbClr val="FF0000"/>
                                  </a:solidFill>
                                  <a:latin typeface="Cambria Math" panose="02040503050406030204" pitchFamily="18" charset="0"/>
                                </a:rPr>
                                <m:t>−</m:t>
                              </m:r>
                              <m:r>
                                <a:rPr kumimoji="1" lang="es-NI" sz="2000" b="1" i="1">
                                  <a:solidFill>
                                    <a:srgbClr val="FF0000"/>
                                  </a:solidFill>
                                  <a:latin typeface="Cambria Math" panose="02040503050406030204" pitchFamily="18" charset="0"/>
                                </a:rPr>
                                <m:t>𝟐</m:t>
                              </m:r>
                            </m:e>
                          </m:d>
                        </m:den>
                      </m:f>
                      <m:r>
                        <a:rPr kumimoji="1" lang="es-NI" sz="2000" b="1" i="1" smtClean="0">
                          <a:solidFill>
                            <a:srgbClr val="FF0000"/>
                          </a:solidFill>
                          <a:latin typeface="Cambria Math" panose="02040503050406030204" pitchFamily="18" charset="0"/>
                        </a:rPr>
                        <m:t>=</m:t>
                      </m:r>
                      <m:f>
                        <m:fPr>
                          <m:ctrlPr>
                            <a:rPr kumimoji="1" lang="es-NI"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𝒔</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𝟖</m:t>
                          </m:r>
                        </m:num>
                        <m:den>
                          <m:d>
                            <m:dPr>
                              <m:ctrlPr>
                                <a:rPr kumimoji="1" lang="es-NI" sz="2000" b="1" i="1" smtClean="0">
                                  <a:solidFill>
                                    <a:srgbClr val="FF0000"/>
                                  </a:solidFill>
                                  <a:latin typeface="Cambria Math" panose="02040503050406030204" pitchFamily="18" charset="0"/>
                                </a:rPr>
                              </m:ctrlPr>
                            </m:dPr>
                            <m:e>
                              <m:r>
                                <a:rPr kumimoji="1" lang="es-NI" sz="2000" b="1" i="1" smtClean="0">
                                  <a:solidFill>
                                    <a:srgbClr val="FF0000"/>
                                  </a:solidFill>
                                  <a:latin typeface="Cambria Math" panose="02040503050406030204" pitchFamily="18" charset="0"/>
                                </a:rPr>
                                <m:t>𝒔</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𝟐</m:t>
                              </m:r>
                            </m:e>
                          </m:d>
                          <m:d>
                            <m:dPr>
                              <m:ctrlPr>
                                <a:rPr kumimoji="1" lang="es-NI" sz="2000" b="1" i="1" smtClean="0">
                                  <a:solidFill>
                                    <a:srgbClr val="FF0000"/>
                                  </a:solidFill>
                                  <a:latin typeface="Cambria Math" panose="02040503050406030204" pitchFamily="18" charset="0"/>
                                </a:rPr>
                              </m:ctrlPr>
                            </m:dPr>
                            <m:e>
                              <m:r>
                                <a:rPr kumimoji="1" lang="es-NI" sz="2000" b="1" i="1" smtClean="0">
                                  <a:solidFill>
                                    <a:srgbClr val="FF0000"/>
                                  </a:solidFill>
                                  <a:latin typeface="Cambria Math" panose="02040503050406030204" pitchFamily="18" charset="0"/>
                                </a:rPr>
                                <m:t>𝒔</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𝟐</m:t>
                              </m:r>
                            </m:e>
                          </m:d>
                        </m:den>
                      </m:f>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17" name="Rectángulo 16"/>
              <p:cNvSpPr>
                <a:spLocks noRot="1" noChangeAspect="1" noMove="1" noResize="1" noEditPoints="1" noAdjustHandles="1" noChangeArrowheads="1" noChangeShapeType="1" noTextEdit="1"/>
              </p:cNvSpPr>
              <p:nvPr/>
            </p:nvSpPr>
            <p:spPr>
              <a:xfrm>
                <a:off x="5460640" y="5346097"/>
                <a:ext cx="5962918" cy="740587"/>
              </a:xfrm>
              <a:prstGeom prst="rect">
                <a:avLst/>
              </a:prstGeom>
              <a:blipFill rotWithShape="0">
                <a:blip r:embed="rId11"/>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2" name="Rectángulo 21"/>
              <p:cNvSpPr/>
              <p:nvPr/>
            </p:nvSpPr>
            <p:spPr>
              <a:xfrm>
                <a:off x="1213794" y="6280097"/>
                <a:ext cx="1558342" cy="384721"/>
              </a:xfrm>
              <a:prstGeom prst="rect">
                <a:avLst/>
              </a:prstGeom>
            </p:spPr>
            <p:txBody>
              <a:bodyPr wrap="square">
                <a:spAutoFit/>
              </a:bodyPr>
              <a:lstStyle/>
              <a:p>
                <a:pPr algn="just">
                  <a:buClrTx/>
                  <a:buFontTx/>
                  <a:buNone/>
                </a:pPr>
                <a:r>
                  <a:rPr lang="es-NI" sz="1900" b="1" kern="1200" dirty="0" smtClean="0">
                    <a:solidFill>
                      <a:srgbClr val="A5A5A5">
                        <a:lumMod val="50000"/>
                      </a:srgbClr>
                    </a:solidFill>
                    <a:latin typeface="Arial" panose="020B0604020202020204" pitchFamily="34" charset="0"/>
                    <a:cs typeface="Arial" panose="020B0604020202020204" pitchFamily="34" charset="0"/>
                  </a:rPr>
                  <a:t>con </a:t>
                </a:r>
                <a14:m>
                  <m:oMath xmlns:m="http://schemas.openxmlformats.org/officeDocument/2006/math">
                    <m:r>
                      <a:rPr lang="es-NI" sz="1900" b="1" i="1" kern="1200" smtClean="0">
                        <a:solidFill>
                          <a:srgbClr val="A5A5A5">
                            <a:lumMod val="50000"/>
                          </a:srgbClr>
                        </a:solidFill>
                        <a:latin typeface="Cambria Math" panose="02040503050406030204" pitchFamily="18" charset="0"/>
                        <a:cs typeface="Arial" panose="020B0604020202020204" pitchFamily="34" charset="0"/>
                      </a:rPr>
                      <m:t>𝒔</m:t>
                    </m:r>
                    <m:r>
                      <a:rPr lang="es-NI" sz="1900" b="1" i="1" kern="1200"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r>
                      <a:rPr lang="es-NI" sz="1900" b="1" i="1" kern="1200"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𝟐</m:t>
                    </m:r>
                  </m:oMath>
                </a14:m>
                <a:endParaRPr lang="es-ES" sz="1900" b="1" kern="1200" dirty="0">
                  <a:solidFill>
                    <a:prstClr val="black"/>
                  </a:solidFill>
                  <a:latin typeface="Arial" panose="020B0604020202020204" pitchFamily="34" charset="0"/>
                  <a:cs typeface="Arial" panose="020B0604020202020204" pitchFamily="34" charset="0"/>
                </a:endParaRPr>
              </a:p>
            </p:txBody>
          </p:sp>
        </mc:Choice>
        <mc:Fallback>
          <p:sp>
            <p:nvSpPr>
              <p:cNvPr id="22" name="Rectángulo 21"/>
              <p:cNvSpPr>
                <a:spLocks noRot="1" noChangeAspect="1" noMove="1" noResize="1" noEditPoints="1" noAdjustHandles="1" noChangeArrowheads="1" noChangeShapeType="1" noTextEdit="1"/>
              </p:cNvSpPr>
              <p:nvPr/>
            </p:nvSpPr>
            <p:spPr>
              <a:xfrm>
                <a:off x="1213794" y="6280097"/>
                <a:ext cx="1558342" cy="384721"/>
              </a:xfrm>
              <a:prstGeom prst="rect">
                <a:avLst/>
              </a:prstGeom>
              <a:blipFill rotWithShape="0">
                <a:blip r:embed="rId12"/>
                <a:stretch>
                  <a:fillRect l="-3516" t="-9524" b="-25397"/>
                </a:stretch>
              </a:blipFill>
            </p:spPr>
            <p:txBody>
              <a:bodyPr/>
              <a:lstStyle/>
              <a:p>
                <a:r>
                  <a:rPr lang="es-MX">
                    <a:noFill/>
                  </a:rPr>
                  <a:t> </a:t>
                </a:r>
              </a:p>
            </p:txBody>
          </p:sp>
        </mc:Fallback>
      </mc:AlternateContent>
    </p:spTree>
    <p:extLst>
      <p:ext uri="{BB962C8B-B14F-4D97-AF65-F5344CB8AC3E}">
        <p14:creationId xmlns:p14="http://schemas.microsoft.com/office/powerpoint/2010/main" val="156233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ircle(in)">
                                      <p:cBhvr>
                                        <p:cTn id="10" dur="2000"/>
                                        <p:tgtEl>
                                          <p:spTgt spid="12"/>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2000"/>
                                        <p:tgtEl>
                                          <p:spTgt spid="13"/>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circle(in)">
                                      <p:cBhvr>
                                        <p:cTn id="21" dur="20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circle(in)">
                                      <p:cBhvr>
                                        <p:cTn id="26" dur="20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circle(in)">
                                      <p:cBhvr>
                                        <p:cTn id="31" dur="20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circle(in)">
                                      <p:cBhvr>
                                        <p:cTn id="36" dur="20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circle(in)">
                                      <p:cBhvr>
                                        <p:cTn id="41" dur="20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ircle(in)">
                                      <p:cBhvr>
                                        <p:cTn id="46" dur="20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circle(in)">
                                      <p:cBhvr>
                                        <p:cTn id="51" dur="20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circle(in)">
                                      <p:cBhvr>
                                        <p:cTn id="56" dur="20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circle(in)">
                                      <p:cBhvr>
                                        <p:cTn id="6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8" grpId="0"/>
      <p:bldP spid="19" grpId="0"/>
      <p:bldP spid="20" grpId="0"/>
      <p:bldP spid="21" grpId="0"/>
      <p:bldP spid="15" grpId="0"/>
      <p:bldP spid="16" grpId="0"/>
      <p:bldP spid="17" grpId="0"/>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473174"/>
            <a:ext cx="6400799"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FF0000"/>
                </a:solidFill>
                <a:latin typeface="Arial" panose="020B0604020202020204" pitchFamily="34" charset="0"/>
                <a:cs typeface="Arial" panose="020B0604020202020204" pitchFamily="34" charset="0"/>
              </a:rPr>
              <a:t>(</a:t>
            </a:r>
            <a:r>
              <a:rPr kumimoji="1" lang="es-ES" sz="1900" b="1" dirty="0" smtClean="0">
                <a:solidFill>
                  <a:srgbClr val="A5A5A5">
                    <a:lumMod val="50000"/>
                  </a:srgbClr>
                </a:solidFill>
                <a:latin typeface="Arial" panose="020B0604020202020204" pitchFamily="34" charset="0"/>
                <a:cs typeface="Arial" panose="020B0604020202020204" pitchFamily="34" charset="0"/>
              </a:rPr>
              <a:t>4.-</a:t>
            </a:r>
            <a:r>
              <a:rPr kumimoji="1" lang="es-ES" sz="1900" b="1" dirty="0" smtClean="0">
                <a:solidFill>
                  <a:srgbClr val="FF0000"/>
                </a:solidFill>
                <a:latin typeface="Arial" panose="020B0604020202020204" pitchFamily="34" charset="0"/>
                <a:cs typeface="Arial" panose="020B0604020202020204" pitchFamily="34" charset="0"/>
              </a:rPr>
              <a:t>) </a:t>
            </a:r>
            <a:r>
              <a:rPr kumimoji="1" lang="es-ES" sz="1900" b="1" dirty="0">
                <a:solidFill>
                  <a:srgbClr val="FF0000"/>
                </a:solidFill>
                <a:latin typeface="Arial" panose="020B0604020202020204" pitchFamily="34" charset="0"/>
                <a:cs typeface="Arial" panose="020B0604020202020204" pitchFamily="34" charset="0"/>
              </a:rPr>
              <a:t>Use la regla de </a:t>
            </a:r>
            <a:r>
              <a:rPr kumimoji="1" lang="es-ES" sz="1900" b="1" dirty="0" err="1">
                <a:solidFill>
                  <a:srgbClr val="FF0000"/>
                </a:solidFill>
                <a:latin typeface="Arial" panose="020B0604020202020204" pitchFamily="34" charset="0"/>
                <a:cs typeface="Arial" panose="020B0604020202020204" pitchFamily="34" charset="0"/>
              </a:rPr>
              <a:t>Cramer</a:t>
            </a:r>
            <a:r>
              <a:rPr kumimoji="1" lang="es-ES" sz="1900" b="1" dirty="0">
                <a:solidFill>
                  <a:srgbClr val="FF0000"/>
                </a:solidFill>
                <a:latin typeface="Arial" panose="020B0604020202020204" pitchFamily="34" charset="0"/>
                <a:cs typeface="Arial" panose="020B0604020202020204" pitchFamily="34" charset="0"/>
              </a:rPr>
              <a:t> para resolver el sistema</a:t>
            </a:r>
          </a:p>
        </p:txBody>
      </p:sp>
      <p:sp>
        <p:nvSpPr>
          <p:cNvPr id="3" name="Rectángulo 2"/>
          <p:cNvSpPr/>
          <p:nvPr/>
        </p:nvSpPr>
        <p:spPr>
          <a:xfrm>
            <a:off x="0" y="2106883"/>
            <a:ext cx="1324402" cy="415498"/>
          </a:xfrm>
          <a:prstGeom prst="rect">
            <a:avLst/>
          </a:prstGeom>
        </p:spPr>
        <p:txBody>
          <a:bodyPr wrap="none">
            <a:spAutoFit/>
          </a:bodyPr>
          <a:lstStyle/>
          <a:p>
            <a:pPr algn="just" fontAlgn="base">
              <a:spcBef>
                <a:spcPct val="20000"/>
              </a:spcBef>
              <a:spcAft>
                <a:spcPct val="0"/>
              </a:spcAft>
              <a:buClrTx/>
              <a:buFontTx/>
              <a:buNone/>
            </a:pPr>
            <a:r>
              <a:rPr kumimoji="1" lang="es-ES" sz="2100" b="1" dirty="0" smtClean="0">
                <a:solidFill>
                  <a:srgbClr val="FF0000"/>
                </a:solidFill>
                <a:latin typeface="Arial" panose="020B0604020202020204" pitchFamily="34" charset="0"/>
                <a:cs typeface="Arial" panose="020B0604020202020204" pitchFamily="34" charset="0"/>
              </a:rPr>
              <a:t>Solución</a:t>
            </a:r>
            <a:endParaRPr kumimoji="1" lang="es-ES" sz="21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ángulo 4"/>
              <p:cNvSpPr/>
              <p:nvPr/>
            </p:nvSpPr>
            <p:spPr>
              <a:xfrm>
                <a:off x="6194739" y="1224186"/>
                <a:ext cx="25152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A5A5A5">
                              <a:lumMod val="50000"/>
                            </a:srgbClr>
                          </a:solidFill>
                          <a:latin typeface="Cambria Math" panose="02040503050406030204" pitchFamily="18" charset="0"/>
                        </a:rPr>
                        <m:t>𝟐</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NI" b="1" i="1">
                          <a:solidFill>
                            <a:srgbClr val="A5A5A5">
                              <a:lumMod val="50000"/>
                            </a:srgbClr>
                          </a:solidFill>
                          <a:latin typeface="Cambria Math" panose="02040503050406030204" pitchFamily="18" charset="0"/>
                        </a:rPr>
                        <m:t>+</m:t>
                      </m:r>
                      <m:r>
                        <a:rPr kumimoji="1" lang="es-NI" b="1" i="1">
                          <a:solidFill>
                            <a:srgbClr val="A5A5A5">
                              <a:lumMod val="50000"/>
                            </a:srgbClr>
                          </a:solidFill>
                          <a:latin typeface="Cambria Math" panose="02040503050406030204" pitchFamily="18" charset="0"/>
                        </a:rPr>
                        <m:t>𝟒</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NI" b="1" i="1">
                          <a:solidFill>
                            <a:srgbClr val="A5A5A5">
                              <a:lumMod val="50000"/>
                            </a:srgbClr>
                          </a:solidFill>
                          <a:latin typeface="Cambria Math" panose="02040503050406030204" pitchFamily="18" charset="0"/>
                        </a:rPr>
                        <m:t>+</m:t>
                      </m:r>
                      <m:r>
                        <a:rPr kumimoji="1" lang="es-NI" b="1" i="1">
                          <a:solidFill>
                            <a:srgbClr val="A5A5A5">
                              <a:lumMod val="50000"/>
                            </a:srgbClr>
                          </a:solidFill>
                          <a:latin typeface="Cambria Math" panose="02040503050406030204" pitchFamily="18" charset="0"/>
                        </a:rPr>
                        <m:t>𝟔</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𝟑</m:t>
                          </m:r>
                        </m:sub>
                      </m:sSub>
                      <m:r>
                        <a:rPr kumimoji="1" lang="es-ES" b="1" i="1">
                          <a:solidFill>
                            <a:srgbClr val="A5A5A5">
                              <a:lumMod val="50000"/>
                            </a:srgbClr>
                          </a:solidFill>
                          <a:latin typeface="Cambria Math"/>
                        </a:rPr>
                        <m:t>=</m:t>
                      </m:r>
                      <m:r>
                        <a:rPr kumimoji="1" lang="es-NI" b="1" i="1">
                          <a:solidFill>
                            <a:srgbClr val="A5A5A5">
                              <a:lumMod val="50000"/>
                            </a:srgbClr>
                          </a:solidFill>
                          <a:latin typeface="Cambria Math" panose="02040503050406030204" pitchFamily="18" charset="0"/>
                        </a:rPr>
                        <m:t>𝟏𝟖</m:t>
                      </m:r>
                    </m:oMath>
                  </m:oMathPara>
                </a14:m>
                <a:endParaRPr lang="es-MX" dirty="0"/>
              </a:p>
            </p:txBody>
          </p:sp>
        </mc:Choice>
        <mc:Fallback xmlns="">
          <p:sp>
            <p:nvSpPr>
              <p:cNvPr id="5" name="Rectángulo 4"/>
              <p:cNvSpPr>
                <a:spLocks noRot="1" noChangeAspect="1" noMove="1" noResize="1" noEditPoints="1" noAdjustHandles="1" noChangeArrowheads="1" noChangeShapeType="1" noTextEdit="1"/>
              </p:cNvSpPr>
              <p:nvPr/>
            </p:nvSpPr>
            <p:spPr>
              <a:xfrm>
                <a:off x="6194739" y="1224186"/>
                <a:ext cx="2515239" cy="369332"/>
              </a:xfrm>
              <a:prstGeom prst="rect">
                <a:avLst/>
              </a:prstGeom>
              <a:blipFill rotWithShape="0">
                <a:blip r:embed="rId2"/>
                <a:stretch>
                  <a:fillRect b="-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194739" y="1593518"/>
                <a:ext cx="25152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A5A5A5">
                              <a:lumMod val="50000"/>
                            </a:srgbClr>
                          </a:solidFill>
                          <a:latin typeface="Cambria Math" panose="02040503050406030204" pitchFamily="18" charset="0"/>
                        </a:rPr>
                        <m:t>𝟒</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ES" b="1" i="1">
                          <a:solidFill>
                            <a:srgbClr val="A5A5A5">
                              <a:lumMod val="50000"/>
                            </a:srgbClr>
                          </a:solidFill>
                          <a:latin typeface="Cambria Math"/>
                        </a:rPr>
                        <m:t>+</m:t>
                      </m:r>
                      <m:r>
                        <a:rPr kumimoji="1" lang="es-NI" b="1" i="1">
                          <a:solidFill>
                            <a:srgbClr val="A5A5A5">
                              <a:lumMod val="50000"/>
                            </a:srgbClr>
                          </a:solidFill>
                          <a:latin typeface="Cambria Math" panose="02040503050406030204" pitchFamily="18" charset="0"/>
                        </a:rPr>
                        <m:t>𝟓</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NI" b="1" i="1">
                          <a:solidFill>
                            <a:srgbClr val="A5A5A5">
                              <a:lumMod val="50000"/>
                            </a:srgbClr>
                          </a:solidFill>
                          <a:latin typeface="Cambria Math" panose="02040503050406030204" pitchFamily="18" charset="0"/>
                        </a:rPr>
                        <m:t>+</m:t>
                      </m:r>
                      <m:r>
                        <a:rPr kumimoji="1" lang="es-NI" b="1" i="1">
                          <a:solidFill>
                            <a:srgbClr val="A5A5A5">
                              <a:lumMod val="50000"/>
                            </a:srgbClr>
                          </a:solidFill>
                          <a:latin typeface="Cambria Math" panose="02040503050406030204" pitchFamily="18" charset="0"/>
                        </a:rPr>
                        <m:t>𝟔</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𝟑</m:t>
                          </m:r>
                        </m:sub>
                      </m:sSub>
                      <m:r>
                        <a:rPr kumimoji="1" lang="es-ES" b="1" i="1">
                          <a:solidFill>
                            <a:srgbClr val="A5A5A5">
                              <a:lumMod val="50000"/>
                            </a:srgbClr>
                          </a:solidFill>
                          <a:latin typeface="Cambria Math"/>
                        </a:rPr>
                        <m:t>=</m:t>
                      </m:r>
                      <m:r>
                        <a:rPr kumimoji="1" lang="es-NI" b="1" i="1">
                          <a:solidFill>
                            <a:srgbClr val="A5A5A5">
                              <a:lumMod val="50000"/>
                            </a:srgbClr>
                          </a:solidFill>
                          <a:latin typeface="Cambria Math" panose="02040503050406030204" pitchFamily="18" charset="0"/>
                        </a:rPr>
                        <m:t>𝟐𝟒</m:t>
                      </m:r>
                    </m:oMath>
                  </m:oMathPara>
                </a14:m>
                <a:endParaRPr lang="es-MX" dirty="0"/>
              </a:p>
            </p:txBody>
          </p:sp>
        </mc:Choice>
        <mc:Fallback xmlns="">
          <p:sp>
            <p:nvSpPr>
              <p:cNvPr id="6" name="Rectángulo 5"/>
              <p:cNvSpPr>
                <a:spLocks noRot="1" noChangeAspect="1" noMove="1" noResize="1" noEditPoints="1" noAdjustHandles="1" noChangeArrowheads="1" noChangeShapeType="1" noTextEdit="1"/>
              </p:cNvSpPr>
              <p:nvPr/>
            </p:nvSpPr>
            <p:spPr>
              <a:xfrm>
                <a:off x="6194739" y="1593518"/>
                <a:ext cx="2515239" cy="369332"/>
              </a:xfrm>
              <a:prstGeom prst="rect">
                <a:avLst/>
              </a:prstGeom>
              <a:blipFill rotWithShape="0">
                <a:blip r:embed="rId3"/>
                <a:stretch>
                  <a:fillRect b="-16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6091707" y="1978239"/>
                <a:ext cx="2515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kumimoji="1" lang="es-NI" b="1" i="1" smtClean="0">
                          <a:solidFill>
                            <a:srgbClr val="A5A5A5">
                              <a:lumMod val="50000"/>
                            </a:srgbClr>
                          </a:solidFill>
                          <a:latin typeface="Cambria Math" panose="02040503050406030204" pitchFamily="18" charset="0"/>
                        </a:rPr>
                        <m:t>𝟑</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𝟏</m:t>
                          </m:r>
                        </m:sub>
                      </m:sSub>
                      <m:r>
                        <a:rPr kumimoji="1" lang="es-NI" b="1" i="1">
                          <a:solidFill>
                            <a:srgbClr val="A5A5A5">
                              <a:lumMod val="50000"/>
                            </a:srgbClr>
                          </a:solidFill>
                          <a:latin typeface="Cambria Math" panose="02040503050406030204" pitchFamily="18" charset="0"/>
                        </a:rPr>
                        <m:t>+</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𝟐</m:t>
                          </m:r>
                        </m:sub>
                      </m:sSub>
                      <m:r>
                        <a:rPr kumimoji="1" lang="es-NI" b="1" i="1">
                          <a:solidFill>
                            <a:srgbClr val="A5A5A5">
                              <a:lumMod val="50000"/>
                            </a:srgbClr>
                          </a:solidFill>
                          <a:latin typeface="Cambria Math" panose="02040503050406030204" pitchFamily="18" charset="0"/>
                        </a:rPr>
                        <m:t>−</m:t>
                      </m:r>
                      <m:r>
                        <a:rPr kumimoji="1" lang="es-NI" b="1" i="1">
                          <a:solidFill>
                            <a:srgbClr val="A5A5A5">
                              <a:lumMod val="50000"/>
                            </a:srgbClr>
                          </a:solidFill>
                          <a:latin typeface="Cambria Math" panose="02040503050406030204" pitchFamily="18" charset="0"/>
                        </a:rPr>
                        <m:t>𝟐</m:t>
                      </m:r>
                      <m:sSub>
                        <m:sSubPr>
                          <m:ctrlPr>
                            <a:rPr kumimoji="1" lang="es-NI" b="1" i="1" smtClean="0">
                              <a:solidFill>
                                <a:srgbClr val="A5A5A5">
                                  <a:lumMod val="50000"/>
                                </a:srgbClr>
                              </a:solidFill>
                              <a:latin typeface="Cambria Math" panose="02040503050406030204" pitchFamily="18" charset="0"/>
                            </a:rPr>
                          </m:ctrlPr>
                        </m:sSubPr>
                        <m:e>
                          <m:r>
                            <a:rPr kumimoji="1" lang="es-NI" b="1" i="1" smtClean="0">
                              <a:solidFill>
                                <a:srgbClr val="A5A5A5">
                                  <a:lumMod val="50000"/>
                                </a:srgbClr>
                              </a:solidFill>
                              <a:latin typeface="Cambria Math" panose="02040503050406030204" pitchFamily="18" charset="0"/>
                            </a:rPr>
                            <m:t>𝒙</m:t>
                          </m:r>
                        </m:e>
                        <m:sub>
                          <m:r>
                            <a:rPr kumimoji="1" lang="es-NI" b="1" i="1" smtClean="0">
                              <a:solidFill>
                                <a:srgbClr val="A5A5A5">
                                  <a:lumMod val="50000"/>
                                </a:srgbClr>
                              </a:solidFill>
                              <a:latin typeface="Cambria Math" panose="02040503050406030204" pitchFamily="18" charset="0"/>
                            </a:rPr>
                            <m:t>𝟑</m:t>
                          </m:r>
                        </m:sub>
                      </m:sSub>
                      <m:r>
                        <a:rPr kumimoji="1" lang="es-NI" b="1" i="1">
                          <a:solidFill>
                            <a:srgbClr val="A5A5A5">
                              <a:lumMod val="50000"/>
                            </a:srgbClr>
                          </a:solidFill>
                          <a:latin typeface="Cambria Math" panose="02040503050406030204" pitchFamily="18" charset="0"/>
                        </a:rPr>
                        <m:t>=</m:t>
                      </m:r>
                      <m:r>
                        <a:rPr kumimoji="1" lang="es-NI" b="1" i="1">
                          <a:solidFill>
                            <a:srgbClr val="A5A5A5">
                              <a:lumMod val="50000"/>
                            </a:srgbClr>
                          </a:solidFill>
                          <a:latin typeface="Cambria Math" panose="02040503050406030204" pitchFamily="18" charset="0"/>
                        </a:rPr>
                        <m:t>𝟒</m:t>
                      </m:r>
                    </m:oMath>
                  </m:oMathPara>
                </a14:m>
                <a:endParaRPr lang="es-MX" dirty="0"/>
              </a:p>
            </p:txBody>
          </p:sp>
        </mc:Choice>
        <mc:Fallback xmlns="">
          <p:sp>
            <p:nvSpPr>
              <p:cNvPr id="7" name="Rectángulo 6"/>
              <p:cNvSpPr>
                <a:spLocks noRot="1" noChangeAspect="1" noMove="1" noResize="1" noEditPoints="1" noAdjustHandles="1" noChangeArrowheads="1" noChangeShapeType="1" noTextEdit="1"/>
              </p:cNvSpPr>
              <p:nvPr/>
            </p:nvSpPr>
            <p:spPr>
              <a:xfrm>
                <a:off x="6091707" y="1978239"/>
                <a:ext cx="2515239" cy="369332"/>
              </a:xfrm>
              <a:prstGeom prst="rect">
                <a:avLst/>
              </a:prstGeom>
              <a:blipFill rotWithShape="0">
                <a:blip r:embed="rId4"/>
                <a:stretch>
                  <a:fillRect b="-1667"/>
                </a:stretch>
              </a:blipFill>
            </p:spPr>
            <p:txBody>
              <a:bodyPr/>
              <a:lstStyle/>
              <a:p>
                <a:r>
                  <a:rPr lang="es-MX">
                    <a:noFill/>
                  </a:rPr>
                  <a:t> </a:t>
                </a:r>
              </a:p>
            </p:txBody>
          </p:sp>
        </mc:Fallback>
      </mc:AlternateContent>
      <p:sp>
        <p:nvSpPr>
          <p:cNvPr id="8" name="Rectángulo 7"/>
          <p:cNvSpPr/>
          <p:nvPr/>
        </p:nvSpPr>
        <p:spPr>
          <a:xfrm>
            <a:off x="-1" y="3488110"/>
            <a:ext cx="4237150" cy="415498"/>
          </a:xfrm>
          <a:prstGeom prst="rect">
            <a:avLst/>
          </a:prstGeom>
        </p:spPr>
        <p:txBody>
          <a:bodyPr wrap="square">
            <a:spAutoFit/>
          </a:bodyPr>
          <a:lstStyle/>
          <a:p>
            <a:pPr lvl="1">
              <a:buClrTx/>
              <a:buFontTx/>
              <a:buNone/>
            </a:pPr>
            <a:r>
              <a:rPr lang="es-ES" sz="2100" b="1" kern="1200" dirty="0" smtClean="0">
                <a:solidFill>
                  <a:srgbClr val="A5A5A5">
                    <a:lumMod val="50000"/>
                  </a:srgbClr>
                </a:solidFill>
                <a:latin typeface="Arial" panose="020B0604020202020204" pitchFamily="34" charset="0"/>
                <a:cs typeface="Arial" panose="020B0604020202020204" pitchFamily="34" charset="0"/>
              </a:rPr>
              <a:t>Encontrar el determinante</a:t>
            </a:r>
            <a:endParaRPr lang="es-MX" sz="2100" b="1" kern="1200" dirty="0">
              <a:solidFill>
                <a:srgbClr val="A5A5A5">
                  <a:lumMod val="50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Rectángulo 8"/>
              <p:cNvSpPr/>
              <p:nvPr/>
            </p:nvSpPr>
            <p:spPr>
              <a:xfrm>
                <a:off x="604245" y="4075268"/>
                <a:ext cx="7548082" cy="61183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𝟐</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𝟑</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𝟒</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9" name="Rectángulo 8"/>
              <p:cNvSpPr>
                <a:spLocks noRot="1" noChangeAspect="1" noMove="1" noResize="1" noEditPoints="1" noAdjustHandles="1" noChangeArrowheads="1" noChangeShapeType="1" noTextEdit="1"/>
              </p:cNvSpPr>
              <p:nvPr/>
            </p:nvSpPr>
            <p:spPr>
              <a:xfrm>
                <a:off x="604245" y="4075268"/>
                <a:ext cx="7548082" cy="611834"/>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04247" y="5044010"/>
                <a:ext cx="5590492" cy="61183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10" name="Rectángulo 9"/>
              <p:cNvSpPr>
                <a:spLocks noRot="1" noChangeAspect="1" noMove="1" noResize="1" noEditPoints="1" noAdjustHandles="1" noChangeArrowheads="1" noChangeShapeType="1" noTextEdit="1"/>
              </p:cNvSpPr>
              <p:nvPr/>
            </p:nvSpPr>
            <p:spPr>
              <a:xfrm>
                <a:off x="604247" y="5044010"/>
                <a:ext cx="5590492" cy="611834"/>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604244" y="6046778"/>
                <a:ext cx="4856397"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𝟏𝟔</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𝟐𝟔</m:t>
                          </m:r>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𝟏𝟏</m:t>
                          </m:r>
                        </m:e>
                      </m:d>
                    </m:oMath>
                  </m:oMathPara>
                </a14:m>
                <a:endParaRPr lang="es-MX" sz="2000" b="1" dirty="0" smtClean="0">
                  <a:solidFill>
                    <a:srgbClr val="A5A5A5">
                      <a:lumMod val="50000"/>
                    </a:srgbClr>
                  </a:solidFill>
                  <a:latin typeface="Calibri" panose="020F0502020204030204"/>
                </a:endParaRPr>
              </a:p>
            </p:txBody>
          </p:sp>
        </mc:Choice>
        <mc:Fallback xmlns="">
          <p:sp>
            <p:nvSpPr>
              <p:cNvPr id="11" name="Rectángulo 10"/>
              <p:cNvSpPr>
                <a:spLocks noRot="1" noChangeAspect="1" noMove="1" noResize="1" noEditPoints="1" noAdjustHandles="1" noChangeArrowheads="1" noChangeShapeType="1" noTextEdit="1"/>
              </p:cNvSpPr>
              <p:nvPr/>
            </p:nvSpPr>
            <p:spPr>
              <a:xfrm>
                <a:off x="604244" y="6046778"/>
                <a:ext cx="4856397" cy="400110"/>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4747677" y="6038063"/>
                <a:ext cx="3022169"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𝟑𝟐</m:t>
                      </m:r>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𝟏𝟎𝟒</m:t>
                      </m:r>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𝟔𝟔</m:t>
                      </m:r>
                    </m:oMath>
                  </m:oMathPara>
                </a14:m>
                <a:endParaRPr lang="es-MX" sz="2100" b="1" dirty="0" smtClean="0">
                  <a:solidFill>
                    <a:srgbClr val="A5A5A5">
                      <a:lumMod val="50000"/>
                    </a:srgbClr>
                  </a:solidFill>
                  <a:latin typeface="Calibri" panose="020F0502020204030204"/>
                </a:endParaRPr>
              </a:p>
            </p:txBody>
          </p:sp>
        </mc:Choice>
        <mc:Fallback xmlns="">
          <p:sp>
            <p:nvSpPr>
              <p:cNvPr id="12" name="Rectángulo 11"/>
              <p:cNvSpPr>
                <a:spLocks noRot="1" noChangeAspect="1" noMove="1" noResize="1" noEditPoints="1" noAdjustHandles="1" noChangeArrowheads="1" noChangeShapeType="1" noTextEdit="1"/>
              </p:cNvSpPr>
              <p:nvPr/>
            </p:nvSpPr>
            <p:spPr>
              <a:xfrm>
                <a:off x="4747677" y="6038063"/>
                <a:ext cx="3022169" cy="415498"/>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7941953" y="6002670"/>
                <a:ext cx="2319689"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r>
                        <a:rPr lang="es-MX" sz="2000" b="1" i="1" smtClean="0">
                          <a:solidFill>
                            <a:srgbClr val="FF0000"/>
                          </a:solidFill>
                          <a:latin typeface="Cambria Math" panose="02040503050406030204" pitchFamily="18" charset="0"/>
                        </a:rPr>
                        <m:t>=</m:t>
                      </m:r>
                      <m:r>
                        <a:rPr lang="es-NI" sz="2000" b="1" i="1" smtClean="0">
                          <a:solidFill>
                            <a:srgbClr val="FF0000"/>
                          </a:solidFill>
                          <a:latin typeface="Cambria Math" panose="02040503050406030204" pitchFamily="18" charset="0"/>
                        </a:rPr>
                        <m:t>𝟔</m:t>
                      </m:r>
                      <m:r>
                        <a:rPr lang="es-NI" sz="2000" b="1" i="1" smtClean="0">
                          <a:solidFill>
                            <a:srgbClr val="FF0000"/>
                          </a:solidFill>
                          <a:latin typeface="Cambria Math" panose="02040503050406030204" pitchFamily="18" charset="0"/>
                          <a:ea typeface="Cambria Math" panose="02040503050406030204" pitchFamily="18" charset="0"/>
                        </a:rPr>
                        <m:t>≠</m:t>
                      </m:r>
                      <m:r>
                        <a:rPr lang="es-NI" sz="2000" b="1" i="1" smtClean="0">
                          <a:solidFill>
                            <a:srgbClr val="FF0000"/>
                          </a:solidFill>
                          <a:latin typeface="Cambria Math" panose="02040503050406030204" pitchFamily="18" charset="0"/>
                          <a:ea typeface="Cambria Math" panose="02040503050406030204" pitchFamily="18" charset="0"/>
                        </a:rPr>
                        <m:t>𝟎</m:t>
                      </m:r>
                    </m:oMath>
                  </m:oMathPara>
                </a14:m>
                <a:endParaRPr lang="es-MX" sz="2000" b="1" dirty="0" smtClean="0">
                  <a:solidFill>
                    <a:srgbClr val="FF0000"/>
                  </a:solidFill>
                  <a:latin typeface="Calibri" panose="020F0502020204030204"/>
                </a:endParaRPr>
              </a:p>
            </p:txBody>
          </p:sp>
        </mc:Choice>
        <mc:Fallback xmlns="">
          <p:sp>
            <p:nvSpPr>
              <p:cNvPr id="13" name="Rectángulo 12"/>
              <p:cNvSpPr>
                <a:spLocks noRot="1" noChangeAspect="1" noMove="1" noResize="1" noEditPoints="1" noAdjustHandles="1" noChangeArrowheads="1" noChangeShapeType="1" noTextEdit="1"/>
              </p:cNvSpPr>
              <p:nvPr/>
            </p:nvSpPr>
            <p:spPr>
              <a:xfrm>
                <a:off x="7941953" y="6002670"/>
                <a:ext cx="2319689" cy="400110"/>
              </a:xfrm>
              <a:prstGeom prst="rect">
                <a:avLst/>
              </a:prstGeom>
              <a:blipFill rotWithShape="0">
                <a:blip r:embed="rId9"/>
                <a:stretch>
                  <a:fillRect/>
                </a:stretch>
              </a:blipFill>
            </p:spPr>
            <p:txBody>
              <a:bodyPr/>
              <a:lstStyle/>
              <a:p>
                <a:r>
                  <a:rPr lang="es-MX">
                    <a:noFill/>
                  </a:rPr>
                  <a:t> </a:t>
                </a:r>
              </a:p>
            </p:txBody>
          </p:sp>
        </mc:Fallback>
      </mc:AlternateContent>
      <p:sp>
        <p:nvSpPr>
          <p:cNvPr id="14" name="Flecha derecha 13"/>
          <p:cNvSpPr/>
          <p:nvPr/>
        </p:nvSpPr>
        <p:spPr>
          <a:xfrm>
            <a:off x="7821148" y="6038063"/>
            <a:ext cx="476518" cy="36471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algn="ctr">
              <a:buClrTx/>
              <a:buFontTx/>
              <a:buNone/>
              <a:defRPr/>
            </a:pPr>
            <a:endParaRPr lang="es-MX" sz="2100" smtClean="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ángulo 14"/>
              <p:cNvSpPr/>
              <p:nvPr/>
            </p:nvSpPr>
            <p:spPr>
              <a:xfrm>
                <a:off x="1324401" y="2371010"/>
                <a:ext cx="3118809" cy="9062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r>
                        <a:rPr lang="es-MX" sz="2000" b="1" i="1" smtClean="0">
                          <a:solidFill>
                            <a:srgbClr val="A5A5A5">
                              <a:lumMod val="50000"/>
                            </a:srgbClr>
                          </a:solidFill>
                          <a:latin typeface="Cambria Math" panose="02040503050406030204" pitchFamily="18" charset="0"/>
                        </a:rPr>
                        <m:t>=</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3"/>
                                    <m:mcJc m:val="center"/>
                                  </m:mcPr>
                                </m:mc>
                              </m:mcs>
                              <m:ctrlPr>
                                <a:rPr lang="es-MX" sz="2000" b="1" i="1" smtClean="0">
                                  <a:solidFill>
                                    <a:srgbClr val="A5A5A5">
                                      <a:lumMod val="50000"/>
                                    </a:srgbClr>
                                  </a:solidFill>
                                  <a:latin typeface="Cambria Math" panose="02040503050406030204" pitchFamily="18" charset="0"/>
                                </a:rPr>
                              </m:ctrlPr>
                            </m:mPr>
                            <m:mr>
                              <m:e>
                                <m:r>
                                  <a:rPr lang="es-NI" sz="2000" b="1" i="1" smtClean="0">
                                    <a:solidFill>
                                      <a:srgbClr val="A5A5A5">
                                        <a:lumMod val="50000"/>
                                      </a:srgbClr>
                                    </a:solidFill>
                                    <a:latin typeface="Cambria Math" panose="02040503050406030204" pitchFamily="18" charset="0"/>
                                  </a:rPr>
                                  <m:t>𝟐</m:t>
                                </m:r>
                              </m:e>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oMath>
                  </m:oMathPara>
                </a14:m>
                <a:endParaRPr lang="es-MX" sz="20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5" name="Rectángulo 14"/>
              <p:cNvSpPr>
                <a:spLocks noRot="1" noChangeAspect="1" noMove="1" noResize="1" noEditPoints="1" noAdjustHandles="1" noChangeArrowheads="1" noChangeShapeType="1" noTextEdit="1"/>
              </p:cNvSpPr>
              <p:nvPr/>
            </p:nvSpPr>
            <p:spPr>
              <a:xfrm>
                <a:off x="1324401" y="2371010"/>
                <a:ext cx="3118809" cy="906210"/>
              </a:xfrm>
              <a:prstGeom prst="rect">
                <a:avLst/>
              </a:prstGeom>
              <a:blipFill rotWithShape="0">
                <a:blip r:embed="rId10"/>
                <a:stretch>
                  <a:fillRect/>
                </a:stretch>
              </a:blipFill>
            </p:spPr>
            <p:txBody>
              <a:bodyPr/>
              <a:lstStyle/>
              <a:p>
                <a:r>
                  <a:rPr lang="es-MX">
                    <a:noFill/>
                  </a:rPr>
                  <a:t> </a:t>
                </a:r>
              </a:p>
            </p:txBody>
          </p:sp>
        </mc:Fallback>
      </mc:AlternateContent>
      <p:cxnSp>
        <p:nvCxnSpPr>
          <p:cNvPr id="16" name="Conector recto 15"/>
          <p:cNvCxnSpPr/>
          <p:nvPr/>
        </p:nvCxnSpPr>
        <p:spPr>
          <a:xfrm flipV="1">
            <a:off x="2883805" y="2510848"/>
            <a:ext cx="1183823" cy="2128"/>
          </a:xfrm>
          <a:prstGeom prst="line">
            <a:avLst/>
          </a:prstGeom>
          <a:noFill/>
          <a:ln w="28575" cap="flat" cmpd="sng" algn="ctr">
            <a:solidFill>
              <a:srgbClr val="FF0000"/>
            </a:solidFill>
            <a:prstDash val="dash"/>
            <a:miter lim="800000"/>
          </a:ln>
          <a:effectLst/>
        </p:spPr>
      </p:cxnSp>
    </p:spTree>
    <p:extLst>
      <p:ext uri="{BB962C8B-B14F-4D97-AF65-F5344CB8AC3E}">
        <p14:creationId xmlns:p14="http://schemas.microsoft.com/office/powerpoint/2010/main" val="221111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ircle(in)">
                                      <p:cBhvr>
                                        <p:cTn id="16" dur="2000"/>
                                        <p:tgtEl>
                                          <p:spTgt spid="7"/>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circle(in)">
                                      <p:cBhvr>
                                        <p:cTn id="24" dur="2000"/>
                                        <p:tgtEl>
                                          <p:spTgt spid="15"/>
                                        </p:tgtEl>
                                      </p:cBhvr>
                                    </p:animEffect>
                                  </p:childTnLst>
                                </p:cTn>
                              </p:par>
                              <p:par>
                                <p:cTn id="25" presetID="6" presetClass="entr" presetSubtype="16"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circle(in)">
                                      <p:cBhvr>
                                        <p:cTn id="32" dur="2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ircle(in)">
                                      <p:cBhvr>
                                        <p:cTn id="37" dur="2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circle(in)">
                                      <p:cBhvr>
                                        <p:cTn id="42" dur="20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circle(in)">
                                      <p:cBhvr>
                                        <p:cTn id="47" dur="20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circle(in)">
                                      <p:cBhvr>
                                        <p:cTn id="52" dur="20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circle(in)">
                                      <p:cBhvr>
                                        <p:cTn id="57" dur="20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circle(in)">
                                      <p:cBhvr>
                                        <p:cTn id="6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7" grpId="0"/>
      <p:bldP spid="8" grpId="0"/>
      <p:bldP spid="9" grpId="0"/>
      <p:bldP spid="10" grpId="0"/>
      <p:bldP spid="11" grpId="0"/>
      <p:bldP spid="12" grpId="0"/>
      <p:bldP spid="13" grpId="0"/>
      <p:bldP spid="14" grpId="0" animBg="1"/>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ángulo 1"/>
              <p:cNvSpPr/>
              <p:nvPr/>
            </p:nvSpPr>
            <p:spPr>
              <a:xfrm>
                <a:off x="0" y="1186764"/>
                <a:ext cx="5164427" cy="400110"/>
              </a:xfrm>
              <a:prstGeom prst="rect">
                <a:avLst/>
              </a:prstGeom>
            </p:spPr>
            <p:txBody>
              <a:bodyPr wrap="square">
                <a:spAutoFit/>
              </a:bodyPr>
              <a:lstStyle/>
              <a:p>
                <a:pPr lvl="1" algn="just">
                  <a:buClrTx/>
                  <a:buFontTx/>
                  <a:buNone/>
                </a:pPr>
                <a:r>
                  <a:rPr lang="es-ES" sz="2000" b="1" kern="1200" dirty="0" smtClean="0">
                    <a:solidFill>
                      <a:srgbClr val="A5A5A5">
                        <a:lumMod val="50000"/>
                      </a:srgbClr>
                    </a:solidFill>
                    <a:latin typeface="Arial" panose="020B0604020202020204" pitchFamily="34" charset="0"/>
                    <a:cs typeface="Arial" panose="020B0604020202020204" pitchFamily="34" charset="0"/>
                  </a:rPr>
                  <a:t>Encontrar el determinante </a:t>
                </a:r>
                <a14:m>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oMath>
                </a14:m>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2" name="Rectángulo 1"/>
              <p:cNvSpPr>
                <a:spLocks noRot="1" noChangeAspect="1" noMove="1" noResize="1" noEditPoints="1" noAdjustHandles="1" noChangeArrowheads="1" noChangeShapeType="1" noTextEdit="1"/>
              </p:cNvSpPr>
              <p:nvPr/>
            </p:nvSpPr>
            <p:spPr>
              <a:xfrm>
                <a:off x="0" y="1186764"/>
                <a:ext cx="5164427" cy="400110"/>
              </a:xfrm>
              <a:prstGeom prst="rect">
                <a:avLst/>
              </a:prstGeom>
              <a:blipFill rotWithShape="0">
                <a:blip r:embed="rId2"/>
                <a:stretch>
                  <a:fillRect t="-7692" b="-2923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604247" y="3203773"/>
                <a:ext cx="8668542" cy="609782"/>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𝟐</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𝟑</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𝟒</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3" name="Rectángulo 2"/>
              <p:cNvSpPr>
                <a:spLocks noRot="1" noChangeAspect="1" noMove="1" noResize="1" noEditPoints="1" noAdjustHandles="1" noChangeArrowheads="1" noChangeShapeType="1" noTextEdit="1"/>
              </p:cNvSpPr>
              <p:nvPr/>
            </p:nvSpPr>
            <p:spPr>
              <a:xfrm>
                <a:off x="604247" y="3203773"/>
                <a:ext cx="8668542" cy="609782"/>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604246" y="4294282"/>
                <a:ext cx="6466255" cy="609782"/>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4" name="Rectángulo 3"/>
              <p:cNvSpPr>
                <a:spLocks noRot="1" noChangeAspect="1" noMove="1" noResize="1" noEditPoints="1" noAdjustHandles="1" noChangeArrowheads="1" noChangeShapeType="1" noTextEdit="1"/>
              </p:cNvSpPr>
              <p:nvPr/>
            </p:nvSpPr>
            <p:spPr>
              <a:xfrm>
                <a:off x="604246" y="4294282"/>
                <a:ext cx="6466255" cy="609782"/>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510611" y="5416739"/>
                <a:ext cx="5188290"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𝟏𝟔</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𝟕𝟐</m:t>
                          </m:r>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r>
                            <a:rPr lang="es-NI" sz="2000" b="1" i="1" smtClean="0">
                              <a:solidFill>
                                <a:srgbClr val="A5A5A5">
                                  <a:lumMod val="50000"/>
                                </a:srgbClr>
                              </a:solidFill>
                              <a:latin typeface="Cambria Math" panose="02040503050406030204" pitchFamily="18" charset="0"/>
                            </a:rPr>
                            <m:t>𝟒</m:t>
                          </m:r>
                        </m:e>
                      </m:d>
                    </m:oMath>
                  </m:oMathPara>
                </a14:m>
                <a:endParaRPr lang="es-MX" sz="2000" b="1" dirty="0" smtClean="0">
                  <a:solidFill>
                    <a:srgbClr val="A5A5A5">
                      <a:lumMod val="50000"/>
                    </a:srgbClr>
                  </a:solidFill>
                  <a:latin typeface="Calibri" panose="020F0502020204030204"/>
                </a:endParaRPr>
              </a:p>
            </p:txBody>
          </p:sp>
        </mc:Choice>
        <mc:Fallback xmlns="">
          <p:sp>
            <p:nvSpPr>
              <p:cNvPr id="5" name="Rectángulo 4"/>
              <p:cNvSpPr>
                <a:spLocks noRot="1" noChangeAspect="1" noMove="1" noResize="1" noEditPoints="1" noAdjustHandles="1" noChangeArrowheads="1" noChangeShapeType="1" noTextEdit="1"/>
              </p:cNvSpPr>
              <p:nvPr/>
            </p:nvSpPr>
            <p:spPr>
              <a:xfrm>
                <a:off x="510611" y="5416739"/>
                <a:ext cx="5188290" cy="400110"/>
              </a:xfrm>
              <a:prstGeom prst="rect">
                <a:avLst/>
              </a:prstGeom>
              <a:blipFill rotWithShape="0">
                <a:blip r:embed="rId5"/>
                <a:stretch>
                  <a:fillRect b="-153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4938518" y="5416739"/>
                <a:ext cx="3149414"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𝟐𝟖𝟖</m:t>
                      </m:r>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𝟐𝟖𝟖</m:t>
                      </m:r>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𝟐𝟒</m:t>
                      </m:r>
                    </m:oMath>
                  </m:oMathPara>
                </a14:m>
                <a:endParaRPr lang="es-MX" sz="2100" b="1" dirty="0" smtClean="0">
                  <a:solidFill>
                    <a:srgbClr val="A5A5A5">
                      <a:lumMod val="50000"/>
                    </a:srgbClr>
                  </a:solidFill>
                  <a:latin typeface="Calibri" panose="020F0502020204030204"/>
                </a:endParaRPr>
              </a:p>
            </p:txBody>
          </p:sp>
        </mc:Choice>
        <mc:Fallback xmlns="">
          <p:sp>
            <p:nvSpPr>
              <p:cNvPr id="6" name="Rectángulo 5"/>
              <p:cNvSpPr>
                <a:spLocks noRot="1" noChangeAspect="1" noMove="1" noResize="1" noEditPoints="1" noAdjustHandles="1" noChangeArrowheads="1" noChangeShapeType="1" noTextEdit="1"/>
              </p:cNvSpPr>
              <p:nvPr/>
            </p:nvSpPr>
            <p:spPr>
              <a:xfrm>
                <a:off x="4938518" y="5416739"/>
                <a:ext cx="3149414" cy="41549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087932" y="5406736"/>
                <a:ext cx="2575775"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FF0000"/>
                          </a:solidFill>
                          <a:latin typeface="Cambria Math" panose="02040503050406030204" pitchFamily="18" charset="0"/>
                        </a:rPr>
                        <m:t>=</m:t>
                      </m:r>
                      <m:r>
                        <a:rPr lang="es-NI" sz="2000" b="1" i="1" smtClean="0">
                          <a:solidFill>
                            <a:srgbClr val="FF0000"/>
                          </a:solidFill>
                          <a:latin typeface="Cambria Math" panose="02040503050406030204" pitchFamily="18" charset="0"/>
                        </a:rPr>
                        <m:t>𝟐𝟒</m:t>
                      </m:r>
                    </m:oMath>
                  </m:oMathPara>
                </a14:m>
                <a:endParaRPr lang="es-MX" sz="2000" b="1" dirty="0" smtClean="0">
                  <a:solidFill>
                    <a:srgbClr val="FF0000"/>
                  </a:solidFill>
                  <a:latin typeface="Calibri" panose="020F0502020204030204"/>
                </a:endParaRPr>
              </a:p>
            </p:txBody>
          </p:sp>
        </mc:Choice>
        <mc:Fallback xmlns="">
          <p:sp>
            <p:nvSpPr>
              <p:cNvPr id="7" name="Rectángulo 6"/>
              <p:cNvSpPr>
                <a:spLocks noRot="1" noChangeAspect="1" noMove="1" noResize="1" noEditPoints="1" noAdjustHandles="1" noChangeArrowheads="1" noChangeShapeType="1" noTextEdit="1"/>
              </p:cNvSpPr>
              <p:nvPr/>
            </p:nvSpPr>
            <p:spPr>
              <a:xfrm>
                <a:off x="8087932" y="5406736"/>
                <a:ext cx="2575775" cy="400110"/>
              </a:xfrm>
              <a:prstGeom prst="rect">
                <a:avLst/>
              </a:prstGeom>
              <a:blipFill rotWithShape="0">
                <a:blip r:embed="rId7"/>
                <a:stretch>
                  <a:fillRect/>
                </a:stretch>
              </a:blipFill>
            </p:spPr>
            <p:txBody>
              <a:bodyPr/>
              <a:lstStyle/>
              <a:p>
                <a:r>
                  <a:rPr lang="es-MX">
                    <a:noFill/>
                  </a:rPr>
                  <a:t> </a:t>
                </a:r>
              </a:p>
            </p:txBody>
          </p:sp>
        </mc:Fallback>
      </mc:AlternateContent>
      <p:sp>
        <p:nvSpPr>
          <p:cNvPr id="8" name="Flecha derecha 7"/>
          <p:cNvSpPr/>
          <p:nvPr/>
        </p:nvSpPr>
        <p:spPr>
          <a:xfrm>
            <a:off x="8087932" y="5442129"/>
            <a:ext cx="476518" cy="36471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algn="ctr">
              <a:buClrTx/>
              <a:buFontTx/>
              <a:buNone/>
              <a:defRPr/>
            </a:pPr>
            <a:endParaRPr lang="es-MX" sz="2100" smtClean="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9" name="Rectángulo 8"/>
              <p:cNvSpPr/>
              <p:nvPr/>
            </p:nvSpPr>
            <p:spPr>
              <a:xfrm>
                <a:off x="1324402" y="1921884"/>
                <a:ext cx="3840025" cy="90415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3"/>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𝟏</m:t>
                                </m:r>
                                <m:r>
                                  <a:rPr lang="es-NI" sz="2000" b="1" i="1" smtClean="0">
                                    <a:solidFill>
                                      <a:srgbClr val="A5A5A5">
                                        <a:lumMod val="50000"/>
                                      </a:srgbClr>
                                    </a:solidFill>
                                    <a:latin typeface="Cambria Math" panose="02040503050406030204" pitchFamily="18" charset="0"/>
                                  </a:rPr>
                                  <m:t>𝟖</m:t>
                                </m:r>
                              </m:e>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𝟐𝟒</m:t>
                                </m:r>
                              </m:e>
                              <m:e>
                                <m: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𝟏</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oMath>
                  </m:oMathPara>
                </a14:m>
                <a:endParaRPr lang="es-MX" sz="20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1324402" y="1921884"/>
                <a:ext cx="3840025" cy="904158"/>
              </a:xfrm>
              <a:prstGeom prst="rect">
                <a:avLst/>
              </a:prstGeom>
              <a:blipFill rotWithShape="0">
                <a:blip r:embed="rId8"/>
                <a:stretch>
                  <a:fillRect/>
                </a:stretch>
              </a:blipFill>
            </p:spPr>
            <p:txBody>
              <a:bodyPr/>
              <a:lstStyle/>
              <a:p>
                <a:r>
                  <a:rPr lang="es-MX">
                    <a:noFill/>
                  </a:rPr>
                  <a:t> </a:t>
                </a:r>
              </a:p>
            </p:txBody>
          </p:sp>
        </mc:Fallback>
      </mc:AlternateContent>
      <p:cxnSp>
        <p:nvCxnSpPr>
          <p:cNvPr id="10" name="Conector recto 9"/>
          <p:cNvCxnSpPr/>
          <p:nvPr/>
        </p:nvCxnSpPr>
        <p:spPr>
          <a:xfrm flipV="1">
            <a:off x="3470325" y="2121385"/>
            <a:ext cx="1183823" cy="2128"/>
          </a:xfrm>
          <a:prstGeom prst="line">
            <a:avLst/>
          </a:prstGeom>
          <a:noFill/>
          <a:ln w="28575" cap="flat" cmpd="sng" algn="ctr">
            <a:solidFill>
              <a:srgbClr val="FF0000"/>
            </a:solidFill>
            <a:prstDash val="dash"/>
            <a:miter lim="800000"/>
          </a:ln>
          <a:effectLst/>
        </p:spPr>
      </p:cxnSp>
    </p:spTree>
    <p:extLst>
      <p:ext uri="{BB962C8B-B14F-4D97-AF65-F5344CB8AC3E}">
        <p14:creationId xmlns:p14="http://schemas.microsoft.com/office/powerpoint/2010/main" val="213983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par>
                                <p:cTn id="13" presetID="6" presetClass="entr" presetSubtype="1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2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ircle(in)">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ircle(in)">
                                      <p:cBhvr>
                                        <p:cTn id="30" dur="2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circle(in)">
                                      <p:cBhvr>
                                        <p:cTn id="35" dur="20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circle(in)">
                                      <p:cBhvr>
                                        <p:cTn id="4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animBg="1"/>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ángulo 1"/>
              <p:cNvSpPr/>
              <p:nvPr/>
            </p:nvSpPr>
            <p:spPr>
              <a:xfrm>
                <a:off x="0" y="1186764"/>
                <a:ext cx="5666704" cy="400110"/>
              </a:xfrm>
              <a:prstGeom prst="rect">
                <a:avLst/>
              </a:prstGeom>
            </p:spPr>
            <p:txBody>
              <a:bodyPr wrap="square">
                <a:spAutoFit/>
              </a:bodyPr>
              <a:lstStyle/>
              <a:p>
                <a:pPr lvl="1" algn="just">
                  <a:buClrTx/>
                  <a:buFontTx/>
                  <a:buNone/>
                </a:pPr>
                <a:r>
                  <a:rPr lang="es-ES" sz="2000" b="1" kern="1200" dirty="0" smtClean="0">
                    <a:solidFill>
                      <a:srgbClr val="A5A5A5">
                        <a:lumMod val="50000"/>
                      </a:srgbClr>
                    </a:solidFill>
                    <a:latin typeface="Arial" panose="020B0604020202020204" pitchFamily="34" charset="0"/>
                    <a:cs typeface="Arial" panose="020B0604020202020204" pitchFamily="34" charset="0"/>
                  </a:rPr>
                  <a:t>Encontrar el determinante </a:t>
                </a:r>
                <a14:m>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oMath>
                </a14:m>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2" name="Rectángulo 1"/>
              <p:cNvSpPr>
                <a:spLocks noRot="1" noChangeAspect="1" noMove="1" noResize="1" noEditPoints="1" noAdjustHandles="1" noChangeArrowheads="1" noChangeShapeType="1" noTextEdit="1"/>
              </p:cNvSpPr>
              <p:nvPr/>
            </p:nvSpPr>
            <p:spPr>
              <a:xfrm>
                <a:off x="0" y="1186764"/>
                <a:ext cx="5666704" cy="400110"/>
              </a:xfrm>
              <a:prstGeom prst="rect">
                <a:avLst/>
              </a:prstGeom>
              <a:blipFill rotWithShape="0">
                <a:blip r:embed="rId2"/>
                <a:stretch>
                  <a:fillRect t="-7692" b="-2923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398184" y="3184584"/>
                <a:ext cx="8552633" cy="60555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𝟐</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𝟑</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𝟒</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𝟒</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3" name="Rectángulo 2"/>
              <p:cNvSpPr>
                <a:spLocks noRot="1" noChangeAspect="1" noMove="1" noResize="1" noEditPoints="1" noAdjustHandles="1" noChangeArrowheads="1" noChangeShapeType="1" noTextEdit="1"/>
              </p:cNvSpPr>
              <p:nvPr/>
            </p:nvSpPr>
            <p:spPr>
              <a:xfrm>
                <a:off x="398184" y="3184584"/>
                <a:ext cx="8552633" cy="605550"/>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398184" y="4275093"/>
                <a:ext cx="6556408" cy="60555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𝟒</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4" name="Rectángulo 3"/>
              <p:cNvSpPr>
                <a:spLocks noRot="1" noChangeAspect="1" noMove="1" noResize="1" noEditPoints="1" noAdjustHandles="1" noChangeArrowheads="1" noChangeShapeType="1" noTextEdit="1"/>
              </p:cNvSpPr>
              <p:nvPr/>
            </p:nvSpPr>
            <p:spPr>
              <a:xfrm>
                <a:off x="398184" y="4275093"/>
                <a:ext cx="6556408" cy="605550"/>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283335" y="5423898"/>
                <a:ext cx="5383369"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𝟕𝟐</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𝟐𝟔</m:t>
                          </m:r>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𝟔</m:t>
                      </m:r>
                      <m:d>
                        <m:dPr>
                          <m:begChr m:val="["/>
                          <m:endChr m:val="]"/>
                          <m:ctrlPr>
                            <a:rPr lang="es-MX" sz="2000" b="1" i="1" smtClean="0">
                              <a:solidFill>
                                <a:srgbClr val="A5A5A5">
                                  <a:lumMod val="50000"/>
                                </a:srgbClr>
                              </a:solidFill>
                              <a:latin typeface="Cambria Math" panose="02040503050406030204" pitchFamily="18" charset="0"/>
                            </a:rPr>
                          </m:ctrlPr>
                        </m:dPr>
                        <m:e>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𝟓𝟔</m:t>
                          </m:r>
                        </m:e>
                      </m:d>
                    </m:oMath>
                  </m:oMathPara>
                </a14:m>
                <a:endParaRPr lang="es-MX" sz="2000" b="1" dirty="0" smtClean="0">
                  <a:solidFill>
                    <a:srgbClr val="A5A5A5">
                      <a:lumMod val="50000"/>
                    </a:srgbClr>
                  </a:solidFill>
                  <a:latin typeface="Calibri" panose="020F0502020204030204"/>
                </a:endParaRPr>
              </a:p>
            </p:txBody>
          </p:sp>
        </mc:Choice>
        <mc:Fallback xmlns="">
          <p:sp>
            <p:nvSpPr>
              <p:cNvPr id="5" name="Rectángulo 4"/>
              <p:cNvSpPr>
                <a:spLocks noRot="1" noChangeAspect="1" noMove="1" noResize="1" noEditPoints="1" noAdjustHandles="1" noChangeArrowheads="1" noChangeShapeType="1" noTextEdit="1"/>
              </p:cNvSpPr>
              <p:nvPr/>
            </p:nvSpPr>
            <p:spPr>
              <a:xfrm>
                <a:off x="283335" y="5423898"/>
                <a:ext cx="5383369" cy="400110"/>
              </a:xfrm>
              <a:prstGeom prst="rect">
                <a:avLst/>
              </a:prstGeom>
              <a:blipFill rotWithShape="0">
                <a:blip r:embed="rId5"/>
                <a:stretch>
                  <a:fillRect b="-153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5095071" y="5423898"/>
                <a:ext cx="3242521"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𝟏𝟒𝟒</m:t>
                      </m:r>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𝟒𝟔𝟖</m:t>
                      </m:r>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𝟑𝟑𝟔</m:t>
                      </m:r>
                    </m:oMath>
                  </m:oMathPara>
                </a14:m>
                <a:endParaRPr lang="es-MX" sz="2100" b="1" dirty="0" smtClean="0">
                  <a:solidFill>
                    <a:srgbClr val="A5A5A5">
                      <a:lumMod val="50000"/>
                    </a:srgbClr>
                  </a:solidFill>
                  <a:latin typeface="Calibri" panose="020F0502020204030204"/>
                </a:endParaRPr>
              </a:p>
            </p:txBody>
          </p:sp>
        </mc:Choice>
        <mc:Fallback xmlns="">
          <p:sp>
            <p:nvSpPr>
              <p:cNvPr id="6" name="Rectángulo 5"/>
              <p:cNvSpPr>
                <a:spLocks noRot="1" noChangeAspect="1" noMove="1" noResize="1" noEditPoints="1" noAdjustHandles="1" noChangeArrowheads="1" noChangeShapeType="1" noTextEdit="1"/>
              </p:cNvSpPr>
              <p:nvPr/>
            </p:nvSpPr>
            <p:spPr>
              <a:xfrm>
                <a:off x="5095071" y="5423898"/>
                <a:ext cx="3242521" cy="41549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337592" y="5376847"/>
                <a:ext cx="2658012"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FF0000"/>
                          </a:solidFill>
                          <a:latin typeface="Cambria Math" panose="02040503050406030204" pitchFamily="18" charset="0"/>
                        </a:rPr>
                        <m:t>=</m:t>
                      </m:r>
                      <m:r>
                        <a:rPr lang="es-NI" sz="2000" b="1" i="1" smtClean="0">
                          <a:solidFill>
                            <a:srgbClr val="FF0000"/>
                          </a:solidFill>
                          <a:latin typeface="Cambria Math" panose="02040503050406030204" pitchFamily="18" charset="0"/>
                        </a:rPr>
                        <m:t>−</m:t>
                      </m:r>
                      <m:r>
                        <a:rPr lang="es-NI" sz="2000" b="1" i="1" smtClean="0">
                          <a:solidFill>
                            <a:srgbClr val="FF0000"/>
                          </a:solidFill>
                          <a:latin typeface="Cambria Math" panose="02040503050406030204" pitchFamily="18" charset="0"/>
                        </a:rPr>
                        <m:t>𝟏𝟐</m:t>
                      </m:r>
                    </m:oMath>
                  </m:oMathPara>
                </a14:m>
                <a:endParaRPr lang="es-MX" sz="2000" b="1" dirty="0" smtClean="0">
                  <a:solidFill>
                    <a:srgbClr val="FF0000"/>
                  </a:solidFill>
                  <a:latin typeface="Calibri" panose="020F0502020204030204"/>
                </a:endParaRPr>
              </a:p>
            </p:txBody>
          </p:sp>
        </mc:Choice>
        <mc:Fallback xmlns="">
          <p:sp>
            <p:nvSpPr>
              <p:cNvPr id="7" name="Rectángulo 6"/>
              <p:cNvSpPr>
                <a:spLocks noRot="1" noChangeAspect="1" noMove="1" noResize="1" noEditPoints="1" noAdjustHandles="1" noChangeArrowheads="1" noChangeShapeType="1" noTextEdit="1"/>
              </p:cNvSpPr>
              <p:nvPr/>
            </p:nvSpPr>
            <p:spPr>
              <a:xfrm>
                <a:off x="8337592" y="5376847"/>
                <a:ext cx="2658012" cy="400110"/>
              </a:xfrm>
              <a:prstGeom prst="rect">
                <a:avLst/>
              </a:prstGeom>
              <a:blipFill rotWithShape="0">
                <a:blip r:embed="rId7"/>
                <a:stretch>
                  <a:fillRect b="-1515"/>
                </a:stretch>
              </a:blipFill>
            </p:spPr>
            <p:txBody>
              <a:bodyPr/>
              <a:lstStyle/>
              <a:p>
                <a:r>
                  <a:rPr lang="es-MX">
                    <a:noFill/>
                  </a:rPr>
                  <a:t> </a:t>
                </a:r>
              </a:p>
            </p:txBody>
          </p:sp>
        </mc:Fallback>
      </mc:AlternateContent>
      <p:sp>
        <p:nvSpPr>
          <p:cNvPr id="8" name="Flecha derecha 7"/>
          <p:cNvSpPr/>
          <p:nvPr/>
        </p:nvSpPr>
        <p:spPr>
          <a:xfrm>
            <a:off x="8293994" y="5412240"/>
            <a:ext cx="476518" cy="36471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algn="ctr">
              <a:buClrTx/>
              <a:buFontTx/>
              <a:buNone/>
              <a:defRPr/>
            </a:pPr>
            <a:endParaRPr lang="es-MX" sz="2100" smtClean="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9" name="Rectángulo 8"/>
              <p:cNvSpPr/>
              <p:nvPr/>
            </p:nvSpPr>
            <p:spPr>
              <a:xfrm>
                <a:off x="1324403" y="1921884"/>
                <a:ext cx="4058965" cy="9062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3"/>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e>
                              <m:e>
                                <m:r>
                                  <a:rPr lang="es-NI" sz="2000" b="1" i="1" smtClean="0">
                                    <a:solidFill>
                                      <a:srgbClr val="A5A5A5">
                                        <a:lumMod val="50000"/>
                                      </a:srgbClr>
                                    </a:solidFill>
                                    <a:latin typeface="Cambria Math" panose="02040503050406030204" pitchFamily="18" charset="0"/>
                                  </a:rPr>
                                  <m:t>𝟏𝟖</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𝟐𝟒</m:t>
                                </m:r>
                              </m:e>
                              <m:e>
                                <m:r>
                                  <a:rPr lang="es-NI" sz="2000" b="1" i="1" smtClean="0">
                                    <a:solidFill>
                                      <a:srgbClr val="A5A5A5">
                                        <a:lumMod val="50000"/>
                                      </a:srgbClr>
                                    </a:solidFill>
                                    <a:latin typeface="Cambria Math" panose="02040503050406030204" pitchFamily="18" charset="0"/>
                                  </a:rPr>
                                  <m:t>𝟔</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𝟒</m:t>
                                </m:r>
                              </m:e>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𝟐</m:t>
                                </m:r>
                              </m:e>
                            </m:mr>
                          </m:m>
                        </m:e>
                      </m:d>
                    </m:oMath>
                  </m:oMathPara>
                </a14:m>
                <a:endParaRPr lang="es-MX" sz="20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1324403" y="1921884"/>
                <a:ext cx="4058965" cy="906210"/>
              </a:xfrm>
              <a:prstGeom prst="rect">
                <a:avLst/>
              </a:prstGeom>
              <a:blipFill rotWithShape="0">
                <a:blip r:embed="rId8"/>
                <a:stretch>
                  <a:fillRect/>
                </a:stretch>
              </a:blipFill>
            </p:spPr>
            <p:txBody>
              <a:bodyPr/>
              <a:lstStyle/>
              <a:p>
                <a:r>
                  <a:rPr lang="es-MX">
                    <a:noFill/>
                  </a:rPr>
                  <a:t> </a:t>
                </a:r>
              </a:p>
            </p:txBody>
          </p:sp>
        </mc:Fallback>
      </mc:AlternateContent>
      <p:cxnSp>
        <p:nvCxnSpPr>
          <p:cNvPr id="10" name="Conector recto 9"/>
          <p:cNvCxnSpPr/>
          <p:nvPr/>
        </p:nvCxnSpPr>
        <p:spPr>
          <a:xfrm flipV="1">
            <a:off x="3353885" y="2087210"/>
            <a:ext cx="1183823" cy="2128"/>
          </a:xfrm>
          <a:prstGeom prst="line">
            <a:avLst/>
          </a:prstGeom>
          <a:noFill/>
          <a:ln w="28575" cap="flat" cmpd="sng" algn="ctr">
            <a:solidFill>
              <a:srgbClr val="FF0000"/>
            </a:solidFill>
            <a:prstDash val="dash"/>
            <a:miter lim="800000"/>
          </a:ln>
          <a:effectLst/>
        </p:spPr>
      </p:cxnSp>
    </p:spTree>
    <p:extLst>
      <p:ext uri="{BB962C8B-B14F-4D97-AF65-F5344CB8AC3E}">
        <p14:creationId xmlns:p14="http://schemas.microsoft.com/office/powerpoint/2010/main" val="315889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par>
                                <p:cTn id="13" presetID="6" presetClass="entr" presetSubtype="1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2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ircle(in)">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ircle(in)">
                                      <p:cBhvr>
                                        <p:cTn id="30" dur="2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circle(in)">
                                      <p:cBhvr>
                                        <p:cTn id="35" dur="20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circle(in)">
                                      <p:cBhvr>
                                        <p:cTn id="4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animBg="1"/>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ángulo 1"/>
              <p:cNvSpPr/>
              <p:nvPr/>
            </p:nvSpPr>
            <p:spPr>
              <a:xfrm>
                <a:off x="0" y="1186764"/>
                <a:ext cx="5074276" cy="400110"/>
              </a:xfrm>
              <a:prstGeom prst="rect">
                <a:avLst/>
              </a:prstGeom>
            </p:spPr>
            <p:txBody>
              <a:bodyPr wrap="square">
                <a:spAutoFit/>
              </a:bodyPr>
              <a:lstStyle/>
              <a:p>
                <a:pPr lvl="1" algn="just">
                  <a:buClrTx/>
                  <a:buFontTx/>
                  <a:buNone/>
                </a:pPr>
                <a:r>
                  <a:rPr lang="es-ES" sz="2000" b="1" kern="1200" dirty="0" smtClean="0">
                    <a:solidFill>
                      <a:srgbClr val="A5A5A5">
                        <a:lumMod val="50000"/>
                      </a:srgbClr>
                    </a:solidFill>
                    <a:latin typeface="Arial" panose="020B0604020202020204" pitchFamily="34" charset="0"/>
                    <a:cs typeface="Arial" panose="020B0604020202020204" pitchFamily="34" charset="0"/>
                  </a:rPr>
                  <a:t>Encontrar el determinante </a:t>
                </a:r>
                <a14:m>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oMath>
                </a14:m>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2" name="Rectángulo 1"/>
              <p:cNvSpPr>
                <a:spLocks noRot="1" noChangeAspect="1" noMove="1" noResize="1" noEditPoints="1" noAdjustHandles="1" noChangeArrowheads="1" noChangeShapeType="1" noTextEdit="1"/>
              </p:cNvSpPr>
              <p:nvPr/>
            </p:nvSpPr>
            <p:spPr>
              <a:xfrm>
                <a:off x="0" y="1186764"/>
                <a:ext cx="5074276" cy="400110"/>
              </a:xfrm>
              <a:prstGeom prst="rect">
                <a:avLst/>
              </a:prstGeom>
              <a:blipFill rotWithShape="0">
                <a:blip r:embed="rId2"/>
                <a:stretch>
                  <a:fillRect t="-7692" b="-2923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604247" y="3203773"/>
                <a:ext cx="8204902" cy="61183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𝟐</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𝟏</m:t>
                                </m:r>
                              </m:e>
                              <m:e>
                                <m:r>
                                  <a:rPr lang="es-NI" sz="2000" b="1" i="1" smtClean="0">
                                    <a:solidFill>
                                      <a:srgbClr val="A5A5A5">
                                        <a:lumMod val="50000"/>
                                      </a:srgbClr>
                                    </a:solidFill>
                                    <a:latin typeface="Cambria Math" panose="02040503050406030204" pitchFamily="18" charset="0"/>
                                  </a:rPr>
                                  <m:t>𝟒</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𝟑</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𝟒</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sSup>
                        <m:sSupPr>
                          <m:ctrlPr>
                            <a:rPr lang="es-MX" sz="2000" b="1" i="1" smtClean="0">
                              <a:solidFill>
                                <a:srgbClr val="A5A5A5">
                                  <a:lumMod val="50000"/>
                                </a:srgbClr>
                              </a:solidFill>
                              <a:latin typeface="Cambria Math" panose="02040503050406030204" pitchFamily="18" charset="0"/>
                            </a:rPr>
                          </m:ctrlPr>
                        </m:sSupPr>
                        <m:e>
                          <m:d>
                            <m:dPr>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MX" sz="2000" b="1" i="1" smtClean="0">
                                  <a:solidFill>
                                    <a:srgbClr val="A5A5A5">
                                      <a:lumMod val="50000"/>
                                    </a:srgbClr>
                                  </a:solidFill>
                                  <a:latin typeface="Cambria Math" panose="02040503050406030204" pitchFamily="18" charset="0"/>
                                </a:rPr>
                                <m:t>𝟏</m:t>
                              </m:r>
                            </m:e>
                          </m:d>
                        </m:e>
                        <m:sup>
                          <m:r>
                            <a:rPr lang="es-MX" sz="2000" b="1" i="1" smtClean="0">
                              <a:solidFill>
                                <a:srgbClr val="A5A5A5">
                                  <a:lumMod val="50000"/>
                                </a:srgbClr>
                              </a:solidFill>
                              <a:latin typeface="Cambria Math" panose="02040503050406030204" pitchFamily="18" charset="0"/>
                            </a:rPr>
                            <m:t>𝟒</m:t>
                          </m:r>
                        </m:sup>
                      </m:sSup>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3" name="Rectángulo 2"/>
              <p:cNvSpPr>
                <a:spLocks noRot="1" noChangeAspect="1" noMove="1" noResize="1" noEditPoints="1" noAdjustHandles="1" noChangeArrowheads="1" noChangeShapeType="1" noTextEdit="1"/>
              </p:cNvSpPr>
              <p:nvPr/>
            </p:nvSpPr>
            <p:spPr>
              <a:xfrm>
                <a:off x="604247" y="3203773"/>
                <a:ext cx="8204902" cy="611834"/>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604247" y="4294282"/>
                <a:ext cx="6195798" cy="61183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𝟏</m:t>
                                </m:r>
                              </m:e>
                              <m:e>
                                <m:r>
                                  <a:rPr lang="es-NI" sz="2000" b="1" i="1" smtClean="0">
                                    <a:solidFill>
                                      <a:srgbClr val="A5A5A5">
                                        <a:lumMod val="50000"/>
                                      </a:srgbClr>
                                    </a:solidFill>
                                    <a:latin typeface="Cambria Math" panose="02040503050406030204" pitchFamily="18" charset="0"/>
                                  </a:rPr>
                                  <m:t>𝟒</m:t>
                                </m:r>
                              </m:e>
                            </m:mr>
                          </m:m>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𝟒</m:t>
                                </m:r>
                              </m:e>
                            </m:mr>
                          </m:m>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2"/>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mr>
                          </m:m>
                        </m:e>
                      </m:d>
                    </m:oMath>
                  </m:oMathPara>
                </a14:m>
                <a:endParaRPr lang="es-MX" sz="2000" b="1" dirty="0" smtClean="0">
                  <a:solidFill>
                    <a:srgbClr val="A5A5A5">
                      <a:lumMod val="50000"/>
                    </a:srgbClr>
                  </a:solidFill>
                  <a:latin typeface="Calibri" panose="020F0502020204030204"/>
                </a:endParaRPr>
              </a:p>
            </p:txBody>
          </p:sp>
        </mc:Choice>
        <mc:Fallback xmlns="">
          <p:sp>
            <p:nvSpPr>
              <p:cNvPr id="4" name="Rectángulo 3"/>
              <p:cNvSpPr>
                <a:spLocks noRot="1" noChangeAspect="1" noMove="1" noResize="1" noEditPoints="1" noAdjustHandles="1" noChangeArrowheads="1" noChangeShapeType="1" noTextEdit="1"/>
              </p:cNvSpPr>
              <p:nvPr/>
            </p:nvSpPr>
            <p:spPr>
              <a:xfrm>
                <a:off x="604247" y="4294282"/>
                <a:ext cx="6195798" cy="611834"/>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450761" y="5443087"/>
                <a:ext cx="5248140"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𝟐</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e>
                      </m:d>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𝟒</m:t>
                      </m:r>
                      <m:d>
                        <m:dPr>
                          <m:begChr m:val="["/>
                          <m:endChr m:val="]"/>
                          <m:ctrlPr>
                            <a:rPr lang="es-MX" sz="2000" b="1" i="1" smtClean="0">
                              <a:solidFill>
                                <a:srgbClr val="A5A5A5">
                                  <a:lumMod val="50000"/>
                                </a:srgbClr>
                              </a:solidFill>
                              <a:latin typeface="Cambria Math" panose="02040503050406030204" pitchFamily="18" charset="0"/>
                            </a:rPr>
                          </m:ctrlPr>
                        </m:dPr>
                        <m:e>
                          <m:r>
                            <a:rPr lang="es-MX"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𝟓𝟔</m:t>
                          </m:r>
                        </m:e>
                      </m:d>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𝟏𝟖</m:t>
                      </m:r>
                      <m:d>
                        <m:dPr>
                          <m:begChr m:val="["/>
                          <m:endChr m:val="]"/>
                          <m:ctrlPr>
                            <a:rPr lang="es-MX" sz="2000" b="1" i="1" smtClean="0">
                              <a:solidFill>
                                <a:srgbClr val="A5A5A5">
                                  <a:lumMod val="50000"/>
                                </a:srgbClr>
                              </a:solidFill>
                              <a:latin typeface="Cambria Math" panose="02040503050406030204" pitchFamily="18" charset="0"/>
                            </a:rPr>
                          </m:ctrlPr>
                        </m:dPr>
                        <m:e>
                          <m:r>
                            <a:rPr lang="es-NI" sz="2000" b="1" i="1" smtClean="0">
                              <a:solidFill>
                                <a:srgbClr val="A5A5A5">
                                  <a:lumMod val="50000"/>
                                </a:srgbClr>
                              </a:solidFill>
                              <a:latin typeface="Cambria Math" panose="02040503050406030204" pitchFamily="18" charset="0"/>
                            </a:rPr>
                            <m:t>−</m:t>
                          </m:r>
                          <m:r>
                            <a:rPr lang="es-NI" sz="2000" b="1" i="1" smtClean="0">
                              <a:solidFill>
                                <a:srgbClr val="A5A5A5">
                                  <a:lumMod val="50000"/>
                                </a:srgbClr>
                              </a:solidFill>
                              <a:latin typeface="Cambria Math" panose="02040503050406030204" pitchFamily="18" charset="0"/>
                            </a:rPr>
                            <m:t>𝟏𝟏</m:t>
                          </m:r>
                        </m:e>
                      </m:d>
                    </m:oMath>
                  </m:oMathPara>
                </a14:m>
                <a:endParaRPr lang="es-MX" sz="2000" b="1" dirty="0" smtClean="0">
                  <a:solidFill>
                    <a:srgbClr val="A5A5A5">
                      <a:lumMod val="50000"/>
                    </a:srgbClr>
                  </a:solidFill>
                  <a:latin typeface="Calibri" panose="020F0502020204030204"/>
                </a:endParaRPr>
              </a:p>
            </p:txBody>
          </p:sp>
        </mc:Choice>
        <mc:Fallback xmlns="">
          <p:sp>
            <p:nvSpPr>
              <p:cNvPr id="5" name="Rectángulo 4"/>
              <p:cNvSpPr>
                <a:spLocks noRot="1" noChangeAspect="1" noMove="1" noResize="1" noEditPoints="1" noAdjustHandles="1" noChangeArrowheads="1" noChangeShapeType="1" noTextEdit="1"/>
              </p:cNvSpPr>
              <p:nvPr/>
            </p:nvSpPr>
            <p:spPr>
              <a:xfrm>
                <a:off x="450761" y="5443087"/>
                <a:ext cx="5248140" cy="400110"/>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5074276" y="5432506"/>
                <a:ext cx="2978504"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𝟖</m:t>
                      </m:r>
                      <m:r>
                        <a:rPr lang="es-MX"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𝟐𝟐𝟒</m:t>
                      </m:r>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𝟏𝟗𝟖</m:t>
                      </m:r>
                    </m:oMath>
                  </m:oMathPara>
                </a14:m>
                <a:endParaRPr lang="es-MX" sz="2100" b="1" dirty="0" smtClean="0">
                  <a:solidFill>
                    <a:srgbClr val="A5A5A5">
                      <a:lumMod val="50000"/>
                    </a:srgbClr>
                  </a:solidFill>
                  <a:latin typeface="Calibri" panose="020F0502020204030204"/>
                </a:endParaRPr>
              </a:p>
            </p:txBody>
          </p:sp>
        </mc:Choice>
        <mc:Fallback xmlns="">
          <p:sp>
            <p:nvSpPr>
              <p:cNvPr id="6" name="Rectángulo 5"/>
              <p:cNvSpPr>
                <a:spLocks noRot="1" noChangeAspect="1" noMove="1" noResize="1" noEditPoints="1" noAdjustHandles="1" noChangeArrowheads="1" noChangeShapeType="1" noTextEdit="1"/>
              </p:cNvSpPr>
              <p:nvPr/>
            </p:nvSpPr>
            <p:spPr>
              <a:xfrm>
                <a:off x="5074276" y="5432506"/>
                <a:ext cx="2978504" cy="41549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7952704" y="5380343"/>
                <a:ext cx="2498501" cy="4001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FF0000"/>
                          </a:solidFill>
                          <a:latin typeface="Cambria Math" panose="02040503050406030204" pitchFamily="18" charset="0"/>
                        </a:rPr>
                        <m:t>=</m:t>
                      </m:r>
                      <m:r>
                        <a:rPr lang="es-NI" sz="2000" b="1" i="1" smtClean="0">
                          <a:solidFill>
                            <a:srgbClr val="FF0000"/>
                          </a:solidFill>
                          <a:latin typeface="Cambria Math" panose="02040503050406030204" pitchFamily="18" charset="0"/>
                        </a:rPr>
                        <m:t>𝟏𝟖</m:t>
                      </m:r>
                    </m:oMath>
                  </m:oMathPara>
                </a14:m>
                <a:endParaRPr lang="es-MX" sz="2000" b="1" dirty="0" smtClean="0">
                  <a:solidFill>
                    <a:srgbClr val="FF0000"/>
                  </a:solidFill>
                  <a:latin typeface="Calibri" panose="020F0502020204030204"/>
                </a:endParaRPr>
              </a:p>
            </p:txBody>
          </p:sp>
        </mc:Choice>
        <mc:Fallback xmlns="">
          <p:sp>
            <p:nvSpPr>
              <p:cNvPr id="7" name="Rectángulo 6"/>
              <p:cNvSpPr>
                <a:spLocks noRot="1" noChangeAspect="1" noMove="1" noResize="1" noEditPoints="1" noAdjustHandles="1" noChangeArrowheads="1" noChangeShapeType="1" noTextEdit="1"/>
              </p:cNvSpPr>
              <p:nvPr/>
            </p:nvSpPr>
            <p:spPr>
              <a:xfrm>
                <a:off x="7952704" y="5380343"/>
                <a:ext cx="2498501" cy="400110"/>
              </a:xfrm>
              <a:prstGeom prst="rect">
                <a:avLst/>
              </a:prstGeom>
              <a:blipFill rotWithShape="0">
                <a:blip r:embed="rId7"/>
                <a:stretch>
                  <a:fillRect b="-1538"/>
                </a:stretch>
              </a:blipFill>
            </p:spPr>
            <p:txBody>
              <a:bodyPr/>
              <a:lstStyle/>
              <a:p>
                <a:r>
                  <a:rPr lang="es-MX">
                    <a:noFill/>
                  </a:rPr>
                  <a:t> </a:t>
                </a:r>
              </a:p>
            </p:txBody>
          </p:sp>
        </mc:Fallback>
      </mc:AlternateContent>
      <p:sp>
        <p:nvSpPr>
          <p:cNvPr id="8" name="Flecha derecha 7"/>
          <p:cNvSpPr/>
          <p:nvPr/>
        </p:nvSpPr>
        <p:spPr>
          <a:xfrm>
            <a:off x="7952704" y="5431815"/>
            <a:ext cx="476518" cy="36471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algn="ctr">
              <a:buClrTx/>
              <a:buFontTx/>
              <a:buNone/>
              <a:defRPr/>
            </a:pPr>
            <a:endParaRPr lang="es-MX" sz="2100" smtClean="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9" name="Rectángulo 8"/>
              <p:cNvSpPr/>
              <p:nvPr/>
            </p:nvSpPr>
            <p:spPr>
              <a:xfrm>
                <a:off x="1324403" y="1921884"/>
                <a:ext cx="3621084" cy="9062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r>
                        <a:rPr lang="es-MX" sz="2000" b="1" i="1" smtClean="0">
                          <a:solidFill>
                            <a:srgbClr val="A5A5A5">
                              <a:lumMod val="50000"/>
                            </a:srgbClr>
                          </a:solidFill>
                          <a:latin typeface="Cambria Math" panose="02040503050406030204" pitchFamily="18" charset="0"/>
                        </a:rPr>
                        <m:t>=</m:t>
                      </m:r>
                      <m:d>
                        <m:dPr>
                          <m:begChr m:val="["/>
                          <m:endChr m:val="]"/>
                          <m:ctrlPr>
                            <a:rPr lang="es-MX" sz="2000" b="1" i="1" smtClean="0">
                              <a:solidFill>
                                <a:srgbClr val="A5A5A5">
                                  <a:lumMod val="50000"/>
                                </a:srgbClr>
                              </a:solidFill>
                              <a:latin typeface="Cambria Math" panose="02040503050406030204" pitchFamily="18" charset="0"/>
                            </a:rPr>
                          </m:ctrlPr>
                        </m:dPr>
                        <m:e>
                          <m:m>
                            <m:mPr>
                              <m:mcs>
                                <m:mc>
                                  <m:mcPr>
                                    <m:count m:val="3"/>
                                    <m:mcJc m:val="center"/>
                                  </m:mcPr>
                                </m:mc>
                              </m:mcs>
                              <m:ctrlPr>
                                <a:rPr lang="es-MX" sz="2000" b="1" i="1" smtClean="0">
                                  <a:solidFill>
                                    <a:srgbClr val="A5A5A5">
                                      <a:lumMod val="50000"/>
                                    </a:srgbClr>
                                  </a:solidFill>
                                  <a:latin typeface="Cambria Math" panose="02040503050406030204" pitchFamily="18" charset="0"/>
                                </a:rPr>
                              </m:ctrlPr>
                            </m:mPr>
                            <m:mr>
                              <m:e>
                                <m:r>
                                  <m:rPr>
                                    <m:brk m:alnAt="7"/>
                                  </m:rPr>
                                  <a:rPr lang="es-NI" sz="2000" b="1" i="1" smtClean="0">
                                    <a:solidFill>
                                      <a:srgbClr val="A5A5A5">
                                        <a:lumMod val="50000"/>
                                      </a:srgbClr>
                                    </a:solidFill>
                                    <a:latin typeface="Cambria Math" panose="02040503050406030204" pitchFamily="18" charset="0"/>
                                  </a:rPr>
                                  <m:t>𝟐</m:t>
                                </m:r>
                              </m:e>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𝟏𝟖</m:t>
                                </m:r>
                              </m:e>
                            </m:mr>
                            <m:mr>
                              <m:e>
                                <m:r>
                                  <a:rPr lang="es-NI" sz="2000" b="1" i="1" smtClean="0">
                                    <a:solidFill>
                                      <a:srgbClr val="A5A5A5">
                                        <a:lumMod val="50000"/>
                                      </a:srgbClr>
                                    </a:solidFill>
                                    <a:latin typeface="Cambria Math" panose="02040503050406030204" pitchFamily="18" charset="0"/>
                                  </a:rPr>
                                  <m:t>𝟒</m:t>
                                </m:r>
                              </m:e>
                              <m:e>
                                <m:r>
                                  <a:rPr lang="es-NI" sz="2000" b="1" i="1" smtClean="0">
                                    <a:solidFill>
                                      <a:srgbClr val="A5A5A5">
                                        <a:lumMod val="50000"/>
                                      </a:srgbClr>
                                    </a:solidFill>
                                    <a:latin typeface="Cambria Math" panose="02040503050406030204" pitchFamily="18" charset="0"/>
                                  </a:rPr>
                                  <m:t>𝟓</m:t>
                                </m:r>
                              </m:e>
                              <m:e>
                                <m:r>
                                  <a:rPr lang="es-NI" sz="2000" b="1" i="1" smtClean="0">
                                    <a:solidFill>
                                      <a:srgbClr val="A5A5A5">
                                        <a:lumMod val="50000"/>
                                      </a:srgbClr>
                                    </a:solidFill>
                                    <a:latin typeface="Cambria Math" panose="02040503050406030204" pitchFamily="18" charset="0"/>
                                  </a:rPr>
                                  <m:t>𝟐𝟒</m:t>
                                </m:r>
                              </m:e>
                            </m:mr>
                            <m:mr>
                              <m:e>
                                <m:r>
                                  <a:rPr lang="es-NI" sz="2000" b="1" i="1" smtClean="0">
                                    <a:solidFill>
                                      <a:srgbClr val="A5A5A5">
                                        <a:lumMod val="50000"/>
                                      </a:srgbClr>
                                    </a:solidFill>
                                    <a:latin typeface="Cambria Math" panose="02040503050406030204" pitchFamily="18" charset="0"/>
                                  </a:rPr>
                                  <m:t>𝟑</m:t>
                                </m:r>
                              </m:e>
                              <m:e>
                                <m:r>
                                  <a:rPr lang="es-NI" sz="2000" b="1" i="1" smtClean="0">
                                    <a:solidFill>
                                      <a:srgbClr val="A5A5A5">
                                        <a:lumMod val="50000"/>
                                      </a:srgbClr>
                                    </a:solidFill>
                                    <a:latin typeface="Cambria Math" panose="02040503050406030204" pitchFamily="18" charset="0"/>
                                  </a:rPr>
                                  <m:t>𝟏</m:t>
                                </m:r>
                              </m:e>
                              <m:e>
                                <m:r>
                                  <a:rPr lang="es-NI" sz="2000" b="1" i="1" smtClean="0">
                                    <a:solidFill>
                                      <a:srgbClr val="A5A5A5">
                                        <a:lumMod val="50000"/>
                                      </a:srgbClr>
                                    </a:solidFill>
                                    <a:latin typeface="Cambria Math" panose="02040503050406030204" pitchFamily="18" charset="0"/>
                                  </a:rPr>
                                  <m:t>𝟒</m:t>
                                </m:r>
                              </m:e>
                            </m:mr>
                          </m:m>
                        </m:e>
                      </m:d>
                    </m:oMath>
                  </m:oMathPara>
                </a14:m>
                <a:endParaRPr lang="es-MX" sz="20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1324403" y="1921884"/>
                <a:ext cx="3621084" cy="906210"/>
              </a:xfrm>
              <a:prstGeom prst="rect">
                <a:avLst/>
              </a:prstGeom>
              <a:blipFill rotWithShape="0">
                <a:blip r:embed="rId8"/>
                <a:stretch>
                  <a:fillRect/>
                </a:stretch>
              </a:blipFill>
            </p:spPr>
            <p:txBody>
              <a:bodyPr/>
              <a:lstStyle/>
              <a:p>
                <a:r>
                  <a:rPr lang="es-MX">
                    <a:noFill/>
                  </a:rPr>
                  <a:t> </a:t>
                </a:r>
              </a:p>
            </p:txBody>
          </p:sp>
        </mc:Fallback>
      </mc:AlternateContent>
      <p:cxnSp>
        <p:nvCxnSpPr>
          <p:cNvPr id="10" name="Conector recto 9"/>
          <p:cNvCxnSpPr/>
          <p:nvPr/>
        </p:nvCxnSpPr>
        <p:spPr>
          <a:xfrm flipV="1">
            <a:off x="3346056" y="2078704"/>
            <a:ext cx="1183823" cy="2128"/>
          </a:xfrm>
          <a:prstGeom prst="line">
            <a:avLst/>
          </a:prstGeom>
          <a:noFill/>
          <a:ln w="28575" cap="flat" cmpd="sng" algn="ctr">
            <a:solidFill>
              <a:srgbClr val="FF0000"/>
            </a:solidFill>
            <a:prstDash val="dash"/>
            <a:miter lim="800000"/>
          </a:ln>
          <a:effectLst/>
        </p:spPr>
      </p:cxnSp>
    </p:spTree>
    <p:extLst>
      <p:ext uri="{BB962C8B-B14F-4D97-AF65-F5344CB8AC3E}">
        <p14:creationId xmlns:p14="http://schemas.microsoft.com/office/powerpoint/2010/main" val="49838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par>
                                <p:cTn id="13" presetID="6" presetClass="entr" presetSubtype="1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2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ircle(in)">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ircle(in)">
                                      <p:cBhvr>
                                        <p:cTn id="30" dur="2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circle(in)">
                                      <p:cBhvr>
                                        <p:cTn id="35" dur="20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circle(in)">
                                      <p:cBhvr>
                                        <p:cTn id="4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animBg="1"/>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1973" y="1300768"/>
            <a:ext cx="1352282" cy="384721"/>
          </a:xfrm>
          <a:prstGeom prst="rect">
            <a:avLst/>
          </a:prstGeom>
        </p:spPr>
        <p:txBody>
          <a:bodyPr wrap="square">
            <a:spAutoFit/>
          </a:bodyPr>
          <a:lstStyle/>
          <a:p>
            <a:pPr algn="just" fontAlgn="base">
              <a:spcBef>
                <a:spcPct val="20000"/>
              </a:spcBef>
              <a:spcAft>
                <a:spcPct val="0"/>
              </a:spcAft>
              <a:buClrTx/>
              <a:buFontTx/>
              <a:buNone/>
            </a:pPr>
            <a:r>
              <a:rPr kumimoji="1" lang="es-ES" sz="1900" b="1" dirty="0" smtClean="0">
                <a:solidFill>
                  <a:srgbClr val="A5A5A5">
                    <a:lumMod val="50000"/>
                  </a:srgbClr>
                </a:solidFill>
                <a:latin typeface="Arial" panose="020B0604020202020204" pitchFamily="34" charset="0"/>
                <a:cs typeface="Arial" panose="020B0604020202020204" pitchFamily="34" charset="0"/>
              </a:rPr>
              <a:t>Entonces</a:t>
            </a:r>
            <a:endParaRPr kumimoji="1" lang="es-ES" sz="19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ángulo 2"/>
              <p:cNvSpPr/>
              <p:nvPr/>
            </p:nvSpPr>
            <p:spPr>
              <a:xfrm>
                <a:off x="965916" y="2210160"/>
                <a:ext cx="3258354" cy="689676"/>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smtClean="0">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𝟏</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𝟐𝟒</m:t>
                          </m:r>
                        </m:num>
                        <m:den>
                          <m:r>
                            <a:rPr kumimoji="1" lang="es-NI" sz="2000" b="1" i="1" smtClean="0">
                              <a:solidFill>
                                <a:srgbClr val="FF0000"/>
                              </a:solidFill>
                              <a:latin typeface="Cambria Math" panose="02040503050406030204" pitchFamily="18" charset="0"/>
                            </a:rPr>
                            <m:t>𝟔</m:t>
                          </m:r>
                        </m:den>
                      </m:f>
                      <m:r>
                        <a:rPr kumimoji="1" lang="es-MX"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𝟒</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965916" y="2210160"/>
                <a:ext cx="3258354" cy="689676"/>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4224270" y="2210160"/>
                <a:ext cx="3499843" cy="689676"/>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𝟐</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𝟏𝟐</m:t>
                          </m:r>
                        </m:num>
                        <m:den>
                          <m:r>
                            <a:rPr kumimoji="1" lang="es-NI" sz="2000" b="1" i="1" smtClean="0">
                              <a:solidFill>
                                <a:srgbClr val="FF0000"/>
                              </a:solidFill>
                              <a:latin typeface="Cambria Math" panose="02040503050406030204" pitchFamily="18" charset="0"/>
                            </a:rPr>
                            <m:t>𝟔</m:t>
                          </m:r>
                        </m:den>
                      </m:f>
                      <m:r>
                        <a:rPr kumimoji="1" lang="es-MX"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𝟐</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4224270" y="2210160"/>
                <a:ext cx="3499843" cy="689676"/>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321973" y="3424507"/>
                <a:ext cx="5434884" cy="384721"/>
              </a:xfrm>
              <a:prstGeom prst="rect">
                <a:avLst/>
              </a:prstGeom>
            </p:spPr>
            <p:txBody>
              <a:bodyPr wrap="square">
                <a:spAutoFit/>
              </a:bodyPr>
              <a:lstStyle/>
              <a:p>
                <a:pPr algn="just">
                  <a:buClrTx/>
                  <a:buFontTx/>
                  <a:buNone/>
                </a:pPr>
                <a:r>
                  <a:rPr lang="es-ES" sz="1900" b="1" kern="1200" dirty="0" smtClean="0">
                    <a:solidFill>
                      <a:srgbClr val="A5A5A5">
                        <a:lumMod val="50000"/>
                      </a:srgbClr>
                    </a:solidFill>
                    <a:latin typeface="Arial" panose="020B0604020202020204" pitchFamily="34" charset="0"/>
                    <a:cs typeface="Arial" panose="020B0604020202020204" pitchFamily="34" charset="0"/>
                  </a:rPr>
                  <a:t>La solución del sistema es </a:t>
                </a:r>
                <a14:m>
                  <m:oMath xmlns:m="http://schemas.openxmlformats.org/officeDocument/2006/math">
                    <m:r>
                      <a:rPr lang="es-ES" sz="1900" b="1" i="1" kern="1200" dirty="0" smtClean="0">
                        <a:solidFill>
                          <a:srgbClr val="FF0000"/>
                        </a:solidFill>
                        <a:latin typeface="Cambria Math" panose="02040503050406030204" pitchFamily="18" charset="0"/>
                        <a:cs typeface="Arial" panose="020B0604020202020204" pitchFamily="34" charset="0"/>
                      </a:rPr>
                      <m:t>𝑪</m:t>
                    </m:r>
                    <m:r>
                      <a:rPr lang="es-ES" sz="1900" b="1" i="1" kern="1200" dirty="0" smtClean="0">
                        <a:solidFill>
                          <a:srgbClr val="FF0000"/>
                        </a:solidFill>
                        <a:latin typeface="Cambria Math" panose="02040503050406030204" pitchFamily="18" charset="0"/>
                        <a:cs typeface="Arial" panose="020B0604020202020204" pitchFamily="34" charset="0"/>
                      </a:rPr>
                      <m:t>.</m:t>
                    </m:r>
                    <m:r>
                      <a:rPr lang="es-ES" sz="1900" b="1" i="1" kern="1200" dirty="0" smtClean="0">
                        <a:solidFill>
                          <a:srgbClr val="FF0000"/>
                        </a:solidFill>
                        <a:latin typeface="Cambria Math" panose="02040503050406030204" pitchFamily="18" charset="0"/>
                        <a:cs typeface="Arial" panose="020B0604020202020204" pitchFamily="34" charset="0"/>
                      </a:rPr>
                      <m:t>𝑺</m:t>
                    </m:r>
                    <m:r>
                      <a:rPr lang="es-ES" sz="1900" b="1" i="1" kern="1200" dirty="0" smtClean="0">
                        <a:solidFill>
                          <a:srgbClr val="FF0000"/>
                        </a:solidFill>
                        <a:latin typeface="Cambria Math" panose="02040503050406030204" pitchFamily="18" charset="0"/>
                        <a:cs typeface="Arial" panose="020B0604020202020204" pitchFamily="34" charset="0"/>
                      </a:rPr>
                      <m:t>.= {(</m:t>
                    </m:r>
                    <m:r>
                      <a:rPr lang="es-NI" sz="1900" b="1" i="1" kern="1200" dirty="0" smtClean="0">
                        <a:solidFill>
                          <a:srgbClr val="FF0000"/>
                        </a:solidFill>
                        <a:latin typeface="Cambria Math" panose="02040503050406030204" pitchFamily="18" charset="0"/>
                      </a:rPr>
                      <m:t>𝟒</m:t>
                    </m:r>
                    <m:r>
                      <a:rPr lang="es-ES" sz="1900" b="1" i="1" kern="1200" dirty="0">
                        <a:solidFill>
                          <a:srgbClr val="FF0000"/>
                        </a:solidFill>
                        <a:latin typeface="Cambria Math"/>
                      </a:rPr>
                      <m:t>, </m:t>
                    </m:r>
                    <m:r>
                      <a:rPr lang="es-NI" sz="1900" b="1" i="1" kern="1200" dirty="0" smtClean="0">
                        <a:solidFill>
                          <a:srgbClr val="FF0000"/>
                        </a:solidFill>
                        <a:latin typeface="Cambria Math" panose="02040503050406030204" pitchFamily="18" charset="0"/>
                      </a:rPr>
                      <m:t>−</m:t>
                    </m:r>
                    <m:r>
                      <a:rPr lang="es-NI" sz="1900" b="1" i="1" kern="1200" dirty="0" smtClean="0">
                        <a:solidFill>
                          <a:srgbClr val="FF0000"/>
                        </a:solidFill>
                        <a:latin typeface="Cambria Math" panose="02040503050406030204" pitchFamily="18" charset="0"/>
                      </a:rPr>
                      <m:t>𝟐</m:t>
                    </m:r>
                    <m:r>
                      <a:rPr lang="es-NI" sz="1900" b="1" i="1" kern="1200" dirty="0" smtClean="0">
                        <a:solidFill>
                          <a:srgbClr val="FF0000"/>
                        </a:solidFill>
                        <a:latin typeface="Cambria Math" panose="02040503050406030204" pitchFamily="18" charset="0"/>
                      </a:rPr>
                      <m:t>, </m:t>
                    </m:r>
                    <m:r>
                      <a:rPr lang="es-NI" sz="1900" b="1" i="1" kern="1200" dirty="0" smtClean="0">
                        <a:solidFill>
                          <a:srgbClr val="FF0000"/>
                        </a:solidFill>
                        <a:latin typeface="Cambria Math" panose="02040503050406030204" pitchFamily="18" charset="0"/>
                      </a:rPr>
                      <m:t>𝟑</m:t>
                    </m:r>
                    <m:r>
                      <a:rPr lang="es-MX" sz="1900" b="1" i="1" kern="1200" dirty="0" smtClean="0">
                        <a:solidFill>
                          <a:srgbClr val="FF0000"/>
                        </a:solidFill>
                        <a:latin typeface="Cambria Math" panose="02040503050406030204" pitchFamily="18" charset="0"/>
                      </a:rPr>
                      <m:t>)</m:t>
                    </m:r>
                    <m:r>
                      <a:rPr lang="es-MX" sz="1900" b="1" i="1" kern="1200" dirty="0" smtClean="0">
                        <a:solidFill>
                          <a:prstClr val="black"/>
                        </a:solidFill>
                        <a:latin typeface="Cambria Math" panose="02040503050406030204" pitchFamily="18" charset="0"/>
                      </a:rPr>
                      <m:t>}</m:t>
                    </m:r>
                  </m:oMath>
                </a14:m>
                <a:endParaRPr lang="es-ES" sz="1900" b="1" kern="1200" dirty="0">
                  <a:solidFill>
                    <a:prstClr val="black"/>
                  </a:solidFill>
                  <a:latin typeface="Arial" panose="020B0604020202020204" pitchFamily="34" charset="0"/>
                  <a:cs typeface="Arial" panose="020B0604020202020204" pitchFamily="34"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321973" y="3424507"/>
                <a:ext cx="5434884" cy="384721"/>
              </a:xfrm>
              <a:prstGeom prst="rect">
                <a:avLst/>
              </a:prstGeom>
              <a:blipFill rotWithShape="0">
                <a:blip r:embed="rId4"/>
                <a:stretch>
                  <a:fillRect l="-1122" t="-9524" b="-2539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7724113" y="2210160"/>
                <a:ext cx="3232594" cy="689676"/>
              </a:xfrm>
              <a:prstGeom prst="rect">
                <a:avLst/>
              </a:prstGeom>
            </p:spPr>
            <p:txBody>
              <a:bodyPr wrap="square">
                <a:spAutoFit/>
              </a:bodyPr>
              <a:lstStyle/>
              <a:p>
                <a:pPr algn="just" fontAlgn="base">
                  <a:spcBef>
                    <a:spcPct val="20000"/>
                  </a:spcBef>
                  <a:spcAft>
                    <a:spcPct val="0"/>
                  </a:spcAft>
                  <a:buClrTx/>
                  <a:buFontTx/>
                  <a:buNone/>
                </a:pPr>
                <a14:m>
                  <m:oMathPara xmlns:m="http://schemas.openxmlformats.org/officeDocument/2006/math">
                    <m:oMathParaPr>
                      <m:jc m:val="left"/>
                    </m:oMathParaPr>
                    <m:oMath xmlns:m="http://schemas.openxmlformats.org/officeDocument/2006/math">
                      <m:sSub>
                        <m:sSubPr>
                          <m:ctrlPr>
                            <a:rPr kumimoji="1" lang="es-NI" sz="2000" b="1" i="1" smtClean="0">
                              <a:solidFill>
                                <a:srgbClr val="002060"/>
                              </a:solidFill>
                              <a:latin typeface="Cambria Math" panose="02040503050406030204" pitchFamily="18" charset="0"/>
                            </a:rPr>
                          </m:ctrlPr>
                        </m:sSubPr>
                        <m:e>
                          <m:r>
                            <a:rPr kumimoji="1" lang="es-NI" sz="2000" b="1" i="1">
                              <a:solidFill>
                                <a:srgbClr val="002060"/>
                              </a:solidFill>
                              <a:latin typeface="Cambria Math" panose="02040503050406030204" pitchFamily="18" charset="0"/>
                            </a:rPr>
                            <m:t>𝒙</m:t>
                          </m:r>
                        </m:e>
                        <m:sub>
                          <m:r>
                            <a:rPr kumimoji="1" lang="es-NI" sz="2000" b="1" i="1" smtClean="0">
                              <a:solidFill>
                                <a:srgbClr val="002060"/>
                              </a:solidFill>
                              <a:latin typeface="Cambria Math" panose="02040503050406030204" pitchFamily="18" charset="0"/>
                            </a:rPr>
                            <m:t>𝟑</m:t>
                          </m:r>
                        </m:sub>
                      </m:sSub>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lang="es-NI" sz="2000" b="1" i="1">
                              <a:solidFill>
                                <a:schemeClr val="accent3">
                                  <a:lumMod val="50000"/>
                                </a:schemeClr>
                              </a:solidFill>
                              <a:latin typeface="Cambria Math" panose="02040503050406030204" pitchFamily="18" charset="0"/>
                              <a:cs typeface="Arial" panose="020B0604020202020204" pitchFamily="34" charset="0"/>
                            </a:rPr>
                            <m:t>𝒅𝒆𝒕</m:t>
                          </m:r>
                          <m:r>
                            <a:rPr lang="es-NI" sz="2000" b="1" i="1">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a:solidFill>
                                    <a:schemeClr val="accent3">
                                      <a:lumMod val="50000"/>
                                    </a:schemeClr>
                                  </a:solidFill>
                                  <a:latin typeface="Cambria Math" panose="02040503050406030204" pitchFamily="18" charset="0"/>
                                  <a:cs typeface="Arial" panose="020B0604020202020204" pitchFamily="34" charset="0"/>
                                </a:rPr>
                              </m:ctrlPr>
                            </m:sSubPr>
                            <m:e>
                              <m:r>
                                <a:rPr lang="es-NI" sz="2000" b="1" i="1">
                                  <a:solidFill>
                                    <a:schemeClr val="accent3">
                                      <a:lumMod val="50000"/>
                                    </a:schemeClr>
                                  </a:solidFill>
                                  <a:latin typeface="Cambria Math" panose="02040503050406030204" pitchFamily="18" charset="0"/>
                                  <a:cs typeface="Arial" panose="020B0604020202020204" pitchFamily="34" charset="0"/>
                                </a:rPr>
                                <m:t>𝑨</m:t>
                              </m:r>
                            </m:e>
                            <m:sub>
                              <m:r>
                                <a:rPr lang="es-NI" sz="2000" b="1" i="1">
                                  <a:solidFill>
                                    <a:schemeClr val="accent3">
                                      <a:lumMod val="50000"/>
                                    </a:schemeClr>
                                  </a:solidFill>
                                  <a:latin typeface="Cambria Math" panose="02040503050406030204" pitchFamily="18" charset="0"/>
                                  <a:cs typeface="Arial" panose="020B0604020202020204" pitchFamily="34" charset="0"/>
                                </a:rPr>
                                <m:t>𝟑</m:t>
                              </m:r>
                            </m:sub>
                          </m:sSub>
                          <m:d>
                            <m:dPr>
                              <m:ctrlPr>
                                <a:rPr lang="es-NI" sz="2000" b="1" i="1">
                                  <a:solidFill>
                                    <a:schemeClr val="accent3">
                                      <a:lumMod val="50000"/>
                                    </a:schemeClr>
                                  </a:solidFill>
                                  <a:latin typeface="Cambria Math" panose="02040503050406030204" pitchFamily="18" charset="0"/>
                                  <a:cs typeface="Arial" panose="020B0604020202020204" pitchFamily="34" charset="0"/>
                                </a:rPr>
                              </m:ctrlPr>
                            </m:dPr>
                            <m:e>
                              <m:r>
                                <a:rPr lang="es-NI" sz="2000" b="1" i="1">
                                  <a:solidFill>
                                    <a:schemeClr val="accent3">
                                      <a:lumMod val="50000"/>
                                    </a:schemeClr>
                                  </a:solidFill>
                                  <a:latin typeface="Cambria Math" panose="02040503050406030204" pitchFamily="18" charset="0"/>
                                  <a:cs typeface="Arial" panose="020B0604020202020204" pitchFamily="34" charset="0"/>
                                </a:rPr>
                                <m:t>𝒃</m:t>
                              </m:r>
                            </m:e>
                          </m:d>
                        </m:num>
                        <m:den>
                          <m:r>
                            <a:rPr kumimoji="1" lang="es-NI" sz="2000" b="1" i="1">
                              <a:solidFill>
                                <a:srgbClr val="A5A5A5">
                                  <a:lumMod val="50000"/>
                                </a:srgbClr>
                              </a:solidFill>
                              <a:latin typeface="Cambria Math" panose="02040503050406030204" pitchFamily="18" charset="0"/>
                            </a:rPr>
                            <m:t>𝒅𝒆𝒕</m:t>
                          </m:r>
                          <m:r>
                            <a:rPr kumimoji="1" lang="es-NI" sz="2000" b="1" i="1">
                              <a:solidFill>
                                <a:srgbClr val="A5A5A5">
                                  <a:lumMod val="50000"/>
                                </a:srgbClr>
                              </a:solidFill>
                              <a:latin typeface="Cambria Math" panose="02040503050406030204" pitchFamily="18" charset="0"/>
                            </a:rPr>
                            <m:t> </m:t>
                          </m:r>
                          <m:r>
                            <a:rPr kumimoji="1" lang="es-NI" sz="2000" b="1" i="1">
                              <a:solidFill>
                                <a:srgbClr val="A5A5A5">
                                  <a:lumMod val="50000"/>
                                </a:srgbClr>
                              </a:solidFill>
                              <a:latin typeface="Cambria Math" panose="02040503050406030204" pitchFamily="18" charset="0"/>
                            </a:rPr>
                            <m:t>𝑨</m:t>
                          </m:r>
                        </m:den>
                      </m:f>
                      <m:r>
                        <a:rPr kumimoji="1" lang="es-MX" sz="2000" b="1" i="1" smtClean="0">
                          <a:solidFill>
                            <a:srgbClr val="FF0000"/>
                          </a:solidFill>
                          <a:latin typeface="Cambria Math" panose="02040503050406030204" pitchFamily="18" charset="0"/>
                        </a:rPr>
                        <m:t>=</m:t>
                      </m:r>
                      <m:f>
                        <m:fPr>
                          <m:ctrlPr>
                            <a:rPr kumimoji="1" lang="es-MX" sz="2000" b="1" i="1" smtClean="0">
                              <a:solidFill>
                                <a:srgbClr val="FF0000"/>
                              </a:solidFill>
                              <a:latin typeface="Cambria Math" panose="02040503050406030204" pitchFamily="18" charset="0"/>
                            </a:rPr>
                          </m:ctrlPr>
                        </m:fPr>
                        <m:num>
                          <m:r>
                            <a:rPr kumimoji="1" lang="es-NI" sz="2000" b="1" i="1" smtClean="0">
                              <a:solidFill>
                                <a:srgbClr val="FF0000"/>
                              </a:solidFill>
                              <a:latin typeface="Cambria Math" panose="02040503050406030204" pitchFamily="18" charset="0"/>
                            </a:rPr>
                            <m:t>𝟏𝟖</m:t>
                          </m:r>
                        </m:num>
                        <m:den>
                          <m:r>
                            <a:rPr kumimoji="1" lang="es-NI" sz="2000" b="1" i="1" smtClean="0">
                              <a:solidFill>
                                <a:srgbClr val="FF0000"/>
                              </a:solidFill>
                              <a:latin typeface="Cambria Math" panose="02040503050406030204" pitchFamily="18" charset="0"/>
                            </a:rPr>
                            <m:t>𝟔</m:t>
                          </m:r>
                        </m:den>
                      </m:f>
                      <m:r>
                        <a:rPr kumimoji="1" lang="es-MX" sz="2000" b="1" i="1" smtClean="0">
                          <a:solidFill>
                            <a:srgbClr val="FF0000"/>
                          </a:solidFill>
                          <a:latin typeface="Cambria Math" panose="02040503050406030204" pitchFamily="18" charset="0"/>
                        </a:rPr>
                        <m:t>=</m:t>
                      </m:r>
                      <m:r>
                        <a:rPr kumimoji="1" lang="es-NI" sz="2000" b="1" i="1" smtClean="0">
                          <a:solidFill>
                            <a:srgbClr val="FF0000"/>
                          </a:solidFill>
                          <a:latin typeface="Cambria Math" panose="02040503050406030204" pitchFamily="18" charset="0"/>
                        </a:rPr>
                        <m:t>𝟑</m:t>
                      </m:r>
                    </m:oMath>
                  </m:oMathPara>
                </a14:m>
                <a:endParaRPr kumimoji="1" lang="es-ES" sz="1900" b="1" dirty="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6" name="Rectángulo 5"/>
              <p:cNvSpPr>
                <a:spLocks noRot="1" noChangeAspect="1" noMove="1" noResize="1" noEditPoints="1" noAdjustHandles="1" noChangeArrowheads="1" noChangeShapeType="1" noTextEdit="1"/>
              </p:cNvSpPr>
              <p:nvPr/>
            </p:nvSpPr>
            <p:spPr>
              <a:xfrm>
                <a:off x="7724113" y="2210160"/>
                <a:ext cx="3232594" cy="689676"/>
              </a:xfrm>
              <a:prstGeom prst="rect">
                <a:avLst/>
              </a:prstGeom>
              <a:blipFill rotWithShape="0">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85768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ircle(in)">
                                      <p:cBhvr>
                                        <p:cTn id="2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p:nvPr/>
        </p:nvSpPr>
        <p:spPr>
          <a:xfrm>
            <a:off x="0" y="1147250"/>
            <a:ext cx="3967753" cy="430887"/>
          </a:xfrm>
          <a:prstGeom prst="rect">
            <a:avLst/>
          </a:prstGeom>
          <a:noFill/>
        </p:spPr>
        <p:txBody>
          <a:bodyPr wrap="none">
            <a:spAutoFit/>
          </a:bodyPr>
          <a:lstStyle/>
          <a:p>
            <a:pPr>
              <a:defRPr sz="2700" b="1">
                <a:solidFill>
                  <a:srgbClr val="232D34"/>
                </a:solidFill>
                <a:latin typeface="Arial"/>
              </a:defRPr>
            </a:pPr>
            <a:r>
              <a:rPr sz="2200" dirty="0" err="1"/>
              <a:t>Regla</a:t>
            </a:r>
            <a:r>
              <a:rPr sz="2200" dirty="0"/>
              <a:t> de Cramer en 4 </a:t>
            </a:r>
            <a:r>
              <a:rPr sz="2200" dirty="0" err="1"/>
              <a:t>pasos</a:t>
            </a:r>
            <a:endParaRPr sz="2200" dirty="0"/>
          </a:p>
        </p:txBody>
      </p:sp>
      <mc:AlternateContent xmlns:mc="http://schemas.openxmlformats.org/markup-compatibility/2006" xmlns:a14="http://schemas.microsoft.com/office/drawing/2010/main">
        <mc:Choice Requires="a14">
          <p:sp>
            <p:nvSpPr>
              <p:cNvPr id="11" name="TextBox 3"/>
              <p:cNvSpPr txBox="1"/>
              <p:nvPr/>
            </p:nvSpPr>
            <p:spPr>
              <a:xfrm>
                <a:off x="0" y="1714618"/>
                <a:ext cx="5794984" cy="400110"/>
              </a:xfrm>
              <a:prstGeom prst="rect">
                <a:avLst/>
              </a:prstGeom>
              <a:noFill/>
            </p:spPr>
            <p:txBody>
              <a:bodyPr wrap="none">
                <a:spAutoFit/>
              </a:bodyPr>
              <a:lstStyle/>
              <a:p>
                <a:pPr>
                  <a:defRPr sz="1400">
                    <a:solidFill>
                      <a:srgbClr val="00A6A6"/>
                    </a:solidFill>
                    <a:latin typeface="Arial"/>
                  </a:defRPr>
                </a:pPr>
                <a:r>
                  <a:rPr sz="2000" b="1" dirty="0"/>
                  <a:t>De </a:t>
                </a:r>
                <a14:m>
                  <m:oMath xmlns:m="http://schemas.openxmlformats.org/officeDocument/2006/math">
                    <m:r>
                      <a:rPr lang="es-MX" sz="2000" b="1" i="1" dirty="0" smtClean="0">
                        <a:latin typeface="Cambria Math" panose="02040503050406030204" pitchFamily="18" charset="0"/>
                      </a:rPr>
                      <m:t>𝑨𝑿</m:t>
                    </m:r>
                    <m:r>
                      <a:rPr lang="es-MX" sz="2000" b="1" i="1" dirty="0" smtClean="0">
                        <a:latin typeface="Cambria Math" panose="02040503050406030204" pitchFamily="18" charset="0"/>
                      </a:rPr>
                      <m:t> = </m:t>
                    </m:r>
                    <m:r>
                      <a:rPr lang="es-MX" sz="2000" b="1" i="1" dirty="0" smtClean="0">
                        <a:latin typeface="Cambria Math" panose="02040503050406030204" pitchFamily="18" charset="0"/>
                      </a:rPr>
                      <m:t>𝑩</m:t>
                    </m:r>
                    <m:r>
                      <a:rPr lang="es-MX" sz="2000" b="1" i="1" dirty="0" smtClean="0">
                        <a:latin typeface="Cambria Math" panose="02040503050406030204" pitchFamily="18" charset="0"/>
                      </a:rPr>
                      <m:t> </m:t>
                    </m:r>
                  </m:oMath>
                </a14:m>
                <a:r>
                  <a:rPr sz="2000" b="1" dirty="0"/>
                  <a:t>a </a:t>
                </a:r>
                <a:r>
                  <a:rPr sz="2000" b="1" dirty="0" err="1"/>
                  <a:t>cada</a:t>
                </a:r>
                <a:r>
                  <a:rPr sz="2000" b="1" dirty="0"/>
                  <a:t> </a:t>
                </a:r>
                <a:r>
                  <a:rPr sz="2000" b="1" dirty="0" err="1"/>
                  <a:t>componente</a:t>
                </a:r>
                <a:r>
                  <a:rPr sz="2000" b="1" dirty="0"/>
                  <a:t> de la </a:t>
                </a:r>
                <a:r>
                  <a:rPr sz="2000" b="1" dirty="0" err="1"/>
                  <a:t>solución</a:t>
                </a:r>
                <a:endParaRPr sz="2000" b="1" dirty="0"/>
              </a:p>
            </p:txBody>
          </p:sp>
        </mc:Choice>
        <mc:Fallback xmlns="">
          <p:sp>
            <p:nvSpPr>
              <p:cNvPr id="11" name="TextBox 3"/>
              <p:cNvSpPr txBox="1">
                <a:spLocks noRot="1" noChangeAspect="1" noMove="1" noResize="1" noEditPoints="1" noAdjustHandles="1" noChangeArrowheads="1" noChangeShapeType="1" noTextEdit="1"/>
              </p:cNvSpPr>
              <p:nvPr/>
            </p:nvSpPr>
            <p:spPr>
              <a:xfrm>
                <a:off x="0" y="1714618"/>
                <a:ext cx="5794984" cy="400110"/>
              </a:xfrm>
              <a:prstGeom prst="rect">
                <a:avLst/>
              </a:prstGeom>
              <a:blipFill rotWithShape="0">
                <a:blip r:embed="rId2"/>
                <a:stretch>
                  <a:fillRect l="-1052" t="-6061" r="-315" b="-2727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2" name="Rounded Rectangle 4"/>
              <p:cNvSpPr/>
              <p:nvPr/>
            </p:nvSpPr>
            <p:spPr>
              <a:xfrm>
                <a:off x="506783" y="2616987"/>
                <a:ext cx="2194560" cy="146304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A6A6"/>
                    </a:solidFill>
                    <a:latin typeface="Arial"/>
                  </a:defRPr>
                </a:pPr>
                <a:r>
                  <a:rPr dirty="0">
                    <a:solidFill>
                      <a:srgbClr val="FF0000"/>
                    </a:solidFill>
                  </a:rPr>
                  <a:t>Sistema</a:t>
                </a:r>
                <a:r>
                  <a:rPr dirty="0"/>
                  <a:t/>
                </a:r>
                <a:br>
                  <a:rPr dirty="0"/>
                </a:b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𝑨𝑿</m:t>
                      </m:r>
                      <m:r>
                        <a:rPr lang="es-MX" b="1" i="1" dirty="0" smtClean="0">
                          <a:latin typeface="Cambria Math" panose="02040503050406030204" pitchFamily="18" charset="0"/>
                        </a:rPr>
                        <m:t> = </m:t>
                      </m:r>
                      <m:r>
                        <a:rPr lang="es-MX" b="1" i="1" dirty="0" smtClean="0">
                          <a:latin typeface="Cambria Math" panose="02040503050406030204" pitchFamily="18" charset="0"/>
                        </a:rPr>
                        <m:t>𝑩</m:t>
                      </m:r>
                    </m:oMath>
                  </m:oMathPara>
                </a14:m>
                <a:endParaRPr b="1" dirty="0"/>
              </a:p>
              <a:p>
                <a:pPr>
                  <a:spcAft>
                    <a:spcPts val="400"/>
                  </a:spcAft>
                  <a:defRPr sz="1400">
                    <a:solidFill>
                      <a:srgbClr val="232D34"/>
                    </a:solidFill>
                    <a:latin typeface="Arial"/>
                  </a:defRPr>
                </a:pPr>
                <a:endParaRPr dirty="0"/>
              </a:p>
            </p:txBody>
          </p:sp>
        </mc:Choice>
        <mc:Fallback>
          <p:sp>
            <p:nvSpPr>
              <p:cNvPr id="12" name="Rounded Rectangle 4"/>
              <p:cNvSpPr>
                <a:spLocks noRot="1" noChangeAspect="1" noMove="1" noResize="1" noEditPoints="1" noAdjustHandles="1" noChangeArrowheads="1" noChangeShapeType="1" noTextEdit="1"/>
              </p:cNvSpPr>
              <p:nvPr/>
            </p:nvSpPr>
            <p:spPr>
              <a:xfrm>
                <a:off x="506783" y="2616987"/>
                <a:ext cx="2194560" cy="1463040"/>
              </a:xfrm>
              <a:prstGeom prst="roundRect">
                <a:avLst/>
              </a:prstGeom>
              <a:blipFill rotWithShape="0">
                <a:blip r:embed="rId3"/>
                <a:stretch>
                  <a:fillRect/>
                </a:stretch>
              </a:blipFill>
              <a:ln w="19050">
                <a:solidFill>
                  <a:srgbClr val="00A6A6"/>
                </a:solidFill>
              </a:ln>
            </p:spPr>
            <p:txBody>
              <a:bodyPr/>
              <a:lstStyle/>
              <a:p>
                <a:r>
                  <a:rPr lang="es-MX">
                    <a:noFill/>
                  </a:rPr>
                  <a:t> </a:t>
                </a:r>
              </a:p>
            </p:txBody>
          </p:sp>
        </mc:Fallback>
      </mc:AlternateContent>
      <p:cxnSp>
        <p:nvCxnSpPr>
          <p:cNvPr id="13" name="Connector 5"/>
          <p:cNvCxnSpPr/>
          <p:nvPr/>
        </p:nvCxnSpPr>
        <p:spPr>
          <a:xfrm>
            <a:off x="2701343" y="3348507"/>
            <a:ext cx="50292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4" name="Rounded Rectangle 6"/>
              <p:cNvSpPr/>
              <p:nvPr/>
            </p:nvSpPr>
            <p:spPr>
              <a:xfrm>
                <a:off x="3341423" y="2616987"/>
                <a:ext cx="2194560" cy="146304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A6A6"/>
                    </a:solidFill>
                    <a:latin typeface="Arial"/>
                  </a:defRPr>
                </a:pPr>
                <a:r>
                  <a:rPr dirty="0" err="1">
                    <a:solidFill>
                      <a:srgbClr val="FF0000"/>
                    </a:solidFill>
                  </a:rPr>
                  <a:t>Calcular</a:t>
                </a:r>
                <a:r>
                  <a:rPr dirty="0">
                    <a:solidFill>
                      <a:srgbClr val="FF0000"/>
                    </a:solidFill>
                  </a:rPr>
                  <a:t/>
                </a:r>
                <a:br>
                  <a:rPr dirty="0">
                    <a:solidFill>
                      <a:srgbClr val="FF0000"/>
                    </a:solidFill>
                  </a:rPr>
                </a:b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𝒅𝒆𝒕</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m:t>
                      </m:r>
                    </m:oMath>
                  </m:oMathPara>
                </a14:m>
                <a:endParaRPr b="1" dirty="0"/>
              </a:p>
              <a:p>
                <a:pPr>
                  <a:spcAft>
                    <a:spcPts val="400"/>
                  </a:spcAft>
                  <a:defRPr sz="1400">
                    <a:solidFill>
                      <a:srgbClr val="232D34"/>
                    </a:solidFill>
                    <a:latin typeface="Arial"/>
                  </a:defRPr>
                </a:pPr>
                <a:endParaRPr b="1" dirty="0"/>
              </a:p>
            </p:txBody>
          </p:sp>
        </mc:Choice>
        <mc:Fallback>
          <p:sp>
            <p:nvSpPr>
              <p:cNvPr id="14" name="Rounded Rectangle 6"/>
              <p:cNvSpPr>
                <a:spLocks noRot="1" noChangeAspect="1" noMove="1" noResize="1" noEditPoints="1" noAdjustHandles="1" noChangeArrowheads="1" noChangeShapeType="1" noTextEdit="1"/>
              </p:cNvSpPr>
              <p:nvPr/>
            </p:nvSpPr>
            <p:spPr>
              <a:xfrm>
                <a:off x="3341423" y="2616987"/>
                <a:ext cx="2194560" cy="1463040"/>
              </a:xfrm>
              <a:prstGeom prst="roundRect">
                <a:avLst/>
              </a:prstGeom>
              <a:blipFill rotWithShape="0">
                <a:blip r:embed="rId4"/>
                <a:stretch>
                  <a:fillRect/>
                </a:stretch>
              </a:blipFill>
              <a:ln w="19050">
                <a:solidFill>
                  <a:srgbClr val="00A6A6"/>
                </a:solidFill>
              </a:ln>
            </p:spPr>
            <p:txBody>
              <a:bodyPr/>
              <a:lstStyle/>
              <a:p>
                <a:r>
                  <a:rPr lang="es-MX">
                    <a:noFill/>
                  </a:rPr>
                  <a:t> </a:t>
                </a:r>
              </a:p>
            </p:txBody>
          </p:sp>
        </mc:Fallback>
      </mc:AlternateContent>
      <p:cxnSp>
        <p:nvCxnSpPr>
          <p:cNvPr id="15" name="Connector 7"/>
          <p:cNvCxnSpPr/>
          <p:nvPr/>
        </p:nvCxnSpPr>
        <p:spPr>
          <a:xfrm>
            <a:off x="5535983" y="3348507"/>
            <a:ext cx="50292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6" name="Rounded Rectangle 8"/>
              <p:cNvSpPr/>
              <p:nvPr/>
            </p:nvSpPr>
            <p:spPr>
              <a:xfrm>
                <a:off x="6176063" y="2616987"/>
                <a:ext cx="2194560" cy="146304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A6A6"/>
                    </a:solidFill>
                    <a:latin typeface="Arial"/>
                  </a:defRPr>
                </a:pPr>
                <a:r>
                  <a:rPr dirty="0" err="1">
                    <a:solidFill>
                      <a:srgbClr val="FF0000"/>
                    </a:solidFill>
                  </a:rPr>
                  <a:t>Reemplazar</a:t>
                </a:r>
                <a:r>
                  <a:rPr dirty="0">
                    <a:solidFill>
                      <a:srgbClr val="FF0000"/>
                    </a:solidFill>
                  </a:rPr>
                  <a:t/>
                </a:r>
                <a:br>
                  <a:rPr dirty="0">
                    <a:solidFill>
                      <a:srgbClr val="FF0000"/>
                    </a:solidFill>
                  </a:rPr>
                </a:br>
                <a:r>
                  <a:rPr dirty="0" err="1">
                    <a:solidFill>
                      <a:srgbClr val="FF0000"/>
                    </a:solidFill>
                  </a:rPr>
                  <a:t>columna</a:t>
                </a:r>
                <a:r>
                  <a:rPr dirty="0">
                    <a:solidFill>
                      <a:srgbClr val="FF0000"/>
                    </a:solidFill>
                  </a:rPr>
                  <a:t> </a:t>
                </a:r>
                <a14:m>
                  <m:oMath xmlns:m="http://schemas.openxmlformats.org/officeDocument/2006/math">
                    <m:r>
                      <a:rPr lang="es-MX" b="1" i="1" dirty="0" smtClean="0">
                        <a:latin typeface="Cambria Math" panose="02040503050406030204" pitchFamily="18" charset="0"/>
                      </a:rPr>
                      <m:t>𝒊</m:t>
                    </m:r>
                  </m:oMath>
                </a14:m>
                <a:endParaRPr b="1" dirty="0"/>
              </a:p>
              <a:p>
                <a:pPr>
                  <a:spcAft>
                    <a:spcPts val="400"/>
                  </a:spcAft>
                  <a:defRPr sz="1400">
                    <a:solidFill>
                      <a:srgbClr val="232D34"/>
                    </a:solidFill>
                    <a:latin typeface="Arial"/>
                  </a:defRPr>
                </a:pPr>
                <a:endParaRPr dirty="0"/>
              </a:p>
            </p:txBody>
          </p:sp>
        </mc:Choice>
        <mc:Fallback>
          <p:sp>
            <p:nvSpPr>
              <p:cNvPr id="16" name="Rounded Rectangle 8"/>
              <p:cNvSpPr>
                <a:spLocks noRot="1" noChangeAspect="1" noMove="1" noResize="1" noEditPoints="1" noAdjustHandles="1" noChangeArrowheads="1" noChangeShapeType="1" noTextEdit="1"/>
              </p:cNvSpPr>
              <p:nvPr/>
            </p:nvSpPr>
            <p:spPr>
              <a:xfrm>
                <a:off x="6176063" y="2616987"/>
                <a:ext cx="2194560" cy="1463040"/>
              </a:xfrm>
              <a:prstGeom prst="roundRect">
                <a:avLst/>
              </a:prstGeom>
              <a:blipFill rotWithShape="0">
                <a:blip r:embed="rId5"/>
                <a:stretch>
                  <a:fillRect/>
                </a:stretch>
              </a:blipFill>
              <a:ln w="19050">
                <a:solidFill>
                  <a:srgbClr val="00A6A6"/>
                </a:solidFill>
              </a:ln>
            </p:spPr>
            <p:txBody>
              <a:bodyPr/>
              <a:lstStyle/>
              <a:p>
                <a:r>
                  <a:rPr lang="es-MX">
                    <a:noFill/>
                  </a:rPr>
                  <a:t> </a:t>
                </a:r>
              </a:p>
            </p:txBody>
          </p:sp>
        </mc:Fallback>
      </mc:AlternateContent>
      <p:cxnSp>
        <p:nvCxnSpPr>
          <p:cNvPr id="17" name="Connector 9"/>
          <p:cNvCxnSpPr/>
          <p:nvPr/>
        </p:nvCxnSpPr>
        <p:spPr>
          <a:xfrm>
            <a:off x="8370623" y="3348507"/>
            <a:ext cx="502920" cy="0"/>
          </a:xfrm>
          <a:prstGeom prst="line">
            <a:avLst/>
          </a:prstGeom>
          <a:ln w="38100">
            <a:solidFill>
              <a:srgbClr val="00A6A6"/>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Rounded Rectangle 10"/>
              <p:cNvSpPr/>
              <p:nvPr/>
            </p:nvSpPr>
            <p:spPr>
              <a:xfrm>
                <a:off x="9023581" y="2616987"/>
                <a:ext cx="2515889" cy="1463040"/>
              </a:xfrm>
              <a:prstGeom prst="roundRect">
                <a:avLst/>
              </a:prstGeom>
              <a:solidFill>
                <a:srgbClr val="EBF8F8"/>
              </a:solidFill>
              <a:ln w="19050">
                <a:solidFill>
                  <a:srgbClr val="00A6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A6A6"/>
                    </a:solidFill>
                    <a:latin typeface="Arial"/>
                  </a:defRPr>
                </a:pPr>
                <a14:m>
                  <m:oMathPara xmlns:m="http://schemas.openxmlformats.org/officeDocument/2006/math">
                    <m:oMathParaPr>
                      <m:jc m:val="centerGroup"/>
                    </m:oMathParaPr>
                    <m:oMath xmlns:m="http://schemas.openxmlformats.org/officeDocument/2006/math">
                      <m:r>
                        <a:rPr lang="es-MX" b="1" i="1" dirty="0" smtClean="0">
                          <a:latin typeface="Cambria Math" panose="02040503050406030204" pitchFamily="18" charset="0"/>
                        </a:rPr>
                        <m:t>𝒙</m:t>
                      </m:r>
                      <m:r>
                        <a:rPr lang="es-MX" b="1" i="1" dirty="0" smtClean="0">
                          <a:latin typeface="Cambria Math" panose="02040503050406030204" pitchFamily="18" charset="0"/>
                        </a:rPr>
                        <m:t>ᵢ = </m:t>
                      </m:r>
                      <m:r>
                        <a:rPr lang="es-MX" b="1" i="1" dirty="0" err="1">
                          <a:latin typeface="Cambria Math" panose="02040503050406030204" pitchFamily="18" charset="0"/>
                        </a:rPr>
                        <m:t>𝒅𝒆𝒕</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ᵢ)/</m:t>
                      </m:r>
                      <m:r>
                        <a:rPr lang="es-MX" b="1" i="1" dirty="0" err="1">
                          <a:latin typeface="Cambria Math" panose="02040503050406030204" pitchFamily="18" charset="0"/>
                        </a:rPr>
                        <m:t>𝒅𝒆𝒕</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m:t>
                      </m:r>
                    </m:oMath>
                  </m:oMathPara>
                </a14:m>
                <a:endParaRPr b="1" i="1" dirty="0"/>
              </a:p>
              <a:p>
                <a:pPr>
                  <a:spcAft>
                    <a:spcPts val="400"/>
                  </a:spcAft>
                  <a:defRPr sz="1400">
                    <a:solidFill>
                      <a:srgbClr val="232D34"/>
                    </a:solidFill>
                    <a:latin typeface="Arial"/>
                  </a:defRPr>
                </a:pPr>
                <a:endParaRPr dirty="0"/>
              </a:p>
            </p:txBody>
          </p:sp>
        </mc:Choice>
        <mc:Fallback>
          <p:sp>
            <p:nvSpPr>
              <p:cNvPr id="18" name="Rounded Rectangle 10"/>
              <p:cNvSpPr>
                <a:spLocks noRot="1" noChangeAspect="1" noMove="1" noResize="1" noEditPoints="1" noAdjustHandles="1" noChangeArrowheads="1" noChangeShapeType="1" noTextEdit="1"/>
              </p:cNvSpPr>
              <p:nvPr/>
            </p:nvSpPr>
            <p:spPr>
              <a:xfrm>
                <a:off x="9023581" y="2616987"/>
                <a:ext cx="2515889" cy="1463040"/>
              </a:xfrm>
              <a:prstGeom prst="roundRect">
                <a:avLst/>
              </a:prstGeom>
              <a:blipFill rotWithShape="0">
                <a:blip r:embed="rId6"/>
                <a:stretch>
                  <a:fillRect/>
                </a:stretch>
              </a:blipFill>
              <a:ln w="19050">
                <a:solidFill>
                  <a:srgbClr val="00A6A6"/>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9" name="Rounded Rectangle 11"/>
              <p:cNvSpPr/>
              <p:nvPr/>
            </p:nvSpPr>
            <p:spPr>
              <a:xfrm>
                <a:off x="1832663" y="4674387"/>
                <a:ext cx="8046720" cy="914400"/>
              </a:xfrm>
              <a:prstGeom prst="roundRect">
                <a:avLst/>
              </a:prstGeom>
              <a:solidFill>
                <a:srgbClr val="FFFFFF"/>
              </a:solidFill>
              <a:ln w="19050">
                <a:solidFill>
                  <a:srgbClr val="DCAF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900" b="1">
                    <a:solidFill>
                      <a:srgbClr val="DCAF2D"/>
                    </a:solidFill>
                    <a:latin typeface="Arial"/>
                  </a:defRPr>
                </a:pPr>
                <a:r>
                  <a:rPr dirty="0" err="1">
                    <a:solidFill>
                      <a:srgbClr val="FF0000"/>
                    </a:solidFill>
                  </a:rPr>
                  <a:t>Condición</a:t>
                </a:r>
                <a:r>
                  <a:rPr dirty="0">
                    <a:solidFill>
                      <a:srgbClr val="FF0000"/>
                    </a:solidFill>
                  </a:rPr>
                  <a:t> </a:t>
                </a:r>
                <a:r>
                  <a:rPr dirty="0" err="1">
                    <a:solidFill>
                      <a:srgbClr val="FF0000"/>
                    </a:solidFill>
                  </a:rPr>
                  <a:t>esencial</a:t>
                </a:r>
                <a:endParaRPr dirty="0">
                  <a:solidFill>
                    <a:srgbClr val="FF0000"/>
                  </a:solidFill>
                </a:endParaRPr>
              </a:p>
              <a:p>
                <a:pPr algn="ctr">
                  <a:spcAft>
                    <a:spcPts val="400"/>
                  </a:spcAft>
                  <a:defRPr sz="2000">
                    <a:solidFill>
                      <a:srgbClr val="232D34"/>
                    </a:solidFill>
                    <a:latin typeface="Arial"/>
                  </a:defRPr>
                </a:pPr>
                <a14:m>
                  <m:oMath xmlns:m="http://schemas.openxmlformats.org/officeDocument/2006/math">
                    <m:r>
                      <a:rPr lang="es-MX" b="1" i="1" dirty="0" smtClean="0">
                        <a:latin typeface="Cambria Math" panose="02040503050406030204" pitchFamily="18" charset="0"/>
                      </a:rPr>
                      <m:t>𝒅𝒆𝒕</m:t>
                    </m:r>
                    <m:r>
                      <a:rPr lang="es-MX" b="1" i="1" dirty="0">
                        <a:latin typeface="Cambria Math" panose="02040503050406030204" pitchFamily="18" charset="0"/>
                      </a:rPr>
                      <m:t>⁡(</m:t>
                    </m:r>
                    <m:r>
                      <a:rPr lang="es-MX" b="1" i="1" dirty="0">
                        <a:latin typeface="Cambria Math" panose="02040503050406030204" pitchFamily="18" charset="0"/>
                      </a:rPr>
                      <m:t>𝑨</m:t>
                    </m:r>
                    <m:r>
                      <a:rPr lang="es-MX" b="1" i="1" dirty="0">
                        <a:latin typeface="Cambria Math" panose="02040503050406030204" pitchFamily="18" charset="0"/>
                      </a:rPr>
                      <m:t>) ≠ </m:t>
                    </m:r>
                    <m:r>
                      <a:rPr lang="es-MX" b="1" i="1" dirty="0">
                        <a:latin typeface="Cambria Math" panose="02040503050406030204" pitchFamily="18" charset="0"/>
                      </a:rPr>
                      <m:t>𝟎</m:t>
                    </m:r>
                    <m:r>
                      <a:rPr lang="es-MX" b="1" i="1" dirty="0">
                        <a:latin typeface="Cambria Math" panose="02040503050406030204" pitchFamily="18" charset="0"/>
                      </a:rPr>
                      <m:t>  </m:t>
                    </m:r>
                  </m:oMath>
                </a14:m>
                <a:r>
                  <a:rPr dirty="0"/>
                  <a:t>→  </a:t>
                </a:r>
                <a:r>
                  <a:rPr b="1" dirty="0" err="1">
                    <a:solidFill>
                      <a:schemeClr val="accent3">
                        <a:lumMod val="50000"/>
                      </a:schemeClr>
                    </a:solidFill>
                  </a:rPr>
                  <a:t>solución</a:t>
                </a:r>
                <a:r>
                  <a:rPr b="1" dirty="0">
                    <a:solidFill>
                      <a:schemeClr val="accent3">
                        <a:lumMod val="50000"/>
                      </a:schemeClr>
                    </a:solidFill>
                  </a:rPr>
                  <a:t> </a:t>
                </a:r>
                <a:r>
                  <a:rPr b="1" dirty="0" err="1">
                    <a:solidFill>
                      <a:schemeClr val="accent3">
                        <a:lumMod val="50000"/>
                      </a:schemeClr>
                    </a:solidFill>
                  </a:rPr>
                  <a:t>única</a:t>
                </a:r>
                <a:r>
                  <a:rPr b="1" dirty="0">
                    <a:solidFill>
                      <a:schemeClr val="accent3">
                        <a:lumMod val="50000"/>
                      </a:schemeClr>
                    </a:solidFill>
                  </a:rPr>
                  <a:t> par</a:t>
                </a:r>
                <a:r>
                  <a:rPr dirty="0"/>
                  <a:t>a </a:t>
                </a:r>
                <a14:m>
                  <m:oMath xmlns:m="http://schemas.openxmlformats.org/officeDocument/2006/math">
                    <m:r>
                      <a:rPr lang="es-MX" b="1" i="1" dirty="0" smtClean="0">
                        <a:latin typeface="Cambria Math" panose="02040503050406030204" pitchFamily="18" charset="0"/>
                      </a:rPr>
                      <m:t>𝑨𝑿</m:t>
                    </m:r>
                    <m:r>
                      <a:rPr lang="es-MX" b="1" i="1" dirty="0" smtClean="0">
                        <a:latin typeface="Cambria Math" panose="02040503050406030204" pitchFamily="18" charset="0"/>
                      </a:rPr>
                      <m:t> = </m:t>
                    </m:r>
                    <m:r>
                      <a:rPr lang="es-MX" b="1" i="1" dirty="0" smtClean="0">
                        <a:latin typeface="Cambria Math" panose="02040503050406030204" pitchFamily="18" charset="0"/>
                      </a:rPr>
                      <m:t>𝑩</m:t>
                    </m:r>
                  </m:oMath>
                </a14:m>
                <a:endParaRPr b="1" dirty="0"/>
              </a:p>
            </p:txBody>
          </p:sp>
        </mc:Choice>
        <mc:Fallback>
          <p:sp>
            <p:nvSpPr>
              <p:cNvPr id="19" name="Rounded Rectangle 11"/>
              <p:cNvSpPr>
                <a:spLocks noRot="1" noChangeAspect="1" noMove="1" noResize="1" noEditPoints="1" noAdjustHandles="1" noChangeArrowheads="1" noChangeShapeType="1" noTextEdit="1"/>
              </p:cNvSpPr>
              <p:nvPr/>
            </p:nvSpPr>
            <p:spPr>
              <a:xfrm>
                <a:off x="1832663" y="4674387"/>
                <a:ext cx="8046720" cy="914400"/>
              </a:xfrm>
              <a:prstGeom prst="roundRect">
                <a:avLst/>
              </a:prstGeom>
              <a:blipFill rotWithShape="0">
                <a:blip r:embed="rId7"/>
                <a:stretch>
                  <a:fillRect/>
                </a:stretch>
              </a:blipFill>
              <a:ln w="19050">
                <a:solidFill>
                  <a:srgbClr val="DCAF2D"/>
                </a:solidFill>
              </a:ln>
            </p:spPr>
            <p:txBody>
              <a:bodyPr/>
              <a:lstStyle/>
              <a:p>
                <a:r>
                  <a:rPr lang="es-MX">
                    <a:noFill/>
                  </a:rPr>
                  <a:t> </a:t>
                </a:r>
              </a:p>
            </p:txBody>
          </p:sp>
        </mc:Fallback>
      </mc:AlternateContent>
    </p:spTree>
    <p:extLst>
      <p:ext uri="{BB962C8B-B14F-4D97-AF65-F5344CB8AC3E}">
        <p14:creationId xmlns:p14="http://schemas.microsoft.com/office/powerpoint/2010/main" val="334211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par>
                                <p:cTn id="18" presetID="6" presetClass="entr" presetSubtype="16"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circle(in)">
                                      <p:cBhvr>
                                        <p:cTn id="20" dur="20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circle(in)">
                                      <p:cBhvr>
                                        <p:cTn id="25" dur="2000"/>
                                        <p:tgtEl>
                                          <p:spTgt spid="14"/>
                                        </p:tgtEl>
                                      </p:cBhvr>
                                    </p:animEffect>
                                  </p:childTnLst>
                                </p:cTn>
                              </p:par>
                              <p:par>
                                <p:cTn id="26" presetID="6" presetClass="entr" presetSubtype="16"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circle(in)">
                                      <p:cBhvr>
                                        <p:cTn id="28" dur="20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circle(in)">
                                      <p:cBhvr>
                                        <p:cTn id="33" dur="2000"/>
                                        <p:tgtEl>
                                          <p:spTgt spid="16"/>
                                        </p:tgtEl>
                                      </p:cBhvr>
                                    </p:animEffect>
                                  </p:childTnLst>
                                </p:cTn>
                              </p:par>
                              <p:par>
                                <p:cTn id="34" presetID="6" presetClass="entr" presetSubtype="16"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circle(in)">
                                      <p:cBhvr>
                                        <p:cTn id="36" dur="20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circle(in)">
                                      <p:cBhvr>
                                        <p:cTn id="41" dur="20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circle(in)">
                                      <p:cBhvr>
                                        <p:cTn id="46"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4" grpId="0" animBg="1"/>
      <p:bldP spid="16" grpId="0" animBg="1"/>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itle 1"/>
              <p:cNvSpPr txBox="1">
                <a:spLocks/>
              </p:cNvSpPr>
              <p:nvPr/>
            </p:nvSpPr>
            <p:spPr>
              <a:xfrm>
                <a:off x="0" y="1658137"/>
                <a:ext cx="4752304" cy="45577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000" b="1" dirty="0" smtClean="0">
                    <a:solidFill>
                      <a:schemeClr val="accent3">
                        <a:lumMod val="50000"/>
                      </a:schemeClr>
                    </a:solidFill>
                    <a:cs typeface="Arial" panose="020B0604020202020204" pitchFamily="34" charset="0"/>
                  </a:rPr>
                  <a:t>Si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cs typeface="Arial" panose="020B0604020202020204" pitchFamily="34" charset="0"/>
                  </a:rPr>
                  <a:t> es invertible, entonces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𝒅𝒆𝒕</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ea typeface="Cambria Math" panose="02040503050406030204" pitchFamily="18" charset="0"/>
                        <a:cs typeface="Arial" panose="020B0604020202020204" pitchFamily="34" charset="0"/>
                      </a:rPr>
                      <m:t>𝟎</m:t>
                    </m:r>
                  </m:oMath>
                </a14:m>
                <a:r>
                  <a:rPr lang="es-NI" sz="2000" b="1" dirty="0" smtClean="0">
                    <a:solidFill>
                      <a:schemeClr val="accent3">
                        <a:lumMod val="50000"/>
                      </a:schemeClr>
                    </a:solidFill>
                    <a:cs typeface="Arial" panose="020B0604020202020204" pitchFamily="34" charset="0"/>
                  </a:rPr>
                  <a:t> y </a:t>
                </a:r>
                <a:endParaRPr lang="es-NI" sz="2000" b="1" dirty="0">
                  <a:solidFill>
                    <a:schemeClr val="accent3">
                      <a:lumMod val="50000"/>
                    </a:schemeClr>
                  </a:solidFill>
                  <a:cs typeface="Arial" panose="020B0604020202020204" pitchFamily="34" charset="0"/>
                </a:endParaRPr>
              </a:p>
            </p:txBody>
          </p:sp>
        </mc:Choice>
        <mc:Fallback>
          <p:sp>
            <p:nvSpPr>
              <p:cNvPr id="7" name="Title 1"/>
              <p:cNvSpPr txBox="1">
                <a:spLocks noRot="1" noChangeAspect="1" noMove="1" noResize="1" noEditPoints="1" noAdjustHandles="1" noChangeArrowheads="1" noChangeShapeType="1" noTextEdit="1"/>
              </p:cNvSpPr>
              <p:nvPr/>
            </p:nvSpPr>
            <p:spPr>
              <a:xfrm>
                <a:off x="0" y="1658137"/>
                <a:ext cx="4752304" cy="455775"/>
              </a:xfrm>
              <a:prstGeom prst="rect">
                <a:avLst/>
              </a:prstGeom>
              <a:blipFill rotWithShape="0">
                <a:blip r:embed="rId2"/>
                <a:stretch>
                  <a:fillRect l="-1282" t="-1333" b="-17333"/>
                </a:stretch>
              </a:blipFill>
            </p:spPr>
            <p:txBody>
              <a:bodyPr/>
              <a:lstStyle/>
              <a:p>
                <a:r>
                  <a:rPr lang="es-MX">
                    <a:noFill/>
                  </a:rPr>
                  <a:t> </a:t>
                </a:r>
              </a:p>
            </p:txBody>
          </p:sp>
        </mc:Fallback>
      </mc:AlternateContent>
      <p:sp>
        <p:nvSpPr>
          <p:cNvPr id="8" name="Title 1"/>
          <p:cNvSpPr txBox="1">
            <a:spLocks/>
          </p:cNvSpPr>
          <p:nvPr/>
        </p:nvSpPr>
        <p:spPr>
          <a:xfrm>
            <a:off x="0" y="1209211"/>
            <a:ext cx="1365160"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cs typeface="Arial" panose="020B0604020202020204" pitchFamily="34" charset="0"/>
              </a:rPr>
              <a:t>Teorema</a:t>
            </a:r>
            <a:endParaRPr lang="es-NI" sz="2100" b="1" dirty="0">
              <a:solidFill>
                <a:srgbClr val="FF0000"/>
              </a:solidFill>
              <a:cs typeface="Arial" panose="020B0604020202020204" pitchFamily="34" charset="0"/>
            </a:endParaRPr>
          </a:p>
        </p:txBody>
      </p:sp>
      <mc:AlternateContent xmlns:mc="http://schemas.openxmlformats.org/markup-compatibility/2006">
        <mc:Choice xmlns:a14="http://schemas.microsoft.com/office/drawing/2010/main" Requires="a14">
          <p:sp>
            <p:nvSpPr>
              <p:cNvPr id="9" name="Title 1"/>
              <p:cNvSpPr txBox="1">
                <a:spLocks/>
              </p:cNvSpPr>
              <p:nvPr/>
            </p:nvSpPr>
            <p:spPr>
              <a:xfrm>
                <a:off x="4415987" y="2051294"/>
                <a:ext cx="2213556" cy="77051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r>
                        <a:rPr lang="es-NI" sz="2100" b="1" i="1" smtClean="0">
                          <a:solidFill>
                            <a:srgbClr val="FF0000"/>
                          </a:solidFill>
                          <a:latin typeface="Cambria Math" panose="02040503050406030204" pitchFamily="18" charset="0"/>
                          <a:cs typeface="Arial" panose="020B0604020202020204" pitchFamily="34" charset="0"/>
                        </a:rPr>
                        <m:t>𝒅𝒆𝒕</m:t>
                      </m:r>
                      <m:r>
                        <a:rPr lang="es-NI" sz="2100" b="1" i="1" smtClean="0">
                          <a:solidFill>
                            <a:srgbClr val="FF0000"/>
                          </a:solidFill>
                          <a:latin typeface="Cambria Math" panose="02040503050406030204" pitchFamily="18" charset="0"/>
                          <a:cs typeface="Arial" panose="020B0604020202020204" pitchFamily="34" charset="0"/>
                        </a:rPr>
                        <m:t> </m:t>
                      </m:r>
                      <m:sSup>
                        <m:sSupPr>
                          <m:ctrlPr>
                            <a:rPr lang="es-NI" sz="2100" b="1" i="1" smtClean="0">
                              <a:solidFill>
                                <a:srgbClr val="FF0000"/>
                              </a:solidFill>
                              <a:latin typeface="Cambria Math" panose="02040503050406030204" pitchFamily="18" charset="0"/>
                              <a:cs typeface="Arial" panose="020B0604020202020204" pitchFamily="34" charset="0"/>
                            </a:rPr>
                          </m:ctrlPr>
                        </m:sSupPr>
                        <m:e>
                          <m:r>
                            <a:rPr lang="es-NI" sz="2100" b="1" i="1" smtClean="0">
                              <a:solidFill>
                                <a:srgbClr val="FF0000"/>
                              </a:solidFill>
                              <a:latin typeface="Cambria Math" panose="02040503050406030204" pitchFamily="18" charset="0"/>
                              <a:cs typeface="Arial" panose="020B0604020202020204" pitchFamily="34" charset="0"/>
                            </a:rPr>
                            <m:t>𝑨</m:t>
                          </m:r>
                        </m:e>
                        <m:sup>
                          <m:r>
                            <a:rPr lang="es-NI" sz="2100" b="1" i="1" smtClean="0">
                              <a:solidFill>
                                <a:srgbClr val="FF0000"/>
                              </a:solidFill>
                              <a:latin typeface="Cambria Math" panose="02040503050406030204" pitchFamily="18" charset="0"/>
                              <a:cs typeface="Arial" panose="020B0604020202020204" pitchFamily="34" charset="0"/>
                            </a:rPr>
                            <m:t>−</m:t>
                          </m:r>
                          <m:r>
                            <a:rPr lang="es-NI" sz="2100" b="1" i="1" smtClean="0">
                              <a:solidFill>
                                <a:srgbClr val="FF0000"/>
                              </a:solidFill>
                              <a:latin typeface="Cambria Math" panose="02040503050406030204" pitchFamily="18" charset="0"/>
                              <a:cs typeface="Arial" panose="020B0604020202020204" pitchFamily="34" charset="0"/>
                            </a:rPr>
                            <m:t>𝟏</m:t>
                          </m:r>
                        </m:sup>
                      </m:sSup>
                      <m:r>
                        <a:rPr lang="es-NI" sz="2100" b="1" i="1" smtClean="0">
                          <a:solidFill>
                            <a:srgbClr val="FF0000"/>
                          </a:solidFill>
                          <a:latin typeface="Cambria Math" panose="02040503050406030204" pitchFamily="18" charset="0"/>
                          <a:cs typeface="Arial" panose="020B0604020202020204" pitchFamily="34" charset="0"/>
                        </a:rPr>
                        <m:t>=</m:t>
                      </m:r>
                      <m:f>
                        <m:fPr>
                          <m:ctrlPr>
                            <a:rPr lang="es-NI" sz="2100" b="1" i="1" smtClean="0">
                              <a:solidFill>
                                <a:srgbClr val="FF0000"/>
                              </a:solidFill>
                              <a:latin typeface="Cambria Math" panose="02040503050406030204" pitchFamily="18" charset="0"/>
                              <a:cs typeface="Arial" panose="020B0604020202020204" pitchFamily="34" charset="0"/>
                            </a:rPr>
                          </m:ctrlPr>
                        </m:fPr>
                        <m:num>
                          <m:r>
                            <a:rPr lang="es-NI" sz="2100" b="1" i="1" smtClean="0">
                              <a:solidFill>
                                <a:srgbClr val="FF0000"/>
                              </a:solidFill>
                              <a:latin typeface="Cambria Math" panose="02040503050406030204" pitchFamily="18" charset="0"/>
                              <a:cs typeface="Arial" panose="020B0604020202020204" pitchFamily="34" charset="0"/>
                            </a:rPr>
                            <m:t>𝟏</m:t>
                          </m:r>
                        </m:num>
                        <m:den>
                          <m:r>
                            <a:rPr lang="es-NI" sz="2100" b="1" i="1" smtClean="0">
                              <a:solidFill>
                                <a:srgbClr val="FF0000"/>
                              </a:solidFill>
                              <a:latin typeface="Cambria Math" panose="02040503050406030204" pitchFamily="18" charset="0"/>
                              <a:cs typeface="Arial" panose="020B0604020202020204" pitchFamily="34" charset="0"/>
                            </a:rPr>
                            <m:t>𝒅𝒆𝒕</m:t>
                          </m:r>
                          <m:r>
                            <a:rPr lang="es-NI" sz="2100" b="1" i="1" smtClean="0">
                              <a:solidFill>
                                <a:srgbClr val="FF0000"/>
                              </a:solidFill>
                              <a:latin typeface="Cambria Math" panose="02040503050406030204" pitchFamily="18" charset="0"/>
                              <a:cs typeface="Arial" panose="020B0604020202020204" pitchFamily="34" charset="0"/>
                            </a:rPr>
                            <m:t> </m:t>
                          </m:r>
                          <m:r>
                            <a:rPr lang="es-NI" sz="2100" b="1" i="1" smtClean="0">
                              <a:solidFill>
                                <a:srgbClr val="FF0000"/>
                              </a:solidFill>
                              <a:latin typeface="Cambria Math" panose="02040503050406030204" pitchFamily="18" charset="0"/>
                              <a:cs typeface="Arial" panose="020B0604020202020204" pitchFamily="34" charset="0"/>
                            </a:rPr>
                            <m:t>𝑨</m:t>
                          </m:r>
                        </m:den>
                      </m:f>
                    </m:oMath>
                  </m:oMathPara>
                </a14:m>
                <a:endParaRPr lang="es-NI" sz="2100" b="1" dirty="0">
                  <a:solidFill>
                    <a:srgbClr val="FF0000"/>
                  </a:solidFill>
                  <a:cs typeface="Arial" panose="020B0604020202020204" pitchFamily="34" charset="0"/>
                </a:endParaRPr>
              </a:p>
            </p:txBody>
          </p:sp>
        </mc:Choice>
        <mc:Fallback>
          <p:sp>
            <p:nvSpPr>
              <p:cNvPr id="9" name="Title 1"/>
              <p:cNvSpPr txBox="1">
                <a:spLocks noRot="1" noChangeAspect="1" noMove="1" noResize="1" noEditPoints="1" noAdjustHandles="1" noChangeArrowheads="1" noChangeShapeType="1" noTextEdit="1"/>
              </p:cNvSpPr>
              <p:nvPr/>
            </p:nvSpPr>
            <p:spPr>
              <a:xfrm>
                <a:off x="4415987" y="2051294"/>
                <a:ext cx="2213556" cy="770510"/>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Title 1"/>
              <p:cNvSpPr txBox="1">
                <a:spLocks/>
              </p:cNvSpPr>
              <p:nvPr/>
            </p:nvSpPr>
            <p:spPr>
              <a:xfrm>
                <a:off x="0" y="2844662"/>
                <a:ext cx="12192000" cy="96931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000" b="1" dirty="0" smtClean="0">
                    <a:solidFill>
                      <a:schemeClr val="accent3">
                        <a:lumMod val="50000"/>
                      </a:schemeClr>
                    </a:solidFill>
                    <a:latin typeface="Arial" panose="020B0604020202020204" pitchFamily="34" charset="0"/>
                    <a:cs typeface="Arial" panose="020B0604020202020204" pitchFamily="34" charset="0"/>
                  </a:rPr>
                  <a:t>Antes de utilizar determinantes para calcular las inversas es necesario definir la adjunta de una matriz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𝒂</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𝒊𝒋</m:t>
                            </m:r>
                          </m:sub>
                        </m:sSub>
                      </m:e>
                    </m:d>
                    <m:r>
                      <a:rPr lang="es-NI" sz="2000" b="1" smtClean="0">
                        <a:solidFill>
                          <a:schemeClr val="accent3">
                            <a:lumMod val="50000"/>
                          </a:schemeClr>
                        </a:solidFill>
                        <a:latin typeface="Cambria Math" panose="02040503050406030204" pitchFamily="18" charset="0"/>
                        <a:cs typeface="Arial" panose="020B0604020202020204" pitchFamily="34" charset="0"/>
                      </a:rPr>
                      <m:t>.</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Sea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𝑩</m:t>
                    </m:r>
                    <m:r>
                      <a:rPr lang="es-NI" sz="2000" b="1" i="1" smtClean="0">
                        <a:solidFill>
                          <a:schemeClr val="accent3">
                            <a:lumMod val="50000"/>
                          </a:schemeClr>
                        </a:solidFill>
                        <a:latin typeface="Cambria Math" panose="02040503050406030204" pitchFamily="18" charset="0"/>
                        <a:cs typeface="Arial" panose="020B0604020202020204" pitchFamily="34" charset="0"/>
                      </a:rPr>
                      <m:t>= </m:t>
                    </m:r>
                    <m:d>
                      <m:d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𝑨</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𝒊𝒋</m:t>
                            </m:r>
                          </m:sub>
                        </m:sSub>
                      </m:e>
                    </m:d>
                  </m:oMath>
                </a14:m>
                <a:r>
                  <a:rPr lang="es-NI" sz="2000" b="1" dirty="0" smtClean="0">
                    <a:solidFill>
                      <a:schemeClr val="accent3">
                        <a:lumMod val="50000"/>
                      </a:schemeClr>
                    </a:solidFill>
                    <a:latin typeface="Arial" panose="020B0604020202020204" pitchFamily="34" charset="0"/>
                    <a:cs typeface="Arial" panose="020B0604020202020204" pitchFamily="34" charset="0"/>
                  </a:rPr>
                  <a:t> la matriz de cofactores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Entonces</a:t>
                </a:r>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p:sp>
            <p:nvSpPr>
              <p:cNvPr id="10" name="Title 1"/>
              <p:cNvSpPr txBox="1">
                <a:spLocks noRot="1" noChangeAspect="1" noMove="1" noResize="1" noEditPoints="1" noAdjustHandles="1" noChangeArrowheads="1" noChangeShapeType="1" noTextEdit="1"/>
              </p:cNvSpPr>
              <p:nvPr/>
            </p:nvSpPr>
            <p:spPr>
              <a:xfrm>
                <a:off x="0" y="2844662"/>
                <a:ext cx="12192000" cy="969317"/>
              </a:xfrm>
              <a:prstGeom prst="rect">
                <a:avLst/>
              </a:prstGeom>
              <a:blipFill rotWithShape="0">
                <a:blip r:embed="rId4"/>
                <a:stretch>
                  <a:fillRect l="-500" r="-500"/>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Title 1"/>
              <p:cNvSpPr txBox="1">
                <a:spLocks/>
              </p:cNvSpPr>
              <p:nvPr/>
            </p:nvSpPr>
            <p:spPr>
              <a:xfrm>
                <a:off x="3462950" y="3813979"/>
                <a:ext cx="3490176" cy="13882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𝑩</m:t>
                      </m:r>
                      <m:r>
                        <a:rPr lang="es-NI" sz="2000" b="1" i="1" smtClean="0">
                          <a:solidFill>
                            <a:srgbClr val="A5A5A5">
                              <a:lumMod val="50000"/>
                            </a:srgbClr>
                          </a:solidFill>
                          <a:latin typeface="Cambria Math" panose="02040503050406030204" pitchFamily="18" charset="0"/>
                          <a:cs typeface="Arial" panose="020B0604020202020204" pitchFamily="34" charset="0"/>
                        </a:rPr>
                        <m:t>=</m:t>
                      </m:r>
                      <m:d>
                        <m:dPr>
                          <m:ctrlPr>
                            <a:rPr lang="es-NI" sz="20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smtClean="0">
                                            <a:solidFill>
                                              <a:srgbClr val="A5A5A5">
                                                <a:lumMod val="50000"/>
                                              </a:srgbClr>
                                            </a:solidFill>
                                            <a:latin typeface="Cambria Math" panose="02040503050406030204" pitchFamily="18" charset="0"/>
                                            <a:cs typeface="Arial" panose="020B0604020202020204" pitchFamily="34" charset="0"/>
                                          </a:rPr>
                                        </m:ctrlPr>
                                      </m:sSubPr>
                                      <m:e>
                                        <m:r>
                                          <a:rPr lang="es-NI" sz="2000" b="1" i="1" smtClean="0">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r>
                                                  <a:rPr lang="es-NI" sz="2000" b="1" i="1" smtClean="0">
                                                    <a:solidFill>
                                                      <a:srgbClr val="A5A5A5">
                                                        <a:lumMod val="50000"/>
                                                      </a:srgbClr>
                                                    </a:solidFill>
                                                    <a:latin typeface="Cambria Math" panose="02040503050406030204" pitchFamily="18" charset="0"/>
                                                    <a:cs typeface="Arial" panose="020B0604020202020204" pitchFamily="34" charset="0"/>
                                                  </a:rPr>
                                                  <m:t>⋯</m:t>
                                                </m:r>
                                              </m:e>
                                              <m:e>
                                                <m:r>
                                                  <a:rPr lang="es-MX" sz="2000" i="1" smtClean="0">
                                                    <a:solidFill>
                                                      <a:srgbClr val="A5A5A5">
                                                        <a:lumMod val="50000"/>
                                                      </a:srgbClr>
                                                    </a:solidFill>
                                                    <a:latin typeface="Cambria Math" panose="02040503050406030204" pitchFamily="18" charset="0"/>
                                                  </a:rPr>
                                                  <m:t>⋯</m:t>
                                                </m:r>
                                              </m:e>
                                              <m:e/>
                                              <m:e>
                                                <m:r>
                                                  <a:rPr lang="es-MX" sz="2000" i="1" smtClean="0">
                                                    <a:solidFill>
                                                      <a:srgbClr val="A5A5A5">
                                                        <a:lumMod val="50000"/>
                                                      </a:srgbClr>
                                                    </a:solidFill>
                                                    <a:latin typeface="Cambria Math" panose="02040503050406030204" pitchFamily="18" charset="0"/>
                                                  </a:rPr>
                                                  <m:t>⋯</m:t>
                                                </m:r>
                                              </m:e>
                                            </m:eqArr>
                                          </m:e>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a:solidFill>
                                                          <a:srgbClr val="A5A5A5">
                                                            <a:lumMod val="50000"/>
                                                          </a:srgbClr>
                                                        </a:solidFill>
                                                        <a:latin typeface="Cambria Math" panose="02040503050406030204" pitchFamily="18" charset="0"/>
                                                        <a:cs typeface="Arial" panose="020B0604020202020204" pitchFamily="34" charset="0"/>
                                                      </a:rPr>
                                                      <m:t>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𝒏𝒏</m:t>
                                                    </m:r>
                                                  </m:sub>
                                                </m:sSub>
                                              </m:e>
                                            </m:eqArr>
                                          </m:e>
                                        </m:mr>
                                      </m:m>
                                    </m:e>
                                  </m:mr>
                                </m:m>
                              </m:e>
                            </m:mr>
                          </m:m>
                        </m:e>
                      </m:d>
                    </m:oMath>
                  </m:oMathPara>
                </a14:m>
                <a:endParaRPr lang="es-NI" sz="2000" b="1" dirty="0">
                  <a:solidFill>
                    <a:srgbClr val="A5A5A5">
                      <a:lumMod val="50000"/>
                    </a:srgbClr>
                  </a:solidFill>
                  <a:cs typeface="Arial" panose="020B0604020202020204" pitchFamily="34" charset="0"/>
                </a:endParaRPr>
              </a:p>
            </p:txBody>
          </p:sp>
        </mc:Choice>
        <mc:Fallback>
          <p:sp>
            <p:nvSpPr>
              <p:cNvPr id="11" name="Title 1"/>
              <p:cNvSpPr txBox="1">
                <a:spLocks noRot="1" noChangeAspect="1" noMove="1" noResize="1" noEditPoints="1" noAdjustHandles="1" noChangeArrowheads="1" noChangeShapeType="1" noTextEdit="1"/>
              </p:cNvSpPr>
              <p:nvPr/>
            </p:nvSpPr>
            <p:spPr>
              <a:xfrm>
                <a:off x="3462950" y="3813979"/>
                <a:ext cx="3490176" cy="1388252"/>
              </a:xfrm>
              <a:prstGeom prst="rect">
                <a:avLst/>
              </a:prstGeom>
              <a:blipFill rotWithShape="0">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401274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ircle(in)">
                                      <p:cBhvr>
                                        <p:cTn id="13" dur="20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ircle(in)">
                                      <p:cBhvr>
                                        <p:cTn id="18" dur="2000"/>
                                        <p:tgtEl>
                                          <p:spTgt spid="10"/>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circle(in)">
                                      <p:cBhvr>
                                        <p:cTn id="2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2878" y="1163945"/>
            <a:ext cx="2627291"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000" b="1" dirty="0" smtClean="0">
                <a:solidFill>
                  <a:srgbClr val="FF0000"/>
                </a:solidFill>
                <a:latin typeface="Arial" panose="020B0604020202020204" pitchFamily="34" charset="0"/>
                <a:cs typeface="Arial" panose="020B0604020202020204" pitchFamily="34" charset="0"/>
              </a:rPr>
              <a:t>Definición (</a:t>
            </a:r>
            <a:r>
              <a:rPr lang="es-MX" sz="2000" b="1" dirty="0" smtClean="0">
                <a:solidFill>
                  <a:schemeClr val="accent3">
                    <a:lumMod val="50000"/>
                  </a:schemeClr>
                </a:solidFill>
                <a:latin typeface="Arial" panose="020B0604020202020204" pitchFamily="34" charset="0"/>
                <a:cs typeface="Arial" panose="020B0604020202020204" pitchFamily="34" charset="0"/>
              </a:rPr>
              <a:t>Adjunta</a:t>
            </a:r>
            <a:r>
              <a:rPr lang="es-MX" sz="2000" b="1" dirty="0" smtClean="0">
                <a:solidFill>
                  <a:srgbClr val="FF0000"/>
                </a:solidFill>
                <a:latin typeface="Arial" panose="020B0604020202020204" pitchFamily="34" charset="0"/>
                <a:cs typeface="Arial" panose="020B0604020202020204" pitchFamily="34" charset="0"/>
              </a:rPr>
              <a:t>) </a:t>
            </a:r>
            <a:endParaRPr lang="es-NI" sz="2000"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Title 1"/>
              <p:cNvSpPr txBox="1">
                <a:spLocks/>
              </p:cNvSpPr>
              <p:nvPr/>
            </p:nvSpPr>
            <p:spPr>
              <a:xfrm>
                <a:off x="0" y="1604819"/>
                <a:ext cx="12179122" cy="87754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000" b="1" dirty="0" smtClean="0">
                    <a:solidFill>
                      <a:schemeClr val="accent3">
                        <a:lumMod val="50000"/>
                      </a:schemeClr>
                    </a:solidFill>
                    <a:latin typeface="Arial" panose="020B0604020202020204" pitchFamily="34" charset="0"/>
                    <a:cs typeface="Arial" panose="020B0604020202020204" pitchFamily="34" charset="0"/>
                  </a:rPr>
                  <a:t>Sea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una matriz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𝒏𝒙𝒏</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y sea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𝑩</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la matriz de sus cofactores. Entonces, la adjunta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𝑨</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escrito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𝒂𝒅𝒋</m:t>
                    </m:r>
                    <m:r>
                      <a:rPr lang="es-NI" sz="2000" b="1" i="1" smtClean="0">
                        <a:solidFill>
                          <a:schemeClr val="accent3">
                            <a:lumMod val="50000"/>
                          </a:schemeClr>
                        </a:solidFill>
                        <a:latin typeface="Cambria Math" panose="02040503050406030204" pitchFamily="18" charset="0"/>
                        <a:cs typeface="Arial" panose="020B0604020202020204" pitchFamily="34" charset="0"/>
                      </a:rPr>
                      <m:t> </m:t>
                    </m:r>
                    <m:r>
                      <a:rPr lang="es-NI" sz="2000" b="1" i="1" smtClean="0">
                        <a:solidFill>
                          <a:schemeClr val="accent3">
                            <a:lumMod val="50000"/>
                          </a:schemeClr>
                        </a:solidFill>
                        <a:latin typeface="Cambria Math" panose="02040503050406030204" pitchFamily="18" charset="0"/>
                        <a:cs typeface="Arial" panose="020B0604020202020204" pitchFamily="34" charset="0"/>
                      </a:rPr>
                      <m:t>𝑨</m:t>
                    </m:r>
                    <m:r>
                      <a:rPr lang="es-NI" sz="2000" b="1" i="1" smtClean="0">
                        <a:solidFill>
                          <a:schemeClr val="accent3">
                            <a:lumMod val="50000"/>
                          </a:schemeClr>
                        </a:solidFill>
                        <a:latin typeface="Cambria Math" panose="02040503050406030204" pitchFamily="18" charset="0"/>
                        <a:cs typeface="Arial" panose="020B0604020202020204" pitchFamily="34" charset="0"/>
                      </a:rPr>
                      <m:t>,</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es la transpuesta de la matriz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𝑩</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de </a:t>
                </a:r>
                <a14:m>
                  <m:oMath xmlns:m="http://schemas.openxmlformats.org/officeDocument/2006/math">
                    <m:r>
                      <a:rPr lang="es-NI" sz="2000" b="1" i="1" smtClean="0">
                        <a:solidFill>
                          <a:schemeClr val="accent3">
                            <a:lumMod val="50000"/>
                          </a:schemeClr>
                        </a:solidFill>
                        <a:latin typeface="Cambria Math" panose="02040503050406030204" pitchFamily="18" charset="0"/>
                        <a:cs typeface="Arial" panose="020B0604020202020204" pitchFamily="34" charset="0"/>
                      </a:rPr>
                      <m:t>𝒏𝒙𝒏</m:t>
                    </m:r>
                  </m:oMath>
                </a14:m>
                <a:r>
                  <a:rPr lang="es-NI" sz="2000" b="1" dirty="0" smtClean="0">
                    <a:solidFill>
                      <a:schemeClr val="accent3">
                        <a:lumMod val="50000"/>
                      </a:schemeClr>
                    </a:solidFill>
                    <a:latin typeface="Arial" panose="020B0604020202020204" pitchFamily="34" charset="0"/>
                    <a:cs typeface="Arial" panose="020B0604020202020204" pitchFamily="34" charset="0"/>
                  </a:rPr>
                  <a:t>; es decir,</a:t>
                </a:r>
                <a:endParaRPr lang="es-NI" sz="2000" b="1" dirty="0">
                  <a:solidFill>
                    <a:schemeClr val="accent3">
                      <a:lumMod val="50000"/>
                    </a:schemeClr>
                  </a:solidFill>
                  <a:latin typeface="Arial" panose="020B0604020202020204" pitchFamily="34" charset="0"/>
                  <a:cs typeface="Arial" panose="020B0604020202020204" pitchFamily="34" charset="0"/>
                </a:endParaRPr>
              </a:p>
            </p:txBody>
          </p:sp>
        </mc:Choice>
        <mc:Fallback>
          <p:sp>
            <p:nvSpPr>
              <p:cNvPr id="3" name="Title 1"/>
              <p:cNvSpPr txBox="1">
                <a:spLocks noRot="1" noChangeAspect="1" noMove="1" noResize="1" noEditPoints="1" noAdjustHandles="1" noChangeArrowheads="1" noChangeShapeType="1" noTextEdit="1"/>
              </p:cNvSpPr>
              <p:nvPr/>
            </p:nvSpPr>
            <p:spPr>
              <a:xfrm>
                <a:off x="0" y="1604819"/>
                <a:ext cx="12179122" cy="877548"/>
              </a:xfrm>
              <a:prstGeom prst="rect">
                <a:avLst/>
              </a:prstGeom>
              <a:blipFill rotWithShape="0">
                <a:blip r:embed="rId2"/>
                <a:stretch>
                  <a:fillRect l="-501" r="-501" b="-3472"/>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5" name="Title 1"/>
              <p:cNvSpPr txBox="1">
                <a:spLocks/>
              </p:cNvSpPr>
              <p:nvPr/>
            </p:nvSpPr>
            <p:spPr>
              <a:xfrm>
                <a:off x="4082604" y="2713973"/>
                <a:ext cx="4481848" cy="13882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𝒂𝒅𝒋</m:t>
                      </m:r>
                      <m:r>
                        <a:rPr lang="es-NI" sz="2000" b="1" i="1" smtClean="0">
                          <a:solidFill>
                            <a:srgbClr val="A5A5A5">
                              <a:lumMod val="50000"/>
                            </a:srgbClr>
                          </a:solidFill>
                          <a:latin typeface="Cambria Math" panose="02040503050406030204" pitchFamily="18" charset="0"/>
                          <a:cs typeface="Arial" panose="020B0604020202020204" pitchFamily="34" charset="0"/>
                        </a:rPr>
                        <m:t> </m:t>
                      </m:r>
                      <m:r>
                        <a:rPr lang="es-NI" sz="2000" b="1" i="1" smtClean="0">
                          <a:solidFill>
                            <a:srgbClr val="A5A5A5">
                              <a:lumMod val="50000"/>
                            </a:srgbClr>
                          </a:solidFill>
                          <a:latin typeface="Cambria Math" panose="02040503050406030204" pitchFamily="18" charset="0"/>
                          <a:cs typeface="Arial" panose="020B0604020202020204" pitchFamily="34" charset="0"/>
                        </a:rPr>
                        <m:t>𝑨</m:t>
                      </m:r>
                      <m:r>
                        <a:rPr lang="es-NI" sz="2000" b="1" i="1" smtClean="0">
                          <a:solidFill>
                            <a:srgbClr val="A5A5A5">
                              <a:lumMod val="50000"/>
                            </a:srgbClr>
                          </a:solidFill>
                          <a:latin typeface="Cambria Math" panose="02040503050406030204" pitchFamily="18" charset="0"/>
                          <a:cs typeface="Arial" panose="020B0604020202020204" pitchFamily="34" charset="0"/>
                        </a:rPr>
                        <m:t>=</m:t>
                      </m:r>
                      <m:sSup>
                        <m:sSupPr>
                          <m:ctrlPr>
                            <a:rPr lang="es-NI" sz="2000" b="1" i="1" smtClean="0">
                              <a:solidFill>
                                <a:srgbClr val="A5A5A5">
                                  <a:lumMod val="50000"/>
                                </a:srgbClr>
                              </a:solidFill>
                              <a:latin typeface="Cambria Math" panose="02040503050406030204" pitchFamily="18" charset="0"/>
                              <a:cs typeface="Arial" panose="020B0604020202020204" pitchFamily="34" charset="0"/>
                            </a:rPr>
                          </m:ctrlPr>
                        </m:sSupPr>
                        <m:e>
                          <m:r>
                            <a:rPr lang="es-NI" sz="2000" b="1" i="1" smtClean="0">
                              <a:solidFill>
                                <a:srgbClr val="A5A5A5">
                                  <a:lumMod val="50000"/>
                                </a:srgbClr>
                              </a:solidFill>
                              <a:latin typeface="Cambria Math" panose="02040503050406030204" pitchFamily="18" charset="0"/>
                              <a:cs typeface="Arial" panose="020B0604020202020204" pitchFamily="34" charset="0"/>
                            </a:rPr>
                            <m:t>𝑩</m:t>
                          </m:r>
                        </m:e>
                        <m:sup>
                          <m:r>
                            <a:rPr lang="es-NI" sz="2000" b="1" i="1" smtClean="0">
                              <a:solidFill>
                                <a:srgbClr val="A5A5A5">
                                  <a:lumMod val="50000"/>
                                </a:srgbClr>
                              </a:solidFill>
                              <a:latin typeface="Cambria Math" panose="02040503050406030204" pitchFamily="18" charset="0"/>
                              <a:cs typeface="Arial" panose="020B0604020202020204" pitchFamily="34" charset="0"/>
                            </a:rPr>
                            <m:t>𝑻</m:t>
                          </m:r>
                        </m:sup>
                      </m:sSup>
                      <m:r>
                        <a:rPr lang="es-NI" sz="2000" b="1" i="1" smtClean="0">
                          <a:solidFill>
                            <a:srgbClr val="A5A5A5">
                              <a:lumMod val="50000"/>
                            </a:srgbClr>
                          </a:solidFill>
                          <a:latin typeface="Cambria Math" panose="02040503050406030204" pitchFamily="18" charset="0"/>
                          <a:cs typeface="Arial" panose="020B0604020202020204" pitchFamily="34" charset="0"/>
                        </a:rPr>
                        <m:t>=</m:t>
                      </m:r>
                      <m:d>
                        <m:dPr>
                          <m:ctrlPr>
                            <a:rPr lang="es-NI" sz="20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smtClean="0">
                                            <a:solidFill>
                                              <a:srgbClr val="A5A5A5">
                                                <a:lumMod val="50000"/>
                                              </a:srgbClr>
                                            </a:solidFill>
                                            <a:latin typeface="Cambria Math" panose="02040503050406030204" pitchFamily="18" charset="0"/>
                                            <a:cs typeface="Arial" panose="020B0604020202020204" pitchFamily="34" charset="0"/>
                                          </a:rPr>
                                        </m:ctrlPr>
                                      </m:sSubPr>
                                      <m:e>
                                        <m:r>
                                          <a:rPr lang="es-NI" sz="2000" b="1" i="1" smtClean="0">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r>
                                                  <a:rPr lang="es-NI" sz="2000" b="1" i="1" smtClean="0">
                                                    <a:solidFill>
                                                      <a:srgbClr val="A5A5A5">
                                                        <a:lumMod val="50000"/>
                                                      </a:srgbClr>
                                                    </a:solidFill>
                                                    <a:latin typeface="Cambria Math" panose="02040503050406030204" pitchFamily="18" charset="0"/>
                                                    <a:cs typeface="Arial" panose="020B0604020202020204" pitchFamily="34" charset="0"/>
                                                  </a:rPr>
                                                  <m:t>⋯</m:t>
                                                </m:r>
                                              </m:e>
                                              <m:e>
                                                <m:r>
                                                  <a:rPr lang="es-MX" sz="2000" i="1" smtClean="0">
                                                    <a:solidFill>
                                                      <a:srgbClr val="A5A5A5">
                                                        <a:lumMod val="50000"/>
                                                      </a:srgbClr>
                                                    </a:solidFill>
                                                    <a:latin typeface="Cambria Math" panose="02040503050406030204" pitchFamily="18" charset="0"/>
                                                  </a:rPr>
                                                  <m:t>⋯</m:t>
                                                </m:r>
                                              </m:e>
                                              <m:e/>
                                              <m:e>
                                                <m:r>
                                                  <a:rPr lang="es-MX" sz="2000" i="1" smtClean="0">
                                                    <a:solidFill>
                                                      <a:srgbClr val="A5A5A5">
                                                        <a:lumMod val="50000"/>
                                                      </a:srgbClr>
                                                    </a:solidFill>
                                                    <a:latin typeface="Cambria Math" panose="02040503050406030204" pitchFamily="18" charset="0"/>
                                                  </a:rPr>
                                                  <m:t>⋯</m:t>
                                                </m:r>
                                              </m:e>
                                            </m:eqArr>
                                          </m:e>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a:solidFill>
                                                          <a:srgbClr val="A5A5A5">
                                                            <a:lumMod val="50000"/>
                                                          </a:srgbClr>
                                                        </a:solidFill>
                                                        <a:latin typeface="Cambria Math" panose="02040503050406030204" pitchFamily="18" charset="0"/>
                                                        <a:cs typeface="Arial" panose="020B0604020202020204" pitchFamily="34" charset="0"/>
                                                      </a:rPr>
                                                      <m:t>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𝒏𝒏</m:t>
                                                    </m:r>
                                                  </m:sub>
                                                </m:sSub>
                                              </m:e>
                                            </m:eqArr>
                                          </m:e>
                                        </m:mr>
                                      </m:m>
                                    </m:e>
                                  </m:mr>
                                </m:m>
                              </m:e>
                            </m:mr>
                          </m:m>
                        </m:e>
                      </m:d>
                    </m:oMath>
                  </m:oMathPara>
                </a14:m>
                <a:endParaRPr lang="es-NI" sz="2000" b="1" dirty="0">
                  <a:solidFill>
                    <a:srgbClr val="A5A5A5">
                      <a:lumMod val="50000"/>
                    </a:srgbClr>
                  </a:solidFill>
                  <a:cs typeface="Arial" panose="020B0604020202020204" pitchFamily="34" charset="0"/>
                </a:endParaRPr>
              </a:p>
            </p:txBody>
          </p:sp>
        </mc:Choice>
        <mc:Fallback>
          <p:sp>
            <p:nvSpPr>
              <p:cNvPr id="5" name="Title 1"/>
              <p:cNvSpPr txBox="1">
                <a:spLocks noRot="1" noChangeAspect="1" noMove="1" noResize="1" noEditPoints="1" noAdjustHandles="1" noChangeArrowheads="1" noChangeShapeType="1" noTextEdit="1"/>
              </p:cNvSpPr>
              <p:nvPr/>
            </p:nvSpPr>
            <p:spPr>
              <a:xfrm>
                <a:off x="4082604" y="2713973"/>
                <a:ext cx="4481848" cy="1388252"/>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6" name="Title 1"/>
              <p:cNvSpPr txBox="1">
                <a:spLocks/>
              </p:cNvSpPr>
              <p:nvPr/>
            </p:nvSpPr>
            <p:spPr>
              <a:xfrm>
                <a:off x="528033" y="2713973"/>
                <a:ext cx="3683357" cy="13882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centerGroup"/>
                    </m:oMathParaPr>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𝑩</m:t>
                      </m:r>
                      <m:r>
                        <a:rPr lang="es-NI" sz="2000" b="1" i="1" smtClean="0">
                          <a:solidFill>
                            <a:srgbClr val="A5A5A5">
                              <a:lumMod val="50000"/>
                            </a:srgbClr>
                          </a:solidFill>
                          <a:latin typeface="Cambria Math" panose="02040503050406030204" pitchFamily="18" charset="0"/>
                          <a:cs typeface="Arial" panose="020B0604020202020204" pitchFamily="34" charset="0"/>
                        </a:rPr>
                        <m:t>=</m:t>
                      </m:r>
                      <m:d>
                        <m:dPr>
                          <m:ctrlPr>
                            <a:rPr lang="es-NI" sz="2000" b="1" i="1" smtClean="0">
                              <a:solidFill>
                                <a:srgbClr val="A5A5A5">
                                  <a:lumMod val="50000"/>
                                </a:srgbClr>
                              </a:solidFill>
                              <a:latin typeface="Cambria Math" panose="02040503050406030204" pitchFamily="18" charset="0"/>
                              <a:cs typeface="Arial" panose="020B0604020202020204" pitchFamily="34" charset="0"/>
                            </a:rPr>
                          </m:ctrlPr>
                        </m:dPr>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smtClean="0">
                                            <a:solidFill>
                                              <a:srgbClr val="A5A5A5">
                                                <a:lumMod val="50000"/>
                                              </a:srgbClr>
                                            </a:solidFill>
                                            <a:latin typeface="Cambria Math" panose="02040503050406030204" pitchFamily="18" charset="0"/>
                                            <a:cs typeface="Arial" panose="020B0604020202020204" pitchFamily="34" charset="0"/>
                                          </a:rPr>
                                        </m:ctrlPr>
                                      </m:sSubPr>
                                      <m:e>
                                        <m:r>
                                          <a:rPr lang="es-NI" sz="2000" b="1" i="1" smtClean="0">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𝟏𝟏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a:solidFill>
                                              <a:srgbClr val="A5A5A5">
                                                <a:lumMod val="50000"/>
                                              </a:srgbClr>
                                            </a:solidFill>
                                            <a:latin typeface="Cambria Math" panose="02040503050406030204" pitchFamily="18" charset="0"/>
                                            <a:cs typeface="Arial" panose="020B0604020202020204" pitchFamily="34" charset="0"/>
                                          </a:rPr>
                                          <m:t>𝟏</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𝟐</m:t>
                                              </m:r>
                                              <m:r>
                                                <a:rPr lang="es-NI" sz="2000" b="1" i="1" smtClean="0">
                                                  <a:solidFill>
                                                    <a:srgbClr val="A5A5A5">
                                                      <a:lumMod val="50000"/>
                                                    </a:srgbClr>
                                                  </a:solidFill>
                                                  <a:latin typeface="Cambria Math" panose="02040503050406030204" pitchFamily="18" charset="0"/>
                                                  <a:cs typeface="Arial" panose="020B0604020202020204" pitchFamily="34" charset="0"/>
                                                </a:rPr>
                                                <m:t>𝒏</m:t>
                                              </m:r>
                                            </m:sub>
                                          </m:sSub>
                                        </m:e>
                                      </m:eqArr>
                                    </m:e>
                                    <m:e>
                                      <m:m>
                                        <m:mPr>
                                          <m:mcs>
                                            <m:mc>
                                              <m:mcPr>
                                                <m:count m:val="2"/>
                                                <m:mcJc m:val="center"/>
                                              </m:mcPr>
                                            </m:mc>
                                          </m:mcs>
                                          <m:ctrlPr>
                                            <a:rPr lang="es-NI" sz="2000" b="1" i="1" smtClean="0">
                                              <a:solidFill>
                                                <a:srgbClr val="A5A5A5">
                                                  <a:lumMod val="50000"/>
                                                </a:srgbClr>
                                              </a:solidFill>
                                              <a:latin typeface="Cambria Math" panose="02040503050406030204" pitchFamily="18" charset="0"/>
                                              <a:cs typeface="Arial" panose="020B0604020202020204" pitchFamily="34" charset="0"/>
                                            </a:rPr>
                                          </m:ctrlPr>
                                        </m:mPr>
                                        <m:mr>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r>
                                                  <a:rPr lang="es-NI" sz="2000" b="1" i="1" smtClean="0">
                                                    <a:solidFill>
                                                      <a:srgbClr val="A5A5A5">
                                                        <a:lumMod val="50000"/>
                                                      </a:srgbClr>
                                                    </a:solidFill>
                                                    <a:latin typeface="Cambria Math" panose="02040503050406030204" pitchFamily="18" charset="0"/>
                                                    <a:cs typeface="Arial" panose="020B0604020202020204" pitchFamily="34" charset="0"/>
                                                  </a:rPr>
                                                  <m:t>⋯</m:t>
                                                </m:r>
                                              </m:e>
                                              <m:e>
                                                <m:r>
                                                  <a:rPr lang="es-MX" sz="2000" i="1" smtClean="0">
                                                    <a:solidFill>
                                                      <a:srgbClr val="A5A5A5">
                                                        <a:lumMod val="50000"/>
                                                      </a:srgbClr>
                                                    </a:solidFill>
                                                    <a:latin typeface="Cambria Math" panose="02040503050406030204" pitchFamily="18" charset="0"/>
                                                  </a:rPr>
                                                  <m:t>⋯</m:t>
                                                </m:r>
                                              </m:e>
                                              <m:e/>
                                              <m:e>
                                                <m:r>
                                                  <a:rPr lang="es-MX" sz="2000" i="1" smtClean="0">
                                                    <a:solidFill>
                                                      <a:srgbClr val="A5A5A5">
                                                        <a:lumMod val="50000"/>
                                                      </a:srgbClr>
                                                    </a:solidFill>
                                                    <a:latin typeface="Cambria Math" panose="02040503050406030204" pitchFamily="18" charset="0"/>
                                                  </a:rPr>
                                                  <m:t>⋯</m:t>
                                                </m:r>
                                              </m:e>
                                            </m:eqArr>
                                          </m:e>
                                          <m:e>
                                            <m:eqArr>
                                              <m:eqArrPr>
                                                <m:ctrlPr>
                                                  <a:rPr lang="es-NI" sz="2000" b="1" i="1" smtClean="0">
                                                    <a:solidFill>
                                                      <a:srgbClr val="A5A5A5">
                                                        <a:lumMod val="50000"/>
                                                      </a:srgbClr>
                                                    </a:solidFill>
                                                    <a:latin typeface="Cambria Math" panose="02040503050406030204" pitchFamily="18" charset="0"/>
                                                    <a:cs typeface="Arial" panose="020B0604020202020204" pitchFamily="34" charset="0"/>
                                                  </a:rPr>
                                                </m:ctrlPr>
                                              </m:eqArrPr>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a:solidFill>
                                                          <a:srgbClr val="A5A5A5">
                                                            <a:lumMod val="50000"/>
                                                          </a:srgbClr>
                                                        </a:solidFill>
                                                        <a:latin typeface="Cambria Math" panose="02040503050406030204" pitchFamily="18" charset="0"/>
                                                        <a:cs typeface="Arial" panose="020B0604020202020204" pitchFamily="34" charset="0"/>
                                                      </a:rPr>
                                                      <m:t>𝟏</m:t>
                                                    </m:r>
                                                  </m:sub>
                                                </m:sSub>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m:t>
                                                    </m:r>
                                                    <m:r>
                                                      <a:rPr lang="es-NI" sz="2000" b="1" i="1" smtClean="0">
                                                        <a:solidFill>
                                                          <a:srgbClr val="A5A5A5">
                                                            <a:lumMod val="50000"/>
                                                          </a:srgbClr>
                                                        </a:solidFill>
                                                        <a:latin typeface="Cambria Math" panose="02040503050406030204" pitchFamily="18" charset="0"/>
                                                        <a:cs typeface="Arial" panose="020B0604020202020204" pitchFamily="34" charset="0"/>
                                                      </a:rPr>
                                                      <m:t>𝟐</m:t>
                                                    </m:r>
                                                  </m:sub>
                                                </m:sSub>
                                              </m:e>
                                              <m:e>
                                                <m:r>
                                                  <a:rPr lang="es-MX" sz="2000" i="1" smtClean="0">
                                                    <a:solidFill>
                                                      <a:srgbClr val="A5A5A5">
                                                        <a:lumMod val="50000"/>
                                                      </a:srgbClr>
                                                    </a:solidFill>
                                                    <a:latin typeface="Cambria Math" panose="02040503050406030204" pitchFamily="18" charset="0"/>
                                                  </a:rPr>
                                                  <m:t>⋮</m:t>
                                                </m:r>
                                              </m:e>
                                              <m:e>
                                                <m:sSub>
                                                  <m:sSubPr>
                                                    <m:ctrlPr>
                                                      <a:rPr lang="es-NI" sz="2000" b="1" i="1">
                                                        <a:solidFill>
                                                          <a:srgbClr val="A5A5A5">
                                                            <a:lumMod val="50000"/>
                                                          </a:srgbClr>
                                                        </a:solidFill>
                                                        <a:latin typeface="Cambria Math" panose="02040503050406030204" pitchFamily="18" charset="0"/>
                                                        <a:cs typeface="Arial" panose="020B0604020202020204" pitchFamily="34" charset="0"/>
                                                      </a:rPr>
                                                    </m:ctrlPr>
                                                  </m:sSubPr>
                                                  <m:e>
                                                    <m:r>
                                                      <a:rPr lang="es-NI" sz="2000" b="1" i="1">
                                                        <a:solidFill>
                                                          <a:srgbClr val="A5A5A5">
                                                            <a:lumMod val="50000"/>
                                                          </a:srgbClr>
                                                        </a:solidFill>
                                                        <a:latin typeface="Cambria Math" panose="02040503050406030204" pitchFamily="18" charset="0"/>
                                                        <a:cs typeface="Arial" panose="020B0604020202020204" pitchFamily="34" charset="0"/>
                                                      </a:rPr>
                                                      <m:t>𝑨</m:t>
                                                    </m:r>
                                                  </m:e>
                                                  <m:sub>
                                                    <m:r>
                                                      <a:rPr lang="es-NI" sz="2000" b="1" i="1" smtClean="0">
                                                        <a:solidFill>
                                                          <a:srgbClr val="A5A5A5">
                                                            <a:lumMod val="50000"/>
                                                          </a:srgbClr>
                                                        </a:solidFill>
                                                        <a:latin typeface="Cambria Math" panose="02040503050406030204" pitchFamily="18" charset="0"/>
                                                        <a:cs typeface="Arial" panose="020B0604020202020204" pitchFamily="34" charset="0"/>
                                                      </a:rPr>
                                                      <m:t>𝒏𝒏</m:t>
                                                    </m:r>
                                                  </m:sub>
                                                </m:sSub>
                                              </m:e>
                                            </m:eqArr>
                                          </m:e>
                                        </m:mr>
                                      </m:m>
                                    </m:e>
                                  </m:mr>
                                </m:m>
                              </m:e>
                            </m:mr>
                          </m:m>
                        </m:e>
                      </m:d>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s-NI" sz="2000" b="1" dirty="0">
                  <a:solidFill>
                    <a:srgbClr val="A5A5A5">
                      <a:lumMod val="50000"/>
                    </a:srgbClr>
                  </a:solidFill>
                  <a:cs typeface="Arial" panose="020B0604020202020204" pitchFamily="34" charset="0"/>
                </a:endParaRPr>
              </a:p>
            </p:txBody>
          </p:sp>
        </mc:Choice>
        <mc:Fallback>
          <p:sp>
            <p:nvSpPr>
              <p:cNvPr id="6" name="Title 1"/>
              <p:cNvSpPr txBox="1">
                <a:spLocks noRot="1" noChangeAspect="1" noMove="1" noResize="1" noEditPoints="1" noAdjustHandles="1" noChangeArrowheads="1" noChangeShapeType="1" noTextEdit="1"/>
              </p:cNvSpPr>
              <p:nvPr/>
            </p:nvSpPr>
            <p:spPr>
              <a:xfrm>
                <a:off x="528033" y="2713973"/>
                <a:ext cx="3683357" cy="1388252"/>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Title 1"/>
              <p:cNvSpPr txBox="1">
                <a:spLocks/>
              </p:cNvSpPr>
              <p:nvPr/>
            </p:nvSpPr>
            <p:spPr>
              <a:xfrm>
                <a:off x="-25759" y="4780980"/>
                <a:ext cx="11642502" cy="39540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NI" sz="2000" b="1" dirty="0" smtClean="0">
                    <a:solidFill>
                      <a:srgbClr val="A5A5A5">
                        <a:lumMod val="50000"/>
                      </a:srgbClr>
                    </a:solidFill>
                    <a:latin typeface="Arial" panose="020B0604020202020204" pitchFamily="34" charset="0"/>
                    <a:cs typeface="Arial" panose="020B0604020202020204" pitchFamily="34" charset="0"/>
                  </a:rPr>
                  <a:t>Sea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𝑨</m:t>
                    </m:r>
                  </m:oMath>
                </a14:m>
                <a:r>
                  <a:rPr lang="es-NI" sz="2000" b="1" dirty="0" smtClean="0">
                    <a:solidFill>
                      <a:srgbClr val="A5A5A5">
                        <a:lumMod val="50000"/>
                      </a:srgbClr>
                    </a:solidFill>
                    <a:latin typeface="Arial" panose="020B0604020202020204" pitchFamily="34" charset="0"/>
                    <a:cs typeface="Arial" panose="020B0604020202020204" pitchFamily="34" charset="0"/>
                  </a:rPr>
                  <a:t> una matriz de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𝒏𝒙𝒏</m:t>
                    </m:r>
                  </m:oMath>
                </a14:m>
                <a:r>
                  <a:rPr lang="es-NI" sz="2000" b="1" dirty="0" smtClean="0">
                    <a:solidFill>
                      <a:srgbClr val="A5A5A5">
                        <a:lumMod val="50000"/>
                      </a:srgbClr>
                    </a:solidFill>
                    <a:latin typeface="Arial" panose="020B0604020202020204" pitchFamily="34" charset="0"/>
                    <a:cs typeface="Arial" panose="020B0604020202020204" pitchFamily="34" charset="0"/>
                  </a:rPr>
                  <a:t>. Entonces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𝑨</m:t>
                    </m:r>
                  </m:oMath>
                </a14:m>
                <a:r>
                  <a:rPr lang="es-NI" sz="2000" b="1" dirty="0" smtClean="0">
                    <a:solidFill>
                      <a:srgbClr val="A5A5A5">
                        <a:lumMod val="50000"/>
                      </a:srgbClr>
                    </a:solidFill>
                    <a:latin typeface="Arial" panose="020B0604020202020204" pitchFamily="34" charset="0"/>
                    <a:cs typeface="Arial" panose="020B0604020202020204" pitchFamily="34" charset="0"/>
                  </a:rPr>
                  <a:t> es invertible si y sólo si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𝒅𝒆𝒕</m:t>
                    </m:r>
                    <m:r>
                      <a:rPr lang="es-NI" sz="2000" b="1" i="1" smtClean="0">
                        <a:solidFill>
                          <a:srgbClr val="A5A5A5">
                            <a:lumMod val="50000"/>
                          </a:srgbClr>
                        </a:solidFill>
                        <a:latin typeface="Cambria Math" panose="02040503050406030204" pitchFamily="18" charset="0"/>
                        <a:cs typeface="Arial" panose="020B0604020202020204" pitchFamily="34" charset="0"/>
                      </a:rPr>
                      <m:t> </m:t>
                    </m:r>
                    <m:r>
                      <a:rPr lang="es-NI" sz="2000" b="1" i="1" smtClean="0">
                        <a:solidFill>
                          <a:srgbClr val="A5A5A5">
                            <a:lumMod val="50000"/>
                          </a:srgbClr>
                        </a:solidFill>
                        <a:latin typeface="Cambria Math" panose="02040503050406030204" pitchFamily="18" charset="0"/>
                        <a:cs typeface="Arial" panose="020B0604020202020204" pitchFamily="34" charset="0"/>
                      </a:rPr>
                      <m:t>𝑨</m:t>
                    </m:r>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𝟎</m:t>
                    </m:r>
                    <m:r>
                      <a:rPr lang="es-NI" sz="2000" b="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oMath>
                </a14:m>
                <a:r>
                  <a:rPr lang="es-NI" sz="2000" b="1" dirty="0" smtClean="0">
                    <a:solidFill>
                      <a:srgbClr val="A5A5A5">
                        <a:lumMod val="50000"/>
                      </a:srgbClr>
                    </a:solidFill>
                    <a:latin typeface="Arial" panose="020B0604020202020204" pitchFamily="34" charset="0"/>
                    <a:cs typeface="Arial" panose="020B0604020202020204" pitchFamily="34" charset="0"/>
                  </a:rPr>
                  <a:t> Si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𝒅𝒆𝒕</m:t>
                    </m:r>
                    <m:r>
                      <a:rPr lang="es-NI" sz="2000" b="1" i="1" smtClean="0">
                        <a:solidFill>
                          <a:srgbClr val="A5A5A5">
                            <a:lumMod val="50000"/>
                          </a:srgbClr>
                        </a:solidFill>
                        <a:latin typeface="Cambria Math" panose="02040503050406030204" pitchFamily="18" charset="0"/>
                        <a:cs typeface="Arial" panose="020B0604020202020204" pitchFamily="34" charset="0"/>
                      </a:rPr>
                      <m:t> </m:t>
                    </m:r>
                    <m:r>
                      <a:rPr lang="es-NI" sz="2000" b="1" i="1" smtClean="0">
                        <a:solidFill>
                          <a:srgbClr val="A5A5A5">
                            <a:lumMod val="50000"/>
                          </a:srgbClr>
                        </a:solidFill>
                        <a:latin typeface="Cambria Math" panose="02040503050406030204" pitchFamily="18" charset="0"/>
                        <a:cs typeface="Arial" panose="020B0604020202020204" pitchFamily="34" charset="0"/>
                      </a:rPr>
                      <m:t>𝑨</m:t>
                    </m:r>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𝟎</m:t>
                    </m:r>
                    <m:r>
                      <a:rPr lang="es-NI" sz="2000" b="1" i="1" smtClean="0">
                        <a:solidFill>
                          <a:srgbClr val="A5A5A5">
                            <a:lumMod val="50000"/>
                          </a:srgbClr>
                        </a:solidFill>
                        <a:latin typeface="Cambria Math" panose="02040503050406030204" pitchFamily="18" charset="0"/>
                        <a:ea typeface="Cambria Math" panose="02040503050406030204" pitchFamily="18" charset="0"/>
                        <a:cs typeface="Arial" panose="020B0604020202020204" pitchFamily="34" charset="0"/>
                      </a:rPr>
                      <m:t>,</m:t>
                    </m:r>
                  </m:oMath>
                </a14:m>
                <a:r>
                  <a:rPr lang="es-NI" sz="2000" b="1" dirty="0" smtClean="0">
                    <a:solidFill>
                      <a:srgbClr val="A5A5A5">
                        <a:lumMod val="50000"/>
                      </a:srgbClr>
                    </a:solidFill>
                    <a:latin typeface="Arial" panose="020B0604020202020204" pitchFamily="34" charset="0"/>
                    <a:cs typeface="Arial" panose="020B0604020202020204" pitchFamily="34" charset="0"/>
                  </a:rPr>
                  <a:t> entonces   </a:t>
                </a:r>
                <a:endParaRPr lang="es-NI" sz="2000" b="1"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7" name="Title 1"/>
              <p:cNvSpPr txBox="1">
                <a:spLocks noRot="1" noChangeAspect="1" noMove="1" noResize="1" noEditPoints="1" noAdjustHandles="1" noChangeArrowheads="1" noChangeShapeType="1" noTextEdit="1"/>
              </p:cNvSpPr>
              <p:nvPr/>
            </p:nvSpPr>
            <p:spPr>
              <a:xfrm>
                <a:off x="-25759" y="4780980"/>
                <a:ext cx="11642502" cy="395406"/>
              </a:xfrm>
              <a:prstGeom prst="rect">
                <a:avLst/>
              </a:prstGeom>
              <a:blipFill rotWithShape="0">
                <a:blip r:embed="rId5"/>
                <a:stretch>
                  <a:fillRect l="-576" t="-6154" b="-29231"/>
                </a:stretch>
              </a:blipFill>
            </p:spPr>
            <p:txBody>
              <a:bodyPr/>
              <a:lstStyle/>
              <a:p>
                <a:r>
                  <a:rPr lang="es-MX">
                    <a:noFill/>
                  </a:rPr>
                  <a:t> </a:t>
                </a:r>
              </a:p>
            </p:txBody>
          </p:sp>
        </mc:Fallback>
      </mc:AlternateContent>
      <p:sp>
        <p:nvSpPr>
          <p:cNvPr id="8" name="Title 1"/>
          <p:cNvSpPr txBox="1">
            <a:spLocks/>
          </p:cNvSpPr>
          <p:nvPr/>
        </p:nvSpPr>
        <p:spPr>
          <a:xfrm>
            <a:off x="0" y="4333831"/>
            <a:ext cx="1365160" cy="39135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r>
              <a:rPr lang="es-MX" sz="2100" b="1" dirty="0" smtClean="0">
                <a:solidFill>
                  <a:srgbClr val="FF0000"/>
                </a:solidFill>
                <a:cs typeface="Arial" panose="020B0604020202020204" pitchFamily="34" charset="0"/>
              </a:rPr>
              <a:t>Teorema</a:t>
            </a:r>
            <a:endParaRPr lang="es-NI" sz="2100" b="1" dirty="0">
              <a:solidFill>
                <a:srgbClr val="FF0000"/>
              </a:solidFill>
              <a:cs typeface="Arial" panose="020B0604020202020204" pitchFamily="34" charset="0"/>
            </a:endParaRPr>
          </a:p>
        </p:txBody>
      </p:sp>
      <mc:AlternateContent xmlns:mc="http://schemas.openxmlformats.org/markup-compatibility/2006">
        <mc:Choice xmlns:a14="http://schemas.microsoft.com/office/drawing/2010/main" Requires="a14">
          <p:sp>
            <p:nvSpPr>
              <p:cNvPr id="9" name="Title 1"/>
              <p:cNvSpPr txBox="1">
                <a:spLocks/>
              </p:cNvSpPr>
              <p:nvPr/>
            </p:nvSpPr>
            <p:spPr>
              <a:xfrm>
                <a:off x="4341129" y="5205949"/>
                <a:ext cx="2586239" cy="77051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buClrTx/>
                  <a:buFontTx/>
                  <a:buNone/>
                  <a:defRPr/>
                </a:pPr>
                <a14:m>
                  <m:oMathPara xmlns:m="http://schemas.openxmlformats.org/officeDocument/2006/math">
                    <m:oMathParaPr>
                      <m:jc m:val="left"/>
                    </m:oMathParaPr>
                    <m:oMath xmlns:m="http://schemas.openxmlformats.org/officeDocument/2006/math">
                      <m:sSup>
                        <m:sSupPr>
                          <m:ctrlPr>
                            <a:rPr lang="es-NI" sz="2100" b="1" i="1" smtClean="0">
                              <a:solidFill>
                                <a:srgbClr val="FF0000"/>
                              </a:solidFill>
                              <a:latin typeface="Cambria Math" panose="02040503050406030204" pitchFamily="18" charset="0"/>
                              <a:cs typeface="Arial" panose="020B0604020202020204" pitchFamily="34" charset="0"/>
                            </a:rPr>
                          </m:ctrlPr>
                        </m:sSupPr>
                        <m:e>
                          <m:r>
                            <a:rPr lang="es-NI" sz="2100" b="1" i="1" smtClean="0">
                              <a:solidFill>
                                <a:srgbClr val="FF0000"/>
                              </a:solidFill>
                              <a:latin typeface="Cambria Math" panose="02040503050406030204" pitchFamily="18" charset="0"/>
                              <a:cs typeface="Arial" panose="020B0604020202020204" pitchFamily="34" charset="0"/>
                            </a:rPr>
                            <m:t>𝑨</m:t>
                          </m:r>
                        </m:e>
                        <m:sup>
                          <m:r>
                            <a:rPr lang="es-NI" sz="2100" b="1" i="1" smtClean="0">
                              <a:solidFill>
                                <a:srgbClr val="FF0000"/>
                              </a:solidFill>
                              <a:latin typeface="Cambria Math" panose="02040503050406030204" pitchFamily="18" charset="0"/>
                              <a:cs typeface="Arial" panose="020B0604020202020204" pitchFamily="34" charset="0"/>
                            </a:rPr>
                            <m:t>−</m:t>
                          </m:r>
                          <m:r>
                            <a:rPr lang="es-NI" sz="2100" b="1" i="1" smtClean="0">
                              <a:solidFill>
                                <a:srgbClr val="FF0000"/>
                              </a:solidFill>
                              <a:latin typeface="Cambria Math" panose="02040503050406030204" pitchFamily="18" charset="0"/>
                              <a:cs typeface="Arial" panose="020B0604020202020204" pitchFamily="34" charset="0"/>
                            </a:rPr>
                            <m:t>𝟏</m:t>
                          </m:r>
                        </m:sup>
                      </m:sSup>
                      <m:r>
                        <a:rPr lang="es-NI" sz="2100" b="1" i="1" smtClean="0">
                          <a:solidFill>
                            <a:srgbClr val="FF0000"/>
                          </a:solidFill>
                          <a:latin typeface="Cambria Math" panose="02040503050406030204" pitchFamily="18" charset="0"/>
                          <a:cs typeface="Arial" panose="020B0604020202020204" pitchFamily="34" charset="0"/>
                        </a:rPr>
                        <m:t>=</m:t>
                      </m:r>
                      <m:f>
                        <m:fPr>
                          <m:ctrlPr>
                            <a:rPr lang="es-NI" sz="2100" b="1" i="1" smtClean="0">
                              <a:solidFill>
                                <a:srgbClr val="FF0000"/>
                              </a:solidFill>
                              <a:latin typeface="Cambria Math" panose="02040503050406030204" pitchFamily="18" charset="0"/>
                              <a:cs typeface="Arial" panose="020B0604020202020204" pitchFamily="34" charset="0"/>
                            </a:rPr>
                          </m:ctrlPr>
                        </m:fPr>
                        <m:num>
                          <m:r>
                            <a:rPr lang="es-NI" sz="2100" b="1" i="1" smtClean="0">
                              <a:solidFill>
                                <a:srgbClr val="FF0000"/>
                              </a:solidFill>
                              <a:latin typeface="Cambria Math" panose="02040503050406030204" pitchFamily="18" charset="0"/>
                              <a:cs typeface="Arial" panose="020B0604020202020204" pitchFamily="34" charset="0"/>
                            </a:rPr>
                            <m:t>𝟏</m:t>
                          </m:r>
                        </m:num>
                        <m:den>
                          <m:r>
                            <a:rPr lang="es-NI" sz="2100" b="1" i="1" smtClean="0">
                              <a:solidFill>
                                <a:srgbClr val="FF0000"/>
                              </a:solidFill>
                              <a:latin typeface="Cambria Math" panose="02040503050406030204" pitchFamily="18" charset="0"/>
                              <a:cs typeface="Arial" panose="020B0604020202020204" pitchFamily="34" charset="0"/>
                            </a:rPr>
                            <m:t>𝒅𝒆𝒕</m:t>
                          </m:r>
                          <m:r>
                            <a:rPr lang="es-NI" sz="2100" b="1" i="1" smtClean="0">
                              <a:solidFill>
                                <a:srgbClr val="FF0000"/>
                              </a:solidFill>
                              <a:latin typeface="Cambria Math" panose="02040503050406030204" pitchFamily="18" charset="0"/>
                              <a:cs typeface="Arial" panose="020B0604020202020204" pitchFamily="34" charset="0"/>
                            </a:rPr>
                            <m:t> </m:t>
                          </m:r>
                          <m:r>
                            <a:rPr lang="es-NI" sz="2100" b="1" i="1" smtClean="0">
                              <a:solidFill>
                                <a:srgbClr val="FF0000"/>
                              </a:solidFill>
                              <a:latin typeface="Cambria Math" panose="02040503050406030204" pitchFamily="18" charset="0"/>
                              <a:cs typeface="Arial" panose="020B0604020202020204" pitchFamily="34" charset="0"/>
                            </a:rPr>
                            <m:t>𝑨</m:t>
                          </m:r>
                        </m:den>
                      </m:f>
                      <m:r>
                        <a:rPr lang="es-NI" sz="2100" b="1" i="1" smtClean="0">
                          <a:solidFill>
                            <a:srgbClr val="FF0000"/>
                          </a:solidFill>
                          <a:latin typeface="Cambria Math" panose="02040503050406030204" pitchFamily="18" charset="0"/>
                          <a:cs typeface="Arial" panose="020B0604020202020204" pitchFamily="34" charset="0"/>
                        </a:rPr>
                        <m:t> </m:t>
                      </m:r>
                      <m:r>
                        <a:rPr lang="es-NI" sz="2100" b="1" i="1" smtClean="0">
                          <a:solidFill>
                            <a:srgbClr val="FF0000"/>
                          </a:solidFill>
                          <a:latin typeface="Cambria Math" panose="02040503050406030204" pitchFamily="18" charset="0"/>
                          <a:cs typeface="Arial" panose="020B0604020202020204" pitchFamily="34" charset="0"/>
                        </a:rPr>
                        <m:t>𝒂𝒅𝒋</m:t>
                      </m:r>
                      <m:r>
                        <a:rPr lang="es-NI" sz="2100" b="1" i="1" smtClean="0">
                          <a:solidFill>
                            <a:srgbClr val="FF0000"/>
                          </a:solidFill>
                          <a:latin typeface="Cambria Math" panose="02040503050406030204" pitchFamily="18" charset="0"/>
                          <a:cs typeface="Arial" panose="020B0604020202020204" pitchFamily="34" charset="0"/>
                        </a:rPr>
                        <m:t> </m:t>
                      </m:r>
                      <m:r>
                        <a:rPr lang="es-NI" sz="2100" b="1" i="1" smtClean="0">
                          <a:solidFill>
                            <a:srgbClr val="FF0000"/>
                          </a:solidFill>
                          <a:latin typeface="Cambria Math" panose="02040503050406030204" pitchFamily="18" charset="0"/>
                          <a:cs typeface="Arial" panose="020B0604020202020204" pitchFamily="34" charset="0"/>
                        </a:rPr>
                        <m:t>𝑨</m:t>
                      </m:r>
                    </m:oMath>
                  </m:oMathPara>
                </a14:m>
                <a:endParaRPr lang="es-NI" sz="2100" b="1" dirty="0">
                  <a:solidFill>
                    <a:srgbClr val="FF0000"/>
                  </a:solidFill>
                  <a:cs typeface="Arial" panose="020B0604020202020204" pitchFamily="34" charset="0"/>
                </a:endParaRPr>
              </a:p>
            </p:txBody>
          </p:sp>
        </mc:Choice>
        <mc:Fallback>
          <p:sp>
            <p:nvSpPr>
              <p:cNvPr id="9" name="Title 1"/>
              <p:cNvSpPr txBox="1">
                <a:spLocks noRot="1" noChangeAspect="1" noMove="1" noResize="1" noEditPoints="1" noAdjustHandles="1" noChangeArrowheads="1" noChangeShapeType="1" noTextEdit="1"/>
              </p:cNvSpPr>
              <p:nvPr/>
            </p:nvSpPr>
            <p:spPr>
              <a:xfrm>
                <a:off x="4341129" y="5205949"/>
                <a:ext cx="2586239" cy="770510"/>
              </a:xfrm>
              <a:prstGeom prst="rect">
                <a:avLst/>
              </a:prstGeom>
              <a:blipFill rotWithShape="0">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57032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circle(in)">
                                      <p:cBhvr>
                                        <p:cTn id="16" dur="2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ircle(in)">
                                      <p:cBhvr>
                                        <p:cTn id="21" dur="2000"/>
                                        <p:tgtEl>
                                          <p:spTgt spid="8"/>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ircle(in)">
                                      <p:cBhvr>
                                        <p:cTn id="24" dur="2000"/>
                                        <p:tgtEl>
                                          <p:spTgt spid="7"/>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ircle(in)">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7" grpId="0"/>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190605"/>
            <a:ext cx="1893194" cy="415498"/>
          </a:xfrm>
          <a:prstGeom prst="rect">
            <a:avLst/>
          </a:prstGeom>
        </p:spPr>
        <p:txBody>
          <a:bodyPr wrap="square">
            <a:spAutoFit/>
          </a:bodyPr>
          <a:lstStyle/>
          <a:p>
            <a:pPr lvl="1" algn="just">
              <a:buClrTx/>
              <a:buFontTx/>
              <a:buNone/>
            </a:pPr>
            <a:r>
              <a:rPr lang="es-ES" sz="2100" b="1" kern="1200" dirty="0" smtClean="0">
                <a:solidFill>
                  <a:srgbClr val="FF0000"/>
                </a:solidFill>
                <a:latin typeface="Arial" panose="020B0604020202020204" pitchFamily="34" charset="0"/>
                <a:cs typeface="Arial" panose="020B0604020202020204" pitchFamily="34" charset="0"/>
              </a:rPr>
              <a:t>Ejemplo</a:t>
            </a:r>
            <a:endParaRPr lang="es-MX" sz="2100" b="1" kern="1200"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Rectángulo 2"/>
              <p:cNvSpPr/>
              <p:nvPr/>
            </p:nvSpPr>
            <p:spPr>
              <a:xfrm>
                <a:off x="-1" y="1665808"/>
                <a:ext cx="7714446" cy="944810"/>
              </a:xfrm>
              <a:prstGeom prst="rect">
                <a:avLst/>
              </a:prstGeom>
            </p:spPr>
            <p:txBody>
              <a:bodyPr wrap="square">
                <a:spAutoFit/>
              </a:bodyPr>
              <a:lstStyle/>
              <a:p>
                <a:pPr lvl="1" algn="just">
                  <a:buClrTx/>
                  <a:buFontTx/>
                  <a:buNone/>
                  <a:defRPr/>
                </a:pPr>
                <a:r>
                  <a:rPr lang="es-ES" sz="2100" b="1" dirty="0" smtClean="0">
                    <a:solidFill>
                      <a:srgbClr val="A5A5A5">
                        <a:lumMod val="50000"/>
                      </a:srgbClr>
                    </a:solidFill>
                    <a:latin typeface="Arial" panose="020B0604020202020204" pitchFamily="34" charset="0"/>
                    <a:cs typeface="Arial" panose="020B0604020202020204" pitchFamily="34" charset="0"/>
                  </a:rPr>
                  <a:t>Si  </a:t>
                </a:r>
                <a14:m>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e>
                          </m:mr>
                          <m:mr>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𝟒</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mr>
                        </m:m>
                      </m:e>
                    </m:d>
                  </m:oMath>
                </a14:m>
                <a:r>
                  <a:rPr lang="es-MX" sz="2100" b="1" dirty="0" smtClean="0">
                    <a:solidFill>
                      <a:srgbClr val="A5A5A5">
                        <a:lumMod val="50000"/>
                      </a:srgbClr>
                    </a:solidFill>
                    <a:latin typeface="Arial" panose="020B0604020202020204" pitchFamily="34" charset="0"/>
                    <a:cs typeface="Arial" panose="020B0604020202020204" pitchFamily="34" charset="0"/>
                  </a:rPr>
                  <a:t>, </a:t>
                </a:r>
                <a:r>
                  <a:rPr lang="es-ES" sz="2100" b="1" dirty="0" smtClean="0">
                    <a:solidFill>
                      <a:srgbClr val="A5A5A5">
                        <a:lumMod val="50000"/>
                      </a:srgbClr>
                    </a:solidFill>
                    <a:latin typeface="Arial" panose="020B0604020202020204" pitchFamily="34" charset="0"/>
                    <a:cs typeface="Arial" panose="020B0604020202020204" pitchFamily="34" charset="0"/>
                  </a:rPr>
                  <a:t>encontremos su inversa si existe. </a:t>
                </a:r>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p:sp>
            <p:nvSpPr>
              <p:cNvPr id="3" name="Rectángulo 2"/>
              <p:cNvSpPr>
                <a:spLocks noRot="1" noChangeAspect="1" noMove="1" noResize="1" noEditPoints="1" noAdjustHandles="1" noChangeArrowheads="1" noChangeShapeType="1" noTextEdit="1"/>
              </p:cNvSpPr>
              <p:nvPr/>
            </p:nvSpPr>
            <p:spPr>
              <a:xfrm>
                <a:off x="-1" y="1665808"/>
                <a:ext cx="7714446" cy="944810"/>
              </a:xfrm>
              <a:prstGeom prst="rect">
                <a:avLst/>
              </a:prstGeom>
              <a:blipFill rotWithShape="0">
                <a:blip r:embed="rId2"/>
                <a:stretch>
                  <a:fillRect/>
                </a:stretch>
              </a:blipFill>
            </p:spPr>
            <p:txBody>
              <a:bodyPr/>
              <a:lstStyle/>
              <a:p>
                <a:r>
                  <a:rPr lang="es-MX">
                    <a:noFill/>
                  </a:rPr>
                  <a:t> </a:t>
                </a:r>
              </a:p>
            </p:txBody>
          </p:sp>
        </mc:Fallback>
      </mc:AlternateContent>
      <p:sp>
        <p:nvSpPr>
          <p:cNvPr id="4" name="Rectángulo 3"/>
          <p:cNvSpPr/>
          <p:nvPr/>
        </p:nvSpPr>
        <p:spPr>
          <a:xfrm>
            <a:off x="0" y="2873541"/>
            <a:ext cx="1893194" cy="415498"/>
          </a:xfrm>
          <a:prstGeom prst="rect">
            <a:avLst/>
          </a:prstGeom>
        </p:spPr>
        <p:txBody>
          <a:bodyPr wrap="square">
            <a:spAutoFit/>
          </a:bodyPr>
          <a:lstStyle/>
          <a:p>
            <a:pPr lvl="1" algn="just">
              <a:buClrTx/>
              <a:buFontTx/>
              <a:buNone/>
            </a:pPr>
            <a:r>
              <a:rPr lang="es-ES" sz="2100" b="1" kern="1200" dirty="0" smtClean="0">
                <a:solidFill>
                  <a:srgbClr val="FF0000"/>
                </a:solidFill>
                <a:latin typeface="Arial" panose="020B0604020202020204" pitchFamily="34" charset="0"/>
                <a:cs typeface="Arial" panose="020B0604020202020204" pitchFamily="34" charset="0"/>
              </a:rPr>
              <a:t>Solución</a:t>
            </a:r>
            <a:endParaRPr lang="es-MX" sz="2100" b="1" kern="1200" dirty="0">
              <a:solidFill>
                <a:srgbClr val="FF0000"/>
              </a:solidFill>
              <a:latin typeface="Arial" panose="020B0604020202020204" pitchFamily="34" charset="0"/>
              <a:cs typeface="Arial" panose="020B0604020202020204" pitchFamily="34" charset="0"/>
            </a:endParaRPr>
          </a:p>
        </p:txBody>
      </p:sp>
      <p:sp>
        <p:nvSpPr>
          <p:cNvPr id="5" name="Rectángulo 4"/>
          <p:cNvSpPr/>
          <p:nvPr/>
        </p:nvSpPr>
        <p:spPr>
          <a:xfrm>
            <a:off x="-1" y="3408449"/>
            <a:ext cx="6737544" cy="415498"/>
          </a:xfrm>
          <a:prstGeom prst="rect">
            <a:avLst/>
          </a:prstGeom>
        </p:spPr>
        <p:txBody>
          <a:bodyPr wrap="square">
            <a:spAutoFit/>
          </a:bodyPr>
          <a:lstStyle/>
          <a:p>
            <a:pPr lvl="1" algn="just">
              <a:buClrTx/>
              <a:buFontTx/>
              <a:buNone/>
            </a:pPr>
            <a:r>
              <a:rPr lang="es-ES" sz="2100" b="1" kern="1200" dirty="0" smtClean="0">
                <a:solidFill>
                  <a:srgbClr val="FF0000"/>
                </a:solidFill>
                <a:latin typeface="Arial" panose="020B0604020202020204" pitchFamily="34" charset="0"/>
                <a:cs typeface="Arial" panose="020B0604020202020204" pitchFamily="34" charset="0"/>
              </a:rPr>
              <a:t>Paso 1. </a:t>
            </a:r>
            <a:r>
              <a:rPr lang="es-ES" sz="2100" b="1" kern="1200" dirty="0" smtClean="0">
                <a:solidFill>
                  <a:srgbClr val="A5A5A5">
                    <a:lumMod val="50000"/>
                  </a:srgbClr>
                </a:solidFill>
                <a:latin typeface="Arial" panose="020B0604020202020204" pitchFamily="34" charset="0"/>
                <a:cs typeface="Arial" panose="020B0604020202020204" pitchFamily="34" charset="0"/>
              </a:rPr>
              <a:t>Encontrar el determinante</a:t>
            </a:r>
            <a:endParaRPr lang="es-MX" sz="2100" b="1" kern="1200" dirty="0">
              <a:solidFill>
                <a:srgbClr val="A5A5A5">
                  <a:lumMod val="50000"/>
                </a:srgbClr>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6" name="Rectángulo 5"/>
              <p:cNvSpPr/>
              <p:nvPr/>
            </p:nvSpPr>
            <p:spPr>
              <a:xfrm>
                <a:off x="503883" y="4048953"/>
                <a:ext cx="10787566" cy="629083"/>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𝑨</m:t>
                          </m:r>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sSup>
                        <m:sSupPr>
                          <m:ctrlPr>
                            <a:rPr lang="es-MX" sz="2100" b="1" i="1" smtClean="0">
                              <a:solidFill>
                                <a:srgbClr val="A5A5A5">
                                  <a:lumMod val="50000"/>
                                </a:srgbClr>
                              </a:solidFill>
                              <a:latin typeface="Cambria Math" panose="02040503050406030204" pitchFamily="18" charset="0"/>
                            </a:rPr>
                          </m:ctrlPr>
                        </m:sSupPr>
                        <m:e>
                          <m:d>
                            <m:dPr>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d>
                        </m:e>
                        <m:sup>
                          <m:r>
                            <a:rPr lang="es-MX" sz="2100" b="1" i="1" smtClean="0">
                              <a:solidFill>
                                <a:srgbClr val="A5A5A5">
                                  <a:lumMod val="50000"/>
                                </a:srgbClr>
                              </a:solidFill>
                              <a:latin typeface="Cambria Math" panose="02040503050406030204" pitchFamily="18" charset="0"/>
                            </a:rPr>
                            <m:t>𝟐</m:t>
                          </m:r>
                        </m:sup>
                      </m:sSup>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𝟒</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mr>
                          </m:m>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sSup>
                        <m:sSupPr>
                          <m:ctrlPr>
                            <a:rPr lang="es-MX" sz="2100" b="1" i="1" smtClean="0">
                              <a:solidFill>
                                <a:srgbClr val="A5A5A5">
                                  <a:lumMod val="50000"/>
                                </a:srgbClr>
                              </a:solidFill>
                              <a:latin typeface="Cambria Math" panose="02040503050406030204" pitchFamily="18" charset="0"/>
                            </a:rPr>
                          </m:ctrlPr>
                        </m:sSupPr>
                        <m:e>
                          <m:d>
                            <m:dPr>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d>
                        </m:e>
                        <m:sup>
                          <m:r>
                            <a:rPr lang="es-MX" sz="2100" b="1" i="1" smtClean="0">
                              <a:solidFill>
                                <a:srgbClr val="A5A5A5">
                                  <a:lumMod val="50000"/>
                                </a:srgbClr>
                              </a:solidFill>
                              <a:latin typeface="Cambria Math" panose="02040503050406030204" pitchFamily="18" charset="0"/>
                            </a:rPr>
                            <m:t>𝟑</m:t>
                          </m:r>
                        </m:sup>
                      </m:sSup>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mr>
                          </m:m>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sSup>
                        <m:sSupPr>
                          <m:ctrlPr>
                            <a:rPr lang="es-MX" sz="2100" b="1" i="1" smtClean="0">
                              <a:solidFill>
                                <a:srgbClr val="A5A5A5">
                                  <a:lumMod val="50000"/>
                                </a:srgbClr>
                              </a:solidFill>
                              <a:latin typeface="Cambria Math" panose="02040503050406030204" pitchFamily="18" charset="0"/>
                            </a:rPr>
                          </m:ctrlPr>
                        </m:sSupPr>
                        <m:e>
                          <m:d>
                            <m:dPr>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d>
                        </m:e>
                        <m:sup>
                          <m:r>
                            <a:rPr lang="es-MX" sz="2100" b="1" i="1" smtClean="0">
                              <a:solidFill>
                                <a:srgbClr val="A5A5A5">
                                  <a:lumMod val="50000"/>
                                </a:srgbClr>
                              </a:solidFill>
                              <a:latin typeface="Cambria Math" panose="02040503050406030204" pitchFamily="18" charset="0"/>
                            </a:rPr>
                            <m:t>𝟒</m:t>
                          </m:r>
                        </m:sup>
                      </m:sSup>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𝟎</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𝟒</m:t>
                                </m:r>
                              </m:e>
                            </m:mr>
                          </m:m>
                        </m:e>
                      </m:d>
                    </m:oMath>
                  </m:oMathPara>
                </a14:m>
                <a:endParaRPr lang="es-MX" sz="2100" b="1" dirty="0" smtClean="0">
                  <a:solidFill>
                    <a:srgbClr val="A5A5A5">
                      <a:lumMod val="50000"/>
                    </a:srgbClr>
                  </a:solidFill>
                  <a:latin typeface="Calibri" panose="020F0502020204030204"/>
                </a:endParaRPr>
              </a:p>
            </p:txBody>
          </p:sp>
        </mc:Choice>
        <mc:Fallback>
          <p:sp>
            <p:nvSpPr>
              <p:cNvPr id="6" name="Rectángulo 5"/>
              <p:cNvSpPr>
                <a:spLocks noRot="1" noChangeAspect="1" noMove="1" noResize="1" noEditPoints="1" noAdjustHandles="1" noChangeArrowheads="1" noChangeShapeType="1" noTextEdit="1"/>
              </p:cNvSpPr>
              <p:nvPr/>
            </p:nvSpPr>
            <p:spPr>
              <a:xfrm>
                <a:off x="503883" y="4048953"/>
                <a:ext cx="10787566" cy="629083"/>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Rectángulo 6"/>
              <p:cNvSpPr/>
              <p:nvPr/>
            </p:nvSpPr>
            <p:spPr>
              <a:xfrm>
                <a:off x="553789" y="4903043"/>
                <a:ext cx="7638435" cy="629083"/>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𝑨</m:t>
                          </m:r>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𝟒</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mr>
                          </m:m>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mr>
                          </m:m>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d>
                        <m:dPr>
                          <m:begChr m:val="["/>
                          <m:endChr m:val="]"/>
                          <m:ctrlPr>
                            <a:rPr lang="es-MX" sz="2100" b="1" i="1" smtClean="0">
                              <a:solidFill>
                                <a:srgbClr val="A5A5A5">
                                  <a:lumMod val="50000"/>
                                </a:srgbClr>
                              </a:solidFill>
                              <a:latin typeface="Cambria Math" panose="02040503050406030204" pitchFamily="18" charset="0"/>
                            </a:rPr>
                          </m:ctrlPr>
                        </m:dPr>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𝟎</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𝟒</m:t>
                                </m:r>
                              </m:e>
                            </m:mr>
                          </m:m>
                        </m:e>
                      </m:d>
                    </m:oMath>
                  </m:oMathPara>
                </a14:m>
                <a:endParaRPr lang="es-MX" sz="2100" b="1" dirty="0" smtClean="0">
                  <a:solidFill>
                    <a:srgbClr val="A5A5A5">
                      <a:lumMod val="50000"/>
                    </a:srgbClr>
                  </a:solidFill>
                  <a:latin typeface="Calibri" panose="020F0502020204030204"/>
                </a:endParaRPr>
              </a:p>
            </p:txBody>
          </p:sp>
        </mc:Choice>
        <mc:Fallback>
          <p:sp>
            <p:nvSpPr>
              <p:cNvPr id="7" name="Rectángulo 6"/>
              <p:cNvSpPr>
                <a:spLocks noRot="1" noChangeAspect="1" noMove="1" noResize="1" noEditPoints="1" noAdjustHandles="1" noChangeArrowheads="1" noChangeShapeType="1" noTextEdit="1"/>
              </p:cNvSpPr>
              <p:nvPr/>
            </p:nvSpPr>
            <p:spPr>
              <a:xfrm>
                <a:off x="553789" y="4903043"/>
                <a:ext cx="7638435" cy="629083"/>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Rectángulo 7"/>
              <p:cNvSpPr/>
              <p:nvPr/>
            </p:nvSpPr>
            <p:spPr>
              <a:xfrm>
                <a:off x="553788" y="5797469"/>
                <a:ext cx="5085643"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𝑨</m:t>
                          </m:r>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𝟒</m:t>
                          </m:r>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e>
                      </m:d>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d>
                        <m:dPr>
                          <m:begChr m:val="["/>
                          <m:endChr m:val="]"/>
                          <m:ctrlPr>
                            <a:rPr lang="es-MX" sz="2100" b="1" i="1" smtClean="0">
                              <a:solidFill>
                                <a:srgbClr val="A5A5A5">
                                  <a:lumMod val="50000"/>
                                </a:srgbClr>
                              </a:solidFill>
                              <a:latin typeface="Cambria Math" panose="02040503050406030204" pitchFamily="18" charset="0"/>
                            </a:rPr>
                          </m:ctrlPr>
                        </m:dPr>
                        <m:e>
                          <m:r>
                            <a:rPr lang="es-MX" sz="2100" b="1" i="1" smtClean="0">
                              <a:solidFill>
                                <a:srgbClr val="A5A5A5">
                                  <a:lumMod val="50000"/>
                                </a:srgbClr>
                              </a:solidFill>
                              <a:latin typeface="Cambria Math" panose="02040503050406030204" pitchFamily="18" charset="0"/>
                            </a:rPr>
                            <m:t>𝟖</m:t>
                          </m:r>
                        </m:e>
                      </m:d>
                    </m:oMath>
                  </m:oMathPara>
                </a14:m>
                <a:endParaRPr lang="es-MX" sz="2100" b="1" dirty="0" smtClean="0">
                  <a:solidFill>
                    <a:srgbClr val="A5A5A5">
                      <a:lumMod val="50000"/>
                    </a:srgbClr>
                  </a:solidFill>
                  <a:latin typeface="Calibri" panose="020F0502020204030204"/>
                </a:endParaRPr>
              </a:p>
            </p:txBody>
          </p:sp>
        </mc:Choice>
        <mc:Fallback>
          <p:sp>
            <p:nvSpPr>
              <p:cNvPr id="8" name="Rectángulo 7"/>
              <p:cNvSpPr>
                <a:spLocks noRot="1" noChangeAspect="1" noMove="1" noResize="1" noEditPoints="1" noAdjustHandles="1" noChangeArrowheads="1" noChangeShapeType="1" noTextEdit="1"/>
              </p:cNvSpPr>
              <p:nvPr/>
            </p:nvSpPr>
            <p:spPr>
              <a:xfrm>
                <a:off x="553788" y="5797469"/>
                <a:ext cx="5085643" cy="415498"/>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9" name="Rectángulo 8"/>
              <p:cNvSpPr/>
              <p:nvPr/>
            </p:nvSpPr>
            <p:spPr>
              <a:xfrm>
                <a:off x="3922393" y="5797469"/>
                <a:ext cx="2940756"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𝟒</m:t>
                      </m:r>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𝟗</m:t>
                      </m:r>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𝟐𝟒</m:t>
                      </m:r>
                    </m:oMath>
                  </m:oMathPara>
                </a14:m>
                <a:endParaRPr lang="es-MX" sz="2100" b="1" dirty="0" smtClean="0">
                  <a:solidFill>
                    <a:srgbClr val="A5A5A5">
                      <a:lumMod val="50000"/>
                    </a:srgbClr>
                  </a:solidFill>
                  <a:latin typeface="Calibri" panose="020F0502020204030204"/>
                </a:endParaRPr>
              </a:p>
            </p:txBody>
          </p:sp>
        </mc:Choice>
        <mc:Fallback>
          <p:sp>
            <p:nvSpPr>
              <p:cNvPr id="9" name="Rectángulo 8"/>
              <p:cNvSpPr>
                <a:spLocks noRot="1" noChangeAspect="1" noMove="1" noResize="1" noEditPoints="1" noAdjustHandles="1" noChangeArrowheads="1" noChangeShapeType="1" noTextEdit="1"/>
              </p:cNvSpPr>
              <p:nvPr/>
            </p:nvSpPr>
            <p:spPr>
              <a:xfrm>
                <a:off x="3922393" y="5797469"/>
                <a:ext cx="2940756" cy="415498"/>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Rectángulo 9"/>
              <p:cNvSpPr/>
              <p:nvPr/>
            </p:nvSpPr>
            <p:spPr>
              <a:xfrm>
                <a:off x="6538932" y="5797469"/>
                <a:ext cx="2351025" cy="415498"/>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prstClr val="black"/>
                              </a:solidFill>
                              <a:latin typeface="Cambria Math" panose="02040503050406030204" pitchFamily="18" charset="0"/>
                            </a:rPr>
                          </m:ctrlPr>
                        </m:dPr>
                        <m:e>
                          <m:r>
                            <a:rPr lang="es-MX" sz="2100" b="1" i="1" smtClean="0">
                              <a:solidFill>
                                <a:prstClr val="black"/>
                              </a:solidFill>
                              <a:latin typeface="Cambria Math" panose="02040503050406030204" pitchFamily="18" charset="0"/>
                            </a:rPr>
                            <m:t>𝑨</m:t>
                          </m:r>
                        </m:e>
                      </m:d>
                      <m:r>
                        <a:rPr lang="es-MX" sz="2100" b="1" i="1" smtClean="0">
                          <a:solidFill>
                            <a:srgbClr val="FF0000"/>
                          </a:solidFill>
                          <a:latin typeface="Cambria Math" panose="02040503050406030204" pitchFamily="18" charset="0"/>
                        </a:rPr>
                        <m:t>=−</m:t>
                      </m:r>
                      <m:r>
                        <a:rPr lang="es-MX" sz="2100" b="1" i="1" smtClean="0">
                          <a:solidFill>
                            <a:srgbClr val="FF0000"/>
                          </a:solidFill>
                          <a:latin typeface="Cambria Math" panose="02040503050406030204" pitchFamily="18" charset="0"/>
                        </a:rPr>
                        <m:t>𝟏𝟗</m:t>
                      </m:r>
                    </m:oMath>
                  </m:oMathPara>
                </a14:m>
                <a:endParaRPr lang="es-MX" sz="2100" b="1" dirty="0" smtClean="0">
                  <a:solidFill>
                    <a:srgbClr val="FF0000"/>
                  </a:solidFill>
                  <a:latin typeface="Calibri" panose="020F0502020204030204"/>
                </a:endParaRPr>
              </a:p>
            </p:txBody>
          </p:sp>
        </mc:Choice>
        <mc:Fallback>
          <p:sp>
            <p:nvSpPr>
              <p:cNvPr id="10" name="Rectángulo 9"/>
              <p:cNvSpPr>
                <a:spLocks noRot="1" noChangeAspect="1" noMove="1" noResize="1" noEditPoints="1" noAdjustHandles="1" noChangeArrowheads="1" noChangeShapeType="1" noTextEdit="1"/>
              </p:cNvSpPr>
              <p:nvPr/>
            </p:nvSpPr>
            <p:spPr>
              <a:xfrm>
                <a:off x="6538932" y="5797469"/>
                <a:ext cx="2351025" cy="415498"/>
              </a:xfrm>
              <a:prstGeom prst="rect">
                <a:avLst/>
              </a:prstGeom>
              <a:blipFill rotWithShape="0">
                <a:blip r:embed="rId7"/>
                <a:stretch>
                  <a:fillRect/>
                </a:stretch>
              </a:blipFill>
            </p:spPr>
            <p:txBody>
              <a:bodyPr/>
              <a:lstStyle/>
              <a:p>
                <a:r>
                  <a:rPr lang="es-MX">
                    <a:noFill/>
                  </a:rPr>
                  <a:t> </a:t>
                </a:r>
              </a:p>
            </p:txBody>
          </p:sp>
        </mc:Fallback>
      </mc:AlternateContent>
      <p:cxnSp>
        <p:nvCxnSpPr>
          <p:cNvPr id="11" name="Conector recto 10"/>
          <p:cNvCxnSpPr/>
          <p:nvPr/>
        </p:nvCxnSpPr>
        <p:spPr>
          <a:xfrm flipV="1">
            <a:off x="1551144" y="1812240"/>
            <a:ext cx="1545465" cy="37737"/>
          </a:xfrm>
          <a:prstGeom prst="line">
            <a:avLst/>
          </a:prstGeom>
          <a:noFill/>
          <a:ln w="28575" cap="flat" cmpd="sng" algn="ctr">
            <a:solidFill>
              <a:srgbClr val="FF0000"/>
            </a:solidFill>
            <a:prstDash val="dash"/>
            <a:miter lim="800000"/>
          </a:ln>
          <a:effectLst/>
        </p:spPr>
      </p:cxnSp>
      <p:sp>
        <p:nvSpPr>
          <p:cNvPr id="12" name="Flecha derecha 11"/>
          <p:cNvSpPr/>
          <p:nvPr/>
        </p:nvSpPr>
        <p:spPr>
          <a:xfrm>
            <a:off x="6333565" y="5816354"/>
            <a:ext cx="686746" cy="364717"/>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algn="ctr">
              <a:buClrTx/>
              <a:buFontTx/>
              <a:buNone/>
              <a:defRPr/>
            </a:pPr>
            <a:endParaRPr lang="es-MX" sz="2100" smtClean="0">
              <a:solidFill>
                <a:prstClr val="white"/>
              </a:solidFill>
              <a:latin typeface="Calibri" panose="020F0502020204030204"/>
            </a:endParaRPr>
          </a:p>
        </p:txBody>
      </p:sp>
    </p:spTree>
    <p:extLst>
      <p:ext uri="{BB962C8B-B14F-4D97-AF65-F5344CB8AC3E}">
        <p14:creationId xmlns:p14="http://schemas.microsoft.com/office/powerpoint/2010/main" val="23547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par>
                                <p:cTn id="13" presetID="6" presetClass="entr" presetSubtype="16"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circle(in)">
                                      <p:cBhvr>
                                        <p:cTn id="15" dur="20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circle(in)">
                                      <p:cBhvr>
                                        <p:cTn id="20" dur="20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in)">
                                      <p:cBhvr>
                                        <p:cTn id="25" dur="2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circle(in)">
                                      <p:cBhvr>
                                        <p:cTn id="30" dur="2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circle(in)">
                                      <p:cBhvr>
                                        <p:cTn id="35" dur="20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circle(in)">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circle(in)">
                                      <p:cBhvr>
                                        <p:cTn id="45" dur="20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circle(in)">
                                      <p:cBhvr>
                                        <p:cTn id="50" dur="20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circle(in)">
                                      <p:cBhvr>
                                        <p:cTn id="5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209531"/>
            <a:ext cx="6336406" cy="415498"/>
          </a:xfrm>
          <a:prstGeom prst="rect">
            <a:avLst/>
          </a:prstGeom>
        </p:spPr>
        <p:txBody>
          <a:bodyPr wrap="square">
            <a:spAutoFit/>
          </a:bodyPr>
          <a:lstStyle/>
          <a:p>
            <a:pPr lvl="1">
              <a:buClrTx/>
              <a:buFontTx/>
              <a:buNone/>
            </a:pPr>
            <a:r>
              <a:rPr lang="es-ES" sz="2000" b="1" kern="1200" dirty="0" smtClean="0">
                <a:solidFill>
                  <a:srgbClr val="FF0000"/>
                </a:solidFill>
                <a:latin typeface="Arial" panose="020B0604020202020204" pitchFamily="34" charset="0"/>
                <a:cs typeface="Arial" panose="020B0604020202020204" pitchFamily="34" charset="0"/>
              </a:rPr>
              <a:t>Paso 2. </a:t>
            </a:r>
            <a:r>
              <a:rPr lang="es-ES" sz="2000" b="1" kern="1200" dirty="0">
                <a:solidFill>
                  <a:srgbClr val="A5A5A5">
                    <a:lumMod val="50000"/>
                  </a:srgbClr>
                </a:solidFill>
                <a:latin typeface="Arial" panose="020B0604020202020204" pitchFamily="34" charset="0"/>
                <a:cs typeface="Arial" panose="020B0604020202020204" pitchFamily="34" charset="0"/>
              </a:rPr>
              <a:t>Encontremos la matriz de </a:t>
            </a:r>
            <a:r>
              <a:rPr lang="es-ES" sz="2000" b="1" kern="1200" dirty="0" smtClean="0">
                <a:solidFill>
                  <a:srgbClr val="A5A5A5">
                    <a:lumMod val="50000"/>
                  </a:srgbClr>
                </a:solidFill>
                <a:latin typeface="Arial" panose="020B0604020202020204" pitchFamily="34" charset="0"/>
                <a:cs typeface="Arial" panose="020B0604020202020204" pitchFamily="34" charset="0"/>
              </a:rPr>
              <a:t>cofactores. </a:t>
            </a:r>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Rectángulo 2"/>
              <p:cNvSpPr/>
              <p:nvPr/>
            </p:nvSpPr>
            <p:spPr>
              <a:xfrm>
                <a:off x="-1" y="1897577"/>
                <a:ext cx="3438659"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𝟏𝟏</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𝟐</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𝟎</m:t>
                                </m:r>
                              </m:e>
                              <m:e>
                                <m:r>
                                  <a:rPr lang="es-MX" sz="1800" b="1" i="1" smtClean="0">
                                    <a:solidFill>
                                      <a:srgbClr val="0070C0"/>
                                    </a:solidFill>
                                    <a:latin typeface="Cambria Math" panose="02040503050406030204" pitchFamily="18" charset="0"/>
                                  </a:rPr>
                                  <m:t>𝟏</m:t>
                                </m:r>
                              </m:e>
                            </m:mr>
                            <m:mr>
                              <m:e>
                                <m:r>
                                  <a:rPr lang="es-MX" sz="1800" b="1" i="1" smtClean="0">
                                    <a:solidFill>
                                      <a:srgbClr val="0070C0"/>
                                    </a:solidFill>
                                    <a:latin typeface="Cambria Math" panose="02040503050406030204" pitchFamily="18" charset="0"/>
                                  </a:rPr>
                                  <m:t>𝟒</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𝟐</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𝟒</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3" name="Rectángulo 2"/>
              <p:cNvSpPr>
                <a:spLocks noRot="1" noChangeAspect="1" noMove="1" noResize="1" noEditPoints="1" noAdjustHandles="1" noChangeArrowheads="1" noChangeShapeType="1" noTextEdit="1"/>
              </p:cNvSpPr>
              <p:nvPr/>
            </p:nvSpPr>
            <p:spPr>
              <a:xfrm>
                <a:off x="-1" y="1897577"/>
                <a:ext cx="3438659" cy="552459"/>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Rectángulo 3"/>
              <p:cNvSpPr/>
              <p:nvPr/>
            </p:nvSpPr>
            <p:spPr>
              <a:xfrm>
                <a:off x="3039414" y="1893469"/>
                <a:ext cx="3418933"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𝟏𝟐</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𝟑</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𝟐</m:t>
                                </m:r>
                              </m:e>
                              <m:e>
                                <m:r>
                                  <a:rPr lang="es-MX" sz="1800" b="1" i="1" smtClean="0">
                                    <a:solidFill>
                                      <a:srgbClr val="0070C0"/>
                                    </a:solidFill>
                                    <a:latin typeface="Cambria Math" panose="02040503050406030204" pitchFamily="18" charset="0"/>
                                  </a:rPr>
                                  <m:t>𝟏</m:t>
                                </m:r>
                              </m:e>
                            </m:mr>
                            <m:m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𝟐</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𝟑</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4" name="Rectángulo 3"/>
              <p:cNvSpPr>
                <a:spLocks noRot="1" noChangeAspect="1" noMove="1" noResize="1" noEditPoints="1" noAdjustHandles="1" noChangeArrowheads="1" noChangeShapeType="1" noTextEdit="1"/>
              </p:cNvSpPr>
              <p:nvPr/>
            </p:nvSpPr>
            <p:spPr>
              <a:xfrm>
                <a:off x="3039414" y="1893469"/>
                <a:ext cx="3418933" cy="552459"/>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5" name="Rectángulo 4"/>
              <p:cNvSpPr/>
              <p:nvPr/>
            </p:nvSpPr>
            <p:spPr>
              <a:xfrm>
                <a:off x="6194739" y="1893468"/>
                <a:ext cx="3348506"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𝟏𝟑</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𝟒</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𝟐</m:t>
                                </m:r>
                              </m:e>
                              <m:e>
                                <m:r>
                                  <a:rPr lang="es-MX" sz="1800" b="1" i="1" smtClean="0">
                                    <a:solidFill>
                                      <a:srgbClr val="0070C0"/>
                                    </a:solidFill>
                                    <a:latin typeface="Cambria Math" panose="02040503050406030204" pitchFamily="18" charset="0"/>
                                  </a:rPr>
                                  <m:t>𝟎</m:t>
                                </m:r>
                              </m:e>
                            </m:mr>
                            <m:m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𝟒</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𝟖</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5" name="Rectángulo 4"/>
              <p:cNvSpPr>
                <a:spLocks noRot="1" noChangeAspect="1" noMove="1" noResize="1" noEditPoints="1" noAdjustHandles="1" noChangeArrowheads="1" noChangeShapeType="1" noTextEdit="1"/>
              </p:cNvSpPr>
              <p:nvPr/>
            </p:nvSpPr>
            <p:spPr>
              <a:xfrm>
                <a:off x="6194739" y="1893468"/>
                <a:ext cx="3348506" cy="552459"/>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6" name="Rectángulo 5"/>
              <p:cNvSpPr/>
              <p:nvPr/>
            </p:nvSpPr>
            <p:spPr>
              <a:xfrm>
                <a:off x="-2" y="2976968"/>
                <a:ext cx="3438659"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𝟐𝟏</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𝟑</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𝟑</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𝟒</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𝟐</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𝟔</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6" name="Rectángulo 5"/>
              <p:cNvSpPr>
                <a:spLocks noRot="1" noChangeAspect="1" noMove="1" noResize="1" noEditPoints="1" noAdjustHandles="1" noChangeArrowheads="1" noChangeShapeType="1" noTextEdit="1"/>
              </p:cNvSpPr>
              <p:nvPr/>
            </p:nvSpPr>
            <p:spPr>
              <a:xfrm>
                <a:off x="-2" y="2976968"/>
                <a:ext cx="3438659" cy="552459"/>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Rectángulo 6"/>
              <p:cNvSpPr/>
              <p:nvPr/>
            </p:nvSpPr>
            <p:spPr>
              <a:xfrm>
                <a:off x="3039414" y="2972859"/>
                <a:ext cx="3686095"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𝟐𝟐</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𝟒</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𝟐</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𝟓</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7" name="Rectángulo 6"/>
              <p:cNvSpPr>
                <a:spLocks noRot="1" noChangeAspect="1" noMove="1" noResize="1" noEditPoints="1" noAdjustHandles="1" noChangeArrowheads="1" noChangeShapeType="1" noTextEdit="1"/>
              </p:cNvSpPr>
              <p:nvPr/>
            </p:nvSpPr>
            <p:spPr>
              <a:xfrm>
                <a:off x="3039414" y="2972859"/>
                <a:ext cx="3686095" cy="552459"/>
              </a:xfrm>
              <a:prstGeom prst="rect">
                <a:avLst/>
              </a:prstGeom>
              <a:blipFill rotWithShape="0">
                <a:blip r:embed="rId6"/>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Rectángulo 7"/>
              <p:cNvSpPr/>
              <p:nvPr/>
            </p:nvSpPr>
            <p:spPr>
              <a:xfrm>
                <a:off x="6194739" y="2968750"/>
                <a:ext cx="3451535"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𝟐𝟑</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𝟓</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𝟒</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𝟕</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8" name="Rectángulo 7"/>
              <p:cNvSpPr>
                <a:spLocks noRot="1" noChangeAspect="1" noMove="1" noResize="1" noEditPoints="1" noAdjustHandles="1" noChangeArrowheads="1" noChangeShapeType="1" noTextEdit="1"/>
              </p:cNvSpPr>
              <p:nvPr/>
            </p:nvSpPr>
            <p:spPr>
              <a:xfrm>
                <a:off x="6194739" y="2968750"/>
                <a:ext cx="3451535" cy="552459"/>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9" name="Rectángulo 8"/>
              <p:cNvSpPr/>
              <p:nvPr/>
            </p:nvSpPr>
            <p:spPr>
              <a:xfrm>
                <a:off x="-67136" y="4048141"/>
                <a:ext cx="3222459" cy="55425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𝟑𝟏</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𝟒</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𝟑</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𝟎</m:t>
                                </m:r>
                              </m:e>
                              <m:e>
                                <m:r>
                                  <a:rPr lang="es-MX" sz="1800" b="1" i="1" smtClean="0">
                                    <a:solidFill>
                                      <a:srgbClr val="0070C0"/>
                                    </a:solidFill>
                                    <a:latin typeface="Cambria Math" panose="02040503050406030204" pitchFamily="18" charset="0"/>
                                  </a:rPr>
                                  <m:t>𝟏</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𝟑</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9" name="Rectángulo 8"/>
              <p:cNvSpPr>
                <a:spLocks noRot="1" noChangeAspect="1" noMove="1" noResize="1" noEditPoints="1" noAdjustHandles="1" noChangeArrowheads="1" noChangeShapeType="1" noTextEdit="1"/>
              </p:cNvSpPr>
              <p:nvPr/>
            </p:nvSpPr>
            <p:spPr>
              <a:xfrm>
                <a:off x="-67136" y="4048141"/>
                <a:ext cx="3222459" cy="554254"/>
              </a:xfrm>
              <a:prstGeom prst="rect">
                <a:avLst/>
              </a:prstGeom>
              <a:blipFill rotWithShape="0">
                <a:blip r:embed="rId8"/>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Rectángulo 9"/>
              <p:cNvSpPr/>
              <p:nvPr/>
            </p:nvSpPr>
            <p:spPr>
              <a:xfrm>
                <a:off x="3016671" y="4049936"/>
                <a:ext cx="3464418" cy="552459"/>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𝟑𝟐</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𝟓</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𝟐</m:t>
                                </m:r>
                              </m:e>
                              <m:e>
                                <m:r>
                                  <a:rPr lang="es-MX" sz="1800" b="1" i="1" smtClean="0">
                                    <a:solidFill>
                                      <a:srgbClr val="0070C0"/>
                                    </a:solidFill>
                                    <a:latin typeface="Cambria Math" panose="02040503050406030204" pitchFamily="18" charset="0"/>
                                  </a:rPr>
                                  <m:t>𝟏</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𝟕</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10" name="Rectángulo 9"/>
              <p:cNvSpPr>
                <a:spLocks noRot="1" noChangeAspect="1" noMove="1" noResize="1" noEditPoints="1" noAdjustHandles="1" noChangeArrowheads="1" noChangeShapeType="1" noTextEdit="1"/>
              </p:cNvSpPr>
              <p:nvPr/>
            </p:nvSpPr>
            <p:spPr>
              <a:xfrm>
                <a:off x="3016671" y="4049936"/>
                <a:ext cx="3464418" cy="552459"/>
              </a:xfrm>
              <a:prstGeom prst="rect">
                <a:avLst/>
              </a:prstGeom>
              <a:blipFill rotWithShape="0">
                <a:blip r:embed="rId9"/>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Rectángulo 10"/>
              <p:cNvSpPr/>
              <p:nvPr/>
            </p:nvSpPr>
            <p:spPr>
              <a:xfrm>
                <a:off x="6091705" y="4052249"/>
                <a:ext cx="3271235" cy="55425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1800" b="1" i="1" smtClean="0">
                              <a:solidFill>
                                <a:srgbClr val="0070C0"/>
                              </a:solidFill>
                              <a:latin typeface="Cambria Math" panose="02040503050406030204" pitchFamily="18" charset="0"/>
                            </a:rPr>
                          </m:ctrlPr>
                        </m:sSubPr>
                        <m:e>
                          <m:r>
                            <a:rPr lang="es-MX" sz="1800" b="1" i="1" smtClean="0">
                              <a:solidFill>
                                <a:srgbClr val="0070C0"/>
                              </a:solidFill>
                              <a:latin typeface="Cambria Math" panose="02040503050406030204" pitchFamily="18" charset="0"/>
                            </a:rPr>
                            <m:t>𝑪</m:t>
                          </m:r>
                        </m:e>
                        <m:sub>
                          <m:r>
                            <a:rPr lang="es-MX" sz="1800" b="1" i="1" smtClean="0">
                              <a:solidFill>
                                <a:srgbClr val="FF0000"/>
                              </a:solidFill>
                              <a:latin typeface="Cambria Math" panose="02040503050406030204" pitchFamily="18" charset="0"/>
                            </a:rPr>
                            <m:t>𝟑𝟑</m:t>
                          </m:r>
                        </m:sub>
                      </m:sSub>
                      <m:r>
                        <a:rPr lang="es-MX" sz="1800" b="1" i="1" smtClean="0">
                          <a:solidFill>
                            <a:srgbClr val="0070C0"/>
                          </a:solidFill>
                          <a:latin typeface="Cambria Math" panose="02040503050406030204" pitchFamily="18" charset="0"/>
                        </a:rPr>
                        <m:t>=</m:t>
                      </m:r>
                      <m:sSup>
                        <m:sSupPr>
                          <m:ctrlPr>
                            <a:rPr lang="es-MX" sz="1800" b="1" i="1" smtClean="0">
                              <a:solidFill>
                                <a:srgbClr val="0070C0"/>
                              </a:solidFill>
                              <a:latin typeface="Cambria Math" panose="02040503050406030204" pitchFamily="18" charset="0"/>
                            </a:rPr>
                          </m:ctrlPr>
                        </m:sSupPr>
                        <m:e>
                          <m:d>
                            <m:dPr>
                              <m:ctrlPr>
                                <a:rPr lang="es-MX" sz="1800" b="1" i="1" smtClean="0">
                                  <a:solidFill>
                                    <a:srgbClr val="0070C0"/>
                                  </a:solidFill>
                                  <a:latin typeface="Cambria Math" panose="02040503050406030204" pitchFamily="18" charset="0"/>
                                </a:rPr>
                              </m:ctrlPr>
                            </m:dPr>
                            <m:e>
                              <m:r>
                                <a:rPr lang="es-MX" sz="1800" b="1" i="1" smtClean="0">
                                  <a:solidFill>
                                    <a:srgbClr val="0070C0"/>
                                  </a:solidFill>
                                  <a:latin typeface="Cambria Math" panose="02040503050406030204" pitchFamily="18" charset="0"/>
                                </a:rPr>
                                <m:t>−</m:t>
                              </m:r>
                              <m:r>
                                <a:rPr lang="es-MX" sz="1800" b="1" i="1" smtClean="0">
                                  <a:solidFill>
                                    <a:srgbClr val="0070C0"/>
                                  </a:solidFill>
                                  <a:latin typeface="Cambria Math" panose="02040503050406030204" pitchFamily="18" charset="0"/>
                                </a:rPr>
                                <m:t>𝟏</m:t>
                              </m:r>
                            </m:e>
                          </m:d>
                        </m:e>
                        <m:sup>
                          <m:r>
                            <a:rPr lang="es-MX" sz="1800" b="1" i="1" smtClean="0">
                              <a:solidFill>
                                <a:srgbClr val="FF0000"/>
                              </a:solidFill>
                              <a:latin typeface="Cambria Math" panose="02040503050406030204" pitchFamily="18" charset="0"/>
                            </a:rPr>
                            <m:t>𝟔</m:t>
                          </m:r>
                        </m:sup>
                      </m:sSup>
                      <m:d>
                        <m:dPr>
                          <m:begChr m:val="["/>
                          <m:endChr m:val="]"/>
                          <m:ctrlPr>
                            <a:rPr lang="es-MX" sz="1800" b="1" i="1" smtClean="0">
                              <a:solidFill>
                                <a:srgbClr val="0070C0"/>
                              </a:solidFill>
                              <a:latin typeface="Cambria Math" panose="02040503050406030204" pitchFamily="18" charset="0"/>
                            </a:rPr>
                          </m:ctrlPr>
                        </m:dPr>
                        <m:e>
                          <m:m>
                            <m:mPr>
                              <m:mcs>
                                <m:mc>
                                  <m:mcPr>
                                    <m:count m:val="2"/>
                                    <m:mcJc m:val="center"/>
                                  </m:mcPr>
                                </m:mc>
                              </m:mcs>
                              <m:ctrlPr>
                                <a:rPr lang="es-MX" sz="1800" b="1" i="1" smtClean="0">
                                  <a:solidFill>
                                    <a:srgbClr val="0070C0"/>
                                  </a:solidFill>
                                  <a:latin typeface="Cambria Math" panose="02040503050406030204" pitchFamily="18" charset="0"/>
                                </a:rPr>
                              </m:ctrlPr>
                            </m:mPr>
                            <m:mr>
                              <m:e>
                                <m:r>
                                  <m:rPr>
                                    <m:brk m:alnAt="7"/>
                                  </m:rPr>
                                  <a:rPr lang="es-MX" sz="1800" b="1" i="1" smtClean="0">
                                    <a:solidFill>
                                      <a:srgbClr val="0070C0"/>
                                    </a:solidFill>
                                    <a:latin typeface="Cambria Math" panose="02040503050406030204" pitchFamily="18" charset="0"/>
                                  </a:rPr>
                                  <m:t>𝟏</m:t>
                                </m:r>
                              </m:e>
                              <m:e>
                                <m:r>
                                  <a:rPr lang="es-MX" sz="1800" b="1" i="1" smtClean="0">
                                    <a:solidFill>
                                      <a:srgbClr val="0070C0"/>
                                    </a:solidFill>
                                    <a:latin typeface="Cambria Math" panose="02040503050406030204" pitchFamily="18" charset="0"/>
                                  </a:rPr>
                                  <m:t>𝟑</m:t>
                                </m:r>
                              </m:e>
                            </m:mr>
                            <m:mr>
                              <m:e>
                                <m:r>
                                  <a:rPr lang="es-MX" sz="1800" b="1" i="1" smtClean="0">
                                    <a:solidFill>
                                      <a:srgbClr val="0070C0"/>
                                    </a:solidFill>
                                    <a:latin typeface="Cambria Math" panose="02040503050406030204" pitchFamily="18" charset="0"/>
                                  </a:rPr>
                                  <m:t>𝟐</m:t>
                                </m:r>
                              </m:e>
                              <m:e>
                                <m:r>
                                  <a:rPr lang="es-MX" sz="1800" b="1" i="1" smtClean="0">
                                    <a:solidFill>
                                      <a:srgbClr val="0070C0"/>
                                    </a:solidFill>
                                    <a:latin typeface="Cambria Math" panose="02040503050406030204" pitchFamily="18" charset="0"/>
                                  </a:rPr>
                                  <m:t>𝟎</m:t>
                                </m:r>
                              </m:e>
                            </m:mr>
                          </m:m>
                        </m:e>
                      </m:d>
                      <m:r>
                        <a:rPr lang="es-MX" sz="1800" b="1" i="1" smtClean="0">
                          <a:solidFill>
                            <a:srgbClr val="0070C0"/>
                          </a:solidFill>
                          <a:latin typeface="Cambria Math" panose="02040503050406030204" pitchFamily="18" charset="0"/>
                        </a:rPr>
                        <m:t>=</m:t>
                      </m:r>
                      <m:r>
                        <a:rPr lang="es-MX" sz="1800" b="1" i="1" smtClean="0">
                          <a:solidFill>
                            <a:prstClr val="black"/>
                          </a:solidFill>
                          <a:latin typeface="Cambria Math" panose="02040503050406030204" pitchFamily="18" charset="0"/>
                        </a:rPr>
                        <m:t>−</m:t>
                      </m:r>
                      <m:r>
                        <a:rPr lang="es-MX" sz="1800" b="1" i="1" smtClean="0">
                          <a:solidFill>
                            <a:prstClr val="black"/>
                          </a:solidFill>
                          <a:latin typeface="Cambria Math" panose="02040503050406030204" pitchFamily="18" charset="0"/>
                        </a:rPr>
                        <m:t>𝟔</m:t>
                      </m:r>
                    </m:oMath>
                  </m:oMathPara>
                </a14:m>
                <a:endParaRPr lang="es-MX" sz="1800" b="1" dirty="0" smtClean="0">
                  <a:solidFill>
                    <a:prstClr val="black"/>
                  </a:solidFill>
                  <a:latin typeface="Arial" panose="020B0604020202020204" pitchFamily="34" charset="0"/>
                  <a:cs typeface="Arial" panose="020B0604020202020204" pitchFamily="34" charset="0"/>
                </a:endParaRPr>
              </a:p>
            </p:txBody>
          </p:sp>
        </mc:Choice>
        <mc:Fallback>
          <p:sp>
            <p:nvSpPr>
              <p:cNvPr id="11" name="Rectángulo 10"/>
              <p:cNvSpPr>
                <a:spLocks noRot="1" noChangeAspect="1" noMove="1" noResize="1" noEditPoints="1" noAdjustHandles="1" noChangeArrowheads="1" noChangeShapeType="1" noTextEdit="1"/>
              </p:cNvSpPr>
              <p:nvPr/>
            </p:nvSpPr>
            <p:spPr>
              <a:xfrm>
                <a:off x="6091705" y="4052249"/>
                <a:ext cx="3271235" cy="554254"/>
              </a:xfrm>
              <a:prstGeom prst="rect">
                <a:avLst/>
              </a:prstGeom>
              <a:blipFill rotWithShape="0">
                <a:blip r:embed="rId10"/>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90164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circle(in)">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circle(in)">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circle(in)">
                                      <p:cBhvr>
                                        <p:cTn id="37" dur="2000"/>
                                        <p:tgtEl>
                                          <p:spTgt spid="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circle(in)">
                                      <p:cBhvr>
                                        <p:cTn id="42" dur="20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circle(in)">
                                      <p:cBhvr>
                                        <p:cTn id="47" dur="20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circle(in)">
                                      <p:cBhvr>
                                        <p:cTn id="52"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ángulo 1"/>
              <p:cNvSpPr/>
              <p:nvPr/>
            </p:nvSpPr>
            <p:spPr>
              <a:xfrm>
                <a:off x="0" y="1182257"/>
                <a:ext cx="12192000" cy="707886"/>
              </a:xfrm>
              <a:prstGeom prst="rect">
                <a:avLst/>
              </a:prstGeom>
            </p:spPr>
            <p:txBody>
              <a:bodyPr wrap="square">
                <a:spAutoFit/>
              </a:bodyPr>
              <a:lstStyle/>
              <a:p>
                <a:pPr lvl="1" algn="just">
                  <a:buClrTx/>
                  <a:buFontTx/>
                  <a:buNone/>
                </a:pPr>
                <a:r>
                  <a:rPr lang="es-ES" sz="2000" b="1" kern="1200" dirty="0">
                    <a:solidFill>
                      <a:srgbClr val="A5A5A5">
                        <a:lumMod val="50000"/>
                      </a:srgbClr>
                    </a:solidFill>
                    <a:latin typeface="Arial" panose="020B0604020202020204" pitchFamily="34" charset="0"/>
                    <a:cs typeface="Arial" panose="020B0604020202020204" pitchFamily="34" charset="0"/>
                  </a:rPr>
                  <a:t>Sustituyendo cada elemento de la matriz por su cofactor obtenemos la matriz de cofactores de  </a:t>
                </a:r>
                <a14:m>
                  <m:oMath xmlns:m="http://schemas.openxmlformats.org/officeDocument/2006/math">
                    <m:r>
                      <a:rPr lang="es-ES" sz="2000" b="1" i="1" kern="1200" dirty="0" smtClean="0">
                        <a:solidFill>
                          <a:srgbClr val="A5A5A5">
                            <a:lumMod val="50000"/>
                          </a:srgbClr>
                        </a:solidFill>
                        <a:latin typeface="Cambria Math" panose="02040503050406030204" pitchFamily="18" charset="0"/>
                        <a:cs typeface="Arial" panose="020B0604020202020204" pitchFamily="34" charset="0"/>
                      </a:rPr>
                      <m:t>𝑨</m:t>
                    </m:r>
                  </m:oMath>
                </a14:m>
                <a:r>
                  <a:rPr lang="es-ES" sz="2000" b="1" kern="1200" dirty="0" smtClean="0">
                    <a:solidFill>
                      <a:srgbClr val="A5A5A5">
                        <a:lumMod val="50000"/>
                      </a:srgbClr>
                    </a:solidFill>
                    <a:latin typeface="Arial" panose="020B0604020202020204" pitchFamily="34" charset="0"/>
                    <a:cs typeface="Arial" panose="020B0604020202020204" pitchFamily="34" charset="0"/>
                  </a:rPr>
                  <a:t>. </a:t>
                </a:r>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2" name="Rectángulo 1"/>
              <p:cNvSpPr>
                <a:spLocks noRot="1" noChangeAspect="1" noMove="1" noResize="1" noEditPoints="1" noAdjustHandles="1" noChangeArrowheads="1" noChangeShapeType="1" noTextEdit="1"/>
              </p:cNvSpPr>
              <p:nvPr/>
            </p:nvSpPr>
            <p:spPr>
              <a:xfrm>
                <a:off x="0" y="1182257"/>
                <a:ext cx="12192000" cy="707886"/>
              </a:xfrm>
              <a:prstGeom prst="rect">
                <a:avLst/>
              </a:prstGeom>
              <a:blipFill rotWithShape="0">
                <a:blip r:embed="rId2"/>
                <a:stretch>
                  <a:fillRect t="-4310" r="-500" b="-15517"/>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3" name="Rectángulo 2"/>
              <p:cNvSpPr/>
              <p:nvPr/>
            </p:nvSpPr>
            <p:spPr>
              <a:xfrm>
                <a:off x="2305319" y="1901434"/>
                <a:ext cx="3245475" cy="9062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sSub>
                        <m:sSubPr>
                          <m:ctrlPr>
                            <a:rPr lang="es-MX" sz="2000" b="1" i="1" smtClean="0">
                              <a:solidFill>
                                <a:srgbClr val="FF0000"/>
                              </a:solidFill>
                              <a:latin typeface="Cambria Math" panose="02040503050406030204" pitchFamily="18" charset="0"/>
                            </a:rPr>
                          </m:ctrlPr>
                        </m:sSubPr>
                        <m:e>
                          <m:r>
                            <a:rPr lang="es-MX" sz="2000" b="1" i="1" smtClean="0">
                              <a:solidFill>
                                <a:srgbClr val="FF0000"/>
                              </a:solidFill>
                              <a:latin typeface="Cambria Math" panose="02040503050406030204" pitchFamily="18" charset="0"/>
                            </a:rPr>
                            <m:t>𝑪</m:t>
                          </m:r>
                        </m:e>
                        <m:sub>
                          <m:r>
                            <a:rPr lang="es-MX" sz="2000" b="1" i="1" smtClean="0">
                              <a:solidFill>
                                <a:srgbClr val="FF0000"/>
                              </a:solidFill>
                              <a:latin typeface="Cambria Math" panose="02040503050406030204" pitchFamily="18" charset="0"/>
                            </a:rPr>
                            <m:t>𝒊𝒋</m:t>
                          </m:r>
                        </m:sub>
                      </m:sSub>
                      <m:r>
                        <a:rPr lang="es-MX" sz="2000" b="1" i="1" smtClean="0">
                          <a:solidFill>
                            <a:prstClr val="black"/>
                          </a:solidFill>
                          <a:latin typeface="Cambria Math" panose="02040503050406030204" pitchFamily="18" charset="0"/>
                        </a:rPr>
                        <m:t>=</m:t>
                      </m:r>
                      <m:d>
                        <m:dPr>
                          <m:begChr m:val="["/>
                          <m:endChr m:val="]"/>
                          <m:ctrlPr>
                            <a:rPr lang="es-MX" sz="2000" b="1" i="1" smtClean="0">
                              <a:solidFill>
                                <a:prstClr val="black"/>
                              </a:solidFill>
                              <a:latin typeface="Cambria Math" panose="02040503050406030204" pitchFamily="18" charset="0"/>
                            </a:rPr>
                          </m:ctrlPr>
                        </m:dPr>
                        <m:e>
                          <m:m>
                            <m:mPr>
                              <m:mcs>
                                <m:mc>
                                  <m:mcPr>
                                    <m:count m:val="3"/>
                                    <m:mcJc m:val="center"/>
                                  </m:mcPr>
                                </m:mc>
                              </m:mcs>
                              <m:ctrlPr>
                                <a:rPr lang="es-MX" sz="2000" b="1" i="1" smtClean="0">
                                  <a:solidFill>
                                    <a:prstClr val="black"/>
                                  </a:solidFill>
                                  <a:latin typeface="Cambria Math" panose="02040503050406030204" pitchFamily="18" charset="0"/>
                                </a:rPr>
                              </m:ctrlPr>
                            </m:mPr>
                            <m:mr>
                              <m:e>
                                <m:r>
                                  <m:rPr>
                                    <m:brk m:alnAt="7"/>
                                  </m:rP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𝟒</m:t>
                                </m:r>
                              </m:e>
                              <m:e>
                                <m:r>
                                  <a:rPr lang="es-MX" sz="2000" b="1" i="1" smtClean="0">
                                    <a:solidFill>
                                      <a:prstClr val="black"/>
                                    </a:solidFill>
                                    <a:latin typeface="Cambria Math" panose="02040503050406030204" pitchFamily="18" charset="0"/>
                                  </a:rPr>
                                  <m:t>𝟑</m:t>
                                </m:r>
                              </m:e>
                              <m:e>
                                <m:r>
                                  <a:rPr lang="es-MX" sz="2000" b="1" i="1" smtClean="0">
                                    <a:solidFill>
                                      <a:prstClr val="black"/>
                                    </a:solidFill>
                                    <a:latin typeface="Cambria Math" panose="02040503050406030204" pitchFamily="18" charset="0"/>
                                  </a:rPr>
                                  <m:t>𝟖</m:t>
                                </m:r>
                              </m:e>
                            </m:mr>
                            <m:mr>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𝟔</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𝟓</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𝟕</m:t>
                                </m:r>
                              </m:e>
                            </m:mr>
                            <m:mr>
                              <m:e>
                                <m:r>
                                  <a:rPr lang="es-MX" sz="2000" b="1" i="1" smtClean="0">
                                    <a:solidFill>
                                      <a:prstClr val="black"/>
                                    </a:solidFill>
                                    <a:latin typeface="Cambria Math" panose="02040503050406030204" pitchFamily="18" charset="0"/>
                                  </a:rPr>
                                  <m:t>𝟑</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𝟕</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𝟔</m:t>
                                </m:r>
                              </m:e>
                            </m:mr>
                          </m:m>
                        </m:e>
                      </m:d>
                    </m:oMath>
                  </m:oMathPara>
                </a14:m>
                <a:endParaRPr lang="es-MX" sz="2000" b="1" dirty="0" smtClean="0">
                  <a:solidFill>
                    <a:prstClr val="black"/>
                  </a:solidFill>
                  <a:latin typeface="Arial" panose="020B0604020202020204" pitchFamily="34" charset="0"/>
                  <a:cs typeface="Arial" panose="020B0604020202020204" pitchFamily="34" charset="0"/>
                </a:endParaRPr>
              </a:p>
            </p:txBody>
          </p:sp>
        </mc:Choice>
        <mc:Fallback>
          <p:sp>
            <p:nvSpPr>
              <p:cNvPr id="3" name="Rectángulo 2"/>
              <p:cNvSpPr>
                <a:spLocks noRot="1" noChangeAspect="1" noMove="1" noResize="1" noEditPoints="1" noAdjustHandles="1" noChangeArrowheads="1" noChangeShapeType="1" noTextEdit="1"/>
              </p:cNvSpPr>
              <p:nvPr/>
            </p:nvSpPr>
            <p:spPr>
              <a:xfrm>
                <a:off x="2305319" y="1901434"/>
                <a:ext cx="3245475" cy="906210"/>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Rectángulo 3"/>
              <p:cNvSpPr/>
              <p:nvPr/>
            </p:nvSpPr>
            <p:spPr>
              <a:xfrm>
                <a:off x="-1" y="3015040"/>
                <a:ext cx="10844011" cy="400110"/>
              </a:xfrm>
              <a:prstGeom prst="rect">
                <a:avLst/>
              </a:prstGeom>
            </p:spPr>
            <p:txBody>
              <a:bodyPr wrap="square">
                <a:spAutoFit/>
              </a:bodyPr>
              <a:lstStyle/>
              <a:p>
                <a:pPr lvl="1" algn="just">
                  <a:buClrTx/>
                  <a:buFontTx/>
                  <a:buNone/>
                </a:pPr>
                <a:r>
                  <a:rPr lang="es-ES" sz="2000" b="1" kern="1200" dirty="0" smtClean="0">
                    <a:solidFill>
                      <a:srgbClr val="FF0000"/>
                    </a:solidFill>
                    <a:latin typeface="Arial" panose="020B0604020202020204" pitchFamily="34" charset="0"/>
                    <a:cs typeface="Arial" panose="020B0604020202020204" pitchFamily="34" charset="0"/>
                  </a:rPr>
                  <a:t>Paso 3. </a:t>
                </a:r>
                <a:r>
                  <a:rPr lang="es-ES" sz="2000" b="1" kern="1200" dirty="0">
                    <a:solidFill>
                      <a:srgbClr val="A5A5A5">
                        <a:lumMod val="50000"/>
                      </a:srgbClr>
                    </a:solidFill>
                    <a:latin typeface="Arial" panose="020B0604020202020204" pitchFamily="34" charset="0"/>
                    <a:cs typeface="Arial" panose="020B0604020202020204" pitchFamily="34" charset="0"/>
                  </a:rPr>
                  <a:t>T</a:t>
                </a:r>
                <a:r>
                  <a:rPr lang="es-ES" sz="2000" b="1" kern="1200" dirty="0" smtClean="0">
                    <a:solidFill>
                      <a:srgbClr val="A5A5A5">
                        <a:lumMod val="50000"/>
                      </a:srgbClr>
                    </a:solidFill>
                    <a:latin typeface="Arial" panose="020B0604020202020204" pitchFamily="34" charset="0"/>
                    <a:cs typeface="Arial" panose="020B0604020202020204" pitchFamily="34" charset="0"/>
                  </a:rPr>
                  <a:t>ransponemos </a:t>
                </a:r>
                <a:r>
                  <a:rPr lang="es-ES" sz="2000" b="1" kern="1200" dirty="0">
                    <a:solidFill>
                      <a:srgbClr val="A5A5A5">
                        <a:lumMod val="50000"/>
                      </a:srgbClr>
                    </a:solidFill>
                    <a:latin typeface="Arial" panose="020B0604020202020204" pitchFamily="34" charset="0"/>
                    <a:cs typeface="Arial" panose="020B0604020202020204" pitchFamily="34" charset="0"/>
                  </a:rPr>
                  <a:t>la matriz de cofactores para encontrar la matriz adjunta de </a:t>
                </a:r>
                <a14:m>
                  <m:oMath xmlns:m="http://schemas.openxmlformats.org/officeDocument/2006/math">
                    <m:r>
                      <a:rPr lang="es-ES" sz="2000" b="1" i="1" kern="1200" dirty="0" smtClean="0">
                        <a:solidFill>
                          <a:srgbClr val="A5A5A5">
                            <a:lumMod val="50000"/>
                          </a:srgbClr>
                        </a:solidFill>
                        <a:latin typeface="Cambria Math" panose="02040503050406030204" pitchFamily="18" charset="0"/>
                        <a:cs typeface="Arial" panose="020B0604020202020204" pitchFamily="34" charset="0"/>
                      </a:rPr>
                      <m:t>𝑨</m:t>
                    </m:r>
                  </m:oMath>
                </a14:m>
                <a:r>
                  <a:rPr lang="es-ES" sz="2000" b="1" kern="1200" dirty="0">
                    <a:solidFill>
                      <a:srgbClr val="A5A5A5">
                        <a:lumMod val="50000"/>
                      </a:srgbClr>
                    </a:solidFill>
                    <a:latin typeface="Arial" panose="020B0604020202020204" pitchFamily="34" charset="0"/>
                    <a:cs typeface="Arial" panose="020B0604020202020204" pitchFamily="34" charset="0"/>
                  </a:rPr>
                  <a:t> </a:t>
                </a:r>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4" name="Rectángulo 3"/>
              <p:cNvSpPr>
                <a:spLocks noRot="1" noChangeAspect="1" noMove="1" noResize="1" noEditPoints="1" noAdjustHandles="1" noChangeArrowheads="1" noChangeShapeType="1" noTextEdit="1"/>
              </p:cNvSpPr>
              <p:nvPr/>
            </p:nvSpPr>
            <p:spPr>
              <a:xfrm>
                <a:off x="-1" y="3015040"/>
                <a:ext cx="10844011" cy="400110"/>
              </a:xfrm>
              <a:prstGeom prst="rect">
                <a:avLst/>
              </a:prstGeom>
              <a:blipFill rotWithShape="0">
                <a:blip r:embed="rId4"/>
                <a:stretch>
                  <a:fillRect t="-7692" b="-29231"/>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5" name="Rectángulo 4"/>
              <p:cNvSpPr/>
              <p:nvPr/>
            </p:nvSpPr>
            <p:spPr>
              <a:xfrm>
                <a:off x="2305319" y="3647128"/>
                <a:ext cx="3385960" cy="906274"/>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000" b="1" i="1" smtClean="0">
                          <a:solidFill>
                            <a:srgbClr val="FF0000"/>
                          </a:solidFill>
                          <a:latin typeface="Cambria Math" panose="02040503050406030204" pitchFamily="18" charset="0"/>
                        </a:rPr>
                        <m:t>𝒂𝒅𝒋𝑨</m:t>
                      </m:r>
                      <m:r>
                        <a:rPr lang="es-MX" sz="2000" b="1" i="1" smtClean="0">
                          <a:solidFill>
                            <a:prstClr val="black"/>
                          </a:solidFill>
                          <a:latin typeface="Cambria Math" panose="02040503050406030204" pitchFamily="18" charset="0"/>
                        </a:rPr>
                        <m:t>=</m:t>
                      </m:r>
                      <m:d>
                        <m:dPr>
                          <m:begChr m:val="["/>
                          <m:endChr m:val="]"/>
                          <m:ctrlPr>
                            <a:rPr lang="es-MX" sz="2000" b="1" i="1" smtClean="0">
                              <a:solidFill>
                                <a:prstClr val="black"/>
                              </a:solidFill>
                              <a:latin typeface="Cambria Math" panose="02040503050406030204" pitchFamily="18" charset="0"/>
                            </a:rPr>
                          </m:ctrlPr>
                        </m:dPr>
                        <m:e>
                          <m:m>
                            <m:mPr>
                              <m:mcs>
                                <m:mc>
                                  <m:mcPr>
                                    <m:count m:val="3"/>
                                    <m:mcJc m:val="center"/>
                                  </m:mcPr>
                                </m:mc>
                              </m:mcs>
                              <m:ctrlPr>
                                <a:rPr lang="es-MX" sz="2000" b="1" i="1" smtClean="0">
                                  <a:solidFill>
                                    <a:prstClr val="black"/>
                                  </a:solidFill>
                                  <a:latin typeface="Cambria Math" panose="02040503050406030204" pitchFamily="18" charset="0"/>
                                </a:rPr>
                              </m:ctrlPr>
                            </m:mPr>
                            <m:mr>
                              <m:e>
                                <m:r>
                                  <m:rPr>
                                    <m:brk m:alnAt="7"/>
                                  </m:rP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𝟒</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𝟔</m:t>
                                </m:r>
                              </m:e>
                              <m:e>
                                <m:r>
                                  <a:rPr lang="es-MX" sz="2000" b="1" i="1" smtClean="0">
                                    <a:solidFill>
                                      <a:prstClr val="black"/>
                                    </a:solidFill>
                                    <a:latin typeface="Cambria Math" panose="02040503050406030204" pitchFamily="18" charset="0"/>
                                  </a:rPr>
                                  <m:t>𝟑</m:t>
                                </m:r>
                              </m:e>
                            </m:mr>
                            <m:mr>
                              <m:e>
                                <m:r>
                                  <a:rPr lang="es-MX" sz="2000" b="1" i="1" smtClean="0">
                                    <a:solidFill>
                                      <a:prstClr val="black"/>
                                    </a:solidFill>
                                    <a:latin typeface="Cambria Math" panose="02040503050406030204" pitchFamily="18" charset="0"/>
                                  </a:rPr>
                                  <m:t>𝟑</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𝟓</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𝟕</m:t>
                                </m:r>
                              </m:e>
                            </m:mr>
                            <m:mr>
                              <m:e>
                                <m:r>
                                  <a:rPr lang="es-MX" sz="2000" b="1" i="1" smtClean="0">
                                    <a:solidFill>
                                      <a:prstClr val="black"/>
                                    </a:solidFill>
                                    <a:latin typeface="Cambria Math" panose="02040503050406030204" pitchFamily="18" charset="0"/>
                                  </a:rPr>
                                  <m:t>𝟖</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𝟕</m:t>
                                </m:r>
                              </m:e>
                              <m:e>
                                <m:r>
                                  <a:rPr lang="es-MX" sz="2000" b="1" i="1" smtClean="0">
                                    <a:solidFill>
                                      <a:prstClr val="black"/>
                                    </a:solidFill>
                                    <a:latin typeface="Cambria Math" panose="02040503050406030204" pitchFamily="18" charset="0"/>
                                  </a:rPr>
                                  <m:t>−</m:t>
                                </m:r>
                                <m:r>
                                  <a:rPr lang="es-MX" sz="2000" b="1" i="1" smtClean="0">
                                    <a:solidFill>
                                      <a:prstClr val="black"/>
                                    </a:solidFill>
                                    <a:latin typeface="Cambria Math" panose="02040503050406030204" pitchFamily="18" charset="0"/>
                                  </a:rPr>
                                  <m:t>𝟔</m:t>
                                </m:r>
                              </m:e>
                            </m:mr>
                          </m:m>
                        </m:e>
                      </m:d>
                    </m:oMath>
                  </m:oMathPara>
                </a14:m>
                <a:endParaRPr lang="es-MX" sz="2000" b="1" dirty="0" smtClean="0">
                  <a:solidFill>
                    <a:prstClr val="black"/>
                  </a:solidFill>
                  <a:latin typeface="Arial" panose="020B0604020202020204" pitchFamily="34" charset="0"/>
                  <a:cs typeface="Arial" panose="020B0604020202020204" pitchFamily="34" charset="0"/>
                </a:endParaRPr>
              </a:p>
            </p:txBody>
          </p:sp>
        </mc:Choice>
        <mc:Fallback>
          <p:sp>
            <p:nvSpPr>
              <p:cNvPr id="5" name="Rectángulo 4"/>
              <p:cNvSpPr>
                <a:spLocks noRot="1" noChangeAspect="1" noMove="1" noResize="1" noEditPoints="1" noAdjustHandles="1" noChangeArrowheads="1" noChangeShapeType="1" noTextEdit="1"/>
              </p:cNvSpPr>
              <p:nvPr/>
            </p:nvSpPr>
            <p:spPr>
              <a:xfrm>
                <a:off x="2305319" y="3647128"/>
                <a:ext cx="3385960" cy="906274"/>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6" name="Rectángulo 5"/>
              <p:cNvSpPr/>
              <p:nvPr/>
            </p:nvSpPr>
            <p:spPr>
              <a:xfrm>
                <a:off x="1184" y="4681474"/>
                <a:ext cx="12190816" cy="707886"/>
              </a:xfrm>
              <a:prstGeom prst="rect">
                <a:avLst/>
              </a:prstGeom>
            </p:spPr>
            <p:txBody>
              <a:bodyPr wrap="square">
                <a:spAutoFit/>
              </a:bodyPr>
              <a:lstStyle/>
              <a:p>
                <a:pPr lvl="1" algn="just">
                  <a:buClrTx/>
                  <a:buFontTx/>
                  <a:buNone/>
                </a:pPr>
                <a:r>
                  <a:rPr lang="es-ES" sz="2000" b="1" kern="1200" dirty="0" smtClean="0">
                    <a:solidFill>
                      <a:srgbClr val="FF0000"/>
                    </a:solidFill>
                    <a:latin typeface="Arial" panose="020B0604020202020204" pitchFamily="34" charset="0"/>
                    <a:cs typeface="Arial" panose="020B0604020202020204" pitchFamily="34" charset="0"/>
                  </a:rPr>
                  <a:t>Paso 4. </a:t>
                </a:r>
                <a:r>
                  <a:rPr lang="es-ES" sz="2000" b="1" kern="1200" dirty="0" smtClean="0">
                    <a:solidFill>
                      <a:srgbClr val="A5A5A5">
                        <a:lumMod val="50000"/>
                      </a:srgbClr>
                    </a:solidFill>
                    <a:latin typeface="Arial" panose="020B0604020202020204" pitchFamily="34" charset="0"/>
                    <a:cs typeface="Arial" panose="020B0604020202020204" pitchFamily="34" charset="0"/>
                  </a:rPr>
                  <a:t>Multiplicamos </a:t>
                </a:r>
                <a:r>
                  <a:rPr lang="es-ES" sz="2000" b="1" kern="1200" dirty="0">
                    <a:solidFill>
                      <a:srgbClr val="A5A5A5">
                        <a:lumMod val="50000"/>
                      </a:srgbClr>
                    </a:solidFill>
                    <a:latin typeface="Arial" panose="020B0604020202020204" pitchFamily="34" charset="0"/>
                    <a:cs typeface="Arial" panose="020B0604020202020204" pitchFamily="34" charset="0"/>
                  </a:rPr>
                  <a:t>el reciproco del determinante por la </a:t>
                </a:r>
                <a14:m>
                  <m:oMath xmlns:m="http://schemas.openxmlformats.org/officeDocument/2006/math">
                    <m:r>
                      <a:rPr lang="es-MX" sz="2000" b="1" i="1" kern="1200" smtClean="0">
                        <a:solidFill>
                          <a:srgbClr val="A5A5A5">
                            <a:lumMod val="50000"/>
                          </a:srgbClr>
                        </a:solidFill>
                        <a:latin typeface="Cambria Math" panose="02040503050406030204" pitchFamily="18" charset="0"/>
                      </a:rPr>
                      <m:t>𝒂𝒅𝒋𝑨</m:t>
                    </m:r>
                  </m:oMath>
                </a14:m>
                <a:r>
                  <a:rPr lang="es-ES" sz="2000" b="1" kern="1200" dirty="0" smtClean="0">
                    <a:solidFill>
                      <a:srgbClr val="A5A5A5">
                        <a:lumMod val="50000"/>
                      </a:srgbClr>
                    </a:solidFill>
                    <a:latin typeface="Arial" panose="020B0604020202020204" pitchFamily="34" charset="0"/>
                    <a:cs typeface="Arial" panose="020B0604020202020204" pitchFamily="34" charset="0"/>
                  </a:rPr>
                  <a:t> para </a:t>
                </a:r>
                <a:r>
                  <a:rPr lang="es-ES" sz="2000" b="1" kern="1200" dirty="0">
                    <a:solidFill>
                      <a:srgbClr val="A5A5A5">
                        <a:lumMod val="50000"/>
                      </a:srgbClr>
                    </a:solidFill>
                    <a:latin typeface="Arial" panose="020B0604020202020204" pitchFamily="34" charset="0"/>
                    <a:cs typeface="Arial" panose="020B0604020202020204" pitchFamily="34" charset="0"/>
                  </a:rPr>
                  <a:t>obtener la matriz inversa de </a:t>
                </a:r>
                <a14:m>
                  <m:oMath xmlns:m="http://schemas.openxmlformats.org/officeDocument/2006/math">
                    <m:r>
                      <a:rPr lang="es-ES" sz="2000" b="1" i="1" kern="1200" dirty="0" smtClean="0">
                        <a:solidFill>
                          <a:srgbClr val="A5A5A5">
                            <a:lumMod val="50000"/>
                          </a:srgbClr>
                        </a:solidFill>
                        <a:latin typeface="Cambria Math" panose="02040503050406030204" pitchFamily="18" charset="0"/>
                        <a:cs typeface="Arial" panose="020B0604020202020204" pitchFamily="34" charset="0"/>
                      </a:rPr>
                      <m:t>𝑨</m:t>
                    </m:r>
                  </m:oMath>
                </a14:m>
                <a:r>
                  <a:rPr lang="es-ES" sz="2000" b="1" kern="1200" dirty="0" smtClean="0">
                    <a:solidFill>
                      <a:srgbClr val="A5A5A5">
                        <a:lumMod val="50000"/>
                      </a:srgbClr>
                    </a:solidFill>
                    <a:latin typeface="Arial" panose="020B0604020202020204" pitchFamily="34" charset="0"/>
                    <a:cs typeface="Arial" panose="020B0604020202020204" pitchFamily="34" charset="0"/>
                  </a:rPr>
                  <a:t>.</a:t>
                </a:r>
                <a:endParaRPr lang="es-MX" sz="2000" b="1" kern="1200" dirty="0">
                  <a:solidFill>
                    <a:srgbClr val="A5A5A5">
                      <a:lumMod val="50000"/>
                    </a:srgbClr>
                  </a:solidFill>
                  <a:latin typeface="Arial" panose="020B0604020202020204" pitchFamily="34" charset="0"/>
                  <a:cs typeface="Arial" panose="020B0604020202020204" pitchFamily="34" charset="0"/>
                </a:endParaRPr>
              </a:p>
            </p:txBody>
          </p:sp>
        </mc:Choice>
        <mc:Fallback>
          <p:sp>
            <p:nvSpPr>
              <p:cNvPr id="6" name="Rectángulo 5"/>
              <p:cNvSpPr>
                <a:spLocks noRot="1" noChangeAspect="1" noMove="1" noResize="1" noEditPoints="1" noAdjustHandles="1" noChangeArrowheads="1" noChangeShapeType="1" noTextEdit="1"/>
              </p:cNvSpPr>
              <p:nvPr/>
            </p:nvSpPr>
            <p:spPr>
              <a:xfrm>
                <a:off x="1184" y="4681474"/>
                <a:ext cx="12190816" cy="707886"/>
              </a:xfrm>
              <a:prstGeom prst="rect">
                <a:avLst/>
              </a:prstGeom>
              <a:blipFill rotWithShape="0">
                <a:blip r:embed="rId6"/>
                <a:stretch>
                  <a:fillRect t="-4310" r="-550" b="-15517"/>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Rectángulo 6"/>
              <p:cNvSpPr/>
              <p:nvPr/>
            </p:nvSpPr>
            <p:spPr>
              <a:xfrm>
                <a:off x="862884" y="5567505"/>
                <a:ext cx="4095481" cy="906274"/>
              </a:xfrm>
              <a:prstGeom prst="rect">
                <a:avLst/>
              </a:prstGeom>
            </p:spPr>
            <p:txBody>
              <a:bodyPr wrap="square">
                <a:spAutoFit/>
              </a:bodyPr>
              <a:lstStyle/>
              <a:p>
                <a:pPr lvl="1" algn="just">
                  <a:buClrTx/>
                  <a:buFontTx/>
                  <a:buNone/>
                </a:pPr>
                <a14:m>
                  <m:oMathPara xmlns:m="http://schemas.openxmlformats.org/officeDocument/2006/math">
                    <m:oMathParaPr>
                      <m:jc m:val="left"/>
                    </m:oMathParaPr>
                    <m:oMath xmlns:m="http://schemas.openxmlformats.org/officeDocument/2006/math">
                      <m:sSup>
                        <m:sSupPr>
                          <m:ctrlPr>
                            <a:rPr lang="es-MX" sz="2000" b="1" i="1" kern="1200" smtClean="0">
                              <a:solidFill>
                                <a:prstClr val="black"/>
                              </a:solidFill>
                              <a:latin typeface="Cambria Math" panose="02040503050406030204" pitchFamily="18" charset="0"/>
                            </a:rPr>
                          </m:ctrlPr>
                        </m:sSupPr>
                        <m:e>
                          <m:r>
                            <a:rPr lang="es-MX" sz="2000" b="1" i="1" kern="1200" smtClean="0">
                              <a:solidFill>
                                <a:prstClr val="black"/>
                              </a:solidFill>
                              <a:latin typeface="Cambria Math" panose="02040503050406030204" pitchFamily="18" charset="0"/>
                            </a:rPr>
                            <m:t>𝑨</m:t>
                          </m:r>
                        </m:e>
                        <m:sup>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𝟏</m:t>
                          </m:r>
                        </m:sup>
                      </m:sSup>
                      <m:r>
                        <a:rPr lang="es-MX" sz="2000" b="1" i="1" kern="1200" smtClean="0">
                          <a:solidFill>
                            <a:prstClr val="black"/>
                          </a:solidFill>
                          <a:latin typeface="Cambria Math" panose="02040503050406030204" pitchFamily="18" charset="0"/>
                        </a:rPr>
                        <m:t>=</m:t>
                      </m:r>
                      <m:f>
                        <m:fPr>
                          <m:ctrlPr>
                            <a:rPr lang="es-MX" sz="2000" b="1" i="1" kern="1200" smtClean="0">
                              <a:solidFill>
                                <a:prstClr val="black"/>
                              </a:solidFill>
                              <a:latin typeface="Cambria Math" panose="02040503050406030204" pitchFamily="18" charset="0"/>
                            </a:rPr>
                          </m:ctrlPr>
                        </m:fPr>
                        <m:num>
                          <m:r>
                            <a:rPr lang="es-MX" sz="2000" b="1" i="1" kern="1200" smtClean="0">
                              <a:solidFill>
                                <a:prstClr val="black"/>
                              </a:solidFill>
                              <a:latin typeface="Cambria Math" panose="02040503050406030204" pitchFamily="18" charset="0"/>
                            </a:rPr>
                            <m:t>𝟏</m:t>
                          </m:r>
                        </m:num>
                        <m:den>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𝟏𝟗</m:t>
                          </m:r>
                        </m:den>
                      </m:f>
                      <m:d>
                        <m:dPr>
                          <m:begChr m:val="["/>
                          <m:endChr m:val="]"/>
                          <m:ctrlPr>
                            <a:rPr lang="es-MX" sz="2000" b="1" i="1" kern="1200" smtClean="0">
                              <a:solidFill>
                                <a:prstClr val="black"/>
                              </a:solidFill>
                              <a:latin typeface="Cambria Math" panose="02040503050406030204" pitchFamily="18" charset="0"/>
                            </a:rPr>
                          </m:ctrlPr>
                        </m:dPr>
                        <m:e>
                          <m:m>
                            <m:mPr>
                              <m:mcs>
                                <m:mc>
                                  <m:mcPr>
                                    <m:count m:val="3"/>
                                    <m:mcJc m:val="center"/>
                                  </m:mcPr>
                                </m:mc>
                              </m:mcs>
                              <m:ctrlPr>
                                <a:rPr lang="es-MX" sz="2000" b="1" i="1" kern="1200" smtClean="0">
                                  <a:solidFill>
                                    <a:prstClr val="black"/>
                                  </a:solidFill>
                                  <a:latin typeface="Cambria Math" panose="02040503050406030204" pitchFamily="18" charset="0"/>
                                </a:rPr>
                              </m:ctrlPr>
                            </m:mPr>
                            <m:mr>
                              <m:e>
                                <m:r>
                                  <m:rPr>
                                    <m:brk m:alnAt="7"/>
                                  </m:rP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𝟒</m:t>
                                </m:r>
                              </m:e>
                              <m:e>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𝟔</m:t>
                                </m:r>
                              </m:e>
                              <m:e>
                                <m:r>
                                  <a:rPr lang="es-MX" sz="2000" b="1" i="1" kern="1200" smtClean="0">
                                    <a:solidFill>
                                      <a:prstClr val="black"/>
                                    </a:solidFill>
                                    <a:latin typeface="Cambria Math" panose="02040503050406030204" pitchFamily="18" charset="0"/>
                                  </a:rPr>
                                  <m:t>𝟑</m:t>
                                </m:r>
                              </m:e>
                            </m:mr>
                            <m:mr>
                              <m:e>
                                <m:r>
                                  <a:rPr lang="es-MX" sz="2000" b="1" i="1" kern="1200" smtClean="0">
                                    <a:solidFill>
                                      <a:prstClr val="black"/>
                                    </a:solidFill>
                                    <a:latin typeface="Cambria Math" panose="02040503050406030204" pitchFamily="18" charset="0"/>
                                  </a:rPr>
                                  <m:t>𝟑</m:t>
                                </m:r>
                              </m:e>
                              <m:e>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𝟓</m:t>
                                </m:r>
                              </m:e>
                              <m:e>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𝟕</m:t>
                                </m:r>
                              </m:e>
                            </m:mr>
                            <m:mr>
                              <m:e>
                                <m:r>
                                  <a:rPr lang="es-MX" sz="2000" b="1" i="1" kern="1200" smtClean="0">
                                    <a:solidFill>
                                      <a:prstClr val="black"/>
                                    </a:solidFill>
                                    <a:latin typeface="Cambria Math" panose="02040503050406030204" pitchFamily="18" charset="0"/>
                                  </a:rPr>
                                  <m:t>𝟖</m:t>
                                </m:r>
                              </m:e>
                              <m:e>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𝟕</m:t>
                                </m:r>
                              </m:e>
                              <m:e>
                                <m:r>
                                  <a:rPr lang="es-MX" sz="2000" b="1" i="1" kern="1200" smtClean="0">
                                    <a:solidFill>
                                      <a:prstClr val="black"/>
                                    </a:solidFill>
                                    <a:latin typeface="Cambria Math" panose="02040503050406030204" pitchFamily="18" charset="0"/>
                                  </a:rPr>
                                  <m:t>−</m:t>
                                </m:r>
                                <m:r>
                                  <a:rPr lang="es-MX" sz="2000" b="1" i="1" kern="1200" smtClean="0">
                                    <a:solidFill>
                                      <a:prstClr val="black"/>
                                    </a:solidFill>
                                    <a:latin typeface="Cambria Math" panose="02040503050406030204" pitchFamily="18" charset="0"/>
                                  </a:rPr>
                                  <m:t>𝟔</m:t>
                                </m:r>
                              </m:e>
                            </m:mr>
                          </m:m>
                        </m:e>
                      </m:d>
                      <m:r>
                        <a:rPr lang="es-MX" sz="2000" b="1" i="1" kern="1200" smtClean="0">
                          <a:solidFill>
                            <a:prstClr val="black"/>
                          </a:solidFill>
                          <a:latin typeface="Cambria Math" panose="02040503050406030204" pitchFamily="18" charset="0"/>
                          <a:ea typeface="Cambria Math" panose="02040503050406030204" pitchFamily="18" charset="0"/>
                        </a:rPr>
                        <m:t>→</m:t>
                      </m:r>
                    </m:oMath>
                  </m:oMathPara>
                </a14:m>
                <a:endParaRPr lang="es-MX" sz="2000" b="1" kern="1200" dirty="0">
                  <a:solidFill>
                    <a:prstClr val="black"/>
                  </a:solidFill>
                  <a:latin typeface="Arial" panose="020B0604020202020204" pitchFamily="34" charset="0"/>
                  <a:cs typeface="Arial" panose="020B0604020202020204" pitchFamily="34" charset="0"/>
                </a:endParaRPr>
              </a:p>
            </p:txBody>
          </p:sp>
        </mc:Choice>
        <mc:Fallback>
          <p:sp>
            <p:nvSpPr>
              <p:cNvPr id="7" name="Rectángulo 6"/>
              <p:cNvSpPr>
                <a:spLocks noRot="1" noChangeAspect="1" noMove="1" noResize="1" noEditPoints="1" noAdjustHandles="1" noChangeArrowheads="1" noChangeShapeType="1" noTextEdit="1"/>
              </p:cNvSpPr>
              <p:nvPr/>
            </p:nvSpPr>
            <p:spPr>
              <a:xfrm>
                <a:off x="862884" y="5567505"/>
                <a:ext cx="4095481" cy="906274"/>
              </a:xfrm>
              <a:prstGeom prst="rect">
                <a:avLst/>
              </a:prstGeom>
              <a:blipFill rotWithShape="0">
                <a:blip r:embed="rId7"/>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Rectángulo 7"/>
              <p:cNvSpPr/>
              <p:nvPr/>
            </p:nvSpPr>
            <p:spPr>
              <a:xfrm>
                <a:off x="4303435" y="5320835"/>
                <a:ext cx="4151800" cy="1399614"/>
              </a:xfrm>
              <a:prstGeom prst="rect">
                <a:avLst/>
              </a:prstGeom>
            </p:spPr>
            <p:txBody>
              <a:bodyPr wrap="square">
                <a:spAutoFit/>
              </a:bodyPr>
              <a:lstStyle/>
              <a:p>
                <a:pPr lvl="1" algn="just">
                  <a:buClrTx/>
                  <a:buFontTx/>
                  <a:buNone/>
                </a:pPr>
                <a14:m>
                  <m:oMathPara xmlns:m="http://schemas.openxmlformats.org/officeDocument/2006/math">
                    <m:oMathParaPr>
                      <m:jc m:val="left"/>
                    </m:oMathParaPr>
                    <m:oMath xmlns:m="http://schemas.openxmlformats.org/officeDocument/2006/math">
                      <m:sSup>
                        <m:sSupPr>
                          <m:ctrlPr>
                            <a:rPr lang="es-MX" sz="2000" b="1" i="1">
                              <a:solidFill>
                                <a:prstClr val="black"/>
                              </a:solidFill>
                              <a:latin typeface="Cambria Math" panose="02040503050406030204" pitchFamily="18" charset="0"/>
                            </a:rPr>
                          </m:ctrlPr>
                        </m:sSupPr>
                        <m:e>
                          <m:r>
                            <a:rPr lang="es-MX" sz="2000" b="1" i="1">
                              <a:solidFill>
                                <a:prstClr val="black"/>
                              </a:solidFill>
                              <a:latin typeface="Cambria Math" panose="02040503050406030204" pitchFamily="18" charset="0"/>
                            </a:rPr>
                            <m:t>𝑨</m:t>
                          </m:r>
                        </m:e>
                        <m:sup>
                          <m:r>
                            <a:rPr lang="es-MX" sz="2000" b="1" i="1">
                              <a:solidFill>
                                <a:prstClr val="black"/>
                              </a:solidFill>
                              <a:latin typeface="Cambria Math" panose="02040503050406030204" pitchFamily="18" charset="0"/>
                            </a:rPr>
                            <m:t>−</m:t>
                          </m:r>
                          <m:r>
                            <a:rPr lang="es-MX" sz="2000" b="1" i="1">
                              <a:solidFill>
                                <a:prstClr val="black"/>
                              </a:solidFill>
                              <a:latin typeface="Cambria Math" panose="02040503050406030204" pitchFamily="18" charset="0"/>
                            </a:rPr>
                            <m:t>𝟏</m:t>
                          </m:r>
                        </m:sup>
                      </m:sSup>
                      <m:r>
                        <a:rPr lang="es-MX" sz="2000" b="1" i="1" kern="1200" smtClean="0">
                          <a:solidFill>
                            <a:srgbClr val="FF0000"/>
                          </a:solidFill>
                          <a:latin typeface="Cambria Math" panose="02040503050406030204" pitchFamily="18" charset="0"/>
                        </a:rPr>
                        <m:t>=</m:t>
                      </m:r>
                      <m:d>
                        <m:dPr>
                          <m:begChr m:val="["/>
                          <m:endChr m:val="]"/>
                          <m:ctrlPr>
                            <a:rPr lang="es-MX" sz="2000" b="1" i="1" kern="1200" smtClean="0">
                              <a:solidFill>
                                <a:srgbClr val="FF0000"/>
                              </a:solidFill>
                              <a:latin typeface="Cambria Math" panose="02040503050406030204" pitchFamily="18" charset="0"/>
                            </a:rPr>
                          </m:ctrlPr>
                        </m:dPr>
                        <m:e>
                          <m:m>
                            <m:mPr>
                              <m:mcs>
                                <m:mc>
                                  <m:mcPr>
                                    <m:count m:val="3"/>
                                    <m:mcJc m:val="center"/>
                                  </m:mcPr>
                                </m:mc>
                              </m:mcs>
                              <m:ctrlPr>
                                <a:rPr lang="es-MX" sz="2000" b="1" i="1" kern="1200" smtClean="0">
                                  <a:solidFill>
                                    <a:srgbClr val="FF0000"/>
                                  </a:solidFill>
                                  <a:latin typeface="Cambria Math" panose="02040503050406030204" pitchFamily="18" charset="0"/>
                                </a:rPr>
                              </m:ctrlPr>
                            </m:mPr>
                            <m:mr>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𝟒</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𝟔</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m:t>
                                    </m:r>
                                    <m:r>
                                      <a:rPr lang="es-MX" sz="2000" b="1" i="1" kern="1200" smtClean="0">
                                        <a:solidFill>
                                          <a:srgbClr val="FF0000"/>
                                        </a:solidFill>
                                        <a:latin typeface="Cambria Math" panose="02040503050406030204" pitchFamily="18" charset="0"/>
                                      </a:rPr>
                                      <m:t>𝟑</m:t>
                                    </m:r>
                                  </m:num>
                                  <m:den>
                                    <m:r>
                                      <a:rPr lang="es-MX" sz="2000" b="1" i="1" kern="1200" smtClean="0">
                                        <a:solidFill>
                                          <a:srgbClr val="FF0000"/>
                                        </a:solidFill>
                                        <a:latin typeface="Cambria Math" panose="02040503050406030204" pitchFamily="18" charset="0"/>
                                      </a:rPr>
                                      <m:t>𝟏𝟗</m:t>
                                    </m:r>
                                  </m:den>
                                </m:f>
                              </m:e>
                            </m:mr>
                            <m:mr>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m:t>
                                    </m:r>
                                    <m:r>
                                      <a:rPr lang="es-MX" sz="2000" b="1" i="1" kern="1200" smtClean="0">
                                        <a:solidFill>
                                          <a:srgbClr val="FF0000"/>
                                        </a:solidFill>
                                        <a:latin typeface="Cambria Math" panose="02040503050406030204" pitchFamily="18" charset="0"/>
                                      </a:rPr>
                                      <m:t>𝟑</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𝟓</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𝟕</m:t>
                                    </m:r>
                                  </m:num>
                                  <m:den>
                                    <m:r>
                                      <a:rPr lang="es-MX" sz="2000" b="1" i="1" kern="1200" smtClean="0">
                                        <a:solidFill>
                                          <a:srgbClr val="FF0000"/>
                                        </a:solidFill>
                                        <a:latin typeface="Cambria Math" panose="02040503050406030204" pitchFamily="18" charset="0"/>
                                      </a:rPr>
                                      <m:t>𝟏𝟗</m:t>
                                    </m:r>
                                  </m:den>
                                </m:f>
                              </m:e>
                            </m:mr>
                            <m:mr>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m:t>
                                    </m:r>
                                    <m:r>
                                      <a:rPr lang="es-MX" sz="2000" b="1" i="1" kern="1200" smtClean="0">
                                        <a:solidFill>
                                          <a:srgbClr val="FF0000"/>
                                        </a:solidFill>
                                        <a:latin typeface="Cambria Math" panose="02040503050406030204" pitchFamily="18" charset="0"/>
                                      </a:rPr>
                                      <m:t>𝟖</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𝟕</m:t>
                                    </m:r>
                                  </m:num>
                                  <m:den>
                                    <m:r>
                                      <a:rPr lang="es-MX" sz="2000" b="1" i="1" kern="1200" smtClean="0">
                                        <a:solidFill>
                                          <a:srgbClr val="FF0000"/>
                                        </a:solidFill>
                                        <a:latin typeface="Cambria Math" panose="02040503050406030204" pitchFamily="18" charset="0"/>
                                      </a:rPr>
                                      <m:t>𝟏𝟗</m:t>
                                    </m:r>
                                  </m:den>
                                </m:f>
                              </m:e>
                              <m:e>
                                <m:f>
                                  <m:fPr>
                                    <m:type m:val="skw"/>
                                    <m:ctrlPr>
                                      <a:rPr lang="es-MX" sz="2000" b="1" i="1" kern="1200" smtClean="0">
                                        <a:solidFill>
                                          <a:srgbClr val="FF0000"/>
                                        </a:solidFill>
                                        <a:latin typeface="Cambria Math" panose="02040503050406030204" pitchFamily="18" charset="0"/>
                                      </a:rPr>
                                    </m:ctrlPr>
                                  </m:fPr>
                                  <m:num>
                                    <m:r>
                                      <a:rPr lang="es-MX" sz="2000" b="1" i="1" kern="1200" smtClean="0">
                                        <a:solidFill>
                                          <a:srgbClr val="FF0000"/>
                                        </a:solidFill>
                                        <a:latin typeface="Cambria Math" panose="02040503050406030204" pitchFamily="18" charset="0"/>
                                      </a:rPr>
                                      <m:t>𝟔</m:t>
                                    </m:r>
                                  </m:num>
                                  <m:den>
                                    <m:r>
                                      <a:rPr lang="es-MX" sz="2000" b="1" i="1" kern="1200" smtClean="0">
                                        <a:solidFill>
                                          <a:srgbClr val="FF0000"/>
                                        </a:solidFill>
                                        <a:latin typeface="Cambria Math" panose="02040503050406030204" pitchFamily="18" charset="0"/>
                                      </a:rPr>
                                      <m:t>𝟏𝟗</m:t>
                                    </m:r>
                                  </m:den>
                                </m:f>
                              </m:e>
                            </m:mr>
                          </m:m>
                        </m:e>
                      </m:d>
                    </m:oMath>
                  </m:oMathPara>
                </a14:m>
                <a:endParaRPr lang="es-MX" sz="2000" b="1" kern="1200" dirty="0">
                  <a:solidFill>
                    <a:srgbClr val="FF0000"/>
                  </a:solidFill>
                  <a:latin typeface="Arial" panose="020B0604020202020204" pitchFamily="34" charset="0"/>
                  <a:cs typeface="Arial" panose="020B0604020202020204" pitchFamily="34" charset="0"/>
                </a:endParaRPr>
              </a:p>
            </p:txBody>
          </p:sp>
        </mc:Choice>
        <mc:Fallback>
          <p:sp>
            <p:nvSpPr>
              <p:cNvPr id="8" name="Rectángulo 7"/>
              <p:cNvSpPr>
                <a:spLocks noRot="1" noChangeAspect="1" noMove="1" noResize="1" noEditPoints="1" noAdjustHandles="1" noChangeArrowheads="1" noChangeShapeType="1" noTextEdit="1"/>
              </p:cNvSpPr>
              <p:nvPr/>
            </p:nvSpPr>
            <p:spPr>
              <a:xfrm>
                <a:off x="4303435" y="5320835"/>
                <a:ext cx="4151800" cy="1399614"/>
              </a:xfrm>
              <a:prstGeom prst="rect">
                <a:avLst/>
              </a:prstGeom>
              <a:blipFill rotWithShape="0">
                <a:blip r:embed="rId8"/>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97565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circle(in)">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circle(in)">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circle(in)">
                                      <p:cBhvr>
                                        <p:cTn id="3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474469" y="1260575"/>
            <a:ext cx="5384205" cy="415498"/>
          </a:xfrm>
          <a:prstGeom prst="rect">
            <a:avLst/>
          </a:prstGeom>
        </p:spPr>
        <p:txBody>
          <a:bodyPr wrap="square">
            <a:spAutoFit/>
          </a:bodyPr>
          <a:lstStyle/>
          <a:p>
            <a:pPr algn="just">
              <a:buClrTx/>
              <a:buFontTx/>
              <a:buNone/>
              <a:defRPr/>
            </a:pPr>
            <a:r>
              <a:rPr lang="es-ES" sz="2100" b="1" kern="1200" dirty="0" smtClean="0">
                <a:solidFill>
                  <a:srgbClr val="FF0000"/>
                </a:solidFill>
                <a:latin typeface="Arial" panose="020B0604020202020204" pitchFamily="34" charset="0"/>
                <a:cs typeface="Arial" panose="020B0604020202020204" pitchFamily="34" charset="0"/>
              </a:rPr>
              <a:t>Actividad #1: </a:t>
            </a:r>
            <a:r>
              <a:rPr lang="es-ES" sz="2100" b="1" kern="1200" dirty="0">
                <a:solidFill>
                  <a:srgbClr val="FF0000"/>
                </a:solidFill>
                <a:latin typeface="Arial" panose="020B0604020202020204" pitchFamily="34" charset="0"/>
                <a:cs typeface="Arial" panose="020B0604020202020204" pitchFamily="34" charset="0"/>
              </a:rPr>
              <a:t>Ejercicios para Asignación</a:t>
            </a:r>
          </a:p>
        </p:txBody>
      </p:sp>
      <p:sp>
        <p:nvSpPr>
          <p:cNvPr id="3" name="Rectángulo 2"/>
          <p:cNvSpPr/>
          <p:nvPr/>
        </p:nvSpPr>
        <p:spPr>
          <a:xfrm>
            <a:off x="3" y="1811515"/>
            <a:ext cx="7302318" cy="461665"/>
          </a:xfrm>
          <a:prstGeom prst="rect">
            <a:avLst/>
          </a:prstGeom>
        </p:spPr>
        <p:txBody>
          <a:bodyPr wrap="square">
            <a:spAutoFit/>
          </a:bodyPr>
          <a:lstStyle/>
          <a:p>
            <a:pPr lvl="1">
              <a:buClrTx/>
              <a:buFontTx/>
              <a:buNone/>
              <a:defRPr/>
            </a:pPr>
            <a:r>
              <a:rPr lang="es-ES" sz="2400" b="1" dirty="0" smtClean="0">
                <a:solidFill>
                  <a:srgbClr val="A5A5A5">
                    <a:lumMod val="50000"/>
                  </a:srgbClr>
                </a:solidFill>
                <a:latin typeface="Calibri" panose="020F0502020204030204"/>
              </a:rPr>
              <a:t>Calcular el determinante de las siguientes matrices:</a:t>
            </a:r>
            <a:endParaRPr lang="es-MX" sz="2400" b="1" dirty="0" smtClean="0">
              <a:solidFill>
                <a:srgbClr val="A5A5A5">
                  <a:lumMod val="50000"/>
                </a:srgbClr>
              </a:solidFill>
              <a:latin typeface="Calibri" panose="020F0502020204030204"/>
            </a:endParaRPr>
          </a:p>
        </p:txBody>
      </p:sp>
      <p:sp>
        <p:nvSpPr>
          <p:cNvPr id="4" name="Rectángulo 3"/>
          <p:cNvSpPr/>
          <p:nvPr/>
        </p:nvSpPr>
        <p:spPr>
          <a:xfrm>
            <a:off x="3" y="2857946"/>
            <a:ext cx="1017428" cy="461665"/>
          </a:xfrm>
          <a:prstGeom prst="rect">
            <a:avLst/>
          </a:prstGeom>
        </p:spPr>
        <p:txBody>
          <a:bodyPr wrap="square">
            <a:spAutoFit/>
          </a:bodyPr>
          <a:lstStyle/>
          <a:p>
            <a:pPr lvl="1">
              <a:buClrTx/>
              <a:buFontTx/>
              <a:buNone/>
              <a:defRPr/>
            </a:pPr>
            <a:r>
              <a:rPr lang="es-ES" sz="2400" b="1" dirty="0" smtClean="0">
                <a:solidFill>
                  <a:srgbClr val="FF0000"/>
                </a:solidFill>
                <a:latin typeface="Calibri" panose="020F0502020204030204"/>
              </a:rPr>
              <a:t>(1)</a:t>
            </a:r>
            <a:endParaRPr lang="es-MX" sz="2400" b="1" dirty="0" smtClean="0">
              <a:solidFill>
                <a:srgbClr val="FF0000"/>
              </a:solidFill>
              <a:latin typeface="Calibri" panose="020F0502020204030204"/>
            </a:endParaRPr>
          </a:p>
        </p:txBody>
      </p:sp>
      <p:sp>
        <p:nvSpPr>
          <p:cNvPr id="5" name="Rectángulo 4"/>
          <p:cNvSpPr/>
          <p:nvPr/>
        </p:nvSpPr>
        <p:spPr>
          <a:xfrm>
            <a:off x="1" y="4435234"/>
            <a:ext cx="1017429" cy="461665"/>
          </a:xfrm>
          <a:prstGeom prst="rect">
            <a:avLst/>
          </a:prstGeom>
        </p:spPr>
        <p:txBody>
          <a:bodyPr wrap="square">
            <a:spAutoFit/>
          </a:bodyPr>
          <a:lstStyle/>
          <a:p>
            <a:pPr lvl="1">
              <a:buClrTx/>
              <a:buFontTx/>
              <a:buNone/>
              <a:defRPr/>
            </a:pPr>
            <a:r>
              <a:rPr lang="es-ES" sz="2400" b="1" dirty="0" smtClean="0">
                <a:solidFill>
                  <a:srgbClr val="FF0000"/>
                </a:solidFill>
                <a:latin typeface="Calibri" panose="020F0502020204030204"/>
              </a:rPr>
              <a:t>(2)</a:t>
            </a:r>
            <a:endParaRPr lang="es-MX" sz="2400" b="1" dirty="0" smtClean="0">
              <a:solidFill>
                <a:srgbClr val="FF0000"/>
              </a:solidFill>
              <a:latin typeface="Calibri" panose="020F0502020204030204"/>
            </a:endParaRPr>
          </a:p>
        </p:txBody>
      </p:sp>
      <p:sp>
        <p:nvSpPr>
          <p:cNvPr id="6" name="Rectángulo 5"/>
          <p:cNvSpPr/>
          <p:nvPr/>
        </p:nvSpPr>
        <p:spPr>
          <a:xfrm>
            <a:off x="0" y="5844340"/>
            <a:ext cx="1017430" cy="461665"/>
          </a:xfrm>
          <a:prstGeom prst="rect">
            <a:avLst/>
          </a:prstGeom>
        </p:spPr>
        <p:txBody>
          <a:bodyPr wrap="square">
            <a:spAutoFit/>
          </a:bodyPr>
          <a:lstStyle/>
          <a:p>
            <a:pPr lvl="1">
              <a:buClrTx/>
              <a:buFontTx/>
              <a:buNone/>
              <a:defRPr/>
            </a:pPr>
            <a:r>
              <a:rPr lang="es-ES" sz="2400" b="1" dirty="0" smtClean="0">
                <a:solidFill>
                  <a:srgbClr val="FF0000"/>
                </a:solidFill>
                <a:latin typeface="Calibri" panose="020F0502020204030204"/>
              </a:rPr>
              <a:t>(3)</a:t>
            </a:r>
            <a:endParaRPr lang="es-MX" sz="2400" b="1" dirty="0" smtClean="0">
              <a:solidFill>
                <a:srgbClr val="FF0000"/>
              </a:solidFill>
              <a:latin typeface="Calibri" panose="020F0502020204030204"/>
            </a:endParaRPr>
          </a:p>
        </p:txBody>
      </p:sp>
      <mc:AlternateContent xmlns:mc="http://schemas.openxmlformats.org/markup-compatibility/2006" xmlns:a14="http://schemas.microsoft.com/office/drawing/2010/main">
        <mc:Choice Requires="a14">
          <p:sp>
            <p:nvSpPr>
              <p:cNvPr id="7" name="Rectángulo 6"/>
              <p:cNvSpPr/>
              <p:nvPr/>
            </p:nvSpPr>
            <p:spPr>
              <a:xfrm>
                <a:off x="594575" y="2616371"/>
                <a:ext cx="2522112" cy="944810"/>
              </a:xfrm>
              <a:prstGeom prst="rect">
                <a:avLst/>
              </a:prstGeom>
            </p:spPr>
            <p:txBody>
              <a:bodyPr wrap="square">
                <a:spAutoFit/>
              </a:bodyPr>
              <a:lstStyle/>
              <a:p>
                <a:pPr lvl="1">
                  <a:buClrTx/>
                  <a:buFontTx/>
                  <a:buNone/>
                </a:pPr>
                <a14:m>
                  <m:oMathPara xmlns:m="http://schemas.openxmlformats.org/officeDocument/2006/math">
                    <m:oMathParaPr>
                      <m:jc m:val="left"/>
                    </m:oMathParaPr>
                    <m:oMath xmlns:m="http://schemas.openxmlformats.org/officeDocument/2006/math">
                      <m:r>
                        <a:rPr lang="es-NI" sz="2100" b="1" i="1" smtClean="0">
                          <a:solidFill>
                            <a:srgbClr val="A5A5A5">
                              <a:lumMod val="50000"/>
                            </a:srgbClr>
                          </a:solidFill>
                          <a:latin typeface="Cambria Math" panose="02040503050406030204" pitchFamily="18" charset="0"/>
                        </a:rPr>
                        <m:t>𝑨</m:t>
                      </m:r>
                      <m:r>
                        <a:rPr lang="es-MX" sz="2100" b="1" i="1">
                          <a:solidFill>
                            <a:srgbClr val="A5A5A5">
                              <a:lumMod val="50000"/>
                            </a:srgbClr>
                          </a:solidFill>
                          <a:latin typeface="Cambria Math" panose="02040503050406030204" pitchFamily="18" charset="0"/>
                        </a:rPr>
                        <m:t>=</m:t>
                      </m:r>
                      <m:d>
                        <m:dPr>
                          <m:ctrlPr>
                            <a:rPr lang="es-MX" sz="2100" b="1" i="1">
                              <a:solidFill>
                                <a:srgbClr val="A5A5A5">
                                  <a:lumMod val="50000"/>
                                </a:srgbClr>
                              </a:solidFill>
                              <a:latin typeface="Cambria Math" panose="02040503050406030204" pitchFamily="18" charset="0"/>
                            </a:rPr>
                          </m:ctrlPr>
                        </m:dPr>
                        <m:e>
                          <m:m>
                            <m:mPr>
                              <m:mcs>
                                <m:mc>
                                  <m:mcPr>
                                    <m:count m:val="3"/>
                                    <m:mcJc m:val="center"/>
                                  </m:mcPr>
                                </m:mc>
                              </m:mcs>
                              <m:ctrlPr>
                                <a:rPr lang="es-MX" sz="2100" b="1" i="1">
                                  <a:solidFill>
                                    <a:srgbClr val="A5A5A5">
                                      <a:lumMod val="50000"/>
                                    </a:srgbClr>
                                  </a:solidFill>
                                  <a:latin typeface="Cambria Math" panose="02040503050406030204" pitchFamily="18" charset="0"/>
                                </a:rPr>
                              </m:ctrlPr>
                            </m:mPr>
                            <m:mr>
                              <m:e>
                                <m:r>
                                  <m:rPr>
                                    <m:brk m:alnAt="7"/>
                                  </m:rPr>
                                  <a:rPr lang="es-MX" sz="2100" b="1" i="1">
                                    <a:solidFill>
                                      <a:srgbClr val="A5A5A5">
                                        <a:lumMod val="50000"/>
                                      </a:srgbClr>
                                    </a:solidFill>
                                    <a:latin typeface="Cambria Math" panose="02040503050406030204" pitchFamily="18" charset="0"/>
                                  </a:rPr>
                                  <m:t>𝟑</m:t>
                                </m:r>
                              </m:e>
                              <m:e>
                                <m:r>
                                  <a:rPr lang="es-MX" sz="2100" b="1" i="1">
                                    <a:solidFill>
                                      <a:srgbClr val="A5A5A5">
                                        <a:lumMod val="50000"/>
                                      </a:srgbClr>
                                    </a:solidFill>
                                    <a:latin typeface="Cambria Math" panose="02040503050406030204" pitchFamily="18" charset="0"/>
                                  </a:rPr>
                                  <m:t>𝟒</m:t>
                                </m:r>
                              </m:e>
                              <m:e>
                                <m:r>
                                  <a:rPr lang="es-MX" sz="2100" b="1" i="1">
                                    <a:solidFill>
                                      <a:srgbClr val="A5A5A5">
                                        <a:lumMod val="50000"/>
                                      </a:srgbClr>
                                    </a:solidFill>
                                    <a:latin typeface="Cambria Math" panose="02040503050406030204" pitchFamily="18" charset="0"/>
                                  </a:rPr>
                                  <m:t>𝟏</m:t>
                                </m:r>
                              </m:e>
                            </m:mr>
                            <m:mr>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𝟐</m:t>
                                </m:r>
                              </m:e>
                            </m:mr>
                            <m:mr>
                              <m:e>
                                <m:r>
                                  <a:rPr lang="es-MX" sz="2100" b="1" i="1">
                                    <a:solidFill>
                                      <a:srgbClr val="A5A5A5">
                                        <a:lumMod val="50000"/>
                                      </a:srgbClr>
                                    </a:solidFill>
                                    <a:latin typeface="Cambria Math" panose="02040503050406030204" pitchFamily="18" charset="0"/>
                                  </a:rPr>
                                  <m:t>𝟐</m:t>
                                </m:r>
                              </m:e>
                              <m:e>
                                <m:r>
                                  <a:rPr lang="es-MX" sz="2100" b="1" i="1">
                                    <a:solidFill>
                                      <a:srgbClr val="A5A5A5">
                                        <a:lumMod val="50000"/>
                                      </a:srgbClr>
                                    </a:solidFill>
                                    <a:latin typeface="Cambria Math" panose="02040503050406030204" pitchFamily="18" charset="0"/>
                                  </a:rPr>
                                  <m:t>𝟐</m:t>
                                </m:r>
                              </m:e>
                              <m:e>
                                <m:r>
                                  <a:rPr lang="es-MX" sz="2100" b="1" i="1">
                                    <a:solidFill>
                                      <a:srgbClr val="A5A5A5">
                                        <a:lumMod val="50000"/>
                                      </a:srgbClr>
                                    </a:solidFill>
                                    <a:latin typeface="Cambria Math" panose="02040503050406030204" pitchFamily="18" charset="0"/>
                                  </a:rPr>
                                  <m:t>𝟏</m:t>
                                </m:r>
                              </m:e>
                            </m:mr>
                          </m:m>
                        </m:e>
                      </m:d>
                    </m:oMath>
                  </m:oMathPara>
                </a14:m>
                <a:endParaRPr lang="es-MX" sz="2100" b="1" dirty="0" smtClean="0">
                  <a:solidFill>
                    <a:srgbClr val="A5A5A5">
                      <a:lumMod val="50000"/>
                    </a:srgbClr>
                  </a:solidFill>
                  <a:latin typeface="Calibri" panose="020F0502020204030204"/>
                </a:endParaRPr>
              </a:p>
            </p:txBody>
          </p:sp>
        </mc:Choice>
        <mc:Fallback xmlns="">
          <p:sp>
            <p:nvSpPr>
              <p:cNvPr id="7" name="Rectángulo 6"/>
              <p:cNvSpPr>
                <a:spLocks noRot="1" noChangeAspect="1" noMove="1" noResize="1" noEditPoints="1" noAdjustHandles="1" noChangeArrowheads="1" noChangeShapeType="1" noTextEdit="1"/>
              </p:cNvSpPr>
              <p:nvPr/>
            </p:nvSpPr>
            <p:spPr>
              <a:xfrm>
                <a:off x="594575" y="2616371"/>
                <a:ext cx="2522112" cy="944810"/>
              </a:xfrm>
              <a:prstGeom prst="rect">
                <a:avLst/>
              </a:prstGeom>
              <a:blipFill rotWithShape="0">
                <a:blip r:embed="rId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594575" y="4024290"/>
                <a:ext cx="3578179" cy="1299458"/>
              </a:xfrm>
              <a:prstGeom prst="rect">
                <a:avLst/>
              </a:prstGeom>
            </p:spPr>
            <p:txBody>
              <a:bodyPr wrap="square">
                <a:spAutoFit/>
              </a:bodyPr>
              <a:lstStyle/>
              <a:p>
                <a:pPr lvl="1">
                  <a:buClrTx/>
                  <a:buFontTx/>
                  <a:buNone/>
                  <a:defRPr/>
                </a:pPr>
                <a14:m>
                  <m:oMathPara xmlns:m="http://schemas.openxmlformats.org/officeDocument/2006/math">
                    <m:oMathParaPr>
                      <m:jc m:val="left"/>
                    </m:oMathParaPr>
                    <m:oMath xmlns:m="http://schemas.openxmlformats.org/officeDocument/2006/math">
                      <m:r>
                        <a:rPr lang="es-NI" sz="2100" b="1" i="1" smtClean="0">
                          <a:solidFill>
                            <a:srgbClr val="A5A5A5">
                              <a:lumMod val="50000"/>
                            </a:srgbClr>
                          </a:solidFill>
                          <a:latin typeface="Cambria Math" panose="02040503050406030204" pitchFamily="18" charset="0"/>
                        </a:rPr>
                        <m:t>𝑩</m:t>
                      </m:r>
                      <m:r>
                        <a:rPr lang="es-MX" sz="2100" b="1" i="1" smtClean="0">
                          <a:solidFill>
                            <a:srgbClr val="A5A5A5">
                              <a:lumMod val="50000"/>
                            </a:srgbClr>
                          </a:solidFill>
                          <a:latin typeface="Cambria Math" panose="02040503050406030204" pitchFamily="18" charset="0"/>
                        </a:rPr>
                        <m:t>=</m:t>
                      </m:r>
                      <m:d>
                        <m:dPr>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𝟏</m:t>
                                    </m:r>
                                  </m:e>
                                </m:eqArr>
                              </m:e>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𝟓</m:t>
                                    </m:r>
                                  </m:e>
                                </m:eqArr>
                              </m:e>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eqArr>
                                    </m:e>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𝟒</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𝟔</m:t>
                                          </m:r>
                                        </m:e>
                                      </m:eqArr>
                                    </m:e>
                                  </m:mr>
                                </m:m>
                              </m:e>
                            </m:mr>
                          </m:m>
                        </m:e>
                      </m:d>
                    </m:oMath>
                  </m:oMathPara>
                </a14:m>
                <a:endParaRPr lang="es-MX" sz="2100" b="1" dirty="0" smtClean="0">
                  <a:solidFill>
                    <a:srgbClr val="A5A5A5">
                      <a:lumMod val="50000"/>
                    </a:srgbClr>
                  </a:solidFill>
                  <a:latin typeface="Calibri" panose="020F0502020204030204"/>
                </a:endParaRPr>
              </a:p>
            </p:txBody>
          </p:sp>
        </mc:Choice>
        <mc:Fallback xmlns="">
          <p:sp>
            <p:nvSpPr>
              <p:cNvPr id="8" name="Rectángulo 7"/>
              <p:cNvSpPr>
                <a:spLocks noRot="1" noChangeAspect="1" noMove="1" noResize="1" noEditPoints="1" noAdjustHandles="1" noChangeArrowheads="1" noChangeShapeType="1" noTextEdit="1"/>
              </p:cNvSpPr>
              <p:nvPr/>
            </p:nvSpPr>
            <p:spPr>
              <a:xfrm>
                <a:off x="594575" y="4024290"/>
                <a:ext cx="3578179" cy="1299458"/>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502278" y="5459704"/>
                <a:ext cx="3863660" cy="1299458"/>
              </a:xfrm>
              <a:prstGeom prst="rect">
                <a:avLst/>
              </a:prstGeom>
            </p:spPr>
            <p:txBody>
              <a:bodyPr wrap="square">
                <a:spAutoFit/>
              </a:bodyPr>
              <a:lstStyle/>
              <a:p>
                <a:pPr lvl="1">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eqArr>
                              </m:e>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𝟐</m:t>
                                    </m:r>
                                  </m:e>
                                </m:eqArr>
                              </m:e>
                              <m:e>
                                <m:m>
                                  <m:mPr>
                                    <m:mcs>
                                      <m:mc>
                                        <m:mcPr>
                                          <m:count m:val="2"/>
                                          <m:mcJc m:val="center"/>
                                        </m:mcPr>
                                      </m:mc>
                                    </m:mcs>
                                    <m:ctrlPr>
                                      <a:rPr lang="es-MX" sz="2100" b="1" i="1" smtClean="0">
                                        <a:solidFill>
                                          <a:srgbClr val="A5A5A5">
                                            <a:lumMod val="50000"/>
                                          </a:srgbClr>
                                        </a:solidFill>
                                        <a:latin typeface="Cambria Math" panose="02040503050406030204" pitchFamily="18" charset="0"/>
                                      </a:rPr>
                                    </m:ctrlPr>
                                  </m:mPr>
                                  <m:mr>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𝟎</m:t>
                                          </m:r>
                                        </m:e>
                                      </m:eqArr>
                                    </m:e>
                                    <m:e>
                                      <m:eqArr>
                                        <m:eqArrPr>
                                          <m:ctrlPr>
                                            <a:rPr lang="es-MX" sz="2100" b="1" i="1" smtClean="0">
                                              <a:solidFill>
                                                <a:srgbClr val="A5A5A5">
                                                  <a:lumMod val="50000"/>
                                                </a:srgbClr>
                                              </a:solidFill>
                                              <a:latin typeface="Cambria Math" panose="02040503050406030204" pitchFamily="18" charset="0"/>
                                            </a:rPr>
                                          </m:ctrlPr>
                                        </m:eqArrPr>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qArr>
                                    </m:e>
                                  </m:mr>
                                </m:m>
                              </m:e>
                            </m:mr>
                          </m:m>
                        </m:e>
                      </m:d>
                    </m:oMath>
                  </m:oMathPara>
                </a14:m>
                <a:endParaRPr lang="es-MX" sz="2100" b="1" dirty="0" smtClean="0">
                  <a:solidFill>
                    <a:srgbClr val="A5A5A5">
                      <a:lumMod val="50000"/>
                    </a:srgbClr>
                  </a:solidFill>
                  <a:latin typeface="Calibri" panose="020F0502020204030204"/>
                </a:endParaRPr>
              </a:p>
            </p:txBody>
          </p:sp>
        </mc:Choice>
        <mc:Fallback xmlns="">
          <p:sp>
            <p:nvSpPr>
              <p:cNvPr id="9" name="Rectángulo 8"/>
              <p:cNvSpPr>
                <a:spLocks noRot="1" noChangeAspect="1" noMove="1" noResize="1" noEditPoints="1" noAdjustHandles="1" noChangeArrowheads="1" noChangeShapeType="1" noTextEdit="1"/>
              </p:cNvSpPr>
              <p:nvPr/>
            </p:nvSpPr>
            <p:spPr>
              <a:xfrm>
                <a:off x="502278" y="5459704"/>
                <a:ext cx="3863660" cy="1299458"/>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5166572" y="2439047"/>
                <a:ext cx="3449394" cy="1299458"/>
              </a:xfrm>
              <a:prstGeom prst="rect">
                <a:avLst/>
              </a:prstGeom>
            </p:spPr>
            <p:txBody>
              <a:bodyPr wrap="square">
                <a:spAutoFit/>
              </a:bodyPr>
              <a:lstStyle/>
              <a:p>
                <a:pPr lvl="1" algn="just">
                  <a:buClrTx/>
                  <a:buFontTx/>
                  <a:buNone/>
                </a:pPr>
                <a14:m>
                  <m:oMathPara xmlns:m="http://schemas.openxmlformats.org/officeDocument/2006/math">
                    <m:oMathParaPr>
                      <m:jc m:val="left"/>
                    </m:oMathParaPr>
                    <m:oMath xmlns:m="http://schemas.openxmlformats.org/officeDocument/2006/math">
                      <m:r>
                        <a:rPr lang="es-NI" sz="2100" b="1" i="1" smtClean="0">
                          <a:solidFill>
                            <a:srgbClr val="A5A5A5">
                              <a:lumMod val="50000"/>
                            </a:srgbClr>
                          </a:solidFill>
                          <a:latin typeface="Cambria Math" panose="02040503050406030204" pitchFamily="18" charset="0"/>
                        </a:rPr>
                        <m:t>𝑩</m:t>
                      </m:r>
                      <m:r>
                        <a:rPr lang="es-MX" sz="2100" b="1" i="1">
                          <a:solidFill>
                            <a:srgbClr val="A5A5A5">
                              <a:lumMod val="50000"/>
                            </a:srgbClr>
                          </a:solidFill>
                          <a:latin typeface="Cambria Math" panose="02040503050406030204" pitchFamily="18" charset="0"/>
                        </a:rPr>
                        <m:t>=</m:t>
                      </m:r>
                      <m:d>
                        <m:dPr>
                          <m:ctrlPr>
                            <a:rPr lang="es-MX" sz="2100" b="1" i="1">
                              <a:solidFill>
                                <a:srgbClr val="A5A5A5">
                                  <a:lumMod val="50000"/>
                                </a:srgbClr>
                              </a:solidFill>
                              <a:latin typeface="Cambria Math" panose="02040503050406030204" pitchFamily="18" charset="0"/>
                            </a:rPr>
                          </m:ctrlPr>
                        </m:dPr>
                        <m:e>
                          <m:m>
                            <m:mPr>
                              <m:mcs>
                                <m:mc>
                                  <m:mcPr>
                                    <m:count m:val="3"/>
                                    <m:mcJc m:val="center"/>
                                  </m:mcPr>
                                </m:mc>
                              </m:mcs>
                              <m:ctrlPr>
                                <a:rPr lang="es-MX" sz="2100" b="1" i="1">
                                  <a:solidFill>
                                    <a:srgbClr val="A5A5A5">
                                      <a:lumMod val="50000"/>
                                    </a:srgbClr>
                                  </a:solidFill>
                                  <a:latin typeface="Cambria Math" panose="02040503050406030204" pitchFamily="18" charset="0"/>
                                </a:rPr>
                              </m:ctrlPr>
                            </m:mPr>
                            <m:mr>
                              <m:e>
                                <m:eqArr>
                                  <m:eqArrPr>
                                    <m:ctrlPr>
                                      <a:rPr lang="es-MX" sz="2100" b="1" i="1">
                                        <a:solidFill>
                                          <a:srgbClr val="A5A5A5">
                                            <a:lumMod val="50000"/>
                                          </a:srgbClr>
                                        </a:solidFill>
                                        <a:latin typeface="Cambria Math" panose="02040503050406030204" pitchFamily="18" charset="0"/>
                                      </a:rPr>
                                    </m:ctrlPr>
                                  </m:eqArrPr>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m:t>
                                    </m:r>
                                    <m:r>
                                      <a:rPr lang="es-MX" sz="2100" b="1" i="1">
                                        <a:solidFill>
                                          <a:srgbClr val="A5A5A5">
                                            <a:lumMod val="50000"/>
                                          </a:srgbClr>
                                        </a:solidFill>
                                        <a:latin typeface="Cambria Math" panose="02040503050406030204" pitchFamily="18" charset="0"/>
                                      </a:rPr>
                                      <m:t>𝟏</m:t>
                                    </m:r>
                                  </m:e>
                                </m:eqArr>
                              </m:e>
                              <m:e>
                                <m:eqArr>
                                  <m:eqArrPr>
                                    <m:ctrlPr>
                                      <a:rPr lang="es-MX" sz="2100" b="1" i="1">
                                        <a:solidFill>
                                          <a:srgbClr val="A5A5A5">
                                            <a:lumMod val="50000"/>
                                          </a:srgbClr>
                                        </a:solidFill>
                                        <a:latin typeface="Cambria Math" panose="02040503050406030204" pitchFamily="18" charset="0"/>
                                      </a:rPr>
                                    </m:ctrlPr>
                                  </m:eqArrPr>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𝟐</m:t>
                                    </m:r>
                                  </m:e>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𝟎</m:t>
                                    </m:r>
                                  </m:e>
                                </m:eqArr>
                              </m:e>
                              <m:e>
                                <m:m>
                                  <m:mPr>
                                    <m:mcs>
                                      <m:mc>
                                        <m:mcPr>
                                          <m:count m:val="2"/>
                                          <m:mcJc m:val="center"/>
                                        </m:mcPr>
                                      </m:mc>
                                    </m:mcs>
                                    <m:ctrlPr>
                                      <a:rPr lang="es-MX" sz="2100" b="1" i="1">
                                        <a:solidFill>
                                          <a:srgbClr val="A5A5A5">
                                            <a:lumMod val="50000"/>
                                          </a:srgbClr>
                                        </a:solidFill>
                                        <a:latin typeface="Cambria Math" panose="02040503050406030204" pitchFamily="18" charset="0"/>
                                      </a:rPr>
                                    </m:ctrlPr>
                                  </m:mPr>
                                  <m:mr>
                                    <m:e>
                                      <m:eqArr>
                                        <m:eqArrPr>
                                          <m:ctrlPr>
                                            <a:rPr lang="es-MX" sz="2100" b="1" i="1">
                                              <a:solidFill>
                                                <a:srgbClr val="A5A5A5">
                                                  <a:lumMod val="50000"/>
                                                </a:srgbClr>
                                              </a:solidFill>
                                              <a:latin typeface="Cambria Math" panose="02040503050406030204" pitchFamily="18" charset="0"/>
                                            </a:rPr>
                                          </m:ctrlPr>
                                        </m:eqArrPr>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m:t>
                                          </m:r>
                                          <m:r>
                                            <a:rPr lang="es-MX" sz="2100" b="1" i="1">
                                              <a:solidFill>
                                                <a:srgbClr val="A5A5A5">
                                                  <a:lumMod val="50000"/>
                                                </a:srgbClr>
                                              </a:solidFill>
                                              <a:latin typeface="Cambria Math" panose="02040503050406030204" pitchFamily="18" charset="0"/>
                                            </a:rPr>
                                            <m:t>𝟐</m:t>
                                          </m:r>
                                        </m:e>
                                        <m:e>
                                          <m:r>
                                            <a:rPr lang="es-MX" sz="2100" b="1" i="1">
                                              <a:solidFill>
                                                <a:srgbClr val="A5A5A5">
                                                  <a:lumMod val="50000"/>
                                                </a:srgbClr>
                                              </a:solidFill>
                                              <a:latin typeface="Cambria Math" panose="02040503050406030204" pitchFamily="18" charset="0"/>
                                            </a:rPr>
                                            <m:t>−</m:t>
                                          </m:r>
                                          <m:r>
                                            <a:rPr lang="es-MX" sz="2100" b="1" i="1">
                                              <a:solidFill>
                                                <a:srgbClr val="A5A5A5">
                                                  <a:lumMod val="50000"/>
                                                </a:srgbClr>
                                              </a:solidFill>
                                              <a:latin typeface="Cambria Math" panose="02040503050406030204" pitchFamily="18" charset="0"/>
                                            </a:rPr>
                                            <m:t>𝟐</m:t>
                                          </m:r>
                                        </m:e>
                                      </m:eqArr>
                                    </m:e>
                                    <m:e>
                                      <m:eqArr>
                                        <m:eqArrPr>
                                          <m:ctrlPr>
                                            <a:rPr lang="es-MX" sz="2100" b="1" i="1">
                                              <a:solidFill>
                                                <a:srgbClr val="A5A5A5">
                                                  <a:lumMod val="50000"/>
                                                </a:srgbClr>
                                              </a:solidFill>
                                              <a:latin typeface="Cambria Math" panose="02040503050406030204" pitchFamily="18" charset="0"/>
                                            </a:rPr>
                                          </m:ctrlPr>
                                        </m:eqArrPr>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𝟎</m:t>
                                          </m:r>
                                        </m:e>
                                        <m:e>
                                          <m:r>
                                            <a:rPr lang="es-MX" sz="2100" b="1" i="1">
                                              <a:solidFill>
                                                <a:srgbClr val="A5A5A5">
                                                  <a:lumMod val="50000"/>
                                                </a:srgbClr>
                                              </a:solidFill>
                                              <a:latin typeface="Cambria Math" panose="02040503050406030204" pitchFamily="18" charset="0"/>
                                            </a:rPr>
                                            <m:t>𝟏</m:t>
                                          </m:r>
                                        </m:e>
                                      </m:eqArr>
                                    </m:e>
                                  </m:mr>
                                </m:m>
                              </m:e>
                            </m:mr>
                          </m:m>
                        </m:e>
                      </m:d>
                    </m:oMath>
                  </m:oMathPara>
                </a14:m>
                <a:endParaRPr lang="es-MX" sz="2100" b="1" dirty="0" smtClean="0">
                  <a:solidFill>
                    <a:srgbClr val="A5A5A5">
                      <a:lumMod val="50000"/>
                    </a:srgbClr>
                  </a:solidFill>
                  <a:latin typeface="Calibri" panose="020F0502020204030204"/>
                </a:endParaRPr>
              </a:p>
            </p:txBody>
          </p:sp>
        </mc:Choice>
        <mc:Fallback xmlns="">
          <p:sp>
            <p:nvSpPr>
              <p:cNvPr id="10" name="Rectángulo 9"/>
              <p:cNvSpPr>
                <a:spLocks noRot="1" noChangeAspect="1" noMove="1" noResize="1" noEditPoints="1" noAdjustHandles="1" noChangeArrowheads="1" noChangeShapeType="1" noTextEdit="1"/>
              </p:cNvSpPr>
              <p:nvPr/>
            </p:nvSpPr>
            <p:spPr>
              <a:xfrm>
                <a:off x="5166572" y="2439047"/>
                <a:ext cx="3449394" cy="1299458"/>
              </a:xfrm>
              <a:prstGeom prst="rect">
                <a:avLst/>
              </a:prstGeom>
              <a:blipFill rotWithShape="0">
                <a:blip r:embed="rId5"/>
                <a:stretch>
                  <a:fillRect/>
                </a:stretch>
              </a:blipFill>
            </p:spPr>
            <p:txBody>
              <a:bodyPr/>
              <a:lstStyle/>
              <a:p>
                <a:r>
                  <a:rPr lang="es-MX">
                    <a:noFill/>
                  </a:rPr>
                  <a:t> </a:t>
                </a:r>
              </a:p>
            </p:txBody>
          </p:sp>
        </mc:Fallback>
      </mc:AlternateContent>
      <p:sp>
        <p:nvSpPr>
          <p:cNvPr id="11" name="Rectángulo 10"/>
          <p:cNvSpPr/>
          <p:nvPr/>
        </p:nvSpPr>
        <p:spPr>
          <a:xfrm>
            <a:off x="4571997" y="2857944"/>
            <a:ext cx="1081828" cy="461665"/>
          </a:xfrm>
          <a:prstGeom prst="rect">
            <a:avLst/>
          </a:prstGeom>
        </p:spPr>
        <p:txBody>
          <a:bodyPr wrap="square">
            <a:spAutoFit/>
          </a:bodyPr>
          <a:lstStyle/>
          <a:p>
            <a:pPr lvl="1">
              <a:buClrTx/>
              <a:buFontTx/>
              <a:buNone/>
              <a:defRPr/>
            </a:pPr>
            <a:r>
              <a:rPr lang="es-ES" sz="2400" b="1" dirty="0" smtClean="0">
                <a:solidFill>
                  <a:srgbClr val="FF0000"/>
                </a:solidFill>
                <a:latin typeface="Calibri" panose="020F0502020204030204"/>
              </a:rPr>
              <a:t>(4)</a:t>
            </a:r>
            <a:endParaRPr lang="es-MX" sz="2400" b="1" dirty="0" smtClean="0">
              <a:solidFill>
                <a:srgbClr val="FF0000"/>
              </a:solidFill>
              <a:latin typeface="Calibri" panose="020F0502020204030204"/>
            </a:endParaRPr>
          </a:p>
        </p:txBody>
      </p:sp>
      <mc:AlternateContent xmlns:mc="http://schemas.openxmlformats.org/markup-compatibility/2006" xmlns:a14="http://schemas.microsoft.com/office/drawing/2010/main">
        <mc:Choice Requires="a14">
          <p:sp>
            <p:nvSpPr>
              <p:cNvPr id="12" name="Rectángulo 11"/>
              <p:cNvSpPr/>
              <p:nvPr/>
            </p:nvSpPr>
            <p:spPr>
              <a:xfrm>
                <a:off x="5166572" y="4024290"/>
                <a:ext cx="3449394" cy="1299458"/>
              </a:xfrm>
              <a:prstGeom prst="rect">
                <a:avLst/>
              </a:prstGeom>
            </p:spPr>
            <p:txBody>
              <a:bodyPr wrap="square">
                <a:spAutoFit/>
              </a:bodyPr>
              <a:lstStyle/>
              <a:p>
                <a:pPr lvl="1" algn="just">
                  <a:buClrTx/>
                  <a:buFontTx/>
                  <a:buNone/>
                </a:pPr>
                <a14:m>
                  <m:oMathPara xmlns:m="http://schemas.openxmlformats.org/officeDocument/2006/math">
                    <m:oMathParaPr>
                      <m:jc m:val="left"/>
                    </m:oMathParaPr>
                    <m:oMath xmlns:m="http://schemas.openxmlformats.org/officeDocument/2006/math">
                      <m:r>
                        <a:rPr lang="es-NI" sz="2100" b="1" i="1" smtClean="0">
                          <a:solidFill>
                            <a:srgbClr val="A5A5A5">
                              <a:lumMod val="50000"/>
                            </a:srgbClr>
                          </a:solidFill>
                          <a:latin typeface="Cambria Math" panose="02040503050406030204" pitchFamily="18" charset="0"/>
                        </a:rPr>
                        <m:t>𝑩</m:t>
                      </m:r>
                      <m:r>
                        <a:rPr lang="es-MX" sz="2100" b="1" i="1">
                          <a:solidFill>
                            <a:srgbClr val="A5A5A5">
                              <a:lumMod val="50000"/>
                            </a:srgbClr>
                          </a:solidFill>
                          <a:latin typeface="Cambria Math" panose="02040503050406030204" pitchFamily="18" charset="0"/>
                        </a:rPr>
                        <m:t>=</m:t>
                      </m:r>
                      <m:d>
                        <m:dPr>
                          <m:ctrlPr>
                            <a:rPr lang="es-MX" sz="2100" b="1" i="1">
                              <a:solidFill>
                                <a:srgbClr val="A5A5A5">
                                  <a:lumMod val="50000"/>
                                </a:srgbClr>
                              </a:solidFill>
                              <a:latin typeface="Cambria Math" panose="02040503050406030204" pitchFamily="18" charset="0"/>
                            </a:rPr>
                          </m:ctrlPr>
                        </m:dPr>
                        <m:e>
                          <m:m>
                            <m:mPr>
                              <m:mcs>
                                <m:mc>
                                  <m:mcPr>
                                    <m:count m:val="3"/>
                                    <m:mcJc m:val="center"/>
                                  </m:mcPr>
                                </m:mc>
                              </m:mcs>
                              <m:ctrlPr>
                                <a:rPr lang="es-MX" sz="2100" b="1" i="1">
                                  <a:solidFill>
                                    <a:srgbClr val="A5A5A5">
                                      <a:lumMod val="50000"/>
                                    </a:srgbClr>
                                  </a:solidFill>
                                  <a:latin typeface="Cambria Math" panose="02040503050406030204" pitchFamily="18" charset="0"/>
                                </a:rPr>
                              </m:ctrlPr>
                            </m:mPr>
                            <m:mr>
                              <m:e>
                                <m:eqArr>
                                  <m:eqArrPr>
                                    <m:ctrlPr>
                                      <a:rPr lang="es-MX" sz="2100" b="1" i="1">
                                        <a:solidFill>
                                          <a:srgbClr val="A5A5A5">
                                            <a:lumMod val="50000"/>
                                          </a:srgbClr>
                                        </a:solidFill>
                                        <a:latin typeface="Cambria Math" panose="02040503050406030204" pitchFamily="18" charset="0"/>
                                      </a:rPr>
                                    </m:ctrlPr>
                                  </m:eqArrPr>
                                  <m:e>
                                    <m:r>
                                      <a:rPr lang="es-MX" sz="2100" b="1" i="1">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𝟎</m:t>
                                    </m:r>
                                  </m:e>
                                  <m:e>
                                    <m:r>
                                      <a:rPr lang="es-NI" sz="2100" b="1" i="1" smtClean="0">
                                        <a:solidFill>
                                          <a:srgbClr val="A5A5A5">
                                            <a:lumMod val="50000"/>
                                          </a:srgbClr>
                                        </a:solidFill>
                                        <a:latin typeface="Cambria Math" panose="02040503050406030204" pitchFamily="18" charset="0"/>
                                      </a:rPr>
                                      <m:t>𝟐</m:t>
                                    </m:r>
                                  </m:e>
                                  <m:e>
                                    <m:r>
                                      <a:rPr lang="es-NI" sz="2100" b="1" i="1" smtClean="0">
                                        <a:solidFill>
                                          <a:srgbClr val="A5A5A5">
                                            <a:lumMod val="50000"/>
                                          </a:srgbClr>
                                        </a:solidFill>
                                        <a:latin typeface="Cambria Math" panose="02040503050406030204" pitchFamily="18" charset="0"/>
                                      </a:rPr>
                                      <m:t>𝟑</m:t>
                                    </m:r>
                                  </m:e>
                                </m:eqArr>
                              </m:e>
                              <m:e>
                                <m:eqArr>
                                  <m:eqArrPr>
                                    <m:ctrlPr>
                                      <a:rPr lang="es-MX" sz="2100" b="1" i="1">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𝟑</m:t>
                                    </m:r>
                                  </m:e>
                                  <m:e>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m:t>
                                    </m:r>
                                  </m:e>
                                  <m:e>
                                    <m:r>
                                      <a:rPr lang="es-MX" sz="2100" b="1" i="1">
                                        <a:solidFill>
                                          <a:srgbClr val="A5A5A5">
                                            <a:lumMod val="50000"/>
                                          </a:srgbClr>
                                        </a:solidFill>
                                        <a:latin typeface="Cambria Math" panose="02040503050406030204" pitchFamily="18" charset="0"/>
                                      </a:rPr>
                                      <m:t>𝟏</m:t>
                                    </m:r>
                                  </m:e>
                                  <m:e>
                                    <m:r>
                                      <a:rPr lang="es-NI" sz="2100" b="1" i="1" smtClean="0">
                                        <a:solidFill>
                                          <a:srgbClr val="A5A5A5">
                                            <a:lumMod val="50000"/>
                                          </a:srgbClr>
                                        </a:solidFill>
                                        <a:latin typeface="Cambria Math" panose="02040503050406030204" pitchFamily="18" charset="0"/>
                                      </a:rPr>
                                      <m:t>𝟐</m:t>
                                    </m:r>
                                  </m:e>
                                </m:eqArr>
                              </m:e>
                              <m:e>
                                <m:m>
                                  <m:mPr>
                                    <m:mcs>
                                      <m:mc>
                                        <m:mcPr>
                                          <m:count m:val="2"/>
                                          <m:mcJc m:val="center"/>
                                        </m:mcPr>
                                      </m:mc>
                                    </m:mcs>
                                    <m:ctrlPr>
                                      <a:rPr lang="es-MX" sz="2100" b="1" i="1">
                                        <a:solidFill>
                                          <a:srgbClr val="A5A5A5">
                                            <a:lumMod val="50000"/>
                                          </a:srgbClr>
                                        </a:solidFill>
                                        <a:latin typeface="Cambria Math" panose="02040503050406030204" pitchFamily="18" charset="0"/>
                                      </a:rPr>
                                    </m:ctrlPr>
                                  </m:mPr>
                                  <m:mr>
                                    <m:e>
                                      <m:eqArr>
                                        <m:eqArrPr>
                                          <m:ctrlPr>
                                            <a:rPr lang="es-MX" sz="2100" b="1" i="1">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𝟓</m:t>
                                          </m:r>
                                        </m:e>
                                        <m:e>
                                          <m:r>
                                            <a:rPr lang="es-NI" sz="2100" b="1" i="1" smtClean="0">
                                              <a:solidFill>
                                                <a:srgbClr val="A5A5A5">
                                                  <a:lumMod val="50000"/>
                                                </a:srgbClr>
                                              </a:solidFill>
                                              <a:latin typeface="Cambria Math" panose="02040503050406030204" pitchFamily="18" charset="0"/>
                                            </a:rPr>
                                            <m:t>𝟑</m:t>
                                          </m:r>
                                        </m:e>
                                        <m:e>
                                          <m:r>
                                            <a:rPr lang="es-NI" sz="2100" b="1" i="1" smtClean="0">
                                              <a:solidFill>
                                                <a:srgbClr val="A5A5A5">
                                                  <a:lumMod val="50000"/>
                                                </a:srgbClr>
                                              </a:solidFill>
                                              <a:latin typeface="Cambria Math" panose="02040503050406030204" pitchFamily="18" charset="0"/>
                                            </a:rPr>
                                            <m:t>𝟗</m:t>
                                          </m:r>
                                        </m:e>
                                        <m:e>
                                          <m:r>
                                            <a:rPr lang="es-NI" sz="2100" b="1" i="1" smtClean="0">
                                              <a:solidFill>
                                                <a:srgbClr val="A5A5A5">
                                                  <a:lumMod val="50000"/>
                                                </a:srgbClr>
                                              </a:solidFill>
                                              <a:latin typeface="Cambria Math" panose="02040503050406030204" pitchFamily="18" charset="0"/>
                                            </a:rPr>
                                            <m:t>𝟒</m:t>
                                          </m:r>
                                        </m:e>
                                      </m:eqArr>
                                    </m:e>
                                    <m:e>
                                      <m:eqArr>
                                        <m:eqArrPr>
                                          <m:ctrlPr>
                                            <a:rPr lang="es-MX" sz="2100" b="1" i="1">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𝟐</m:t>
                                          </m:r>
                                        </m:e>
                                        <m:e>
                                          <m:r>
                                            <a:rPr lang="es-NI" sz="2100" b="1" i="1" smtClean="0">
                                              <a:solidFill>
                                                <a:srgbClr val="A5A5A5">
                                                  <a:lumMod val="50000"/>
                                                </a:srgbClr>
                                              </a:solidFill>
                                              <a:latin typeface="Cambria Math" panose="02040503050406030204" pitchFamily="18" charset="0"/>
                                            </a:rPr>
                                            <m:t>𝟒</m:t>
                                          </m:r>
                                        </m:e>
                                        <m:e>
                                          <m:r>
                                            <a:rPr lang="es-NI" sz="2100" b="1" i="1" smtClean="0">
                                              <a:solidFill>
                                                <a:srgbClr val="A5A5A5">
                                                  <a:lumMod val="50000"/>
                                                </a:srgbClr>
                                              </a:solidFill>
                                              <a:latin typeface="Cambria Math" panose="02040503050406030204" pitchFamily="18" charset="0"/>
                                            </a:rPr>
                                            <m:t>𝟔</m:t>
                                          </m:r>
                                        </m:e>
                                        <m:e>
                                          <m:r>
                                            <a:rPr lang="es-NI" sz="2100" b="1" i="1" smtClean="0">
                                              <a:solidFill>
                                                <a:srgbClr val="A5A5A5">
                                                  <a:lumMod val="50000"/>
                                                </a:srgbClr>
                                              </a:solidFill>
                                              <a:latin typeface="Cambria Math" panose="02040503050406030204" pitchFamily="18" charset="0"/>
                                            </a:rPr>
                                            <m:t>𝟖</m:t>
                                          </m:r>
                                        </m:e>
                                      </m:eqArr>
                                    </m:e>
                                  </m:mr>
                                </m:m>
                              </m:e>
                            </m:mr>
                          </m:m>
                        </m:e>
                      </m:d>
                    </m:oMath>
                  </m:oMathPara>
                </a14:m>
                <a:endParaRPr lang="es-MX" sz="2100" b="1" dirty="0" smtClean="0">
                  <a:solidFill>
                    <a:srgbClr val="A5A5A5">
                      <a:lumMod val="50000"/>
                    </a:srgbClr>
                  </a:solidFill>
                  <a:latin typeface="Calibri" panose="020F0502020204030204"/>
                </a:endParaRPr>
              </a:p>
            </p:txBody>
          </p:sp>
        </mc:Choice>
        <mc:Fallback xmlns="">
          <p:sp>
            <p:nvSpPr>
              <p:cNvPr id="12" name="Rectángulo 11"/>
              <p:cNvSpPr>
                <a:spLocks noRot="1" noChangeAspect="1" noMove="1" noResize="1" noEditPoints="1" noAdjustHandles="1" noChangeArrowheads="1" noChangeShapeType="1" noTextEdit="1"/>
              </p:cNvSpPr>
              <p:nvPr/>
            </p:nvSpPr>
            <p:spPr>
              <a:xfrm>
                <a:off x="5166572" y="4024290"/>
                <a:ext cx="3449394" cy="1299458"/>
              </a:xfrm>
              <a:prstGeom prst="rect">
                <a:avLst/>
              </a:prstGeom>
              <a:blipFill rotWithShape="0">
                <a:blip r:embed="rId6"/>
                <a:stretch>
                  <a:fillRect/>
                </a:stretch>
              </a:blipFill>
            </p:spPr>
            <p:txBody>
              <a:bodyPr/>
              <a:lstStyle/>
              <a:p>
                <a:r>
                  <a:rPr lang="es-MX">
                    <a:noFill/>
                  </a:rPr>
                  <a:t> </a:t>
                </a:r>
              </a:p>
            </p:txBody>
          </p:sp>
        </mc:Fallback>
      </mc:AlternateContent>
      <p:sp>
        <p:nvSpPr>
          <p:cNvPr id="13" name="Rectángulo 12"/>
          <p:cNvSpPr/>
          <p:nvPr/>
        </p:nvSpPr>
        <p:spPr>
          <a:xfrm>
            <a:off x="4571997" y="4443187"/>
            <a:ext cx="1081828" cy="461665"/>
          </a:xfrm>
          <a:prstGeom prst="rect">
            <a:avLst/>
          </a:prstGeom>
        </p:spPr>
        <p:txBody>
          <a:bodyPr wrap="square">
            <a:spAutoFit/>
          </a:bodyPr>
          <a:lstStyle/>
          <a:p>
            <a:pPr lvl="1">
              <a:buClrTx/>
              <a:buFontTx/>
              <a:buNone/>
              <a:defRPr/>
            </a:pPr>
            <a:r>
              <a:rPr lang="es-ES" sz="2400" b="1" dirty="0" smtClean="0">
                <a:solidFill>
                  <a:srgbClr val="FF0000"/>
                </a:solidFill>
                <a:latin typeface="Calibri" panose="020F0502020204030204"/>
              </a:rPr>
              <a:t>(5)</a:t>
            </a:r>
            <a:endParaRPr lang="es-MX" sz="2400" b="1" dirty="0" smtClean="0">
              <a:solidFill>
                <a:srgbClr val="FF0000"/>
              </a:solidFill>
              <a:latin typeface="Calibri" panose="020F0502020204030204"/>
            </a:endParaRPr>
          </a:p>
        </p:txBody>
      </p:sp>
    </p:spTree>
    <p:extLst>
      <p:ext uri="{BB962C8B-B14F-4D97-AF65-F5344CB8AC3E}">
        <p14:creationId xmlns:p14="http://schemas.microsoft.com/office/powerpoint/2010/main" val="61201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000"/>
                                        <p:tgtEl>
                                          <p:spTgt spid="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circle(in)">
                                      <p:cBhvr>
                                        <p:cTn id="19" dur="2000"/>
                                        <p:tgtEl>
                                          <p:spTgt spid="9"/>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in)">
                                      <p:cBhvr>
                                        <p:cTn id="25" dur="2000"/>
                                        <p:tgtEl>
                                          <p:spTgt spid="5"/>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circle(in)">
                                      <p:cBhvr>
                                        <p:cTn id="28" dur="2000"/>
                                        <p:tgtEl>
                                          <p:spTgt spid="4"/>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circle(in)">
                                      <p:cBhvr>
                                        <p:cTn id="31" dur="2000"/>
                                        <p:tgtEl>
                                          <p:spTgt spid="11"/>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circle(in)">
                                      <p:cBhvr>
                                        <p:cTn id="34" dur="2000"/>
                                        <p:tgtEl>
                                          <p:spTgt spid="10"/>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circle(in)">
                                      <p:cBhvr>
                                        <p:cTn id="37" dur="2000"/>
                                        <p:tgtEl>
                                          <p:spTgt spid="13"/>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circle(in)">
                                      <p:cBhvr>
                                        <p:cTn id="4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474469" y="1260575"/>
            <a:ext cx="5384205" cy="415498"/>
          </a:xfrm>
          <a:prstGeom prst="rect">
            <a:avLst/>
          </a:prstGeom>
        </p:spPr>
        <p:txBody>
          <a:bodyPr wrap="square">
            <a:spAutoFit/>
          </a:bodyPr>
          <a:lstStyle/>
          <a:p>
            <a:pPr algn="just">
              <a:buClrTx/>
              <a:buFontTx/>
              <a:buNone/>
              <a:defRPr/>
            </a:pPr>
            <a:r>
              <a:rPr lang="es-ES" sz="2100" b="1" kern="1200" dirty="0" smtClean="0">
                <a:solidFill>
                  <a:srgbClr val="FF0000"/>
                </a:solidFill>
                <a:latin typeface="Arial" panose="020B0604020202020204" pitchFamily="34" charset="0"/>
                <a:cs typeface="Arial" panose="020B0604020202020204" pitchFamily="34" charset="0"/>
              </a:rPr>
              <a:t>Actividad #2: </a:t>
            </a:r>
            <a:r>
              <a:rPr lang="es-ES" sz="2100" b="1" kern="1200" dirty="0">
                <a:solidFill>
                  <a:srgbClr val="FF0000"/>
                </a:solidFill>
                <a:latin typeface="Arial" panose="020B0604020202020204" pitchFamily="34" charset="0"/>
                <a:cs typeface="Arial" panose="020B0604020202020204" pitchFamily="34" charset="0"/>
              </a:rPr>
              <a:t>Ejercicios para Asignación</a:t>
            </a:r>
          </a:p>
        </p:txBody>
      </p:sp>
      <mc:AlternateContent xmlns:mc="http://schemas.openxmlformats.org/markup-compatibility/2006" xmlns:a14="http://schemas.microsoft.com/office/drawing/2010/main">
        <mc:Choice Requires="a14">
          <p:sp>
            <p:nvSpPr>
              <p:cNvPr id="15" name="Title 1"/>
              <p:cNvSpPr txBox="1">
                <a:spLocks/>
              </p:cNvSpPr>
              <p:nvPr/>
            </p:nvSpPr>
            <p:spPr>
              <a:xfrm>
                <a:off x="2474469" y="2496136"/>
                <a:ext cx="2472742" cy="131155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Para xmlns:m="http://schemas.openxmlformats.org/officeDocument/2006/math">
                    <m:oMathParaPr>
                      <m:jc m:val="left"/>
                    </m:oMathParaPr>
                    <m:oMath xmlns:m="http://schemas.openxmlformats.org/officeDocument/2006/math">
                      <m:d>
                        <m:dPr>
                          <m:begChr m:val="|"/>
                          <m:endChr m:val="|"/>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dPr>
                        <m:e>
                          <m:m>
                            <m:mPr>
                              <m:mcs>
                                <m:mc>
                                  <m:mcPr>
                                    <m:count m:val="2"/>
                                    <m:mcJc m:val="center"/>
                                  </m:mcPr>
                                </m:mc>
                              </m:mcs>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mPr>
                            <m:mr>
                              <m:e>
                                <m:eqArr>
                                  <m:eqArrPr>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eqArrPr>
                                  <m:e>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𝟎</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𝟑</m:t>
                                    </m:r>
                                  </m:e>
                                </m:eqArr>
                              </m:e>
                              <m:e>
                                <m:m>
                                  <m:mPr>
                                    <m:mcs>
                                      <m:mc>
                                        <m:mcPr>
                                          <m:count m:val="2"/>
                                          <m:mcJc m:val="center"/>
                                        </m:mcPr>
                                      </m:mc>
                                    </m:mcs>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mPr>
                                  <m:mr>
                                    <m:e>
                                      <m:eqArr>
                                        <m:eqArrPr>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eqArrPr>
                                        <m:e>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𝟑</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𝟓</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𝟒</m:t>
                                          </m:r>
                                        </m:e>
                                        <m:e>
                                          <m:r>
                                            <a:rPr lang="es-NI" sz="2000" b="1" i="1" smtClean="0">
                                              <a:solidFill>
                                                <a:schemeClr val="accent3">
                                                  <a:lumMod val="50000"/>
                                                </a:schemeClr>
                                              </a:solidFill>
                                              <a:latin typeface="Cambria Math" panose="02040503050406030204" pitchFamily="18" charset="0"/>
                                            </a:rPr>
                                            <m:t>𝟏𝟎</m:t>
                                          </m:r>
                                        </m:e>
                                      </m:eqArr>
                                    </m:e>
                                    <m:e>
                                      <m:m>
                                        <m:mPr>
                                          <m:mcs>
                                            <m:mc>
                                              <m:mcPr>
                                                <m:count m:val="2"/>
                                                <m:mcJc m:val="center"/>
                                              </m:mcPr>
                                            </m:mc>
                                          </m:mcs>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mPr>
                                        <m:mr>
                                          <m:e>
                                            <m:eqArr>
                                              <m:eqArrPr>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eqArrPr>
                                              <m:e>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𝟏</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𝟏</m:t>
                                                </m:r>
                                              </m:e>
                                              <m:e>
                                                <m:r>
                                                  <a:rPr lang="es-NI" sz="2000" b="1" i="1" smtClean="0">
                                                    <a:solidFill>
                                                      <a:schemeClr val="accent3">
                                                        <a:lumMod val="50000"/>
                                                      </a:schemeClr>
                                                    </a:solidFill>
                                                    <a:latin typeface="Cambria Math" panose="02040503050406030204" pitchFamily="18" charset="0"/>
                                                  </a:rPr>
                                                  <m:t>𝟓</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𝟔</m:t>
                                                </m:r>
                                              </m:e>
                                            </m:eqArr>
                                          </m:e>
                                          <m:e>
                                            <m:eqArr>
                                              <m:eqArrPr>
                                                <m:ctrlP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ctrlPr>
                                              </m:eqArrPr>
                                              <m:e>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m:t>
                                                </m:r>
                                                <m:r>
                                                  <a:rPr kumimoji="0" lang="es-NI" sz="2000" b="1" i="1" u="none" strike="noStrike" kern="1200" cap="none" spc="0" normalizeH="0" baseline="0" noProof="0" smtClean="0">
                                                    <a:ln>
                                                      <a:noFill/>
                                                    </a:ln>
                                                    <a:solidFill>
                                                      <a:schemeClr val="accent3">
                                                        <a:lumMod val="50000"/>
                                                      </a:schemeClr>
                                                    </a:solidFill>
                                                    <a:effectLst/>
                                                    <a:uLnTx/>
                                                    <a:uFillTx/>
                                                    <a:latin typeface="Cambria Math" panose="02040503050406030204" pitchFamily="18" charset="0"/>
                                                    <a:cs typeface="Arial" panose="020B0604020202020204" pitchFamily="34" charset="0"/>
                                                  </a:rPr>
                                                  <m:t>𝟐</m:t>
                                                </m:r>
                                              </m:e>
                                              <m:e>
                                                <m:r>
                                                  <a:rPr lang="es-NI" sz="2000" b="1" i="1" smtClean="0">
                                                    <a:solidFill>
                                                      <a:schemeClr val="accent3">
                                                        <a:lumMod val="50000"/>
                                                      </a:schemeClr>
                                                    </a:solidFill>
                                                    <a:latin typeface="Cambria Math" panose="02040503050406030204" pitchFamily="18" charset="0"/>
                                                  </a:rPr>
                                                  <m:t>−</m:t>
                                                </m:r>
                                                <m:r>
                                                  <a:rPr lang="es-NI" sz="2000" b="1" i="1" smtClean="0">
                                                    <a:solidFill>
                                                      <a:schemeClr val="accent3">
                                                        <a:lumMod val="50000"/>
                                                      </a:schemeClr>
                                                    </a:solidFill>
                                                    <a:latin typeface="Cambria Math" panose="02040503050406030204" pitchFamily="18" charset="0"/>
                                                  </a:rPr>
                                                  <m:t>𝟐</m:t>
                                                </m:r>
                                              </m:e>
                                              <m:e>
                                                <m:r>
                                                  <a:rPr lang="es-NI" sz="2000" b="1" i="1" smtClean="0">
                                                    <a:solidFill>
                                                      <a:schemeClr val="accent3">
                                                        <a:lumMod val="50000"/>
                                                      </a:schemeClr>
                                                    </a:solidFill>
                                                    <a:latin typeface="Cambria Math" panose="02040503050406030204" pitchFamily="18" charset="0"/>
                                                  </a:rPr>
                                                  <m:t>𝟏</m:t>
                                                </m:r>
                                              </m:e>
                                              <m:e>
                                                <m:r>
                                                  <a:rPr lang="es-NI" sz="2000" b="1" i="1" smtClean="0">
                                                    <a:solidFill>
                                                      <a:schemeClr val="accent3">
                                                        <a:lumMod val="50000"/>
                                                      </a:schemeClr>
                                                    </a:solidFill>
                                                    <a:latin typeface="Cambria Math" panose="02040503050406030204" pitchFamily="18" charset="0"/>
                                                  </a:rPr>
                                                  <m:t>𝟖</m:t>
                                                </m:r>
                                              </m:e>
                                            </m:eqArr>
                                          </m:e>
                                        </m:mr>
                                      </m:m>
                                    </m:e>
                                  </m:mr>
                                </m:m>
                              </m:e>
                            </m:mr>
                          </m:m>
                        </m:e>
                      </m:d>
                    </m:oMath>
                  </m:oMathPara>
                </a14:m>
                <a:endParaRPr kumimoji="0" lang="es-NI" sz="2000" b="1" i="0" u="none" strike="noStrike" kern="1200" cap="none" spc="0" normalizeH="0" baseline="0" noProof="0" dirty="0">
                  <a:ln>
                    <a:noFill/>
                  </a:ln>
                  <a:solidFill>
                    <a:schemeClr val="accent3">
                      <a:lumMod val="50000"/>
                    </a:schemeClr>
                  </a:solidFill>
                  <a:effectLst/>
                  <a:uLnTx/>
                  <a:uFillTx/>
                  <a:latin typeface="Arial" panose="020B0604020202020204" pitchFamily="34" charset="0"/>
                  <a:cs typeface="Arial" panose="020B0604020202020204" pitchFamily="34" charset="0"/>
                </a:endParaRPr>
              </a:p>
            </p:txBody>
          </p:sp>
        </mc:Choice>
        <mc:Fallback xmlns="">
          <p:sp>
            <p:nvSpPr>
              <p:cNvPr id="15" name="Title 1"/>
              <p:cNvSpPr txBox="1">
                <a:spLocks noRot="1" noChangeAspect="1" noMove="1" noResize="1" noEditPoints="1" noAdjustHandles="1" noChangeArrowheads="1" noChangeShapeType="1" noTextEdit="1"/>
              </p:cNvSpPr>
              <p:nvPr/>
            </p:nvSpPr>
            <p:spPr>
              <a:xfrm>
                <a:off x="2474469" y="2496136"/>
                <a:ext cx="2472742" cy="1311553"/>
              </a:xfrm>
              <a:prstGeom prst="rect">
                <a:avLst/>
              </a:prstGeom>
              <a:blipFill rotWithShape="0">
                <a:blip r:embed="rId2"/>
                <a:stretch>
                  <a:fillRect/>
                </a:stretch>
              </a:blipFill>
            </p:spPr>
            <p:txBody>
              <a:bodyPr/>
              <a:lstStyle/>
              <a:p>
                <a:r>
                  <a:rPr lang="es-MX">
                    <a:noFill/>
                  </a:rPr>
                  <a:t> </a:t>
                </a:r>
              </a:p>
            </p:txBody>
          </p:sp>
        </mc:Fallback>
      </mc:AlternateContent>
      <p:sp>
        <p:nvSpPr>
          <p:cNvPr id="16" name="Title 1"/>
          <p:cNvSpPr txBox="1">
            <a:spLocks/>
          </p:cNvSpPr>
          <p:nvPr/>
        </p:nvSpPr>
        <p:spPr>
          <a:xfrm>
            <a:off x="0" y="1857229"/>
            <a:ext cx="6259132" cy="45775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I. </a:t>
            </a:r>
            <a:r>
              <a:rPr lang="es-MX" sz="2000" b="1" dirty="0" smtClean="0">
                <a:solidFill>
                  <a:schemeClr val="accent3">
                    <a:lumMod val="50000"/>
                  </a:schemeClr>
                </a:solidFill>
                <a:latin typeface="Arial" panose="020B0604020202020204" pitchFamily="34" charset="0"/>
                <a:cs typeface="Arial" panose="020B0604020202020204" pitchFamily="34" charset="0"/>
              </a:rPr>
              <a:t>Calcula </a:t>
            </a:r>
            <a:r>
              <a:rPr lang="es-MX" sz="2000" b="1" dirty="0">
                <a:solidFill>
                  <a:schemeClr val="accent3">
                    <a:lumMod val="50000"/>
                  </a:schemeClr>
                </a:solidFill>
                <a:latin typeface="Arial" panose="020B0604020202020204" pitchFamily="34" charset="0"/>
                <a:cs typeface="Arial" panose="020B0604020202020204" pitchFamily="34" charset="0"/>
              </a:rPr>
              <a:t>en el menor número de pasos posible: </a:t>
            </a:r>
          </a:p>
        </p:txBody>
      </p:sp>
      <mc:AlternateContent xmlns:mc="http://schemas.openxmlformats.org/markup-compatibility/2006" xmlns:a14="http://schemas.microsoft.com/office/drawing/2010/main">
        <mc:Choice Requires="a14">
          <p:sp>
            <p:nvSpPr>
              <p:cNvPr id="17" name="Title 1"/>
              <p:cNvSpPr txBox="1">
                <a:spLocks/>
              </p:cNvSpPr>
              <p:nvPr/>
            </p:nvSpPr>
            <p:spPr>
              <a:xfrm>
                <a:off x="-1" y="3988845"/>
                <a:ext cx="11694017" cy="51876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r>
                  <a:rPr lang="es-MX" sz="2000" b="1" dirty="0" smtClean="0">
                    <a:solidFill>
                      <a:srgbClr val="FF0000"/>
                    </a:solidFill>
                    <a:latin typeface="Arial" panose="020B0604020202020204" pitchFamily="34" charset="0"/>
                    <a:cs typeface="Arial" panose="020B0604020202020204" pitchFamily="34" charset="0"/>
                  </a:rPr>
                  <a:t>II. </a:t>
                </a:r>
                <a:r>
                  <a:rPr lang="es-MX" sz="2000" b="1" dirty="0" smtClean="0">
                    <a:solidFill>
                      <a:schemeClr val="accent3">
                        <a:lumMod val="50000"/>
                      </a:schemeClr>
                    </a:solidFill>
                    <a:latin typeface="Arial" panose="020B0604020202020204" pitchFamily="34" charset="0"/>
                    <a:cs typeface="Arial" panose="020B0604020202020204" pitchFamily="34" charset="0"/>
                  </a:rPr>
                  <a:t>Usa un determinante para determinar si </a:t>
                </a:r>
                <a14:m>
                  <m:oMath xmlns:m="http://schemas.openxmlformats.org/officeDocument/2006/math">
                    <m:sSub>
                      <m:sSubPr>
                        <m:ctrlPr>
                          <a:rPr lang="es-MX"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 </m:t>
                    </m:r>
                    <m:sSub>
                      <m:sSubPr>
                        <m:ctrlPr>
                          <a:rPr lang="es-NI"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oMath>
                </a14:m>
                <a:r>
                  <a:rPr lang="es-MX" sz="2000" b="1" dirty="0" smtClean="0">
                    <a:solidFill>
                      <a:schemeClr val="accent3">
                        <a:lumMod val="50000"/>
                      </a:schemeClr>
                    </a:solidFill>
                    <a:latin typeface="Arial" panose="020B0604020202020204" pitchFamily="34" charset="0"/>
                    <a:cs typeface="Arial" panose="020B0604020202020204" pitchFamily="34" charset="0"/>
                  </a:rPr>
                  <a:t> y </a:t>
                </a:r>
                <a14:m>
                  <m:oMath xmlns:m="http://schemas.openxmlformats.org/officeDocument/2006/math">
                    <m:sSub>
                      <m:sSubPr>
                        <m:ctrlPr>
                          <a:rPr lang="es-MX"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𝟑</m:t>
                        </m:r>
                      </m:sub>
                    </m:sSub>
                  </m:oMath>
                </a14:m>
                <a:r>
                  <a:rPr lang="es-MX" sz="2000" b="1" dirty="0" smtClean="0">
                    <a:solidFill>
                      <a:schemeClr val="accent3">
                        <a:lumMod val="50000"/>
                      </a:schemeClr>
                    </a:solidFill>
                    <a:latin typeface="Arial" panose="020B0604020202020204" pitchFamily="34" charset="0"/>
                    <a:cs typeface="Arial" panose="020B0604020202020204" pitchFamily="34" charset="0"/>
                  </a:rPr>
                  <a:t> </a:t>
                </a:r>
                <a:r>
                  <a:rPr lang="es-MX" sz="2000" b="1" dirty="0">
                    <a:solidFill>
                      <a:schemeClr val="accent3">
                        <a:lumMod val="50000"/>
                      </a:schemeClr>
                    </a:solidFill>
                    <a:latin typeface="Arial" panose="020B0604020202020204" pitchFamily="34" charset="0"/>
                    <a:cs typeface="Arial" panose="020B0604020202020204" pitchFamily="34" charset="0"/>
                  </a:rPr>
                  <a:t>son linealmente independientes, cuando: </a:t>
                </a:r>
              </a:p>
            </p:txBody>
          </p:sp>
        </mc:Choice>
        <mc:Fallback xmlns="">
          <p:sp>
            <p:nvSpPr>
              <p:cNvPr id="17" name="Title 1"/>
              <p:cNvSpPr txBox="1">
                <a:spLocks noRot="1" noChangeAspect="1" noMove="1" noResize="1" noEditPoints="1" noAdjustHandles="1" noChangeArrowheads="1" noChangeShapeType="1" noTextEdit="1"/>
              </p:cNvSpPr>
              <p:nvPr/>
            </p:nvSpPr>
            <p:spPr>
              <a:xfrm>
                <a:off x="-1" y="3988845"/>
                <a:ext cx="11694017" cy="518761"/>
              </a:xfrm>
              <a:prstGeom prst="rect">
                <a:avLst/>
              </a:prstGeom>
              <a:blipFill rotWithShape="0">
                <a:blip r:embed="rId3"/>
                <a:stretch>
                  <a:fillRect l="-521" b="-1058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Title 1"/>
              <p:cNvSpPr txBox="1">
                <a:spLocks/>
              </p:cNvSpPr>
              <p:nvPr/>
            </p:nvSpPr>
            <p:spPr>
              <a:xfrm>
                <a:off x="967640" y="4627752"/>
                <a:ext cx="1506829" cy="13127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sSub>
                      <m:sSubPr>
                        <m:ctrlPr>
                          <a:rPr lang="es-MX"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𝟏</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1"/>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smtClean="0">
                                  <a:solidFill>
                                    <a:schemeClr val="accent3">
                                      <a:lumMod val="50000"/>
                                    </a:schemeClr>
                                  </a:solidFill>
                                  <a:latin typeface="Cambria Math" panose="02040503050406030204" pitchFamily="18" charset="0"/>
                                  <a:cs typeface="Arial" panose="020B0604020202020204" pitchFamily="34" charset="0"/>
                                </a:rPr>
                                <m:t>𝟓</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𝟕</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𝟗</m:t>
                              </m:r>
                            </m:e>
                          </m:mr>
                        </m:m>
                      </m:e>
                    </m:d>
                  </m:oMath>
                </a14:m>
                <a:r>
                  <a:rPr lang="es-MX" sz="2000" b="1" dirty="0" smtClean="0">
                    <a:solidFill>
                      <a:schemeClr val="accent3">
                        <a:lumMod val="50000"/>
                      </a:schemeClr>
                    </a:solidFill>
                    <a:latin typeface="Arial" panose="020B0604020202020204" pitchFamily="34" charset="0"/>
                    <a:cs typeface="Arial" panose="020B0604020202020204" pitchFamily="34" charset="0"/>
                  </a:rPr>
                  <a:t>,</a:t>
                </a:r>
                <a:endParaRPr lang="es-MX"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8" name="Title 1"/>
              <p:cNvSpPr txBox="1">
                <a:spLocks noRot="1" noChangeAspect="1" noMove="1" noResize="1" noEditPoints="1" noAdjustHandles="1" noChangeArrowheads="1" noChangeShapeType="1" noTextEdit="1"/>
              </p:cNvSpPr>
              <p:nvPr/>
            </p:nvSpPr>
            <p:spPr>
              <a:xfrm>
                <a:off x="967640" y="4627752"/>
                <a:ext cx="1506829" cy="1312793"/>
              </a:xfrm>
              <a:prstGeom prst="rect">
                <a:avLst/>
              </a:prstGeom>
              <a:blipFill rotWithShape="0">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Title 1"/>
              <p:cNvSpPr txBox="1">
                <a:spLocks/>
              </p:cNvSpPr>
              <p:nvPr/>
            </p:nvSpPr>
            <p:spPr>
              <a:xfrm>
                <a:off x="2474469" y="4627752"/>
                <a:ext cx="1506829" cy="13127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sSub>
                      <m:sSubPr>
                        <m:ctrlPr>
                          <a:rPr lang="es-MX"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𝟐</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1"/>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𝟑</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𝟓</m:t>
                              </m:r>
                            </m:e>
                          </m:mr>
                        </m:m>
                      </m:e>
                    </m:d>
                  </m:oMath>
                </a14:m>
                <a:r>
                  <a:rPr lang="es-MX" sz="2000" b="1" dirty="0" smtClean="0">
                    <a:solidFill>
                      <a:schemeClr val="accent3">
                        <a:lumMod val="50000"/>
                      </a:schemeClr>
                    </a:solidFill>
                    <a:latin typeface="Arial" panose="020B0604020202020204" pitchFamily="34" charset="0"/>
                    <a:cs typeface="Arial" panose="020B0604020202020204" pitchFamily="34" charset="0"/>
                  </a:rPr>
                  <a:t>,</a:t>
                </a:r>
                <a:endParaRPr lang="es-MX"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19" name="Title 1"/>
              <p:cNvSpPr txBox="1">
                <a:spLocks noRot="1" noChangeAspect="1" noMove="1" noResize="1" noEditPoints="1" noAdjustHandles="1" noChangeArrowheads="1" noChangeShapeType="1" noTextEdit="1"/>
              </p:cNvSpPr>
              <p:nvPr/>
            </p:nvSpPr>
            <p:spPr>
              <a:xfrm>
                <a:off x="2474469" y="4627752"/>
                <a:ext cx="1506829" cy="1312793"/>
              </a:xfrm>
              <a:prstGeom prst="rect">
                <a:avLst/>
              </a:prstGeom>
              <a:blipFill rotWithShape="0">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Title 1"/>
              <p:cNvSpPr txBox="1">
                <a:spLocks/>
              </p:cNvSpPr>
              <p:nvPr/>
            </p:nvSpPr>
            <p:spPr>
              <a:xfrm>
                <a:off x="3981298" y="4627752"/>
                <a:ext cx="1506829" cy="131279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just">
                  <a:defRPr/>
                </a:pPr>
                <a14:m>
                  <m:oMath xmlns:m="http://schemas.openxmlformats.org/officeDocument/2006/math">
                    <m:sSub>
                      <m:sSubPr>
                        <m:ctrlPr>
                          <a:rPr lang="es-MX" sz="2000" b="1" i="1" smtClean="0">
                            <a:solidFill>
                              <a:schemeClr val="accent3">
                                <a:lumMod val="50000"/>
                              </a:schemeClr>
                            </a:solidFill>
                            <a:latin typeface="Cambria Math" panose="02040503050406030204" pitchFamily="18" charset="0"/>
                            <a:cs typeface="Arial" panose="020B0604020202020204" pitchFamily="34" charset="0"/>
                          </a:rPr>
                        </m:ctrlPr>
                      </m:sSubPr>
                      <m:e>
                        <m:r>
                          <a:rPr lang="es-NI" sz="2000" b="1" i="1" smtClean="0">
                            <a:solidFill>
                              <a:schemeClr val="accent3">
                                <a:lumMod val="50000"/>
                              </a:schemeClr>
                            </a:solidFill>
                            <a:latin typeface="Cambria Math" panose="02040503050406030204" pitchFamily="18" charset="0"/>
                            <a:cs typeface="Arial" panose="020B0604020202020204" pitchFamily="34" charset="0"/>
                          </a:rPr>
                          <m:t>𝒗</m:t>
                        </m:r>
                      </m:e>
                      <m:sub>
                        <m:r>
                          <a:rPr lang="es-NI" sz="2000" b="1" i="1" smtClean="0">
                            <a:solidFill>
                              <a:schemeClr val="accent3">
                                <a:lumMod val="50000"/>
                              </a:schemeClr>
                            </a:solidFill>
                            <a:latin typeface="Cambria Math" panose="02040503050406030204" pitchFamily="18" charset="0"/>
                            <a:cs typeface="Arial" panose="020B0604020202020204" pitchFamily="34" charset="0"/>
                          </a:rPr>
                          <m:t>𝟑</m:t>
                        </m:r>
                      </m:sub>
                    </m:sSub>
                    <m:r>
                      <a:rPr lang="es-NI" sz="2000" b="1" i="1" smtClean="0">
                        <a:solidFill>
                          <a:schemeClr val="accent3">
                            <a:lumMod val="50000"/>
                          </a:schemeClr>
                        </a:solidFill>
                        <a:latin typeface="Cambria Math" panose="02040503050406030204" pitchFamily="18" charset="0"/>
                        <a:cs typeface="Arial" panose="020B0604020202020204" pitchFamily="34" charset="0"/>
                      </a:rPr>
                      <m:t>=</m:t>
                    </m:r>
                    <m:d>
                      <m:dPr>
                        <m:begChr m:val="["/>
                        <m:endChr m:val="]"/>
                        <m:ctrlPr>
                          <a:rPr lang="es-NI" sz="2000" b="1" i="1" smtClean="0">
                            <a:solidFill>
                              <a:schemeClr val="accent3">
                                <a:lumMod val="50000"/>
                              </a:schemeClr>
                            </a:solidFill>
                            <a:latin typeface="Cambria Math" panose="02040503050406030204" pitchFamily="18" charset="0"/>
                            <a:cs typeface="Arial" panose="020B0604020202020204" pitchFamily="34" charset="0"/>
                          </a:rPr>
                        </m:ctrlPr>
                      </m:dPr>
                      <m:e>
                        <m:m>
                          <m:mPr>
                            <m:mcs>
                              <m:mc>
                                <m:mcPr>
                                  <m:count m:val="1"/>
                                  <m:mcJc m:val="center"/>
                                </m:mcPr>
                              </m:mc>
                            </m:mcs>
                            <m:ctrlPr>
                              <a:rPr lang="es-NI" sz="2000" b="1" i="1" smtClean="0">
                                <a:solidFill>
                                  <a:schemeClr val="accent3">
                                    <a:lumMod val="50000"/>
                                  </a:schemeClr>
                                </a:solidFill>
                                <a:latin typeface="Cambria Math" panose="02040503050406030204" pitchFamily="18" charset="0"/>
                                <a:cs typeface="Arial" panose="020B0604020202020204" pitchFamily="34" charset="0"/>
                              </a:rPr>
                            </m:ctrlPr>
                          </m:mPr>
                          <m:mr>
                            <m:e>
                              <m:r>
                                <m:rPr>
                                  <m:brk m:alnAt="7"/>
                                </m:rPr>
                                <a:rPr lang="es-NI" sz="2000" b="1" i="1" smtClean="0">
                                  <a:solidFill>
                                    <a:schemeClr val="accent3">
                                      <a:lumMod val="50000"/>
                                    </a:schemeClr>
                                  </a:solidFill>
                                  <a:latin typeface="Cambria Math" panose="02040503050406030204" pitchFamily="18" charset="0"/>
                                  <a:cs typeface="Arial" panose="020B0604020202020204" pitchFamily="34" charset="0"/>
                                </a:rPr>
                                <m:t>𝟐</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m:t>
                              </m:r>
                              <m:r>
                                <a:rPr lang="es-NI" sz="2000" b="1" i="1" smtClean="0">
                                  <a:solidFill>
                                    <a:schemeClr val="accent3">
                                      <a:lumMod val="50000"/>
                                    </a:schemeClr>
                                  </a:solidFill>
                                  <a:latin typeface="Cambria Math" panose="02040503050406030204" pitchFamily="18" charset="0"/>
                                  <a:cs typeface="Arial" panose="020B0604020202020204" pitchFamily="34" charset="0"/>
                                </a:rPr>
                                <m:t>𝟕</m:t>
                              </m:r>
                            </m:e>
                          </m:mr>
                          <m:mr>
                            <m:e>
                              <m:r>
                                <a:rPr lang="es-NI" sz="2000" b="1" i="1" smtClean="0">
                                  <a:solidFill>
                                    <a:schemeClr val="accent3">
                                      <a:lumMod val="50000"/>
                                    </a:schemeClr>
                                  </a:solidFill>
                                  <a:latin typeface="Cambria Math" panose="02040503050406030204" pitchFamily="18" charset="0"/>
                                  <a:cs typeface="Arial" panose="020B0604020202020204" pitchFamily="34" charset="0"/>
                                </a:rPr>
                                <m:t>𝟓</m:t>
                              </m:r>
                            </m:e>
                          </m:mr>
                        </m:m>
                      </m:e>
                    </m:d>
                  </m:oMath>
                </a14:m>
                <a:r>
                  <a:rPr lang="es-MX" sz="2000" b="1" dirty="0" smtClean="0">
                    <a:solidFill>
                      <a:schemeClr val="accent3">
                        <a:lumMod val="50000"/>
                      </a:schemeClr>
                    </a:solidFill>
                    <a:latin typeface="Arial" panose="020B0604020202020204" pitchFamily="34" charset="0"/>
                    <a:cs typeface="Arial" panose="020B0604020202020204" pitchFamily="34" charset="0"/>
                  </a:rPr>
                  <a:t>,</a:t>
                </a:r>
                <a:endParaRPr lang="es-MX" sz="2000" b="1" dirty="0">
                  <a:solidFill>
                    <a:schemeClr val="accent3">
                      <a:lumMod val="50000"/>
                    </a:schemeClr>
                  </a:solidFill>
                  <a:latin typeface="Arial" panose="020B0604020202020204" pitchFamily="34" charset="0"/>
                  <a:cs typeface="Arial" panose="020B0604020202020204" pitchFamily="34" charset="0"/>
                </a:endParaRPr>
              </a:p>
            </p:txBody>
          </p:sp>
        </mc:Choice>
        <mc:Fallback xmlns="">
          <p:sp>
            <p:nvSpPr>
              <p:cNvPr id="20" name="Title 1"/>
              <p:cNvSpPr txBox="1">
                <a:spLocks noRot="1" noChangeAspect="1" noMove="1" noResize="1" noEditPoints="1" noAdjustHandles="1" noChangeArrowheads="1" noChangeShapeType="1" noTextEdit="1"/>
              </p:cNvSpPr>
              <p:nvPr/>
            </p:nvSpPr>
            <p:spPr>
              <a:xfrm>
                <a:off x="3981298" y="4627752"/>
                <a:ext cx="1506829" cy="1312793"/>
              </a:xfrm>
              <a:prstGeom prst="rect">
                <a:avLst/>
              </a:prstGeom>
              <a:blipFill rotWithShape="0">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58663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ircle(in)">
                                      <p:cBhvr>
                                        <p:cTn id="10" dur="2000"/>
                                        <p:tgtEl>
                                          <p:spTgt spid="16"/>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circle(in)">
                                      <p:cBhvr>
                                        <p:cTn id="13" dur="2000"/>
                                        <p:tgtEl>
                                          <p:spTgt spid="15"/>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circle(in)">
                                      <p:cBhvr>
                                        <p:cTn id="16" dur="2000"/>
                                        <p:tgtEl>
                                          <p:spTgt spid="17"/>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circle(in)">
                                      <p:cBhvr>
                                        <p:cTn id="19" dur="2000"/>
                                        <p:tgtEl>
                                          <p:spTgt spid="19"/>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circle(in)">
                                      <p:cBhvr>
                                        <p:cTn id="22" dur="2000"/>
                                        <p:tgtEl>
                                          <p:spTgt spid="20"/>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16" grpId="0"/>
      <p:bldP spid="17" grpId="0"/>
      <p:bldP spid="18" grpId="0"/>
      <p:bldP spid="19" grpId="0"/>
      <p:bldP spid="2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138049" y="1255824"/>
            <a:ext cx="5374885" cy="415498"/>
          </a:xfrm>
          <a:prstGeom prst="rect">
            <a:avLst/>
          </a:prstGeom>
        </p:spPr>
        <p:txBody>
          <a:bodyPr wrap="square">
            <a:spAutoFit/>
          </a:bodyPr>
          <a:lstStyle/>
          <a:p>
            <a:pPr algn="just">
              <a:buClrTx/>
              <a:buFontTx/>
              <a:buNone/>
              <a:defRPr/>
            </a:pPr>
            <a:r>
              <a:rPr lang="es-ES" sz="2100" b="1" kern="1200" dirty="0">
                <a:solidFill>
                  <a:srgbClr val="FF0000"/>
                </a:solidFill>
                <a:latin typeface="Arial" panose="020B0604020202020204" pitchFamily="34" charset="0"/>
                <a:cs typeface="Arial" panose="020B0604020202020204" pitchFamily="34" charset="0"/>
              </a:rPr>
              <a:t>Actividad </a:t>
            </a:r>
            <a:r>
              <a:rPr lang="es-ES" sz="2100" b="1" kern="1200" dirty="0" smtClean="0">
                <a:solidFill>
                  <a:srgbClr val="FF0000"/>
                </a:solidFill>
                <a:latin typeface="Arial" panose="020B0604020202020204" pitchFamily="34" charset="0"/>
                <a:cs typeface="Arial" panose="020B0604020202020204" pitchFamily="34" charset="0"/>
              </a:rPr>
              <a:t>#3: </a:t>
            </a:r>
            <a:r>
              <a:rPr lang="es-ES" sz="2100" b="1" kern="1200" dirty="0">
                <a:solidFill>
                  <a:srgbClr val="FF0000"/>
                </a:solidFill>
                <a:latin typeface="Arial" panose="020B0604020202020204" pitchFamily="34" charset="0"/>
                <a:cs typeface="Arial" panose="020B0604020202020204" pitchFamily="34" charset="0"/>
              </a:rPr>
              <a:t>Ejercicios para Asignación</a:t>
            </a:r>
          </a:p>
        </p:txBody>
      </p:sp>
      <p:sp>
        <p:nvSpPr>
          <p:cNvPr id="3" name="Rectángulo 2"/>
          <p:cNvSpPr/>
          <p:nvPr/>
        </p:nvSpPr>
        <p:spPr>
          <a:xfrm>
            <a:off x="3" y="1964001"/>
            <a:ext cx="12191997" cy="415498"/>
          </a:xfrm>
          <a:prstGeom prst="rect">
            <a:avLst/>
          </a:prstGeom>
        </p:spPr>
        <p:txBody>
          <a:bodyPr wrap="square">
            <a:spAutoFit/>
          </a:bodyPr>
          <a:lstStyle/>
          <a:p>
            <a:pPr lvl="1">
              <a:buClrTx/>
              <a:buFontTx/>
              <a:buNone/>
              <a:defRPr/>
            </a:pPr>
            <a:r>
              <a:rPr lang="es-MX" sz="2100" b="1" kern="1200" dirty="0">
                <a:solidFill>
                  <a:srgbClr val="A5A5A5">
                    <a:lumMod val="50000"/>
                  </a:srgbClr>
                </a:solidFill>
                <a:latin typeface="Arial" panose="020B0604020202020204" pitchFamily="34" charset="0"/>
                <a:cs typeface="Arial" panose="020B0604020202020204" pitchFamily="34" charset="0"/>
              </a:rPr>
              <a:t>Determina la solución de los siguientes sistemas de ecuaciones por el método de </a:t>
            </a:r>
            <a:r>
              <a:rPr lang="es-MX" sz="2100" b="1" kern="1200" dirty="0" err="1">
                <a:solidFill>
                  <a:srgbClr val="A5A5A5">
                    <a:lumMod val="50000"/>
                  </a:srgbClr>
                </a:solidFill>
                <a:latin typeface="Arial" panose="020B0604020202020204" pitchFamily="34" charset="0"/>
                <a:cs typeface="Arial" panose="020B0604020202020204" pitchFamily="34" charset="0"/>
              </a:rPr>
              <a:t>Cramer</a:t>
            </a:r>
            <a:r>
              <a:rPr lang="es-MX" sz="2100" b="1" kern="1200" dirty="0">
                <a:solidFill>
                  <a:srgbClr val="A5A5A5">
                    <a:lumMod val="50000"/>
                  </a:srgbClr>
                </a:solidFill>
                <a:latin typeface="Arial" panose="020B0604020202020204" pitchFamily="34" charset="0"/>
                <a:cs typeface="Arial" panose="020B0604020202020204" pitchFamily="34" charset="0"/>
              </a:rPr>
              <a:t>: </a:t>
            </a:r>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p:sp>
        <p:nvSpPr>
          <p:cNvPr id="4" name="Rectángulo 3"/>
          <p:cNvSpPr/>
          <p:nvPr/>
        </p:nvSpPr>
        <p:spPr>
          <a:xfrm>
            <a:off x="2" y="3078764"/>
            <a:ext cx="1146217"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(a)</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ángulo 4"/>
              <p:cNvSpPr/>
              <p:nvPr/>
            </p:nvSpPr>
            <p:spPr>
              <a:xfrm>
                <a:off x="609556" y="2879927"/>
                <a:ext cx="3086681" cy="813171"/>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𝟑</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𝟒</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𝟏𝟓</m:t>
                              </m:r>
                            </m:e>
                            <m:e>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𝟑</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𝟏𝟐</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609556" y="2879927"/>
                <a:ext cx="3086681" cy="813171"/>
              </a:xfrm>
              <a:prstGeom prst="rect">
                <a:avLst/>
              </a:prstGeom>
              <a:blipFill rotWithShape="0">
                <a:blip r:embed="rId2"/>
                <a:stretch>
                  <a:fillRect/>
                </a:stretch>
              </a:blipFill>
            </p:spPr>
            <p:txBody>
              <a:bodyPr/>
              <a:lstStyle/>
              <a:p>
                <a:r>
                  <a:rPr lang="es-MX">
                    <a:noFill/>
                  </a:rPr>
                  <a:t> </a:t>
                </a:r>
              </a:p>
            </p:txBody>
          </p:sp>
        </mc:Fallback>
      </mc:AlternateContent>
      <p:sp>
        <p:nvSpPr>
          <p:cNvPr id="6" name="Rectángulo 5"/>
          <p:cNvSpPr/>
          <p:nvPr/>
        </p:nvSpPr>
        <p:spPr>
          <a:xfrm>
            <a:off x="0" y="4530746"/>
            <a:ext cx="1146219"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(b)</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Rectángulo 6"/>
              <p:cNvSpPr/>
              <p:nvPr/>
            </p:nvSpPr>
            <p:spPr>
              <a:xfrm>
                <a:off x="634164" y="4331909"/>
                <a:ext cx="3062074" cy="813171"/>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𝟓</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𝟑</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𝟏𝟗</m:t>
                              </m:r>
                            </m:e>
                            <m:e>
                              <m:r>
                                <a:rPr lang="es-NI" sz="2100" b="1" i="1" kern="1200" smtClean="0">
                                  <a:solidFill>
                                    <a:srgbClr val="A5A5A5">
                                      <a:lumMod val="50000"/>
                                    </a:srgbClr>
                                  </a:solidFill>
                                  <a:latin typeface="Cambria Math" panose="02040503050406030204" pitchFamily="18" charset="0"/>
                                </a:rPr>
                                <m:t>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𝟕</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𝟐𝟓</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634164" y="4331909"/>
                <a:ext cx="3062074" cy="813171"/>
              </a:xfrm>
              <a:prstGeom prst="rect">
                <a:avLst/>
              </a:prstGeom>
              <a:blipFill rotWithShape="0">
                <a:blip r:embed="rId3"/>
                <a:stretch>
                  <a:fillRect/>
                </a:stretch>
              </a:blipFill>
            </p:spPr>
            <p:txBody>
              <a:bodyPr/>
              <a:lstStyle/>
              <a:p>
                <a:r>
                  <a:rPr lang="es-MX">
                    <a:noFill/>
                  </a:rPr>
                  <a:t> </a:t>
                </a:r>
              </a:p>
            </p:txBody>
          </p:sp>
        </mc:Fallback>
      </mc:AlternateContent>
      <p:sp>
        <p:nvSpPr>
          <p:cNvPr id="8" name="Rectángulo 7"/>
          <p:cNvSpPr/>
          <p:nvPr/>
        </p:nvSpPr>
        <p:spPr>
          <a:xfrm>
            <a:off x="0" y="5899855"/>
            <a:ext cx="1146219"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(c)</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Rectángulo 8"/>
              <p:cNvSpPr/>
              <p:nvPr/>
            </p:nvSpPr>
            <p:spPr>
              <a:xfrm>
                <a:off x="609553" y="5718306"/>
                <a:ext cx="2893501" cy="813171"/>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𝟐</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𝟒</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𝟓</m:t>
                              </m:r>
                            </m:e>
                            <m:e>
                              <m:r>
                                <a:rPr lang="es-NI" sz="2100" b="1" i="1" kern="1200" smtClean="0">
                                  <a:solidFill>
                                    <a:srgbClr val="A5A5A5">
                                      <a:lumMod val="50000"/>
                                    </a:srgbClr>
                                  </a:solidFill>
                                  <a:latin typeface="Cambria Math" panose="02040503050406030204" pitchFamily="18" charset="0"/>
                                </a:rPr>
                                <m:t>𝟒</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𝟏𝟓</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9" name="Rectángulo 8"/>
              <p:cNvSpPr>
                <a:spLocks noRot="1" noChangeAspect="1" noMove="1" noResize="1" noEditPoints="1" noAdjustHandles="1" noChangeArrowheads="1" noChangeShapeType="1" noTextEdit="1"/>
              </p:cNvSpPr>
              <p:nvPr/>
            </p:nvSpPr>
            <p:spPr>
              <a:xfrm>
                <a:off x="609553" y="5718306"/>
                <a:ext cx="2893501" cy="813171"/>
              </a:xfrm>
              <a:prstGeom prst="rect">
                <a:avLst/>
              </a:prstGeom>
              <a:blipFill rotWithShape="0">
                <a:blip r:embed="rId4"/>
                <a:stretch>
                  <a:fillRect/>
                </a:stretch>
              </a:blipFill>
            </p:spPr>
            <p:txBody>
              <a:bodyPr/>
              <a:lstStyle/>
              <a:p>
                <a:r>
                  <a:rPr lang="es-MX">
                    <a:noFill/>
                  </a:rPr>
                  <a:t> </a:t>
                </a:r>
              </a:p>
            </p:txBody>
          </p:sp>
        </mc:Fallback>
      </mc:AlternateContent>
      <p:sp>
        <p:nvSpPr>
          <p:cNvPr id="10" name="Rectángulo 9"/>
          <p:cNvSpPr/>
          <p:nvPr/>
        </p:nvSpPr>
        <p:spPr>
          <a:xfrm>
            <a:off x="4428188" y="3078764"/>
            <a:ext cx="1032454"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(d)</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Rectángulo 10"/>
              <p:cNvSpPr/>
              <p:nvPr/>
            </p:nvSpPr>
            <p:spPr>
              <a:xfrm>
                <a:off x="4947585" y="2782313"/>
                <a:ext cx="3565349" cy="1124026"/>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𝟐</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𝟑</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𝟔</m:t>
                              </m:r>
                            </m:e>
                            <m:e>
                              <m:r>
                                <a:rPr lang="es-NI" sz="2100" b="1" i="1" kern="1200" smtClean="0">
                                  <a:solidFill>
                                    <a:srgbClr val="A5A5A5">
                                      <a:lumMod val="50000"/>
                                    </a:srgbClr>
                                  </a:solidFill>
                                  <a:latin typeface="Cambria Math" panose="02040503050406030204" pitchFamily="18" charset="0"/>
                                </a:rPr>
                                <m:t>𝟑</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𝟑</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𝟑</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𝟓</m:t>
                              </m:r>
                            </m:e>
                            <m:e>
                              <m:r>
                                <a:rPr lang="es-NI" sz="2100" b="1" i="1" kern="1200" smtClean="0">
                                  <a:solidFill>
                                    <a:srgbClr val="A5A5A5">
                                      <a:lumMod val="50000"/>
                                    </a:srgbClr>
                                  </a:solidFill>
                                  <a:latin typeface="Cambria Math" panose="02040503050406030204" pitchFamily="18" charset="0"/>
                                </a:rPr>
                                <m:t>𝟖</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𝟓</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𝟑</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𝟏𝟏</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1" name="Rectángulo 10"/>
              <p:cNvSpPr>
                <a:spLocks noRot="1" noChangeAspect="1" noMove="1" noResize="1" noEditPoints="1" noAdjustHandles="1" noChangeArrowheads="1" noChangeShapeType="1" noTextEdit="1"/>
              </p:cNvSpPr>
              <p:nvPr/>
            </p:nvSpPr>
            <p:spPr>
              <a:xfrm>
                <a:off x="4947585" y="2782313"/>
                <a:ext cx="3565349" cy="1124026"/>
              </a:xfrm>
              <a:prstGeom prst="rect">
                <a:avLst/>
              </a:prstGeom>
              <a:blipFill rotWithShape="0">
                <a:blip r:embed="rId5"/>
                <a:stretch>
                  <a:fillRect/>
                </a:stretch>
              </a:blipFill>
            </p:spPr>
            <p:txBody>
              <a:bodyPr/>
              <a:lstStyle/>
              <a:p>
                <a:r>
                  <a:rPr lang="es-MX">
                    <a:noFill/>
                  </a:rPr>
                  <a:t> </a:t>
                </a:r>
              </a:p>
            </p:txBody>
          </p:sp>
        </mc:Fallback>
      </mc:AlternateContent>
      <p:sp>
        <p:nvSpPr>
          <p:cNvPr id="12" name="Rectángulo 11"/>
          <p:cNvSpPr/>
          <p:nvPr/>
        </p:nvSpPr>
        <p:spPr>
          <a:xfrm>
            <a:off x="4428186" y="5902915"/>
            <a:ext cx="1032455"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(f)</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 name="Rectángulo 12"/>
              <p:cNvSpPr/>
              <p:nvPr/>
            </p:nvSpPr>
            <p:spPr>
              <a:xfrm>
                <a:off x="4947586" y="4176482"/>
                <a:ext cx="3333529" cy="1124026"/>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𝟐</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𝟐</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𝟑</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𝟕</m:t>
                              </m:r>
                            </m:e>
                            <m:e>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𝟐</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𝟑</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𝟎</m:t>
                              </m:r>
                            </m:e>
                            <m:e>
                              <m:r>
                                <a:rPr lang="es-NI" sz="2100" b="1" i="1" kern="1200" smtClean="0">
                                  <a:solidFill>
                                    <a:srgbClr val="A5A5A5">
                                      <a:lumMod val="50000"/>
                                    </a:srgbClr>
                                  </a:solidFill>
                                  <a:latin typeface="Cambria Math" panose="02040503050406030204" pitchFamily="18" charset="0"/>
                                </a:rPr>
                                <m:t>−</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𝟑</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𝟑</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3" name="Rectángulo 12"/>
              <p:cNvSpPr>
                <a:spLocks noRot="1" noChangeAspect="1" noMove="1" noResize="1" noEditPoints="1" noAdjustHandles="1" noChangeArrowheads="1" noChangeShapeType="1" noTextEdit="1"/>
              </p:cNvSpPr>
              <p:nvPr/>
            </p:nvSpPr>
            <p:spPr>
              <a:xfrm>
                <a:off x="4947586" y="4176482"/>
                <a:ext cx="3333529" cy="1124026"/>
              </a:xfrm>
              <a:prstGeom prst="rect">
                <a:avLst/>
              </a:prstGeom>
              <a:blipFill rotWithShape="0">
                <a:blip r:embed="rId6"/>
                <a:stretch>
                  <a:fillRect/>
                </a:stretch>
              </a:blipFill>
            </p:spPr>
            <p:txBody>
              <a:bodyPr/>
              <a:lstStyle/>
              <a:p>
                <a:r>
                  <a:rPr lang="es-MX">
                    <a:noFill/>
                  </a:rPr>
                  <a:t> </a:t>
                </a:r>
              </a:p>
            </p:txBody>
          </p:sp>
        </mc:Fallback>
      </mc:AlternateContent>
      <p:sp>
        <p:nvSpPr>
          <p:cNvPr id="14" name="Rectángulo 13"/>
          <p:cNvSpPr/>
          <p:nvPr/>
        </p:nvSpPr>
        <p:spPr>
          <a:xfrm>
            <a:off x="4428187" y="4486560"/>
            <a:ext cx="1032455"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(e)</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Rectángulo 14"/>
              <p:cNvSpPr/>
              <p:nvPr/>
            </p:nvSpPr>
            <p:spPr>
              <a:xfrm>
                <a:off x="4947586" y="5605457"/>
                <a:ext cx="3951715" cy="1124026"/>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d>
                        <m:dPr>
                          <m:begChr m:val="{"/>
                          <m:endChr m:val=""/>
                          <m:ctrlPr>
                            <a:rPr lang="es-MX" sz="2100" b="1" i="1" smtClean="0">
                              <a:solidFill>
                                <a:srgbClr val="A5A5A5">
                                  <a:lumMod val="50000"/>
                                </a:srgbClr>
                              </a:solidFill>
                              <a:latin typeface="Cambria Math" panose="02040503050406030204" pitchFamily="18" charset="0"/>
                            </a:rPr>
                          </m:ctrlPr>
                        </m:dPr>
                        <m:e>
                          <m:eqArr>
                            <m:eqArrPr>
                              <m:ctrlPr>
                                <a:rPr lang="es-MX" sz="2100" b="1" i="1" smtClean="0">
                                  <a:solidFill>
                                    <a:srgbClr val="A5A5A5">
                                      <a:lumMod val="50000"/>
                                    </a:srgbClr>
                                  </a:solidFill>
                                  <a:latin typeface="Cambria Math" panose="02040503050406030204" pitchFamily="18" charset="0"/>
                                </a:rPr>
                              </m:ctrlPr>
                            </m:eqArrPr>
                            <m:e>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𝟓</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𝟖</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𝟐</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𝟏𝟎</m:t>
                              </m:r>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𝟑</m:t>
                                  </m:r>
                                </m:sub>
                              </m:sSub>
                              <m:r>
                                <a:rPr lang="es-NI" sz="2100" b="1" i="1" smtClean="0">
                                  <a:solidFill>
                                    <a:srgbClr val="A5A5A5">
                                      <a:lumMod val="50000"/>
                                    </a:srgbClr>
                                  </a:solidFill>
                                  <a:latin typeface="Cambria Math" panose="02040503050406030204" pitchFamily="18" charset="0"/>
                                </a:rPr>
                                <m:t>=−</m:t>
                              </m:r>
                              <m:r>
                                <a:rPr lang="es-NI" sz="2100" b="1" i="1" smtClean="0">
                                  <a:solidFill>
                                    <a:srgbClr val="A5A5A5">
                                      <a:lumMod val="50000"/>
                                    </a:srgbClr>
                                  </a:solidFill>
                                  <a:latin typeface="Cambria Math" panose="02040503050406030204" pitchFamily="18" charset="0"/>
                                </a:rPr>
                                <m:t>𝟖</m:t>
                              </m:r>
                            </m:e>
                            <m:e>
                              <m:sSub>
                                <m:sSubPr>
                                  <m:ctrlPr>
                                    <a:rPr lang="es-NI" sz="2100" b="1" i="1" smtClean="0">
                                      <a:solidFill>
                                        <a:srgbClr val="A5A5A5">
                                          <a:lumMod val="50000"/>
                                        </a:srgbClr>
                                      </a:solidFill>
                                      <a:latin typeface="Cambria Math" panose="02040503050406030204" pitchFamily="18" charset="0"/>
                                    </a:rPr>
                                  </m:ctrlPr>
                                </m:sSubPr>
                                <m:e>
                                  <m:r>
                                    <a:rPr lang="es-NI" sz="2100" b="1" i="1" smtClean="0">
                                      <a:solidFill>
                                        <a:srgbClr val="A5A5A5">
                                          <a:lumMod val="50000"/>
                                        </a:srgbClr>
                                      </a:solidFill>
                                      <a:latin typeface="Cambria Math" panose="02040503050406030204" pitchFamily="18" charset="0"/>
                                    </a:rPr>
                                    <m:t>𝒙</m:t>
                                  </m:r>
                                </m:e>
                                <m:sub>
                                  <m:r>
                                    <a:rPr lang="es-NI" sz="2100" b="1" i="1"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   −</m:t>
                              </m:r>
                              <m:r>
                                <a:rPr lang="es-NI" sz="2100" b="1" i="1" kern="1200" smtClean="0">
                                  <a:solidFill>
                                    <a:srgbClr val="A5A5A5">
                                      <a:lumMod val="50000"/>
                                    </a:srgbClr>
                                  </a:solidFill>
                                  <a:latin typeface="Cambria Math" panose="02040503050406030204" pitchFamily="18" charset="0"/>
                                </a:rPr>
                                <m:t>𝟕</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               =−</m:t>
                              </m:r>
                              <m:r>
                                <a:rPr lang="es-NI" sz="2100" b="1" i="1" kern="1200" smtClean="0">
                                  <a:solidFill>
                                    <a:srgbClr val="A5A5A5">
                                      <a:lumMod val="50000"/>
                                    </a:srgbClr>
                                  </a:solidFill>
                                  <a:latin typeface="Cambria Math" panose="02040503050406030204" pitchFamily="18" charset="0"/>
                                </a:rPr>
                                <m:t>𝟐</m:t>
                              </m:r>
                            </m:e>
                            <m:e>
                              <m:r>
                                <a:rPr lang="es-NI" sz="2100" b="1" i="1" kern="1200" smtClean="0">
                                  <a:solidFill>
                                    <a:srgbClr val="A5A5A5">
                                      <a:lumMod val="50000"/>
                                    </a:srgbClr>
                                  </a:solidFill>
                                  <a:latin typeface="Cambria Math" panose="02040503050406030204" pitchFamily="18" charset="0"/>
                                </a:rPr>
                                <m:t>𝟏𝟎</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𝟏</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𝟏𝟎</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𝟐</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𝟔</m:t>
                              </m:r>
                              <m:sSub>
                                <m:sSubPr>
                                  <m:ctrlPr>
                                    <a:rPr lang="es-NI" sz="2100" b="1" i="1" kern="1200" smtClean="0">
                                      <a:solidFill>
                                        <a:srgbClr val="A5A5A5">
                                          <a:lumMod val="50000"/>
                                        </a:srgbClr>
                                      </a:solidFill>
                                      <a:latin typeface="Cambria Math" panose="02040503050406030204" pitchFamily="18" charset="0"/>
                                    </a:rPr>
                                  </m:ctrlPr>
                                </m:sSubPr>
                                <m:e>
                                  <m:r>
                                    <a:rPr lang="es-NI" sz="2100" b="1" i="1" kern="1200" smtClean="0">
                                      <a:solidFill>
                                        <a:srgbClr val="A5A5A5">
                                          <a:lumMod val="50000"/>
                                        </a:srgbClr>
                                      </a:solidFill>
                                      <a:latin typeface="Cambria Math" panose="02040503050406030204" pitchFamily="18" charset="0"/>
                                    </a:rPr>
                                    <m:t>𝒙</m:t>
                                  </m:r>
                                </m:e>
                                <m:sub>
                                  <m:r>
                                    <a:rPr lang="es-NI" sz="2100" b="1" i="1" kern="1200" smtClean="0">
                                      <a:solidFill>
                                        <a:srgbClr val="A5A5A5">
                                          <a:lumMod val="50000"/>
                                        </a:srgbClr>
                                      </a:solidFill>
                                      <a:latin typeface="Cambria Math" panose="02040503050406030204" pitchFamily="18" charset="0"/>
                                    </a:rPr>
                                    <m:t>𝟑</m:t>
                                  </m:r>
                                </m:sub>
                              </m:sSub>
                              <m:r>
                                <a:rPr lang="es-NI" sz="2100" b="1" i="1" kern="1200" smtClean="0">
                                  <a:solidFill>
                                    <a:srgbClr val="A5A5A5">
                                      <a:lumMod val="50000"/>
                                    </a:srgbClr>
                                  </a:solidFill>
                                  <a:latin typeface="Cambria Math" panose="02040503050406030204" pitchFamily="18" charset="0"/>
                                </a:rPr>
                                <m:t>=</m:t>
                              </m:r>
                              <m:r>
                                <a:rPr lang="es-NI" sz="2100" b="1" i="1" kern="1200" smtClean="0">
                                  <a:solidFill>
                                    <a:srgbClr val="A5A5A5">
                                      <a:lumMod val="50000"/>
                                    </a:srgbClr>
                                  </a:solidFill>
                                  <a:latin typeface="Cambria Math" panose="02040503050406030204" pitchFamily="18" charset="0"/>
                                </a:rPr>
                                <m:t>𝟗</m:t>
                              </m:r>
                            </m:e>
                          </m:eqArr>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xmlns="">
          <p:sp>
            <p:nvSpPr>
              <p:cNvPr id="15" name="Rectángulo 14"/>
              <p:cNvSpPr>
                <a:spLocks noRot="1" noChangeAspect="1" noMove="1" noResize="1" noEditPoints="1" noAdjustHandles="1" noChangeArrowheads="1" noChangeShapeType="1" noTextEdit="1"/>
              </p:cNvSpPr>
              <p:nvPr/>
            </p:nvSpPr>
            <p:spPr>
              <a:xfrm>
                <a:off x="4947586" y="5605457"/>
                <a:ext cx="3951715" cy="1124026"/>
              </a:xfrm>
              <a:prstGeom prst="rect">
                <a:avLst/>
              </a:prstGeom>
              <a:blipFill rotWithShape="0">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94709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heel(1)">
                                      <p:cBhvr>
                                        <p:cTn id="37" dur="2000"/>
                                        <p:tgtEl>
                                          <p:spTgt spid="12"/>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heel(1)">
                                      <p:cBhvr>
                                        <p:cTn id="40" dur="2000"/>
                                        <p:tgtEl>
                                          <p:spTgt spid="13"/>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2000"/>
                                        <p:tgtEl>
                                          <p:spTgt spid="14"/>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474469" y="1260575"/>
            <a:ext cx="5384205" cy="415498"/>
          </a:xfrm>
          <a:prstGeom prst="rect">
            <a:avLst/>
          </a:prstGeom>
        </p:spPr>
        <p:txBody>
          <a:bodyPr wrap="square">
            <a:spAutoFit/>
          </a:bodyPr>
          <a:lstStyle/>
          <a:p>
            <a:pPr algn="just">
              <a:buClrTx/>
              <a:buFontTx/>
              <a:buNone/>
              <a:defRPr/>
            </a:pPr>
            <a:r>
              <a:rPr lang="es-ES" sz="2100" b="1" kern="1200" dirty="0" smtClean="0">
                <a:solidFill>
                  <a:srgbClr val="FF0000"/>
                </a:solidFill>
                <a:latin typeface="Arial" panose="020B0604020202020204" pitchFamily="34" charset="0"/>
                <a:cs typeface="Arial" panose="020B0604020202020204" pitchFamily="34" charset="0"/>
              </a:rPr>
              <a:t>Actividad </a:t>
            </a:r>
            <a:r>
              <a:rPr lang="es-ES" sz="2100" b="1" kern="1200" dirty="0" smtClean="0">
                <a:solidFill>
                  <a:srgbClr val="FF0000"/>
                </a:solidFill>
                <a:latin typeface="Arial" panose="020B0604020202020204" pitchFamily="34" charset="0"/>
                <a:cs typeface="Arial" panose="020B0604020202020204" pitchFamily="34" charset="0"/>
              </a:rPr>
              <a:t>#4: </a:t>
            </a:r>
            <a:r>
              <a:rPr lang="es-ES" sz="2100" b="1" kern="1200" dirty="0">
                <a:solidFill>
                  <a:srgbClr val="FF0000"/>
                </a:solidFill>
                <a:latin typeface="Arial" panose="020B0604020202020204" pitchFamily="34" charset="0"/>
                <a:cs typeface="Arial" panose="020B0604020202020204" pitchFamily="34" charset="0"/>
              </a:rPr>
              <a:t>Ejercicios para Asignación</a:t>
            </a:r>
          </a:p>
        </p:txBody>
      </p:sp>
      <p:sp>
        <p:nvSpPr>
          <p:cNvPr id="14" name="Rectángulo 13"/>
          <p:cNvSpPr/>
          <p:nvPr/>
        </p:nvSpPr>
        <p:spPr>
          <a:xfrm>
            <a:off x="1" y="2833289"/>
            <a:ext cx="1017430"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(1)</a:t>
            </a:r>
            <a:endParaRPr lang="es-MX" sz="2100" b="1" dirty="0" smtClean="0">
              <a:solidFill>
                <a:srgbClr val="00B050"/>
              </a:solidFill>
              <a:latin typeface="Arial" panose="020B0604020202020204" pitchFamily="34" charset="0"/>
              <a:cs typeface="Arial" panose="020B0604020202020204" pitchFamily="34" charset="0"/>
            </a:endParaRPr>
          </a:p>
        </p:txBody>
      </p:sp>
      <p:sp>
        <p:nvSpPr>
          <p:cNvPr id="15" name="Rectángulo 14"/>
          <p:cNvSpPr/>
          <p:nvPr/>
        </p:nvSpPr>
        <p:spPr>
          <a:xfrm>
            <a:off x="2" y="4427509"/>
            <a:ext cx="1017429"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(2)</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6" name="Rectángulo 15"/>
              <p:cNvSpPr/>
              <p:nvPr/>
            </p:nvSpPr>
            <p:spPr>
              <a:xfrm>
                <a:off x="0" y="1795780"/>
                <a:ext cx="9311425" cy="415498"/>
              </a:xfrm>
              <a:prstGeom prst="rect">
                <a:avLst/>
              </a:prstGeom>
            </p:spPr>
            <p:txBody>
              <a:bodyPr wrap="square">
                <a:spAutoFit/>
              </a:bodyPr>
              <a:lstStyle/>
              <a:p>
                <a:pPr lvl="1" algn="just">
                  <a:buClrTx/>
                  <a:buFontTx/>
                  <a:buNone/>
                  <a:defRPr/>
                </a:pPr>
                <a:r>
                  <a:rPr lang="es-ES" sz="2000" b="1" dirty="0" smtClean="0">
                    <a:solidFill>
                      <a:srgbClr val="A5A5A5">
                        <a:lumMod val="50000"/>
                      </a:srgbClr>
                    </a:solidFill>
                    <a:latin typeface="Arial" panose="020B0604020202020204" pitchFamily="34" charset="0"/>
                    <a:cs typeface="Arial" panose="020B0604020202020204" pitchFamily="34" charset="0"/>
                  </a:rPr>
                  <a:t>Determinar la inversa de </a:t>
                </a:r>
                <a14:m>
                  <m:oMath xmlns:m="http://schemas.openxmlformats.org/officeDocument/2006/math">
                    <m:r>
                      <a:rPr lang="es-NI" sz="2000" b="1" i="1" smtClean="0">
                        <a:solidFill>
                          <a:srgbClr val="A5A5A5">
                            <a:lumMod val="50000"/>
                          </a:srgbClr>
                        </a:solidFill>
                        <a:latin typeface="Cambria Math" panose="02040503050406030204" pitchFamily="18" charset="0"/>
                        <a:cs typeface="Arial" panose="020B0604020202020204" pitchFamily="34" charset="0"/>
                      </a:rPr>
                      <m:t>𝑨</m:t>
                    </m:r>
                  </m:oMath>
                </a14:m>
                <a:r>
                  <a:rPr lang="es-ES" sz="2000" b="1" dirty="0" smtClean="0">
                    <a:solidFill>
                      <a:srgbClr val="A5A5A5">
                        <a:lumMod val="50000"/>
                      </a:srgbClr>
                    </a:solidFill>
                    <a:latin typeface="Arial" panose="020B0604020202020204" pitchFamily="34" charset="0"/>
                    <a:cs typeface="Arial" panose="020B0604020202020204" pitchFamily="34" charset="0"/>
                  </a:rPr>
                  <a:t>, utilizando la adjunta por determinantes: </a:t>
                </a:r>
                <a:endParaRPr lang="es-MX" sz="2000" b="1" dirty="0" smtClean="0">
                  <a:solidFill>
                    <a:srgbClr val="A5A5A5">
                      <a:lumMod val="50000"/>
                    </a:srgbClr>
                  </a:solidFill>
                  <a:latin typeface="Arial" panose="020B0604020202020204" pitchFamily="34" charset="0"/>
                  <a:cs typeface="Arial" panose="020B0604020202020204" pitchFamily="34" charset="0"/>
                </a:endParaRPr>
              </a:p>
            </p:txBody>
          </p:sp>
        </mc:Choice>
        <mc:Fallback>
          <p:sp>
            <p:nvSpPr>
              <p:cNvPr id="16" name="Rectángulo 15"/>
              <p:cNvSpPr>
                <a:spLocks noRot="1" noChangeAspect="1" noMove="1" noResize="1" noEditPoints="1" noAdjustHandles="1" noChangeArrowheads="1" noChangeShapeType="1" noTextEdit="1"/>
              </p:cNvSpPr>
              <p:nvPr/>
            </p:nvSpPr>
            <p:spPr>
              <a:xfrm>
                <a:off x="0" y="1795780"/>
                <a:ext cx="9311425" cy="415498"/>
              </a:xfrm>
              <a:prstGeom prst="rect">
                <a:avLst/>
              </a:prstGeom>
              <a:blipFill rotWithShape="0">
                <a:blip r:embed="rId2"/>
                <a:stretch>
                  <a:fillRect t="-7353" b="-23529"/>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7" name="Rectángulo 16"/>
              <p:cNvSpPr/>
              <p:nvPr/>
            </p:nvSpPr>
            <p:spPr>
              <a:xfrm>
                <a:off x="489326" y="2567607"/>
                <a:ext cx="2756150" cy="946862"/>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𝟎</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𝟒</m:t>
                                </m:r>
                              </m:e>
                            </m:mr>
                            <m:mr>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𝟓</m:t>
                                </m:r>
                              </m:e>
                            </m:mr>
                          </m:m>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p:sp>
            <p:nvSpPr>
              <p:cNvPr id="17" name="Rectángulo 16"/>
              <p:cNvSpPr>
                <a:spLocks noRot="1" noChangeAspect="1" noMove="1" noResize="1" noEditPoints="1" noAdjustHandles="1" noChangeArrowheads="1" noChangeShapeType="1" noTextEdit="1"/>
              </p:cNvSpPr>
              <p:nvPr/>
            </p:nvSpPr>
            <p:spPr>
              <a:xfrm>
                <a:off x="489326" y="2567607"/>
                <a:ext cx="2756150" cy="946862"/>
              </a:xfrm>
              <a:prstGeom prst="rect">
                <a:avLst/>
              </a:prstGeom>
              <a:blipFill rotWithShape="0">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8" name="Rectángulo 17"/>
              <p:cNvSpPr/>
              <p:nvPr/>
            </p:nvSpPr>
            <p:spPr>
              <a:xfrm>
                <a:off x="489325" y="4158570"/>
                <a:ext cx="3116759" cy="944810"/>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mr>
                            <m:mr>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𝟑</m:t>
                                </m:r>
                              </m:e>
                            </m:mr>
                            <m:mr>
                              <m:e>
                                <m:r>
                                  <a:rPr lang="es-MX" sz="2100" b="1" i="1" smtClean="0">
                                    <a:solidFill>
                                      <a:srgbClr val="A5A5A5">
                                        <a:lumMod val="50000"/>
                                      </a:srgbClr>
                                    </a:solidFill>
                                    <a:latin typeface="Cambria Math" panose="02040503050406030204" pitchFamily="18" charset="0"/>
                                  </a:rPr>
                                  <m:t>−</m:t>
                                </m:r>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mr>
                          </m:m>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p:sp>
            <p:nvSpPr>
              <p:cNvPr id="18" name="Rectángulo 17"/>
              <p:cNvSpPr>
                <a:spLocks noRot="1" noChangeAspect="1" noMove="1" noResize="1" noEditPoints="1" noAdjustHandles="1" noChangeArrowheads="1" noChangeShapeType="1" noTextEdit="1"/>
              </p:cNvSpPr>
              <p:nvPr/>
            </p:nvSpPr>
            <p:spPr>
              <a:xfrm>
                <a:off x="489325" y="4158570"/>
                <a:ext cx="3116759" cy="944810"/>
              </a:xfrm>
              <a:prstGeom prst="rect">
                <a:avLst/>
              </a:prstGeom>
              <a:blipFill rotWithShape="0">
                <a:blip r:embed="rId4"/>
                <a:stretch>
                  <a:fillRect/>
                </a:stretch>
              </a:blipFill>
            </p:spPr>
            <p:txBody>
              <a:bodyPr/>
              <a:lstStyle/>
              <a:p>
                <a:r>
                  <a:rPr lang="es-MX">
                    <a:noFill/>
                  </a:rPr>
                  <a:t> </a:t>
                </a:r>
              </a:p>
            </p:txBody>
          </p:sp>
        </mc:Fallback>
      </mc:AlternateContent>
      <p:sp>
        <p:nvSpPr>
          <p:cNvPr id="19" name="Rectángulo 18"/>
          <p:cNvSpPr/>
          <p:nvPr/>
        </p:nvSpPr>
        <p:spPr>
          <a:xfrm>
            <a:off x="1" y="5887921"/>
            <a:ext cx="1017430" cy="415498"/>
          </a:xfrm>
          <a:prstGeom prst="rect">
            <a:avLst/>
          </a:prstGeom>
        </p:spPr>
        <p:txBody>
          <a:bodyPr wrap="square">
            <a:spAutoFit/>
          </a:bodyPr>
          <a:lstStyle/>
          <a:p>
            <a:pPr lvl="1" algn="just">
              <a:buClrTx/>
              <a:buFontTx/>
              <a:buNone/>
              <a:defRPr/>
            </a:pPr>
            <a:r>
              <a:rPr lang="es-ES" sz="2100" b="1" dirty="0" smtClean="0">
                <a:solidFill>
                  <a:srgbClr val="FF0000"/>
                </a:solidFill>
                <a:latin typeface="Arial" panose="020B0604020202020204" pitchFamily="34" charset="0"/>
                <a:cs typeface="Arial" panose="020B0604020202020204" pitchFamily="34" charset="0"/>
              </a:rPr>
              <a:t>(3)</a:t>
            </a:r>
            <a:endParaRPr lang="es-MX" sz="2100" b="1" dirty="0" smtClean="0">
              <a:solidFill>
                <a:srgbClr val="00B050"/>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20" name="Rectángulo 19"/>
              <p:cNvSpPr/>
              <p:nvPr/>
            </p:nvSpPr>
            <p:spPr>
              <a:xfrm>
                <a:off x="489326" y="5609319"/>
                <a:ext cx="2756150" cy="972702"/>
              </a:xfrm>
              <a:prstGeom prst="rect">
                <a:avLst/>
              </a:prstGeom>
            </p:spPr>
            <p:txBody>
              <a:bodyPr wrap="square">
                <a:spAutoFit/>
              </a:bodyPr>
              <a:lstStyle/>
              <a:p>
                <a:pPr lvl="1" algn="just">
                  <a:buClrTx/>
                  <a:buFontTx/>
                  <a:buNone/>
                  <a:defRPr/>
                </a:pPr>
                <a14:m>
                  <m:oMathPara xmlns:m="http://schemas.openxmlformats.org/officeDocument/2006/math">
                    <m:oMathParaPr>
                      <m:jc m:val="left"/>
                    </m:oMathParaPr>
                    <m:oMath xmlns:m="http://schemas.openxmlformats.org/officeDocument/2006/math">
                      <m:r>
                        <a:rPr lang="es-MX" sz="2100" b="1" i="1" smtClean="0">
                          <a:solidFill>
                            <a:srgbClr val="A5A5A5">
                              <a:lumMod val="50000"/>
                            </a:srgbClr>
                          </a:solidFill>
                          <a:latin typeface="Cambria Math" panose="02040503050406030204" pitchFamily="18" charset="0"/>
                        </a:rPr>
                        <m:t>𝑨</m:t>
                      </m:r>
                      <m:r>
                        <a:rPr lang="es-MX" sz="2100" b="1" i="1" smtClean="0">
                          <a:solidFill>
                            <a:srgbClr val="A5A5A5">
                              <a:lumMod val="50000"/>
                            </a:srgbClr>
                          </a:solidFill>
                          <a:latin typeface="Cambria Math" panose="02040503050406030204" pitchFamily="18" charset="0"/>
                        </a:rPr>
                        <m:t>=</m:t>
                      </m:r>
                      <m:d>
                        <m:dPr>
                          <m:ctrlPr>
                            <a:rPr lang="es-MX" sz="2100" b="1" i="1" smtClean="0">
                              <a:solidFill>
                                <a:srgbClr val="A5A5A5">
                                  <a:lumMod val="50000"/>
                                </a:srgbClr>
                              </a:solidFill>
                              <a:latin typeface="Cambria Math" panose="02040503050406030204" pitchFamily="18" charset="0"/>
                            </a:rPr>
                          </m:ctrlPr>
                        </m:dPr>
                        <m:e>
                          <m:m>
                            <m:mPr>
                              <m:mcs>
                                <m:mc>
                                  <m:mcPr>
                                    <m:count m:val="3"/>
                                    <m:mcJc m:val="center"/>
                                  </m:mcPr>
                                </m:mc>
                              </m:mcs>
                              <m:ctrlPr>
                                <a:rPr lang="es-MX" sz="2100" b="1" i="1" smtClean="0">
                                  <a:solidFill>
                                    <a:srgbClr val="A5A5A5">
                                      <a:lumMod val="50000"/>
                                    </a:srgbClr>
                                  </a:solidFill>
                                  <a:latin typeface="Cambria Math" panose="02040503050406030204" pitchFamily="18" charset="0"/>
                                </a:rPr>
                              </m:ctrlPr>
                            </m:mPr>
                            <m:mr>
                              <m:e>
                                <m:r>
                                  <m:rPr>
                                    <m:brk m:alnAt="7"/>
                                  </m:rP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𝟑</m:t>
                                </m:r>
                              </m:e>
                            </m:mr>
                            <m:mr>
                              <m:e>
                                <m:r>
                                  <a:rPr lang="es-MX" sz="2100" b="1" i="1" smtClean="0">
                                    <a:solidFill>
                                      <a:srgbClr val="A5A5A5">
                                        <a:lumMod val="50000"/>
                                      </a:srgbClr>
                                    </a:solidFill>
                                    <a:latin typeface="Cambria Math" panose="02040503050406030204" pitchFamily="18" charset="0"/>
                                  </a:rPr>
                                  <m:t>𝟐</m:t>
                                </m:r>
                              </m:e>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𝟒</m:t>
                                </m:r>
                              </m:e>
                            </m:mr>
                            <m:mr>
                              <m:e>
                                <m:r>
                                  <a:rPr lang="es-MX" sz="2100" b="1" i="1" smtClean="0">
                                    <a:solidFill>
                                      <a:srgbClr val="A5A5A5">
                                        <a:lumMod val="50000"/>
                                      </a:srgbClr>
                                    </a:solidFill>
                                    <a:latin typeface="Cambria Math" panose="02040503050406030204" pitchFamily="18" charset="0"/>
                                  </a:rPr>
                                  <m:t>𝟑</m:t>
                                </m:r>
                              </m:e>
                              <m:e>
                                <m:r>
                                  <a:rPr lang="es-MX" sz="2100" b="1" i="1" smtClean="0">
                                    <a:solidFill>
                                      <a:srgbClr val="A5A5A5">
                                        <a:lumMod val="50000"/>
                                      </a:srgbClr>
                                    </a:solidFill>
                                    <a:latin typeface="Cambria Math" panose="02040503050406030204" pitchFamily="18" charset="0"/>
                                  </a:rPr>
                                  <m:t>𝟏</m:t>
                                </m:r>
                              </m:e>
                              <m:e>
                                <m:r>
                                  <a:rPr lang="es-MX" sz="2100" b="1" i="1" smtClean="0">
                                    <a:solidFill>
                                      <a:srgbClr val="A5A5A5">
                                        <a:lumMod val="50000"/>
                                      </a:srgbClr>
                                    </a:solidFill>
                                    <a:latin typeface="Cambria Math" panose="02040503050406030204" pitchFamily="18" charset="0"/>
                                  </a:rPr>
                                  <m:t>𝟐</m:t>
                                </m:r>
                              </m:e>
                            </m:mr>
                          </m:m>
                        </m:e>
                      </m:d>
                    </m:oMath>
                  </m:oMathPara>
                </a14:m>
                <a:endParaRPr lang="es-MX" sz="2100" b="1" dirty="0" smtClean="0">
                  <a:solidFill>
                    <a:srgbClr val="A5A5A5">
                      <a:lumMod val="50000"/>
                    </a:srgbClr>
                  </a:solidFill>
                  <a:latin typeface="Arial" panose="020B0604020202020204" pitchFamily="34" charset="0"/>
                  <a:cs typeface="Arial" panose="020B0604020202020204" pitchFamily="34" charset="0"/>
                </a:endParaRPr>
              </a:p>
            </p:txBody>
          </p:sp>
        </mc:Choice>
        <mc:Fallback>
          <p:sp>
            <p:nvSpPr>
              <p:cNvPr id="20" name="Rectángulo 19"/>
              <p:cNvSpPr>
                <a:spLocks noRot="1" noChangeAspect="1" noMove="1" noResize="1" noEditPoints="1" noAdjustHandles="1" noChangeArrowheads="1" noChangeShapeType="1" noTextEdit="1"/>
              </p:cNvSpPr>
              <p:nvPr/>
            </p:nvSpPr>
            <p:spPr>
              <a:xfrm>
                <a:off x="489326" y="5609319"/>
                <a:ext cx="2756150" cy="972702"/>
              </a:xfrm>
              <a:prstGeom prst="rect">
                <a:avLst/>
              </a:prstGeom>
              <a:blipFill rotWithShape="0">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46006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heel(1)">
                                      <p:cBhvr>
                                        <p:cTn id="10" dur="2000"/>
                                        <p:tgtEl>
                                          <p:spTgt spid="16"/>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2000"/>
                                        <p:tgtEl>
                                          <p:spTgt spid="17"/>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heel(1)">
                                      <p:cBhvr>
                                        <p:cTn id="16" dur="2000"/>
                                        <p:tgtEl>
                                          <p:spTgt spid="18"/>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heel(1)">
                                      <p:cBhvr>
                                        <p:cTn id="19" dur="2000"/>
                                        <p:tgtEl>
                                          <p:spTgt spid="20"/>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heel(1)">
                                      <p:cBhvr>
                                        <p:cTn id="22" dur="2000"/>
                                        <p:tgtEl>
                                          <p:spTgt spid="19"/>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heel(1)">
                                      <p:cBhvr>
                                        <p:cTn id="25" dur="2000"/>
                                        <p:tgtEl>
                                          <p:spTgt spid="15"/>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heel(1)">
                                      <p:cBhvr>
                                        <p:cTn id="2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5" grpId="0"/>
      <p:bldP spid="16" grpId="0"/>
      <p:bldP spid="17" grpId="0"/>
      <p:bldP spid="18" grpId="0"/>
      <p:bldP spid="19" grpId="0"/>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2688849" y="1354737"/>
            <a:ext cx="5188745" cy="461665"/>
          </a:xfrm>
          <a:prstGeom prst="rect">
            <a:avLst/>
          </a:prstGeom>
        </p:spPr>
        <p:txBody>
          <a:bodyPr wrap="square">
            <a:spAutoFit/>
          </a:bodyPr>
          <a:lstStyle/>
          <a:p>
            <a:pPr algn="just"/>
            <a:r>
              <a:rPr lang="es-ES" sz="2400" b="1">
                <a:solidFill>
                  <a:srgbClr val="A5A5A5">
                    <a:lumMod val="50000"/>
                  </a:srgbClr>
                </a:solidFill>
                <a:latin typeface="Arial" panose="020B0604020202020204" pitchFamily="34" charset="0"/>
                <a:cs typeface="Arial" panose="020B0604020202020204" pitchFamily="34" charset="0"/>
              </a:rPr>
              <a:t>REFERENCIAS </a:t>
            </a:r>
            <a:r>
              <a:rPr lang="es-NI" sz="2400" b="1">
                <a:solidFill>
                  <a:srgbClr val="A5A5A5">
                    <a:lumMod val="50000"/>
                  </a:srgbClr>
                </a:solidFill>
                <a:latin typeface="Arial" panose="020B0604020202020204" pitchFamily="34" charset="0"/>
                <a:cs typeface="Arial" panose="020B0604020202020204" pitchFamily="34" charset="0"/>
              </a:rPr>
              <a:t>BIBLIOGRÁFICAS </a:t>
            </a:r>
            <a:endParaRPr lang="es-ES" sz="2400" b="1" dirty="0">
              <a:solidFill>
                <a:srgbClr val="A5A5A5">
                  <a:lumMod val="50000"/>
                </a:srgbClr>
              </a:solidFill>
              <a:latin typeface="Arial" panose="020B0604020202020204" pitchFamily="34" charset="0"/>
              <a:cs typeface="Arial" panose="020B0604020202020204" pitchFamily="34" charset="0"/>
            </a:endParaRPr>
          </a:p>
        </p:txBody>
      </p:sp>
      <p:sp>
        <p:nvSpPr>
          <p:cNvPr id="7" name="CuadroTexto 6"/>
          <p:cNvSpPr txBox="1"/>
          <p:nvPr/>
        </p:nvSpPr>
        <p:spPr>
          <a:xfrm>
            <a:off x="0" y="2127949"/>
            <a:ext cx="12192001" cy="2554545"/>
          </a:xfrm>
          <a:prstGeom prst="rect">
            <a:avLst/>
          </a:prstGeom>
          <a:noFill/>
        </p:spPr>
        <p:txBody>
          <a:bodyPr wrap="square" rtlCol="0">
            <a:spAutoFit/>
          </a:bodyPr>
          <a:lstStyle/>
          <a:p>
            <a:pPr lvl="0"/>
            <a:r>
              <a:rPr lang="es-NI" sz="2000" b="1" dirty="0">
                <a:solidFill>
                  <a:schemeClr val="accent3">
                    <a:lumMod val="50000"/>
                  </a:schemeClr>
                </a:solidFill>
                <a:latin typeface="Arial" panose="020B0604020202020204" pitchFamily="34" charset="0"/>
                <a:cs typeface="Arial" panose="020B0604020202020204" pitchFamily="34" charset="0"/>
              </a:rPr>
              <a:t>Textos Obligatorio</a:t>
            </a:r>
          </a:p>
          <a:p>
            <a:pPr marL="457200" lvl="0" indent="-457200" algn="just">
              <a:buFont typeface="Arial" panose="020B0604020202020204" pitchFamily="34" charset="0"/>
              <a:buChar char="•"/>
            </a:pPr>
            <a:r>
              <a:rPr lang="en-US" sz="2000" b="1" dirty="0">
                <a:solidFill>
                  <a:schemeClr val="accent3">
                    <a:lumMod val="50000"/>
                  </a:schemeClr>
                </a:solidFill>
                <a:latin typeface="Arial" panose="020B0604020202020204" pitchFamily="34" charset="0"/>
                <a:cs typeface="Arial" panose="020B0604020202020204" pitchFamily="34" charset="0"/>
              </a:rPr>
              <a:t>Grossman, S., &amp; Flores Godoy, J. (2019). </a:t>
            </a:r>
            <a:r>
              <a:rPr lang="en-US" sz="2000" b="1" dirty="0" err="1">
                <a:solidFill>
                  <a:schemeClr val="accent3">
                    <a:lumMod val="50000"/>
                  </a:schemeClr>
                </a:solidFill>
                <a:latin typeface="Arial" panose="020B0604020202020204" pitchFamily="34" charset="0"/>
                <a:cs typeface="Arial" panose="020B0604020202020204" pitchFamily="34" charset="0"/>
              </a:rPr>
              <a:t>Álgebra</a:t>
            </a:r>
            <a:r>
              <a:rPr lang="en-US" sz="2000" b="1" dirty="0">
                <a:solidFill>
                  <a:schemeClr val="accent3">
                    <a:lumMod val="50000"/>
                  </a:schemeClr>
                </a:solidFill>
                <a:latin typeface="Arial" panose="020B0604020202020204" pitchFamily="34" charset="0"/>
                <a:cs typeface="Arial" panose="020B0604020202020204" pitchFamily="34" charset="0"/>
              </a:rPr>
              <a:t> lineal (8.ª ed.). McGraw-Hill.</a:t>
            </a:r>
            <a:endParaRPr lang="es-NI" sz="2000" b="1" dirty="0">
              <a:solidFill>
                <a:schemeClr val="accent3">
                  <a:lumMod val="50000"/>
                </a:schemeClr>
              </a:solidFill>
              <a:latin typeface="Arial" panose="020B0604020202020204" pitchFamily="34" charset="0"/>
              <a:cs typeface="Arial" panose="020B0604020202020204" pitchFamily="34" charset="0"/>
            </a:endParaRPr>
          </a:p>
          <a:p>
            <a:pPr marL="457200" lvl="0" indent="-457200" algn="just">
              <a:buFont typeface="Arial" panose="020B0604020202020204" pitchFamily="34" charset="0"/>
              <a:buChar char="•"/>
            </a:pPr>
            <a:r>
              <a:rPr lang="es-MX" sz="2000" b="1" dirty="0">
                <a:solidFill>
                  <a:schemeClr val="accent3">
                    <a:lumMod val="50000"/>
                  </a:schemeClr>
                </a:solidFill>
                <a:latin typeface="Arial" panose="020B0604020202020204" pitchFamily="34" charset="0"/>
                <a:cs typeface="Arial" panose="020B0604020202020204" pitchFamily="34" charset="0"/>
              </a:rPr>
              <a:t>Lay, D. C. (2012). Álgebra lineal y sus aplicaciones (4.ª ed.). Pearson Educación.</a:t>
            </a:r>
            <a:endParaRPr lang="es-NI" sz="2000" b="1" dirty="0">
              <a:solidFill>
                <a:schemeClr val="accent3">
                  <a:lumMod val="50000"/>
                </a:schemeClr>
              </a:solidFill>
              <a:latin typeface="Arial" panose="020B0604020202020204" pitchFamily="34" charset="0"/>
              <a:cs typeface="Arial" panose="020B0604020202020204" pitchFamily="34" charset="0"/>
            </a:endParaRPr>
          </a:p>
          <a:p>
            <a:pPr marL="457200" lvl="0" indent="-457200">
              <a:buFont typeface="Arial" panose="020B0604020202020204" pitchFamily="34" charset="0"/>
              <a:buChar char="•"/>
            </a:pPr>
            <a:endParaRPr lang="es-MX" sz="2000" b="1" dirty="0">
              <a:solidFill>
                <a:schemeClr val="accent3">
                  <a:lumMod val="50000"/>
                </a:schemeClr>
              </a:solidFill>
              <a:latin typeface="Arial" panose="020B0604020202020204" pitchFamily="34" charset="0"/>
              <a:cs typeface="Arial" panose="020B0604020202020204" pitchFamily="34" charset="0"/>
            </a:endParaRPr>
          </a:p>
          <a:p>
            <a:r>
              <a:rPr lang="en-US" sz="2000" b="1" dirty="0">
                <a:solidFill>
                  <a:schemeClr val="accent3">
                    <a:lumMod val="50000"/>
                  </a:schemeClr>
                </a:solidFill>
                <a:latin typeface="Arial" panose="020B0604020202020204" pitchFamily="34" charset="0"/>
                <a:cs typeface="Arial" panose="020B0604020202020204" pitchFamily="34" charset="0"/>
              </a:rPr>
              <a:t> </a:t>
            </a:r>
            <a:endParaRPr lang="es-MX" sz="2000" b="1" dirty="0">
              <a:solidFill>
                <a:schemeClr val="accent3">
                  <a:lumMod val="50000"/>
                </a:schemeClr>
              </a:solidFill>
              <a:latin typeface="Arial" panose="020B0604020202020204" pitchFamily="34" charset="0"/>
              <a:cs typeface="Arial" panose="020B0604020202020204" pitchFamily="34" charset="0"/>
            </a:endParaRPr>
          </a:p>
          <a:p>
            <a:pPr lvl="0"/>
            <a:r>
              <a:rPr lang="es-NI" sz="2000" b="1" dirty="0">
                <a:solidFill>
                  <a:schemeClr val="accent3">
                    <a:lumMod val="50000"/>
                  </a:schemeClr>
                </a:solidFill>
                <a:latin typeface="Arial" panose="020B0604020202020204" pitchFamily="34" charset="0"/>
                <a:cs typeface="Arial" panose="020B0604020202020204" pitchFamily="34" charset="0"/>
              </a:rPr>
              <a:t>Textos Optativos</a:t>
            </a:r>
            <a:endParaRPr lang="es-MX" sz="2000" b="1" dirty="0">
              <a:solidFill>
                <a:schemeClr val="accent3">
                  <a:lumMod val="50000"/>
                </a:schemeClr>
              </a:solidFill>
              <a:latin typeface="Arial" panose="020B0604020202020204" pitchFamily="34" charset="0"/>
              <a:cs typeface="Arial" panose="020B0604020202020204" pitchFamily="34" charset="0"/>
            </a:endParaRPr>
          </a:p>
          <a:p>
            <a:pPr marL="457200" lvl="0" indent="-457200">
              <a:buFont typeface="Arial" panose="020B0604020202020204" pitchFamily="34" charset="0"/>
              <a:buChar char="•"/>
            </a:pPr>
            <a:r>
              <a:rPr lang="es-MX" sz="2000" b="1" dirty="0" err="1">
                <a:solidFill>
                  <a:schemeClr val="accent3">
                    <a:lumMod val="50000"/>
                  </a:schemeClr>
                </a:solidFill>
                <a:latin typeface="Arial" panose="020B0604020202020204" pitchFamily="34" charset="0"/>
                <a:cs typeface="Arial" panose="020B0604020202020204" pitchFamily="34" charset="0"/>
              </a:rPr>
              <a:t>Chapra</a:t>
            </a:r>
            <a:r>
              <a:rPr lang="es-MX" sz="2000" b="1" dirty="0">
                <a:solidFill>
                  <a:schemeClr val="accent3">
                    <a:lumMod val="50000"/>
                  </a:schemeClr>
                </a:solidFill>
                <a:latin typeface="Arial" panose="020B0604020202020204" pitchFamily="34" charset="0"/>
                <a:cs typeface="Arial" panose="020B0604020202020204" pitchFamily="34" charset="0"/>
              </a:rPr>
              <a:t>, S. C., &amp; </a:t>
            </a:r>
            <a:r>
              <a:rPr lang="es-MX" sz="2000" b="1" dirty="0" err="1">
                <a:solidFill>
                  <a:schemeClr val="accent3">
                    <a:lumMod val="50000"/>
                  </a:schemeClr>
                </a:solidFill>
                <a:latin typeface="Arial" panose="020B0604020202020204" pitchFamily="34" charset="0"/>
                <a:cs typeface="Arial" panose="020B0604020202020204" pitchFamily="34" charset="0"/>
              </a:rPr>
              <a:t>Canale</a:t>
            </a:r>
            <a:r>
              <a:rPr lang="es-MX" sz="2000" b="1" dirty="0">
                <a:solidFill>
                  <a:schemeClr val="accent3">
                    <a:lumMod val="50000"/>
                  </a:schemeClr>
                </a:solidFill>
                <a:latin typeface="Arial" panose="020B0604020202020204" pitchFamily="34" charset="0"/>
                <a:cs typeface="Arial" panose="020B0604020202020204" pitchFamily="34" charset="0"/>
              </a:rPr>
              <a:t>, R. P. (2015). Métodos numéricos para ingenieros (7.ª ed.). McGraw-Hill.</a:t>
            </a:r>
            <a:endParaRPr lang="es-NI" sz="2000" b="1" dirty="0">
              <a:solidFill>
                <a:schemeClr val="accent3">
                  <a:lumMod val="50000"/>
                </a:schemeClr>
              </a:solidFill>
              <a:latin typeface="Arial" panose="020B0604020202020204" pitchFamily="34" charset="0"/>
              <a:cs typeface="Arial" panose="020B0604020202020204" pitchFamily="34" charset="0"/>
            </a:endParaRPr>
          </a:p>
          <a:p>
            <a:pPr marL="457200" lvl="0" indent="-457200">
              <a:buFont typeface="Arial" panose="020B0604020202020204" pitchFamily="34" charset="0"/>
              <a:buChar char="•"/>
            </a:pPr>
            <a:r>
              <a:rPr lang="es-MX" sz="2000" b="1" dirty="0" err="1">
                <a:solidFill>
                  <a:schemeClr val="accent3">
                    <a:lumMod val="50000"/>
                  </a:schemeClr>
                </a:solidFill>
                <a:latin typeface="Arial" panose="020B0604020202020204" pitchFamily="34" charset="0"/>
                <a:cs typeface="Arial" panose="020B0604020202020204" pitchFamily="34" charset="0"/>
              </a:rPr>
              <a:t>Poole</a:t>
            </a:r>
            <a:r>
              <a:rPr lang="es-MX" sz="2000" b="1" dirty="0">
                <a:solidFill>
                  <a:schemeClr val="accent3">
                    <a:lumMod val="50000"/>
                  </a:schemeClr>
                </a:solidFill>
                <a:latin typeface="Arial" panose="020B0604020202020204" pitchFamily="34" charset="0"/>
                <a:cs typeface="Arial" panose="020B0604020202020204" pitchFamily="34" charset="0"/>
              </a:rPr>
              <a:t>, D. (2011). Álgebra lineal: Una introducción moderna (3.ª ed.). </a:t>
            </a:r>
            <a:r>
              <a:rPr lang="es-MX" sz="2000" b="1" dirty="0" err="1">
                <a:solidFill>
                  <a:schemeClr val="accent3">
                    <a:lumMod val="50000"/>
                  </a:schemeClr>
                </a:solidFill>
                <a:latin typeface="Arial" panose="020B0604020202020204" pitchFamily="34" charset="0"/>
                <a:cs typeface="Arial" panose="020B0604020202020204" pitchFamily="34" charset="0"/>
              </a:rPr>
              <a:t>Cengage</a:t>
            </a:r>
            <a:r>
              <a:rPr lang="es-MX" sz="2000" b="1" dirty="0">
                <a:solidFill>
                  <a:schemeClr val="accent3">
                    <a:lumMod val="50000"/>
                  </a:schemeClr>
                </a:solidFill>
                <a:latin typeface="Arial" panose="020B0604020202020204" pitchFamily="34" charset="0"/>
                <a:cs typeface="Arial" panose="020B0604020202020204" pitchFamily="34" charset="0"/>
              </a:rPr>
              <a:t> </a:t>
            </a:r>
            <a:r>
              <a:rPr lang="es-MX" sz="2000" b="1" dirty="0" err="1">
                <a:solidFill>
                  <a:schemeClr val="accent3">
                    <a:lumMod val="50000"/>
                  </a:schemeClr>
                </a:solidFill>
                <a:latin typeface="Arial" panose="020B0604020202020204" pitchFamily="34" charset="0"/>
                <a:cs typeface="Arial" panose="020B0604020202020204" pitchFamily="34" charset="0"/>
              </a:rPr>
              <a:t>Learning</a:t>
            </a:r>
            <a:r>
              <a:rPr lang="es-MX" sz="2000" b="1" dirty="0">
                <a:solidFill>
                  <a:schemeClr val="accent3">
                    <a:lumMod val="50000"/>
                  </a:schemeClr>
                </a:solidFill>
                <a:latin typeface="Arial" panose="020B0604020202020204" pitchFamily="34" charset="0"/>
                <a:cs typeface="Arial" panose="020B0604020202020204" pitchFamily="34" charset="0"/>
              </a:rPr>
              <a:t>.</a:t>
            </a:r>
            <a:endParaRPr lang="es-NI" sz="2000" b="1" dirty="0">
              <a:solidFill>
                <a:schemeClr val="accent3">
                  <a:lumMod val="50000"/>
                </a:schemeClr>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Personalizados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TotalTime>
  <Words>2073</Words>
  <Application>Microsoft Office PowerPoint</Application>
  <PresentationFormat>Panorámica</PresentationFormat>
  <Paragraphs>477</Paragraphs>
  <Slides>48</Slides>
  <Notes>0</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48</vt:i4>
      </vt:variant>
    </vt:vector>
  </HeadingPairs>
  <TitlesOfParts>
    <vt:vector size="59" baseType="lpstr">
      <vt:lpstr>Arial</vt:lpstr>
      <vt:lpstr>Calibri</vt:lpstr>
      <vt:lpstr>Cambria</vt:lpstr>
      <vt:lpstr>Cambria Math</vt:lpstr>
      <vt:lpstr>Franklin Gothic Book</vt:lpstr>
      <vt:lpstr>Franklin Gothic Medium</vt:lpstr>
      <vt:lpstr>Franklin Gothic Std No. 2 Roman</vt:lpstr>
      <vt:lpstr>Tahoma</vt:lpstr>
      <vt:lpstr>Times New Roman</vt:lpstr>
      <vt:lpstr>Tema de Office</vt:lpstr>
      <vt:lpstr>2_Tema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Gloria Cordero</dc:creator>
  <cp:lastModifiedBy>Cuenta Microsoft</cp:lastModifiedBy>
  <cp:revision>436</cp:revision>
  <dcterms:created xsi:type="dcterms:W3CDTF">2019-03-11T22:56:00Z</dcterms:created>
  <dcterms:modified xsi:type="dcterms:W3CDTF">2026-10-01T00:20:39Z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DAF54AE3DF304A368D573207D0A3D9DC_12</vt:lpwstr>
  </property>
  <property fmtid="{D5CDD505-2E9C-101B-9397-08002B2CF9AE}" pid="3" name="KSOProductBuildVer">
    <vt:lpwstr>3082-12.2.0.22549</vt:lpwstr>
  </property>
</Properties>
</file>